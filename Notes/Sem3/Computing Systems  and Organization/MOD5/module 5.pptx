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79"/>
  </p:notesMasterIdLst>
  <p:handoutMasterIdLst>
    <p:handoutMasterId r:id="rId80"/>
  </p:handoutMasterIdLst>
  <p:sldIdLst>
    <p:sldId id="256" r:id="rId5"/>
    <p:sldId id="289" r:id="rId6"/>
    <p:sldId id="290" r:id="rId7"/>
    <p:sldId id="291" r:id="rId8"/>
    <p:sldId id="292" r:id="rId9"/>
    <p:sldId id="294" r:id="rId10"/>
    <p:sldId id="295" r:id="rId11"/>
    <p:sldId id="293" r:id="rId12"/>
    <p:sldId id="271" r:id="rId13"/>
    <p:sldId id="283" r:id="rId14"/>
    <p:sldId id="284" r:id="rId15"/>
    <p:sldId id="285" r:id="rId16"/>
    <p:sldId id="286" r:id="rId17"/>
    <p:sldId id="287" r:id="rId18"/>
    <p:sldId id="288" r:id="rId19"/>
    <p:sldId id="279" r:id="rId20"/>
    <p:sldId id="281" r:id="rId21"/>
    <p:sldId id="296" r:id="rId22"/>
    <p:sldId id="300" r:id="rId23"/>
    <p:sldId id="297" r:id="rId24"/>
    <p:sldId id="298" r:id="rId25"/>
    <p:sldId id="299" r:id="rId26"/>
    <p:sldId id="309" r:id="rId27"/>
    <p:sldId id="310" r:id="rId28"/>
    <p:sldId id="311" r:id="rId29"/>
    <p:sldId id="301" r:id="rId30"/>
    <p:sldId id="304" r:id="rId31"/>
    <p:sldId id="305" r:id="rId32"/>
    <p:sldId id="312" r:id="rId33"/>
    <p:sldId id="328" r:id="rId34"/>
    <p:sldId id="329" r:id="rId35"/>
    <p:sldId id="306" r:id="rId36"/>
    <p:sldId id="307" r:id="rId37"/>
    <p:sldId id="308" r:id="rId38"/>
    <p:sldId id="313" r:id="rId39"/>
    <p:sldId id="314" r:id="rId40"/>
    <p:sldId id="315" r:id="rId41"/>
    <p:sldId id="318" r:id="rId42"/>
    <p:sldId id="319" r:id="rId43"/>
    <p:sldId id="330" r:id="rId44"/>
    <p:sldId id="320" r:id="rId45"/>
    <p:sldId id="317" r:id="rId46"/>
    <p:sldId id="321" r:id="rId47"/>
    <p:sldId id="316" r:id="rId48"/>
    <p:sldId id="323" r:id="rId49"/>
    <p:sldId id="331" r:id="rId50"/>
    <p:sldId id="332" r:id="rId51"/>
    <p:sldId id="324" r:id="rId52"/>
    <p:sldId id="325" r:id="rId53"/>
    <p:sldId id="326" r:id="rId54"/>
    <p:sldId id="327" r:id="rId55"/>
    <p:sldId id="333" r:id="rId56"/>
    <p:sldId id="334" r:id="rId57"/>
    <p:sldId id="335" r:id="rId58"/>
    <p:sldId id="336" r:id="rId59"/>
    <p:sldId id="338" r:id="rId60"/>
    <p:sldId id="339" r:id="rId61"/>
    <p:sldId id="340" r:id="rId62"/>
    <p:sldId id="337" r:id="rId63"/>
    <p:sldId id="341" r:id="rId64"/>
    <p:sldId id="342" r:id="rId65"/>
    <p:sldId id="343" r:id="rId66"/>
    <p:sldId id="344" r:id="rId67"/>
    <p:sldId id="345" r:id="rId68"/>
    <p:sldId id="346" r:id="rId69"/>
    <p:sldId id="347" r:id="rId70"/>
    <p:sldId id="348" r:id="rId71"/>
    <p:sldId id="349" r:id="rId72"/>
    <p:sldId id="350" r:id="rId73"/>
    <p:sldId id="351" r:id="rId74"/>
    <p:sldId id="352" r:id="rId75"/>
    <p:sldId id="353" r:id="rId76"/>
    <p:sldId id="354" r:id="rId77"/>
    <p:sldId id="355"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 id="289"/>
            <p14:sldId id="290"/>
            <p14:sldId id="291"/>
            <p14:sldId id="292"/>
            <p14:sldId id="294"/>
            <p14:sldId id="295"/>
            <p14:sldId id="293"/>
          </p14:sldIdLst>
        </p14:section>
        <p14:section name="Design, Morph, Annotate, Work Together, Tell Me" id="{B9B51309-D148-4332-87C2-07BE32FBCA3B}">
          <p14:sldIdLst>
            <p14:sldId id="271"/>
            <p14:sldId id="283"/>
            <p14:sldId id="284"/>
            <p14:sldId id="285"/>
            <p14:sldId id="286"/>
            <p14:sldId id="287"/>
            <p14:sldId id="288"/>
            <p14:sldId id="279"/>
            <p14:sldId id="281"/>
            <p14:sldId id="296"/>
            <p14:sldId id="300"/>
            <p14:sldId id="297"/>
            <p14:sldId id="298"/>
            <p14:sldId id="299"/>
            <p14:sldId id="309"/>
            <p14:sldId id="310"/>
            <p14:sldId id="311"/>
            <p14:sldId id="301"/>
            <p14:sldId id="304"/>
            <p14:sldId id="305"/>
            <p14:sldId id="312"/>
            <p14:sldId id="328"/>
            <p14:sldId id="329"/>
            <p14:sldId id="306"/>
            <p14:sldId id="307"/>
            <p14:sldId id="308"/>
            <p14:sldId id="313"/>
            <p14:sldId id="314"/>
            <p14:sldId id="315"/>
            <p14:sldId id="318"/>
            <p14:sldId id="319"/>
            <p14:sldId id="330"/>
            <p14:sldId id="320"/>
            <p14:sldId id="317"/>
            <p14:sldId id="321"/>
            <p14:sldId id="316"/>
            <p14:sldId id="323"/>
            <p14:sldId id="331"/>
            <p14:sldId id="332"/>
            <p14:sldId id="324"/>
            <p14:sldId id="325"/>
            <p14:sldId id="326"/>
            <p14:sldId id="327"/>
            <p14:sldId id="333"/>
            <p14:sldId id="334"/>
            <p14:sldId id="335"/>
            <p14:sldId id="336"/>
            <p14:sldId id="338"/>
            <p14:sldId id="339"/>
            <p14:sldId id="340"/>
            <p14:sldId id="337"/>
            <p14:sldId id="341"/>
            <p14:sldId id="342"/>
            <p14:sldId id="343"/>
            <p14:sldId id="344"/>
            <p14:sldId id="345"/>
            <p14:sldId id="346"/>
            <p14:sldId id="347"/>
            <p14:sldId id="348"/>
            <p14:sldId id="349"/>
            <p14:sldId id="350"/>
            <p14:sldId id="351"/>
            <p14:sldId id="352"/>
            <p14:sldId id="353"/>
            <p14:sldId id="354"/>
            <p14:sldId id="355"/>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41" autoAdjust="0"/>
  </p:normalViewPr>
  <p:slideViewPr>
    <p:cSldViewPr snapToGrid="0">
      <p:cViewPr varScale="1">
        <p:scale>
          <a:sx n="80" d="100"/>
          <a:sy n="80" d="100"/>
        </p:scale>
        <p:origin x="782"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85"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10/30/2025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10/30/2025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10/30/2025</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10/30/2025</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8200" y="1164324"/>
            <a:ext cx="10515600" cy="2387600"/>
          </a:xfrm>
        </p:spPr>
        <p:txBody>
          <a:bodyPr anchor="ctr" anchorCtr="0">
            <a:normAutofit/>
          </a:bodyPr>
          <a:lstStyle/>
          <a:p>
            <a:r>
              <a:rPr lang="en-US" sz="4800" dirty="0">
                <a:solidFill>
                  <a:schemeClr val="bg1"/>
                </a:solidFill>
              </a:rPr>
              <a:t>MODULE 5</a:t>
            </a:r>
          </a:p>
        </p:txBody>
      </p:sp>
      <p:pic>
        <p:nvPicPr>
          <p:cNvPr id="4" name="Picture 3" descr="PowerPoint program icon"/>
          <p:cNvPicPr>
            <a:picLocks noChangeAspect="1"/>
          </p:cNvPicPr>
          <p:nvPr/>
        </p:nvPicPr>
        <p:blipFill>
          <a:blip r:embed="rId3"/>
          <a:srcRect/>
          <a:stretch/>
        </p:blipFill>
        <p:spPr bwMode="invGray">
          <a:xfrm>
            <a:off x="670216" y="5193062"/>
            <a:ext cx="822960" cy="822960"/>
          </a:xfrm>
          <a:prstGeom prst="rect">
            <a:avLst/>
          </a:prstGeom>
        </p:spPr>
      </p:pic>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EBCC0-9D2E-6D6E-CE2C-FC54E8384F04}"/>
              </a:ext>
            </a:extLst>
          </p:cNvPr>
          <p:cNvSpPr>
            <a:spLocks noGrp="1"/>
          </p:cNvSpPr>
          <p:nvPr>
            <p:ph type="title"/>
          </p:nvPr>
        </p:nvSpPr>
        <p:spPr/>
        <p:txBody>
          <a:bodyPr/>
          <a:lstStyle/>
          <a:p>
            <a:r>
              <a:rPr lang="en-IN" dirty="0"/>
              <a:t>INTRODUCTION TO PIPELINING</a:t>
            </a:r>
          </a:p>
        </p:txBody>
      </p:sp>
      <p:pic>
        <p:nvPicPr>
          <p:cNvPr id="5" name="Picture 4">
            <a:extLst>
              <a:ext uri="{FF2B5EF4-FFF2-40B4-BE49-F238E27FC236}">
                <a16:creationId xmlns:a16="http://schemas.microsoft.com/office/drawing/2014/main" id="{8012B656-E60B-CF73-63BF-1AD6663CA75E}"/>
              </a:ext>
            </a:extLst>
          </p:cNvPr>
          <p:cNvPicPr>
            <a:picLocks noChangeAspect="1"/>
          </p:cNvPicPr>
          <p:nvPr/>
        </p:nvPicPr>
        <p:blipFill>
          <a:blip r:embed="rId2"/>
          <a:stretch>
            <a:fillRect/>
          </a:stretch>
        </p:blipFill>
        <p:spPr>
          <a:xfrm>
            <a:off x="419100" y="1401902"/>
            <a:ext cx="11201400" cy="5237023"/>
          </a:xfrm>
          <a:prstGeom prst="rect">
            <a:avLst/>
          </a:prstGeom>
        </p:spPr>
      </p:pic>
    </p:spTree>
    <p:extLst>
      <p:ext uri="{BB962C8B-B14F-4D97-AF65-F5344CB8AC3E}">
        <p14:creationId xmlns:p14="http://schemas.microsoft.com/office/powerpoint/2010/main" val="1991281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E455E9-0A1A-E498-40A0-0E993F3BDC9D}"/>
              </a:ext>
            </a:extLst>
          </p:cNvPr>
          <p:cNvPicPr>
            <a:picLocks noChangeAspect="1"/>
          </p:cNvPicPr>
          <p:nvPr/>
        </p:nvPicPr>
        <p:blipFill>
          <a:blip r:embed="rId2"/>
          <a:stretch>
            <a:fillRect/>
          </a:stretch>
        </p:blipFill>
        <p:spPr>
          <a:xfrm>
            <a:off x="563501" y="1243755"/>
            <a:ext cx="11047474" cy="4846740"/>
          </a:xfrm>
          <a:prstGeom prst="rect">
            <a:avLst/>
          </a:prstGeom>
        </p:spPr>
      </p:pic>
    </p:spTree>
    <p:extLst>
      <p:ext uri="{BB962C8B-B14F-4D97-AF65-F5344CB8AC3E}">
        <p14:creationId xmlns:p14="http://schemas.microsoft.com/office/powerpoint/2010/main" val="3944676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EAC944-ABE9-C992-37FF-6D31E873A61F}"/>
              </a:ext>
            </a:extLst>
          </p:cNvPr>
          <p:cNvPicPr>
            <a:picLocks noChangeAspect="1"/>
          </p:cNvPicPr>
          <p:nvPr/>
        </p:nvPicPr>
        <p:blipFill>
          <a:blip r:embed="rId2"/>
          <a:stretch>
            <a:fillRect/>
          </a:stretch>
        </p:blipFill>
        <p:spPr>
          <a:xfrm>
            <a:off x="597794" y="1257087"/>
            <a:ext cx="11041756" cy="5305638"/>
          </a:xfrm>
          <a:prstGeom prst="rect">
            <a:avLst/>
          </a:prstGeom>
        </p:spPr>
      </p:pic>
    </p:spTree>
    <p:extLst>
      <p:ext uri="{BB962C8B-B14F-4D97-AF65-F5344CB8AC3E}">
        <p14:creationId xmlns:p14="http://schemas.microsoft.com/office/powerpoint/2010/main" val="1960259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2A7BA3-9FC7-A4D0-7F65-D3B9033AFAD2}"/>
              </a:ext>
            </a:extLst>
          </p:cNvPr>
          <p:cNvPicPr>
            <a:picLocks noChangeAspect="1"/>
          </p:cNvPicPr>
          <p:nvPr/>
        </p:nvPicPr>
        <p:blipFill>
          <a:blip r:embed="rId2"/>
          <a:stretch>
            <a:fillRect/>
          </a:stretch>
        </p:blipFill>
        <p:spPr>
          <a:xfrm>
            <a:off x="304801" y="419100"/>
            <a:ext cx="11420474" cy="6124575"/>
          </a:xfrm>
          <a:prstGeom prst="rect">
            <a:avLst/>
          </a:prstGeom>
        </p:spPr>
      </p:pic>
    </p:spTree>
    <p:extLst>
      <p:ext uri="{BB962C8B-B14F-4D97-AF65-F5344CB8AC3E}">
        <p14:creationId xmlns:p14="http://schemas.microsoft.com/office/powerpoint/2010/main" val="2529053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878CC4-179A-885C-14DE-E62935732E58}"/>
              </a:ext>
            </a:extLst>
          </p:cNvPr>
          <p:cNvPicPr>
            <a:picLocks noChangeAspect="1"/>
          </p:cNvPicPr>
          <p:nvPr/>
        </p:nvPicPr>
        <p:blipFill>
          <a:blip r:embed="rId2"/>
          <a:stretch>
            <a:fillRect/>
          </a:stretch>
        </p:blipFill>
        <p:spPr>
          <a:xfrm>
            <a:off x="800100" y="1307212"/>
            <a:ext cx="8639175" cy="4692376"/>
          </a:xfrm>
          <a:prstGeom prst="rect">
            <a:avLst/>
          </a:prstGeom>
        </p:spPr>
      </p:pic>
    </p:spTree>
    <p:extLst>
      <p:ext uri="{BB962C8B-B14F-4D97-AF65-F5344CB8AC3E}">
        <p14:creationId xmlns:p14="http://schemas.microsoft.com/office/powerpoint/2010/main" val="19477934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9D2193-EB53-9677-B93F-3B1CA3B5A649}"/>
              </a:ext>
            </a:extLst>
          </p:cNvPr>
          <p:cNvSpPr>
            <a:spLocks noGrp="1"/>
          </p:cNvSpPr>
          <p:nvPr>
            <p:ph sz="quarter" idx="10"/>
          </p:nvPr>
        </p:nvSpPr>
        <p:spPr>
          <a:xfrm>
            <a:off x="521207" y="1435608"/>
            <a:ext cx="9937243" cy="5155692"/>
          </a:xfrm>
        </p:spPr>
        <p:txBody>
          <a:bodyPr>
            <a:normAutofit fontScale="32500" lnSpcReduction="20000"/>
          </a:bodyPr>
          <a:lstStyle/>
          <a:p>
            <a:r>
              <a:rPr lang="en-IN" sz="4000" b="1" dirty="0">
                <a:latin typeface="Times New Roman" panose="02020603050405020304" pitchFamily="18" charset="0"/>
                <a:cs typeface="Times New Roman" panose="02020603050405020304" pitchFamily="18" charset="0"/>
              </a:rPr>
              <a:t>TOTAL NUMBER OF CLOCK CYCLE                                                                        Speed  =NP/p  = 40cc/12cc  =3</a:t>
            </a:r>
          </a:p>
          <a:p>
            <a:r>
              <a:rPr lang="en-IN" sz="4000" b="1" dirty="0">
                <a:latin typeface="Times New Roman" panose="02020603050405020304" pitchFamily="18" charset="0"/>
                <a:cs typeface="Times New Roman" panose="02020603050405020304" pitchFamily="18" charset="0"/>
              </a:rPr>
              <a:t>If N Instruction                                                                                                        efficiency/utilization=total no of block/utilized block</a:t>
            </a:r>
          </a:p>
          <a:p>
            <a:r>
              <a:rPr lang="en-IN" sz="4000" b="1" dirty="0">
                <a:latin typeface="Times New Roman" panose="02020603050405020304" pitchFamily="18" charset="0"/>
                <a:cs typeface="Times New Roman" panose="02020603050405020304" pitchFamily="18" charset="0"/>
              </a:rPr>
              <a:t>I </a:t>
            </a:r>
            <a:r>
              <a:rPr lang="en-IN" sz="4000" b="1" dirty="0" err="1">
                <a:latin typeface="Times New Roman" panose="02020603050405020304" pitchFamily="18" charset="0"/>
                <a:cs typeface="Times New Roman" panose="02020603050405020304" pitchFamily="18" charset="0"/>
              </a:rPr>
              <a:t>st</a:t>
            </a:r>
            <a:r>
              <a:rPr lang="en-IN" sz="4000" b="1" dirty="0">
                <a:latin typeface="Times New Roman" panose="02020603050405020304" pitchFamily="18" charset="0"/>
                <a:cs typeface="Times New Roman" panose="02020603050405020304" pitchFamily="18" charset="0"/>
              </a:rPr>
              <a:t> instruction complete= 1* Number of pipeline Stages                                                                        =60/40  =3/2</a:t>
            </a:r>
          </a:p>
          <a:p>
            <a:r>
              <a:rPr lang="en-IN" sz="4000" b="1" dirty="0">
                <a:latin typeface="Times New Roman" panose="02020603050405020304" pitchFamily="18" charset="0"/>
                <a:cs typeface="Times New Roman" panose="02020603050405020304" pitchFamily="18" charset="0"/>
              </a:rPr>
              <a:t>                                        =1*k(k= no of </a:t>
            </a:r>
            <a:r>
              <a:rPr lang="en-IN" sz="4000" b="1" dirty="0" err="1">
                <a:latin typeface="Times New Roman" panose="02020603050405020304" pitchFamily="18" charset="0"/>
                <a:cs typeface="Times New Roman" panose="02020603050405020304" pitchFamily="18" charset="0"/>
              </a:rPr>
              <a:t>of</a:t>
            </a:r>
            <a:r>
              <a:rPr lang="en-IN" sz="4000" b="1" dirty="0">
                <a:latin typeface="Times New Roman" panose="02020603050405020304" pitchFamily="18" charset="0"/>
                <a:cs typeface="Times New Roman" panose="02020603050405020304" pitchFamily="18" charset="0"/>
              </a:rPr>
              <a:t> pipeline stages)</a:t>
            </a:r>
          </a:p>
          <a:p>
            <a:r>
              <a:rPr lang="en-IN" sz="4000" b="1" dirty="0">
                <a:latin typeface="Times New Roman" panose="02020603050405020304" pitchFamily="18" charset="0"/>
                <a:cs typeface="Times New Roman" panose="02020603050405020304" pitchFamily="18" charset="0"/>
              </a:rPr>
              <a:t>N-1 instruction take 1 clock cycle</a:t>
            </a:r>
          </a:p>
          <a:p>
            <a:r>
              <a:rPr lang="en-IN" sz="4000" b="1" dirty="0">
                <a:latin typeface="Times New Roman" panose="02020603050405020304" pitchFamily="18" charset="0"/>
                <a:cs typeface="Times New Roman" panose="02020603050405020304" pitchFamily="18" charset="0"/>
              </a:rPr>
              <a:t>Total= k+(n-1)</a:t>
            </a:r>
          </a:p>
          <a:p>
            <a:r>
              <a:rPr lang="en-IN" sz="4000" b="1" dirty="0">
                <a:latin typeface="Times New Roman" panose="02020603050405020304" pitchFamily="18" charset="0"/>
                <a:cs typeface="Times New Roman" panose="02020603050405020304" pitchFamily="18" charset="0"/>
              </a:rPr>
              <a:t>Eg: 5 stages  8 instruction     k=5; n=8 </a:t>
            </a:r>
          </a:p>
          <a:p>
            <a:r>
              <a:rPr lang="en-IN" sz="4000" b="1" dirty="0">
                <a:latin typeface="Times New Roman" panose="02020603050405020304" pitchFamily="18" charset="0"/>
                <a:cs typeface="Times New Roman" panose="02020603050405020304" pitchFamily="18" charset="0"/>
              </a:rPr>
              <a:t>Total time= k+(N-1)  = 5+(8-1)  =12   </a:t>
            </a:r>
          </a:p>
          <a:p>
            <a:r>
              <a:rPr lang="en-IN" sz="4000" b="1" dirty="0">
                <a:latin typeface="Times New Roman" panose="02020603050405020304" pitchFamily="18" charset="0"/>
                <a:cs typeface="Times New Roman" panose="02020603050405020304" pitchFamily="18" charset="0"/>
              </a:rPr>
              <a:t>CPU equivalent to 1</a:t>
            </a:r>
          </a:p>
          <a:p>
            <a:endParaRPr lang="en-IN" dirty="0"/>
          </a:p>
          <a:p>
            <a:endParaRPr lang="en-IN" dirty="0"/>
          </a:p>
          <a:p>
            <a:endParaRPr lang="en-IN" dirty="0"/>
          </a:p>
        </p:txBody>
      </p:sp>
    </p:spTree>
    <p:extLst>
      <p:ext uri="{BB962C8B-B14F-4D97-AF65-F5344CB8AC3E}">
        <p14:creationId xmlns:p14="http://schemas.microsoft.com/office/powerpoint/2010/main" val="23939898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3BE0EAA-8B8C-F804-9C2B-8CF0C6644012}"/>
              </a:ext>
            </a:extLst>
          </p:cNvPr>
          <p:cNvPicPr>
            <a:picLocks noChangeAspect="1"/>
          </p:cNvPicPr>
          <p:nvPr/>
        </p:nvPicPr>
        <p:blipFill>
          <a:blip r:embed="rId2"/>
          <a:stretch>
            <a:fillRect/>
          </a:stretch>
        </p:blipFill>
        <p:spPr>
          <a:xfrm>
            <a:off x="488765" y="390525"/>
            <a:ext cx="11255559" cy="5840947"/>
          </a:xfrm>
          <a:prstGeom prst="rect">
            <a:avLst/>
          </a:prstGeom>
        </p:spPr>
      </p:pic>
    </p:spTree>
    <p:extLst>
      <p:ext uri="{BB962C8B-B14F-4D97-AF65-F5344CB8AC3E}">
        <p14:creationId xmlns:p14="http://schemas.microsoft.com/office/powerpoint/2010/main" val="2976854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Autofit/>
          </a:bodyPr>
          <a:lstStyle/>
          <a:p>
            <a:r>
              <a:rPr lang="en-US" dirty="0">
                <a:latin typeface="Segoe UI Light" panose="020B0502040204020203" pitchFamily="34" charset="0"/>
                <a:cs typeface="Segoe UI Light" panose="020B0502040204020203" pitchFamily="34" charset="0"/>
              </a:rPr>
              <a:t>PIPELINING</a:t>
            </a:r>
          </a:p>
        </p:txBody>
      </p:sp>
      <p:pic>
        <p:nvPicPr>
          <p:cNvPr id="3" name="Picture 2">
            <a:extLst>
              <a:ext uri="{FF2B5EF4-FFF2-40B4-BE49-F238E27FC236}">
                <a16:creationId xmlns:a16="http://schemas.microsoft.com/office/drawing/2014/main" id="{1F0400FE-10DB-FC06-0A48-A161DCFE9569}"/>
              </a:ext>
            </a:extLst>
          </p:cNvPr>
          <p:cNvPicPr>
            <a:picLocks noChangeAspect="1"/>
          </p:cNvPicPr>
          <p:nvPr/>
        </p:nvPicPr>
        <p:blipFill>
          <a:blip r:embed="rId2"/>
          <a:stretch>
            <a:fillRect/>
          </a:stretch>
        </p:blipFill>
        <p:spPr>
          <a:xfrm>
            <a:off x="521208" y="1272353"/>
            <a:ext cx="10794492" cy="5004622"/>
          </a:xfrm>
          <a:prstGeom prst="rect">
            <a:avLst/>
          </a:prstGeom>
        </p:spPr>
      </p:pic>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82585-4D57-CCF5-ABE8-F705C137AB68}"/>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A5742CF-4CE3-6FE5-2518-D7955743521C}"/>
              </a:ext>
            </a:extLst>
          </p:cNvPr>
          <p:cNvPicPr>
            <a:picLocks noGrp="1" noChangeAspect="1"/>
          </p:cNvPicPr>
          <p:nvPr>
            <p:ph sz="quarter" idx="10"/>
          </p:nvPr>
        </p:nvPicPr>
        <p:blipFill>
          <a:blip r:embed="rId2"/>
          <a:stretch>
            <a:fillRect/>
          </a:stretch>
        </p:blipFill>
        <p:spPr>
          <a:xfrm>
            <a:off x="438150" y="1190625"/>
            <a:ext cx="10525125" cy="5038725"/>
          </a:xfrm>
          <a:prstGeom prst="rect">
            <a:avLst/>
          </a:prstGeom>
        </p:spPr>
      </p:pic>
    </p:spTree>
    <p:extLst>
      <p:ext uri="{BB962C8B-B14F-4D97-AF65-F5344CB8AC3E}">
        <p14:creationId xmlns:p14="http://schemas.microsoft.com/office/powerpoint/2010/main" val="3699742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8726E-DC3E-27BC-AEBF-BBF591C1A85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A4782DD3-8FFE-02D8-D032-D0AD2B17718C}"/>
              </a:ext>
            </a:extLst>
          </p:cNvPr>
          <p:cNvPicPr>
            <a:picLocks noGrp="1" noChangeAspect="1"/>
          </p:cNvPicPr>
          <p:nvPr>
            <p:ph sz="quarter" idx="10"/>
          </p:nvPr>
        </p:nvPicPr>
        <p:blipFill>
          <a:blip r:embed="rId2"/>
          <a:stretch>
            <a:fillRect/>
          </a:stretch>
        </p:blipFill>
        <p:spPr>
          <a:xfrm>
            <a:off x="539750" y="1088136"/>
            <a:ext cx="10785475" cy="5674614"/>
          </a:xfrm>
          <a:prstGeom prst="rect">
            <a:avLst/>
          </a:prstGeom>
        </p:spPr>
      </p:pic>
    </p:spTree>
    <p:extLst>
      <p:ext uri="{BB962C8B-B14F-4D97-AF65-F5344CB8AC3E}">
        <p14:creationId xmlns:p14="http://schemas.microsoft.com/office/powerpoint/2010/main" val="2651020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FDF8BB-BF45-D55C-40FD-404813566A04}"/>
              </a:ext>
            </a:extLst>
          </p:cNvPr>
          <p:cNvPicPr>
            <a:picLocks noChangeAspect="1"/>
          </p:cNvPicPr>
          <p:nvPr/>
        </p:nvPicPr>
        <p:blipFill>
          <a:blip r:embed="rId2"/>
          <a:stretch>
            <a:fillRect/>
          </a:stretch>
        </p:blipFill>
        <p:spPr>
          <a:xfrm>
            <a:off x="790575" y="1211388"/>
            <a:ext cx="10706099" cy="5198556"/>
          </a:xfrm>
          <a:prstGeom prst="rect">
            <a:avLst/>
          </a:prstGeom>
        </p:spPr>
      </p:pic>
    </p:spTree>
    <p:extLst>
      <p:ext uri="{BB962C8B-B14F-4D97-AF65-F5344CB8AC3E}">
        <p14:creationId xmlns:p14="http://schemas.microsoft.com/office/powerpoint/2010/main" val="3137366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76723A4-C93E-51FA-BECF-A880FDE07B6E}"/>
              </a:ext>
            </a:extLst>
          </p:cNvPr>
          <p:cNvPicPr>
            <a:picLocks noChangeAspect="1"/>
          </p:cNvPicPr>
          <p:nvPr/>
        </p:nvPicPr>
        <p:blipFill>
          <a:blip r:embed="rId2"/>
          <a:stretch>
            <a:fillRect/>
          </a:stretch>
        </p:blipFill>
        <p:spPr>
          <a:xfrm>
            <a:off x="619125" y="1192321"/>
            <a:ext cx="11125200" cy="4816257"/>
          </a:xfrm>
          <a:prstGeom prst="rect">
            <a:avLst/>
          </a:prstGeom>
        </p:spPr>
      </p:pic>
    </p:spTree>
    <p:extLst>
      <p:ext uri="{BB962C8B-B14F-4D97-AF65-F5344CB8AC3E}">
        <p14:creationId xmlns:p14="http://schemas.microsoft.com/office/powerpoint/2010/main" val="2153670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67437E8-84A8-42AE-B663-6A9C2DCF54D7}"/>
              </a:ext>
            </a:extLst>
          </p:cNvPr>
          <p:cNvPicPr>
            <a:picLocks noChangeAspect="1"/>
          </p:cNvPicPr>
          <p:nvPr/>
        </p:nvPicPr>
        <p:blipFill>
          <a:blip r:embed="rId2"/>
          <a:stretch>
            <a:fillRect/>
          </a:stretch>
        </p:blipFill>
        <p:spPr>
          <a:xfrm>
            <a:off x="447676" y="967386"/>
            <a:ext cx="9982566" cy="5890614"/>
          </a:xfrm>
          <a:prstGeom prst="rect">
            <a:avLst/>
          </a:prstGeom>
        </p:spPr>
      </p:pic>
    </p:spTree>
    <p:extLst>
      <p:ext uri="{BB962C8B-B14F-4D97-AF65-F5344CB8AC3E}">
        <p14:creationId xmlns:p14="http://schemas.microsoft.com/office/powerpoint/2010/main" val="821094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0A4651-9C4C-96AE-602F-31FEDEF737B7}"/>
              </a:ext>
            </a:extLst>
          </p:cNvPr>
          <p:cNvPicPr>
            <a:picLocks noChangeAspect="1"/>
          </p:cNvPicPr>
          <p:nvPr/>
        </p:nvPicPr>
        <p:blipFill>
          <a:blip r:embed="rId2"/>
          <a:stretch>
            <a:fillRect/>
          </a:stretch>
        </p:blipFill>
        <p:spPr>
          <a:xfrm>
            <a:off x="582572" y="1257103"/>
            <a:ext cx="10971253" cy="5277047"/>
          </a:xfrm>
          <a:prstGeom prst="rect">
            <a:avLst/>
          </a:prstGeom>
        </p:spPr>
      </p:pic>
    </p:spTree>
    <p:extLst>
      <p:ext uri="{BB962C8B-B14F-4D97-AF65-F5344CB8AC3E}">
        <p14:creationId xmlns:p14="http://schemas.microsoft.com/office/powerpoint/2010/main" val="19508197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Segoe UI Light" panose="020B0502040204020203" pitchFamily="34" charset="0"/>
                <a:cs typeface="Segoe UI Light" panose="020B0502040204020203" pitchFamily="34" charset="0"/>
              </a:rPr>
              <a:t>HAZARDS</a:t>
            </a:r>
          </a:p>
        </p:txBody>
      </p:sp>
      <p:sp>
        <p:nvSpPr>
          <p:cNvPr id="3" name="TextBox 2">
            <a:extLst>
              <a:ext uri="{FF2B5EF4-FFF2-40B4-BE49-F238E27FC236}">
                <a16:creationId xmlns:a16="http://schemas.microsoft.com/office/drawing/2014/main" id="{51FF964C-1CED-35D8-0A8F-B512C5E7E3AB}"/>
              </a:ext>
            </a:extLst>
          </p:cNvPr>
          <p:cNvSpPr txBox="1"/>
          <p:nvPr/>
        </p:nvSpPr>
        <p:spPr>
          <a:xfrm>
            <a:off x="733425" y="1619250"/>
            <a:ext cx="9772650" cy="3170099"/>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exploit ILP, we must determine which instructions can be executed in parallel.</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two instructions are parallel, they can be executed in pipeline without any stalls.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If two instructions are dependent on each other, they must be executed in order.</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situations in pipelining where the next instruction cannot execute in the following clock cycle are called hazards.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Three types: Structural, Data, and Control hazards</a:t>
            </a:r>
            <a:r>
              <a:rPr lang="en-US" dirty="0"/>
              <a:t>.</a:t>
            </a:r>
            <a:endParaRPr lang="en-IN" dirty="0"/>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Data Hazards</a:t>
            </a:r>
            <a:endParaRPr lang="en-US" dirty="0">
              <a:latin typeface="Segoe UI Light" panose="020B0502040204020203" pitchFamily="34" charset="0"/>
              <a:cs typeface="Segoe UI Light" panose="020B0502040204020203" pitchFamily="34" charset="0"/>
            </a:endParaRPr>
          </a:p>
        </p:txBody>
      </p:sp>
      <p:sp>
        <p:nvSpPr>
          <p:cNvPr id="8" name="TextBox 7">
            <a:extLst>
              <a:ext uri="{FF2B5EF4-FFF2-40B4-BE49-F238E27FC236}">
                <a16:creationId xmlns:a16="http://schemas.microsoft.com/office/drawing/2014/main" id="{B5925B84-F388-19F6-DB32-2ED811CCB873}"/>
              </a:ext>
            </a:extLst>
          </p:cNvPr>
          <p:cNvSpPr txBox="1"/>
          <p:nvPr/>
        </p:nvSpPr>
        <p:spPr>
          <a:xfrm>
            <a:off x="676275" y="1859339"/>
            <a:ext cx="10163175" cy="452431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When a planned instruction cannot execute in the proper clock cycle because of the lack of availability of the required data.</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pipeline stalls because one step must wait for another to complete.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Data hazards arise because of the dependence of one instruction on an earlier instruction that is still in the pipeline.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Three types of data hazards according to the order of read and write access in the instruction:</a:t>
            </a:r>
          </a:p>
          <a:p>
            <a:endParaRPr lang="en-US"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RAW, WAR, WAW.</a:t>
            </a:r>
          </a:p>
        </p:txBody>
      </p:sp>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F28EA-A8F8-2727-D2D6-0804E7C4B426}"/>
              </a:ext>
            </a:extLst>
          </p:cNvPr>
          <p:cNvSpPr>
            <a:spLocks noGrp="1"/>
          </p:cNvSpPr>
          <p:nvPr>
            <p:ph type="title"/>
          </p:nvPr>
        </p:nvSpPr>
        <p:spPr/>
        <p:txBody>
          <a:bodyPr/>
          <a:lstStyle/>
          <a:p>
            <a:r>
              <a:rPr lang="en-IN" dirty="0"/>
              <a:t>RAW</a:t>
            </a:r>
          </a:p>
        </p:txBody>
      </p:sp>
      <p:sp>
        <p:nvSpPr>
          <p:cNvPr id="3" name="Content Placeholder 2">
            <a:extLst>
              <a:ext uri="{FF2B5EF4-FFF2-40B4-BE49-F238E27FC236}">
                <a16:creationId xmlns:a16="http://schemas.microsoft.com/office/drawing/2014/main" id="{AC5A9D04-3D79-FFC7-D8A9-E134175AF2EB}"/>
              </a:ext>
            </a:extLst>
          </p:cNvPr>
          <p:cNvSpPr>
            <a:spLocks noGrp="1"/>
          </p:cNvSpPr>
          <p:nvPr>
            <p:ph sz="quarter" idx="10"/>
          </p:nvPr>
        </p:nvSpPr>
        <p:spPr>
          <a:xfrm>
            <a:off x="539496" y="1435608"/>
            <a:ext cx="10242804" cy="3977640"/>
          </a:xfrm>
        </p:spPr>
        <p:txBody>
          <a:bodyPr>
            <a:normAutofit fontScale="92500" lnSpcReduction="10000"/>
          </a:bodyPr>
          <a:lstStyle/>
          <a:p>
            <a:r>
              <a:rPr lang="en-US" sz="2800" dirty="0">
                <a:latin typeface="Times New Roman" panose="02020603050405020304" pitchFamily="18" charset="0"/>
                <a:cs typeface="Times New Roman" panose="02020603050405020304" pitchFamily="18" charset="0"/>
              </a:rPr>
              <a:t>Consider two instructions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and j, with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preceding j in the </a:t>
            </a:r>
            <a:r>
              <a:rPr lang="en-IN" sz="2800" dirty="0">
                <a:latin typeface="Times New Roman" panose="02020603050405020304" pitchFamily="18" charset="0"/>
                <a:cs typeface="Times New Roman" panose="02020603050405020304" pitchFamily="18" charset="0"/>
              </a:rPr>
              <a:t>program order.</a:t>
            </a:r>
          </a:p>
          <a:p>
            <a:r>
              <a:rPr lang="en-US" sz="2800" dirty="0">
                <a:latin typeface="Times New Roman" panose="02020603050405020304" pitchFamily="18" charset="0"/>
                <a:cs typeface="Times New Roman" panose="02020603050405020304" pitchFamily="18" charset="0"/>
              </a:rPr>
              <a:t>RAW(Read After Write): j tries to read a source before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writes it. So j incorrectly </a:t>
            </a:r>
            <a:r>
              <a:rPr lang="en-IN" sz="2800" dirty="0">
                <a:latin typeface="Times New Roman" panose="02020603050405020304" pitchFamily="18" charset="0"/>
                <a:cs typeface="Times New Roman" panose="02020603050405020304" pitchFamily="18" charset="0"/>
              </a:rPr>
              <a:t>get the old value.</a:t>
            </a:r>
          </a:p>
          <a:p>
            <a:r>
              <a:rPr lang="en-IN" sz="2800" dirty="0">
                <a:latin typeface="Times New Roman" panose="02020603050405020304" pitchFamily="18" charset="0"/>
                <a:cs typeface="Times New Roman" panose="02020603050405020304" pitchFamily="18" charset="0"/>
              </a:rPr>
              <a:t>add x3, x5, x6</a:t>
            </a:r>
          </a:p>
          <a:p>
            <a:r>
              <a:rPr lang="en-IN" sz="2800" dirty="0">
                <a:latin typeface="Times New Roman" panose="02020603050405020304" pitchFamily="18" charset="0"/>
                <a:cs typeface="Times New Roman" panose="02020603050405020304" pitchFamily="18" charset="0"/>
              </a:rPr>
              <a:t>   sub x5, x3, x4</a:t>
            </a:r>
          </a:p>
          <a:p>
            <a:endParaRPr lang="en-IN" dirty="0"/>
          </a:p>
        </p:txBody>
      </p:sp>
    </p:spTree>
    <p:extLst>
      <p:ext uri="{BB962C8B-B14F-4D97-AF65-F5344CB8AC3E}">
        <p14:creationId xmlns:p14="http://schemas.microsoft.com/office/powerpoint/2010/main" val="29726837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55CAB-478F-F5DF-4618-2D679203FE67}"/>
              </a:ext>
            </a:extLst>
          </p:cNvPr>
          <p:cNvSpPr>
            <a:spLocks noGrp="1"/>
          </p:cNvSpPr>
          <p:nvPr>
            <p:ph type="title"/>
          </p:nvPr>
        </p:nvSpPr>
        <p:spPr/>
        <p:txBody>
          <a:bodyPr/>
          <a:lstStyle/>
          <a:p>
            <a:r>
              <a:rPr lang="en-IN" dirty="0"/>
              <a:t>WAR</a:t>
            </a:r>
          </a:p>
        </p:txBody>
      </p:sp>
      <p:sp>
        <p:nvSpPr>
          <p:cNvPr id="5" name="TextBox 4">
            <a:extLst>
              <a:ext uri="{FF2B5EF4-FFF2-40B4-BE49-F238E27FC236}">
                <a16:creationId xmlns:a16="http://schemas.microsoft.com/office/drawing/2014/main" id="{DE054973-AAA6-95C8-9D77-D0F8CFBC2D58}"/>
              </a:ext>
            </a:extLst>
          </p:cNvPr>
          <p:cNvSpPr txBox="1"/>
          <p:nvPr/>
        </p:nvSpPr>
        <p:spPr>
          <a:xfrm>
            <a:off x="521207" y="1609636"/>
            <a:ext cx="6096000" cy="4678204"/>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WAR (Write After Read): j tries to write the source before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read it. So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incorrectly </a:t>
            </a:r>
            <a:r>
              <a:rPr lang="en-IN" sz="2800" dirty="0">
                <a:latin typeface="Times New Roman" panose="02020603050405020304" pitchFamily="18" charset="0"/>
                <a:cs typeface="Times New Roman" panose="02020603050405020304" pitchFamily="18" charset="0"/>
              </a:rPr>
              <a:t>gets the new value.</a:t>
            </a:r>
          </a:p>
          <a:p>
            <a:r>
              <a:rPr lang="en-IN" sz="2800" dirty="0">
                <a:latin typeface="Times New Roman" panose="02020603050405020304" pitchFamily="18" charset="0"/>
                <a:cs typeface="Times New Roman" panose="02020603050405020304" pitchFamily="18" charset="0"/>
              </a:rPr>
              <a:t>    add x1, x2,x3</a:t>
            </a:r>
          </a:p>
          <a:p>
            <a:pPr marL="0" indent="0">
              <a:buNone/>
            </a:pPr>
            <a:r>
              <a:rPr lang="en-IN" sz="2800" dirty="0">
                <a:latin typeface="Times New Roman" panose="02020603050405020304" pitchFamily="18" charset="0"/>
                <a:cs typeface="Times New Roman" panose="02020603050405020304" pitchFamily="18" charset="0"/>
              </a:rPr>
              <a:t>     sub x2, x4, x5</a:t>
            </a:r>
          </a:p>
          <a:p>
            <a:pPr marL="0" indent="0">
              <a:buNone/>
            </a:pPr>
            <a:endParaRPr lang="en-IN"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WAW(Write After Write): j tries to write an operand before it is written by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a:t>
            </a:r>
          </a:p>
          <a:p>
            <a:r>
              <a:rPr lang="en-IN" sz="2800" dirty="0">
                <a:latin typeface="Times New Roman" panose="02020603050405020304" pitchFamily="18" charset="0"/>
                <a:cs typeface="Times New Roman" panose="02020603050405020304" pitchFamily="18" charset="0"/>
              </a:rPr>
              <a:t>     sub x3, x1, x2</a:t>
            </a:r>
          </a:p>
          <a:p>
            <a:r>
              <a:rPr lang="en-IN" sz="2800" dirty="0">
                <a:latin typeface="Times New Roman" panose="02020603050405020304" pitchFamily="18" charset="0"/>
                <a:cs typeface="Times New Roman" panose="02020603050405020304" pitchFamily="18" charset="0"/>
              </a:rPr>
              <a:t>      add x3, x4, x5</a:t>
            </a:r>
          </a:p>
          <a:p>
            <a:pPr marL="0" indent="0">
              <a:buNone/>
            </a:pPr>
            <a:endParaRPr lang="en-IN" dirty="0"/>
          </a:p>
        </p:txBody>
      </p:sp>
    </p:spTree>
    <p:extLst>
      <p:ext uri="{BB962C8B-B14F-4D97-AF65-F5344CB8AC3E}">
        <p14:creationId xmlns:p14="http://schemas.microsoft.com/office/powerpoint/2010/main" val="708286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E6AFE-D02D-094A-0211-0D754E002409}"/>
              </a:ext>
            </a:extLst>
          </p:cNvPr>
          <p:cNvSpPr>
            <a:spLocks noGrp="1"/>
          </p:cNvSpPr>
          <p:nvPr>
            <p:ph type="title"/>
          </p:nvPr>
        </p:nvSpPr>
        <p:spPr/>
        <p:txBody>
          <a:bodyPr/>
          <a:lstStyle/>
          <a:p>
            <a:r>
              <a:rPr lang="en-IN" dirty="0"/>
              <a:t>HARDWARE-Forwarding</a:t>
            </a:r>
          </a:p>
        </p:txBody>
      </p:sp>
      <p:sp>
        <p:nvSpPr>
          <p:cNvPr id="3" name="Content Placeholder 2">
            <a:extLst>
              <a:ext uri="{FF2B5EF4-FFF2-40B4-BE49-F238E27FC236}">
                <a16:creationId xmlns:a16="http://schemas.microsoft.com/office/drawing/2014/main" id="{B9B06BDA-F894-A024-645E-640A10E43AF8}"/>
              </a:ext>
            </a:extLst>
          </p:cNvPr>
          <p:cNvSpPr>
            <a:spLocks noGrp="1"/>
          </p:cNvSpPr>
          <p:nvPr>
            <p:ph sz="quarter" idx="10"/>
          </p:nvPr>
        </p:nvSpPr>
        <p:spPr>
          <a:xfrm>
            <a:off x="539495" y="1435608"/>
            <a:ext cx="10747629" cy="3977640"/>
          </a:xfrm>
        </p:spPr>
        <p:txBody>
          <a:bodyPr>
            <a:norm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data hazard problem can be eliminated using a simple hardware technique called forwarding or bypassing or short-</a:t>
            </a:r>
            <a:r>
              <a:rPr lang="en-US" sz="2400" dirty="0" err="1">
                <a:latin typeface="Times New Roman" panose="02020603050405020304" pitchFamily="18" charset="0"/>
                <a:cs typeface="Times New Roman" panose="02020603050405020304" pitchFamily="18" charset="0"/>
              </a:rPr>
              <a:t>sircuiting</a:t>
            </a:r>
            <a:r>
              <a:rPr lang="en-US" sz="24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Forwarding means passing a result directly to the functional unit that requires it.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Pipeline Registers: The registers which are introduced between the successive stages of the pipeline, so that at the end a clock cycle all the results from a stage are stored and can be used as input to the next stage in the next clock cycle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64947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1C952-6EA4-2EDB-227B-200949F62591}"/>
              </a:ext>
            </a:extLst>
          </p:cNvPr>
          <p:cNvSpPr>
            <a:spLocks noGrp="1"/>
          </p:cNvSpPr>
          <p:nvPr>
            <p:ph type="title"/>
          </p:nvPr>
        </p:nvSpPr>
        <p:spPr/>
        <p:txBody>
          <a:bodyPr/>
          <a:lstStyle/>
          <a:p>
            <a:endParaRPr lang="en-IN"/>
          </a:p>
        </p:txBody>
      </p:sp>
      <p:pic>
        <p:nvPicPr>
          <p:cNvPr id="4" name="Content Placeholder 4">
            <a:extLst>
              <a:ext uri="{FF2B5EF4-FFF2-40B4-BE49-F238E27FC236}">
                <a16:creationId xmlns:a16="http://schemas.microsoft.com/office/drawing/2014/main" id="{8390BD3C-7466-1FDA-7672-8EFD06A51554}"/>
              </a:ext>
            </a:extLst>
          </p:cNvPr>
          <p:cNvPicPr>
            <a:picLocks noGrp="1" noChangeAspect="1"/>
          </p:cNvPicPr>
          <p:nvPr>
            <p:ph sz="quarter" idx="10"/>
          </p:nvPr>
        </p:nvPicPr>
        <p:blipFill>
          <a:blip r:embed="rId2"/>
          <a:stretch>
            <a:fillRect/>
          </a:stretch>
        </p:blipFill>
        <p:spPr>
          <a:xfrm>
            <a:off x="1861130" y="2149102"/>
            <a:ext cx="7016169" cy="1622797"/>
          </a:xfrm>
          <a:prstGeom prst="rect">
            <a:avLst/>
          </a:prstGeom>
        </p:spPr>
      </p:pic>
      <p:sp>
        <p:nvSpPr>
          <p:cNvPr id="6" name="TextBox 5">
            <a:extLst>
              <a:ext uri="{FF2B5EF4-FFF2-40B4-BE49-F238E27FC236}">
                <a16:creationId xmlns:a16="http://schemas.microsoft.com/office/drawing/2014/main" id="{24664D40-BED3-F65F-78B1-105C14ECC776}"/>
              </a:ext>
            </a:extLst>
          </p:cNvPr>
          <p:cNvSpPr txBox="1"/>
          <p:nvPr/>
        </p:nvSpPr>
        <p:spPr>
          <a:xfrm>
            <a:off x="809624" y="4347090"/>
            <a:ext cx="8810625" cy="1200329"/>
          </a:xfrm>
          <a:prstGeom prst="rect">
            <a:avLst/>
          </a:prstGeom>
          <a:noFill/>
        </p:spPr>
        <p:txBody>
          <a:bodyPr wrap="square">
            <a:spAutoFit/>
          </a:bodyPr>
          <a:lstStyle/>
          <a:p>
            <a:r>
              <a:rPr lang="en-US" dirty="0"/>
              <a:t>The results are forwarded from the pipeline register of a stage to the input of another.</a:t>
            </a:r>
          </a:p>
          <a:p>
            <a:endParaRPr lang="en-US" dirty="0"/>
          </a:p>
          <a:p>
            <a:r>
              <a:rPr lang="en-US" dirty="0"/>
              <a:t>Forwarding paths are valid only if the destination stage is later in time than the source </a:t>
            </a:r>
            <a:r>
              <a:rPr lang="en-IN" dirty="0"/>
              <a:t>stage.</a:t>
            </a:r>
          </a:p>
        </p:txBody>
      </p:sp>
    </p:spTree>
    <p:extLst>
      <p:ext uri="{BB962C8B-B14F-4D97-AF65-F5344CB8AC3E}">
        <p14:creationId xmlns:p14="http://schemas.microsoft.com/office/powerpoint/2010/main" val="913326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AD62-1425-D21D-B435-D70CAF0B8D1C}"/>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8EAFA657-0A7B-3B89-B882-5EE37C9E83AB}"/>
              </a:ext>
            </a:extLst>
          </p:cNvPr>
          <p:cNvSpPr>
            <a:spLocks noGrp="1"/>
          </p:cNvSpPr>
          <p:nvPr>
            <p:ph sz="quarter" idx="10"/>
          </p:nvPr>
        </p:nvSpPr>
        <p:spPr>
          <a:xfrm>
            <a:off x="819150" y="1435608"/>
            <a:ext cx="11172824" cy="2822067"/>
          </a:xfrm>
        </p:spPr>
        <p:txBody>
          <a:bodyPr>
            <a:noAutofit/>
          </a:bodyPr>
          <a:lstStyle/>
          <a:p>
            <a:r>
              <a:rPr lang="en-US" sz="2400" dirty="0">
                <a:latin typeface="Times New Roman" panose="02020603050405020304" pitchFamily="18" charset="0"/>
                <a:cs typeface="Times New Roman" panose="02020603050405020304" pitchFamily="18" charset="0"/>
              </a:rPr>
              <a:t>However, forwarding cannot completely prevent stalls.</a:t>
            </a:r>
          </a:p>
          <a:p>
            <a:r>
              <a:rPr lang="en-US" sz="2400" dirty="0">
                <a:latin typeface="Times New Roman" panose="02020603050405020304" pitchFamily="18" charset="0"/>
                <a:cs typeface="Times New Roman" panose="02020603050405020304" pitchFamily="18" charset="0"/>
              </a:rPr>
              <a:t>Suppose the first instruction was a load instead of an add. (Load-use data hazard)</a:t>
            </a:r>
          </a:p>
          <a:p>
            <a:r>
              <a:rPr lang="en-US" sz="2400" dirty="0">
                <a:latin typeface="Times New Roman" panose="02020603050405020304" pitchFamily="18" charset="0"/>
                <a:cs typeface="Times New Roman" panose="02020603050405020304" pitchFamily="18" charset="0"/>
              </a:rPr>
              <a:t>Load-use data hazard means a specific type of data hazard in which the data being loaded by the load instruction has not yet become available when it is required by another instruction</a:t>
            </a:r>
          </a:p>
          <a:p>
            <a:endParaRPr lang="en-IN" sz="2400" dirty="0">
              <a:latin typeface="Times New Roman" panose="02020603050405020304" pitchFamily="18" charset="0"/>
              <a:cs typeface="Times New Roman" panose="02020603050405020304" pitchFamily="18" charset="0"/>
            </a:endParaRPr>
          </a:p>
        </p:txBody>
      </p:sp>
      <p:pic>
        <p:nvPicPr>
          <p:cNvPr id="4" name="Content Placeholder 4">
            <a:extLst>
              <a:ext uri="{FF2B5EF4-FFF2-40B4-BE49-F238E27FC236}">
                <a16:creationId xmlns:a16="http://schemas.microsoft.com/office/drawing/2014/main" id="{474054C5-4294-FB52-3901-552549505154}"/>
              </a:ext>
            </a:extLst>
          </p:cNvPr>
          <p:cNvPicPr>
            <a:picLocks noChangeAspect="1"/>
          </p:cNvPicPr>
          <p:nvPr/>
        </p:nvPicPr>
        <p:blipFill>
          <a:blip r:embed="rId2"/>
          <a:stretch>
            <a:fillRect/>
          </a:stretch>
        </p:blipFill>
        <p:spPr>
          <a:xfrm>
            <a:off x="3120308" y="4885944"/>
            <a:ext cx="5814141" cy="1524000"/>
          </a:xfrm>
          <a:prstGeom prst="rect">
            <a:avLst/>
          </a:prstGeom>
        </p:spPr>
      </p:pic>
    </p:spTree>
    <p:extLst>
      <p:ext uri="{BB962C8B-B14F-4D97-AF65-F5344CB8AC3E}">
        <p14:creationId xmlns:p14="http://schemas.microsoft.com/office/powerpoint/2010/main" val="3573420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418CA-F63F-9AC7-710E-A35D01EAF1B8}"/>
              </a:ext>
            </a:extLst>
          </p:cNvPr>
          <p:cNvSpPr>
            <a:spLocks noGrp="1"/>
          </p:cNvSpPr>
          <p:nvPr>
            <p:ph type="title"/>
          </p:nvPr>
        </p:nvSpPr>
        <p:spPr/>
        <p:txBody>
          <a:bodyPr/>
          <a:lstStyle/>
          <a:p>
            <a:r>
              <a:rPr lang="en-IN" dirty="0"/>
              <a:t>CODE RECORDING</a:t>
            </a:r>
          </a:p>
        </p:txBody>
      </p:sp>
      <p:sp>
        <p:nvSpPr>
          <p:cNvPr id="3" name="Content Placeholder 2">
            <a:extLst>
              <a:ext uri="{FF2B5EF4-FFF2-40B4-BE49-F238E27FC236}">
                <a16:creationId xmlns:a16="http://schemas.microsoft.com/office/drawing/2014/main" id="{29732AEF-FE0E-1AA6-7926-846C4B5BAFD2}"/>
              </a:ext>
            </a:extLst>
          </p:cNvPr>
          <p:cNvSpPr>
            <a:spLocks noGrp="1"/>
          </p:cNvSpPr>
          <p:nvPr>
            <p:ph sz="quarter" idx="10"/>
          </p:nvPr>
        </p:nvSpPr>
        <p:spPr>
          <a:xfrm>
            <a:off x="539495" y="1435608"/>
            <a:ext cx="11357230" cy="4974336"/>
          </a:xfrm>
        </p:spPr>
        <p:txBody>
          <a:bodyPr>
            <a:normAutofit fontScale="77500" lnSpcReduction="20000"/>
          </a:bodyPr>
          <a:lstStyle/>
          <a:p>
            <a:r>
              <a:rPr lang="en-US" sz="3100" dirty="0">
                <a:latin typeface="Times New Roman" panose="02020603050405020304" pitchFamily="18" charset="0"/>
                <a:cs typeface="Times New Roman" panose="02020603050405020304" pitchFamily="18" charset="0"/>
              </a:rPr>
              <a:t>Code reordering is a technique used by compilers to rearrange the order of instructions without changing what the program does to make the program run faster.</a:t>
            </a:r>
          </a:p>
          <a:p>
            <a:r>
              <a:rPr lang="en-US" sz="3100" dirty="0">
                <a:latin typeface="Times New Roman" panose="02020603050405020304" pitchFamily="18" charset="0"/>
                <a:cs typeface="Times New Roman" panose="02020603050405020304" pitchFamily="18" charset="0"/>
              </a:rPr>
              <a:t>When a CPU executes instructions, some take longer than others. If one instruction has to wait for data (for example, from memory or a previous calculation), the CPU can do something else in that waiting time. The compiler can move those other independent instructions earlier this is called reordering.</a:t>
            </a:r>
          </a:p>
          <a:p>
            <a:r>
              <a:rPr lang="en-US" sz="3100" i="1" dirty="0">
                <a:latin typeface="Times New Roman" panose="02020603050405020304" pitchFamily="18" charset="0"/>
                <a:cs typeface="Times New Roman" panose="02020603050405020304" pitchFamily="18" charset="0"/>
              </a:rPr>
              <a:t>Code reordering = Changing the order of instructions to reduce idle time in the CPU, but keeping the same result</a:t>
            </a:r>
          </a:p>
          <a:p>
            <a:r>
              <a:rPr lang="en-US" dirty="0"/>
              <a:t> </a:t>
            </a:r>
            <a:endParaRPr lang="en-IN" dirty="0"/>
          </a:p>
        </p:txBody>
      </p:sp>
    </p:spTree>
    <p:extLst>
      <p:ext uri="{BB962C8B-B14F-4D97-AF65-F5344CB8AC3E}">
        <p14:creationId xmlns:p14="http://schemas.microsoft.com/office/powerpoint/2010/main" val="2166668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494CB-78EB-3F7D-0119-1F13631F04B6}"/>
              </a:ext>
            </a:extLst>
          </p:cNvPr>
          <p:cNvSpPr>
            <a:spLocks noGrp="1"/>
          </p:cNvSpPr>
          <p:nvPr>
            <p:ph type="title"/>
          </p:nvPr>
        </p:nvSpPr>
        <p:spPr>
          <a:xfrm>
            <a:off x="2981775" y="209550"/>
            <a:ext cx="7217352" cy="954786"/>
          </a:xfrm>
        </p:spPr>
        <p:txBody>
          <a:bodyPr>
            <a:normAutofit fontScale="90000"/>
          </a:bodyPr>
          <a:lstStyle/>
          <a:p>
            <a:r>
              <a:rPr lang="en-US" dirty="0"/>
              <a:t>Simple Example (No Reordering vs. With Reordering)</a:t>
            </a:r>
            <a:br>
              <a:rPr lang="en-US" dirty="0"/>
            </a:br>
            <a:endParaRPr lang="en-IN" dirty="0"/>
          </a:p>
        </p:txBody>
      </p:sp>
      <p:sp>
        <p:nvSpPr>
          <p:cNvPr id="3" name="Content Placeholder 2">
            <a:extLst>
              <a:ext uri="{FF2B5EF4-FFF2-40B4-BE49-F238E27FC236}">
                <a16:creationId xmlns:a16="http://schemas.microsoft.com/office/drawing/2014/main" id="{B79A2D22-26FE-6AE3-A980-9359AC49802E}"/>
              </a:ext>
            </a:extLst>
          </p:cNvPr>
          <p:cNvSpPr>
            <a:spLocks noGrp="1"/>
          </p:cNvSpPr>
          <p:nvPr>
            <p:ph sz="quarter" idx="10"/>
          </p:nvPr>
        </p:nvSpPr>
        <p:spPr>
          <a:xfrm>
            <a:off x="539496" y="1435608"/>
            <a:ext cx="10490454" cy="3977640"/>
          </a:xfrm>
        </p:spPr>
        <p:txBody>
          <a:bodyPr/>
          <a:lstStyle/>
          <a:p>
            <a:r>
              <a:rPr lang="en-US" sz="1800" dirty="0">
                <a:latin typeface="Times New Roman" panose="02020603050405020304" pitchFamily="18" charset="0"/>
                <a:cs typeface="Times New Roman" panose="02020603050405020304" pitchFamily="18" charset="0"/>
              </a:rPr>
              <a:t>Without code reordering:                                                                                                  </a:t>
            </a:r>
          </a:p>
          <a:p>
            <a:r>
              <a:rPr lang="en-US" sz="1800" dirty="0">
                <a:latin typeface="Times New Roman" panose="02020603050405020304" pitchFamily="18" charset="0"/>
                <a:cs typeface="Times New Roman" panose="02020603050405020304" pitchFamily="18" charset="0"/>
              </a:rPr>
              <a:t>LW  R1, 0(R2)     ; Load from memory (takes time)                                                             </a:t>
            </a:r>
          </a:p>
          <a:p>
            <a:r>
              <a:rPr lang="en-US" sz="1800" dirty="0">
                <a:latin typeface="Times New Roman" panose="02020603050405020304" pitchFamily="18" charset="0"/>
                <a:cs typeface="Times New Roman" panose="02020603050405020304" pitchFamily="18" charset="0"/>
              </a:rPr>
              <a:t>ADD R3, R1, R4     ; Needs R1 (must wait)</a:t>
            </a:r>
          </a:p>
          <a:p>
            <a:r>
              <a:rPr lang="en-US" sz="1800" dirty="0">
                <a:latin typeface="Times New Roman" panose="02020603050405020304" pitchFamily="18" charset="0"/>
                <a:cs typeface="Times New Roman" panose="02020603050405020304" pitchFamily="18" charset="0"/>
              </a:rPr>
              <a:t>SUB R5, R6, R7     ; Independent work</a:t>
            </a:r>
          </a:p>
          <a:p>
            <a:r>
              <a:rPr lang="en-US" sz="1600" dirty="0">
                <a:latin typeface="Times New Roman" panose="02020603050405020304" pitchFamily="18" charset="0"/>
                <a:cs typeface="Times New Roman" panose="02020603050405020304" pitchFamily="18" charset="0"/>
              </a:rPr>
              <a:t>Here, the ADD must wait until LW finishes loading.</a:t>
            </a:r>
          </a:p>
          <a:p>
            <a:endParaRPr lang="en-US" dirty="0"/>
          </a:p>
          <a:p>
            <a:endParaRPr lang="en-IN" dirty="0"/>
          </a:p>
        </p:txBody>
      </p:sp>
    </p:spTree>
    <p:extLst>
      <p:ext uri="{BB962C8B-B14F-4D97-AF65-F5344CB8AC3E}">
        <p14:creationId xmlns:p14="http://schemas.microsoft.com/office/powerpoint/2010/main" val="40042977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FDC6D-1F87-CCEE-E242-4A4163A81AD2}"/>
              </a:ext>
            </a:extLst>
          </p:cNvPr>
          <p:cNvSpPr>
            <a:spLocks noGrp="1"/>
          </p:cNvSpPr>
          <p:nvPr>
            <p:ph type="title"/>
          </p:nvPr>
        </p:nvSpPr>
        <p:spPr>
          <a:xfrm>
            <a:off x="314325" y="76200"/>
            <a:ext cx="7084002" cy="1011936"/>
          </a:xfrm>
        </p:spPr>
        <p:txBody>
          <a:bodyPr>
            <a:noAutofit/>
          </a:bodyPr>
          <a:lstStyle/>
          <a:p>
            <a:pPr algn="ct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With code recording</a:t>
            </a: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D1B458B-05F9-2397-E787-5885DC5F3882}"/>
              </a:ext>
            </a:extLst>
          </p:cNvPr>
          <p:cNvSpPr>
            <a:spLocks noGrp="1"/>
          </p:cNvSpPr>
          <p:nvPr>
            <p:ph sz="quarter" idx="10"/>
          </p:nvPr>
        </p:nvSpPr>
        <p:spPr>
          <a:xfrm>
            <a:off x="539496" y="1435608"/>
            <a:ext cx="8585454" cy="3977640"/>
          </a:xfrm>
        </p:spPr>
        <p:txBody>
          <a:bodyPr>
            <a:normAutofit/>
          </a:bodyPr>
          <a:lstStyle/>
          <a:p>
            <a:r>
              <a:rPr lang="en-US" dirty="0"/>
              <a:t>   </a:t>
            </a:r>
            <a:r>
              <a:rPr lang="en-US" sz="1800" dirty="0">
                <a:latin typeface="Times New Roman" panose="02020603050405020304" pitchFamily="18" charset="0"/>
                <a:cs typeface="Times New Roman" panose="02020603050405020304" pitchFamily="18" charset="0"/>
              </a:rPr>
              <a:t>LW  R1, 0(R2)     ; Load R1 from memory</a:t>
            </a:r>
          </a:p>
          <a:p>
            <a:r>
              <a:rPr lang="en-US" sz="1800" dirty="0">
                <a:latin typeface="Times New Roman" panose="02020603050405020304" pitchFamily="18" charset="0"/>
                <a:cs typeface="Times New Roman" panose="02020603050405020304" pitchFamily="18" charset="0"/>
              </a:rPr>
              <a:t>SUB R5, R6, R7     ; Do independent work meanwhile</a:t>
            </a:r>
          </a:p>
          <a:p>
            <a:r>
              <a:rPr lang="en-US" sz="1800" dirty="0">
                <a:latin typeface="Times New Roman" panose="02020603050405020304" pitchFamily="18" charset="0"/>
                <a:cs typeface="Times New Roman" panose="02020603050405020304" pitchFamily="18" charset="0"/>
              </a:rPr>
              <a:t>ADD R3, R1, R4     ; Now R1 is ready, no waiting</a:t>
            </a:r>
          </a:p>
          <a:p>
            <a:r>
              <a:rPr lang="en-US" sz="2000" dirty="0">
                <a:latin typeface="Times New Roman" panose="02020603050405020304" pitchFamily="18" charset="0"/>
                <a:cs typeface="Times New Roman" panose="02020603050405020304" pitchFamily="18" charset="0"/>
              </a:rPr>
              <a:t>This reordering keeps the CPU busy instead of waiting — so it runs faster.</a:t>
            </a:r>
          </a:p>
          <a:p>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796532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35232-8308-29E5-8424-03D114F7328A}"/>
              </a:ext>
            </a:extLst>
          </p:cNvPr>
          <p:cNvSpPr>
            <a:spLocks noGrp="1"/>
          </p:cNvSpPr>
          <p:nvPr>
            <p:ph type="title"/>
          </p:nvPr>
        </p:nvSpPr>
        <p:spPr>
          <a:xfrm>
            <a:off x="295275" y="257175"/>
            <a:ext cx="7103051" cy="830961"/>
          </a:xfrm>
        </p:spPr>
        <p:txBody>
          <a:bodyPr>
            <a:normAutofit fontScale="90000"/>
          </a:bodyPr>
          <a:lstStyle/>
          <a:p>
            <a:r>
              <a:rPr lang="en-IN"/>
              <a:t>STRUCTURAL HAZARDS</a:t>
            </a:r>
            <a:br>
              <a:rPr lang="en-IN"/>
            </a:br>
            <a:endParaRPr lang="en-IN" dirty="0"/>
          </a:p>
        </p:txBody>
      </p:sp>
      <p:sp>
        <p:nvSpPr>
          <p:cNvPr id="3" name="Content Placeholder 2">
            <a:extLst>
              <a:ext uri="{FF2B5EF4-FFF2-40B4-BE49-F238E27FC236}">
                <a16:creationId xmlns:a16="http://schemas.microsoft.com/office/drawing/2014/main" id="{7488EF9E-5F92-7F92-CFDC-7CD1211200AB}"/>
              </a:ext>
            </a:extLst>
          </p:cNvPr>
          <p:cNvSpPr>
            <a:spLocks noGrp="1"/>
          </p:cNvSpPr>
          <p:nvPr>
            <p:ph sz="quarter" idx="10"/>
          </p:nvPr>
        </p:nvSpPr>
        <p:spPr>
          <a:xfrm>
            <a:off x="539496" y="1435608"/>
            <a:ext cx="8633079" cy="3977640"/>
          </a:xfrm>
        </p:spPr>
        <p:txBody>
          <a:bodyPr/>
          <a:lstStyle/>
          <a:p>
            <a:r>
              <a:rPr lang="en-IN" sz="2400" dirty="0">
                <a:latin typeface="Times New Roman" panose="02020603050405020304" pitchFamily="18" charset="0"/>
                <a:cs typeface="Times New Roman" panose="02020603050405020304" pitchFamily="18" charset="0"/>
              </a:rPr>
              <a:t>Occurs when two or more instructions require the same hardware resource at the same time.(</a:t>
            </a:r>
            <a:r>
              <a:rPr lang="en-IN" sz="2400" dirty="0" err="1">
                <a:latin typeface="Times New Roman" panose="02020603050405020304" pitchFamily="18" charset="0"/>
                <a:cs typeface="Times New Roman" panose="02020603050405020304" pitchFamily="18" charset="0"/>
              </a:rPr>
              <a:t>eg.</a:t>
            </a:r>
            <a:r>
              <a:rPr lang="en-IN" sz="2400" dirty="0">
                <a:latin typeface="Times New Roman" panose="02020603050405020304" pitchFamily="18" charset="0"/>
                <a:cs typeface="Times New Roman" panose="02020603050405020304" pitchFamily="18" charset="0"/>
              </a:rPr>
              <a:t> Memory, ALU, registers etc.)</a:t>
            </a:r>
          </a:p>
          <a:p>
            <a:r>
              <a:rPr lang="en-IN" sz="2400" dirty="0">
                <a:latin typeface="Times New Roman" panose="02020603050405020304" pitchFamily="18" charset="0"/>
                <a:cs typeface="Times New Roman" panose="02020603050405020304" pitchFamily="18" charset="0"/>
              </a:rPr>
              <a:t>Detection involves identifying if two instructions are requesting the same resource in a given clock cycle.</a:t>
            </a:r>
          </a:p>
          <a:p>
            <a:endParaRPr lang="en-IN" dirty="0"/>
          </a:p>
        </p:txBody>
      </p:sp>
    </p:spTree>
    <p:extLst>
      <p:ext uri="{BB962C8B-B14F-4D97-AF65-F5344CB8AC3E}">
        <p14:creationId xmlns:p14="http://schemas.microsoft.com/office/powerpoint/2010/main" val="2698983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EF99A-97B1-95DC-FB8A-00458617966B}"/>
              </a:ext>
            </a:extLst>
          </p:cNvPr>
          <p:cNvSpPr>
            <a:spLocks noGrp="1"/>
          </p:cNvSpPr>
          <p:nvPr>
            <p:ph type="title"/>
          </p:nvPr>
        </p:nvSpPr>
        <p:spPr/>
        <p:txBody>
          <a:bodyPr/>
          <a:lstStyle/>
          <a:p>
            <a:r>
              <a:rPr lang="en-IN" dirty="0"/>
              <a:t>CONTROL HAZARDS</a:t>
            </a:r>
          </a:p>
        </p:txBody>
      </p:sp>
      <p:sp>
        <p:nvSpPr>
          <p:cNvPr id="3" name="Content Placeholder 2">
            <a:extLst>
              <a:ext uri="{FF2B5EF4-FFF2-40B4-BE49-F238E27FC236}">
                <a16:creationId xmlns:a16="http://schemas.microsoft.com/office/drawing/2014/main" id="{ED2E1451-0BDF-192B-6A7A-C1CF6BBDFE76}"/>
              </a:ext>
            </a:extLst>
          </p:cNvPr>
          <p:cNvSpPr>
            <a:spLocks noGrp="1"/>
          </p:cNvSpPr>
          <p:nvPr>
            <p:ph sz="quarter" idx="10"/>
          </p:nvPr>
        </p:nvSpPr>
        <p:spPr>
          <a:xfrm>
            <a:off x="539495" y="1435607"/>
            <a:ext cx="11023855" cy="4746117"/>
          </a:xfrm>
        </p:spPr>
        <p:txBody>
          <a:bodyPr>
            <a:normAutofit/>
          </a:bodyPr>
          <a:lstStyle/>
          <a:p>
            <a:pPr eaLnBrk="0" fontAlgn="base" hangingPunct="0">
              <a:spcBef>
                <a:spcPct val="0"/>
              </a:spcBef>
              <a:spcAft>
                <a:spcPct val="0"/>
              </a:spcAft>
              <a:buClrTx/>
              <a:buSzTx/>
            </a:pPr>
            <a:r>
              <a:rPr lang="en-US" altLang="en-US" sz="2800" dirty="0">
                <a:latin typeface="Times New Roman" panose="02020603050405020304" pitchFamily="18" charset="0"/>
                <a:cs typeface="Times New Roman" panose="02020603050405020304" pitchFamily="18" charset="0"/>
              </a:rPr>
              <a:t>Control hazards occur when the CPU cannot determine the next instruction to fetch because the outcome of a branch or jump is not yet known. Also called branch hazards.</a:t>
            </a:r>
          </a:p>
          <a:p>
            <a:r>
              <a:rPr lang="en-US" sz="2800" dirty="0">
                <a:latin typeface="Times New Roman" panose="02020603050405020304" pitchFamily="18" charset="0"/>
                <a:cs typeface="Times New Roman" panose="02020603050405020304" pitchFamily="18" charset="0"/>
              </a:rPr>
              <a:t> Arises from branch instructions, conditional jumps,  function calls/returns.</a:t>
            </a:r>
          </a:p>
          <a:p>
            <a:r>
              <a:rPr lang="en-US" sz="2800" dirty="0">
                <a:latin typeface="Times New Roman" panose="02020603050405020304" pitchFamily="18" charset="0"/>
                <a:cs typeface="Times New Roman" panose="02020603050405020304" pitchFamily="18" charset="0"/>
              </a:rPr>
              <a:t> The Program Counter (PC) update depends on the branch decision, which is resolved late in the pipeline.</a:t>
            </a:r>
          </a:p>
          <a:p>
            <a:endParaRPr lang="en-IN" dirty="0"/>
          </a:p>
        </p:txBody>
      </p:sp>
    </p:spTree>
    <p:extLst>
      <p:ext uri="{BB962C8B-B14F-4D97-AF65-F5344CB8AC3E}">
        <p14:creationId xmlns:p14="http://schemas.microsoft.com/office/powerpoint/2010/main" val="338093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65C47-C3FD-D9F1-4EB5-5E894392BC9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2B2F567-F492-4007-51A0-5B95A51EEA66}"/>
              </a:ext>
            </a:extLst>
          </p:cNvPr>
          <p:cNvSpPr>
            <a:spLocks noGrp="1"/>
          </p:cNvSpPr>
          <p:nvPr>
            <p:ph sz="quarter" idx="10"/>
          </p:nvPr>
        </p:nvSpPr>
        <p:spPr>
          <a:xfrm>
            <a:off x="539495" y="1435608"/>
            <a:ext cx="9395079" cy="3977640"/>
          </a:xfrm>
        </p:spPr>
        <p:txBody>
          <a:bodyPr/>
          <a:lstStyle/>
          <a:p>
            <a:pPr lvl="0" eaLnBrk="0" fontAlgn="base" hangingPunct="0">
              <a:lnSpc>
                <a:spcPct val="100000"/>
              </a:lnSpc>
              <a:spcBef>
                <a:spcPct val="0"/>
              </a:spcBef>
              <a:spcAft>
                <a:spcPct val="0"/>
              </a:spcAft>
              <a:buFontTx/>
              <a:buChar char="•"/>
            </a:pPr>
            <a:r>
              <a:rPr lang="en-US" altLang="en-US" sz="2000" dirty="0">
                <a:solidFill>
                  <a:schemeClr val="tx1"/>
                </a:solidFill>
                <a:latin typeface="Times New Roman" panose="02020603050405020304" pitchFamily="18" charset="0"/>
                <a:cs typeface="Times New Roman" panose="02020603050405020304" pitchFamily="18" charset="0"/>
              </a:rPr>
              <a:t>In a classic </a:t>
            </a:r>
            <a:r>
              <a:rPr lang="en-US" altLang="en-US" sz="2000" b="1" dirty="0">
                <a:solidFill>
                  <a:schemeClr val="tx1"/>
                </a:solidFill>
                <a:latin typeface="Times New Roman" panose="02020603050405020304" pitchFamily="18" charset="0"/>
                <a:cs typeface="Times New Roman" panose="02020603050405020304" pitchFamily="18" charset="0"/>
              </a:rPr>
              <a:t>5-stage pipeline</a:t>
            </a:r>
            <a:r>
              <a:rPr lang="en-US" altLang="en-US" sz="2000" dirty="0">
                <a:solidFill>
                  <a:schemeClr val="tx1"/>
                </a:solidFill>
                <a:latin typeface="Times New Roman" panose="02020603050405020304" pitchFamily="18" charset="0"/>
                <a:cs typeface="Times New Roman" panose="02020603050405020304" pitchFamily="18" charset="0"/>
              </a:rPr>
              <a:t> (IF–ID–EX–MEM–WB), </a:t>
            </a:r>
          </a:p>
          <a:p>
            <a:pPr lvl="0"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 </a:t>
            </a:r>
            <a:r>
              <a:rPr lang="en-US" altLang="en-US" sz="2000" dirty="0">
                <a:solidFill>
                  <a:schemeClr val="tx1"/>
                </a:solidFill>
                <a:latin typeface="Times New Roman" panose="02020603050405020304" pitchFamily="18" charset="0"/>
                <a:cs typeface="Times New Roman" panose="02020603050405020304" pitchFamily="18" charset="0"/>
              </a:rPr>
              <a:t>branch outcome is usually known in </a:t>
            </a:r>
            <a:r>
              <a:rPr lang="en-US" altLang="en-US" sz="2000" b="1" dirty="0">
                <a:solidFill>
                  <a:schemeClr val="tx1"/>
                </a:solidFill>
                <a:latin typeface="Times New Roman" panose="02020603050405020304" pitchFamily="18" charset="0"/>
                <a:cs typeface="Times New Roman" panose="02020603050405020304" pitchFamily="18" charset="0"/>
              </a:rPr>
              <a:t>EX stage</a:t>
            </a:r>
            <a:r>
              <a:rPr lang="en-US" altLang="en-US" sz="2000" dirty="0">
                <a:solidFill>
                  <a:schemeClr val="tx1"/>
                </a:solidFill>
                <a:latin typeface="Times New Roman" panose="02020603050405020304" pitchFamily="18" charset="0"/>
                <a:cs typeface="Times New Roman" panose="02020603050405020304" pitchFamily="18" charset="0"/>
              </a:rPr>
              <a:t>.</a:t>
            </a:r>
          </a:p>
          <a:p>
            <a:pPr lvl="0" eaLnBrk="0" fontAlgn="base" hangingPunct="0">
              <a:lnSpc>
                <a:spcPct val="100000"/>
              </a:lnSpc>
              <a:spcBef>
                <a:spcPct val="0"/>
              </a:spcBef>
              <a:spcAft>
                <a:spcPct val="0"/>
              </a:spcAft>
              <a:buFontTx/>
              <a:buChar char="•"/>
            </a:pPr>
            <a:r>
              <a:rPr lang="en-US" altLang="en-US" sz="2000" dirty="0">
                <a:solidFill>
                  <a:schemeClr val="tx1"/>
                </a:solidFill>
                <a:latin typeface="Times New Roman" panose="02020603050405020304" pitchFamily="18" charset="0"/>
                <a:cs typeface="Times New Roman" panose="02020603050405020304" pitchFamily="18" charset="0"/>
              </a:rPr>
              <a:t>This means </a:t>
            </a:r>
            <a:r>
              <a:rPr lang="en-US" altLang="en-US" sz="2000" b="1" dirty="0">
                <a:solidFill>
                  <a:schemeClr val="tx1"/>
                </a:solidFill>
                <a:latin typeface="Times New Roman" panose="02020603050405020304" pitchFamily="18" charset="0"/>
                <a:cs typeface="Times New Roman" panose="02020603050405020304" pitchFamily="18" charset="0"/>
              </a:rPr>
              <a:t>2 or more instructions</a:t>
            </a:r>
            <a:r>
              <a:rPr lang="en-US" altLang="en-US" sz="2000" dirty="0">
                <a:solidFill>
                  <a:schemeClr val="tx1"/>
                </a:solidFill>
                <a:latin typeface="Times New Roman" panose="02020603050405020304" pitchFamily="18" charset="0"/>
                <a:cs typeface="Times New Roman" panose="02020603050405020304" pitchFamily="18" charset="0"/>
              </a:rPr>
              <a:t> after the branch might have been </a:t>
            </a:r>
          </a:p>
          <a:p>
            <a:pPr lvl="0" eaLnBrk="0" fontAlgn="base" hangingPunct="0">
              <a:lnSpc>
                <a:spcPct val="100000"/>
              </a:lnSpc>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fetched incorrectly.</a:t>
            </a:r>
          </a:p>
          <a:p>
            <a:pPr lvl="0" eaLnBrk="0" fontAlgn="base" hangingPunct="0">
              <a:lnSpc>
                <a:spcPct val="100000"/>
              </a:lnSpc>
              <a:spcBef>
                <a:spcPct val="0"/>
              </a:spcBef>
              <a:spcAft>
                <a:spcPct val="0"/>
              </a:spcAft>
            </a:pPr>
            <a:endParaRPr lang="en-US" altLang="en-US" sz="2000" dirty="0">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IMPACT</a:t>
            </a:r>
          </a:p>
          <a:p>
            <a:pPr lvl="0"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Pipeline stalls: Fetching is paused until the branch outcome is known.</a:t>
            </a:r>
          </a:p>
          <a:p>
            <a:pPr lvl="0" eaLnBrk="0" fontAlgn="base" hangingPunct="0">
              <a:lnSpc>
                <a:spcPct val="100000"/>
              </a:lnSpc>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Pipeline flush: Wrongly fetched instructions are discarded, wasting cycles.</a:t>
            </a:r>
          </a:p>
          <a:p>
            <a:pPr lvl="0" eaLnBrk="0" fontAlgn="base" hangingPunct="0">
              <a:lnSpc>
                <a:spcPct val="100000"/>
              </a:lnSpc>
              <a:spcBef>
                <a:spcPct val="0"/>
              </a:spcBef>
              <a:spcAft>
                <a:spcPct val="0"/>
              </a:spcAft>
            </a:pPr>
            <a:r>
              <a:rPr lang="en-US" altLang="en-US" sz="2000" dirty="0">
                <a:solidFill>
                  <a:schemeClr val="tx1"/>
                </a:solidFill>
                <a:latin typeface="Times New Roman" panose="02020603050405020304" pitchFamily="18" charset="0"/>
                <a:cs typeface="Times New Roman" panose="02020603050405020304" pitchFamily="18" charset="0"/>
              </a:rPr>
              <a:t>Reduces Instruction-Level Parallelism (ILP).</a:t>
            </a:r>
          </a:p>
          <a:p>
            <a:endParaRPr lang="en-IN" dirty="0"/>
          </a:p>
        </p:txBody>
      </p:sp>
    </p:spTree>
    <p:extLst>
      <p:ext uri="{BB962C8B-B14F-4D97-AF65-F5344CB8AC3E}">
        <p14:creationId xmlns:p14="http://schemas.microsoft.com/office/powerpoint/2010/main" val="37304835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AF0359-45AB-D48B-E3B1-DEAD3817C2DC}"/>
              </a:ext>
            </a:extLst>
          </p:cNvPr>
          <p:cNvSpPr>
            <a:spLocks noGrp="1"/>
          </p:cNvSpPr>
          <p:nvPr>
            <p:ph sz="quarter" idx="10"/>
          </p:nvPr>
        </p:nvSpPr>
        <p:spPr>
          <a:xfrm>
            <a:off x="257175" y="400051"/>
            <a:ext cx="11325225" cy="6267450"/>
          </a:xfrm>
        </p:spPr>
        <p:txBody>
          <a:bodyPr>
            <a:normAutofit fontScale="25000" lnSpcReduction="20000"/>
          </a:bodyPr>
          <a:lstStyle/>
          <a:p>
            <a:r>
              <a:rPr lang="en-US" sz="7200" dirty="0">
                <a:latin typeface="Times New Roman" panose="02020603050405020304" pitchFamily="18" charset="0"/>
                <a:cs typeface="Times New Roman" panose="02020603050405020304" pitchFamily="18" charset="0"/>
              </a:rPr>
              <a:t>1. CMP R1, R2    ; Compare two values</a:t>
            </a:r>
          </a:p>
          <a:p>
            <a:r>
              <a:rPr lang="en-US" sz="7200" dirty="0">
                <a:latin typeface="Times New Roman" panose="02020603050405020304" pitchFamily="18" charset="0"/>
                <a:cs typeface="Times New Roman" panose="02020603050405020304" pitchFamily="18" charset="0"/>
              </a:rPr>
              <a:t>2. BEQ LABEL1    ; If they are equal, jump to LABEL1</a:t>
            </a:r>
          </a:p>
          <a:p>
            <a:r>
              <a:rPr lang="en-US" sz="7200" dirty="0">
                <a:latin typeface="Times New Roman" panose="02020603050405020304" pitchFamily="18" charset="0"/>
                <a:cs typeface="Times New Roman" panose="02020603050405020304" pitchFamily="18" charset="0"/>
              </a:rPr>
              <a:t>3. ADD R3, R4, R5; Instruction after branch</a:t>
            </a:r>
          </a:p>
          <a:p>
            <a:r>
              <a:rPr lang="en-US" sz="7200" dirty="0">
                <a:latin typeface="Times New Roman" panose="02020603050405020304" pitchFamily="18" charset="0"/>
                <a:cs typeface="Times New Roman" panose="02020603050405020304" pitchFamily="18" charset="0"/>
              </a:rPr>
              <a:t>LABEL1: SUB R6, R7, R8</a:t>
            </a:r>
          </a:p>
          <a:p>
            <a:pPr marL="1143000" indent="-1143000">
              <a:buFont typeface="Wingdings" panose="05000000000000000000" pitchFamily="2" charset="2"/>
              <a:buChar char="v"/>
            </a:pPr>
            <a:r>
              <a:rPr lang="en-US" sz="9600" dirty="0">
                <a:latin typeface="Times New Roman" panose="02020603050405020304" pitchFamily="18" charset="0"/>
                <a:cs typeface="Times New Roman" panose="02020603050405020304" pitchFamily="18" charset="0"/>
              </a:rPr>
              <a:t>When the CPU reaches BEQ LABEL1, it doesn’t know immediately if it should execute line 3 or jump to LABEL1.</a:t>
            </a:r>
          </a:p>
          <a:p>
            <a:pPr marL="1143000" indent="-1143000">
              <a:buFont typeface="Wingdings" panose="05000000000000000000" pitchFamily="2" charset="2"/>
              <a:buChar char="v"/>
            </a:pPr>
            <a:r>
              <a:rPr lang="en-US" sz="9600" dirty="0">
                <a:latin typeface="Times New Roman" panose="02020603050405020304" pitchFamily="18" charset="0"/>
                <a:cs typeface="Times New Roman" panose="02020603050405020304" pitchFamily="18" charset="0"/>
              </a:rPr>
              <a:t>If it keeps fetching line 3 but the branch is taken, line 3 is a waste and must be thrown </a:t>
            </a:r>
            <a:r>
              <a:rPr lang="en-US" sz="9600" dirty="0" err="1">
                <a:latin typeface="Times New Roman" panose="02020603050405020304" pitchFamily="18" charset="0"/>
                <a:cs typeface="Times New Roman" panose="02020603050405020304" pitchFamily="18" charset="0"/>
              </a:rPr>
              <a:t>away.If</a:t>
            </a:r>
            <a:r>
              <a:rPr lang="en-US" sz="9600" dirty="0">
                <a:latin typeface="Times New Roman" panose="02020603050405020304" pitchFamily="18" charset="0"/>
                <a:cs typeface="Times New Roman" panose="02020603050405020304" pitchFamily="18" charset="0"/>
              </a:rPr>
              <a:t> it waits to see the result, it wastes time (stall).</a:t>
            </a:r>
          </a:p>
          <a:p>
            <a:pPr marL="1143000" indent="-1143000">
              <a:buFont typeface="Wingdings" panose="05000000000000000000" pitchFamily="2" charset="2"/>
              <a:buChar char="v"/>
            </a:pPr>
            <a:r>
              <a:rPr lang="en-US" sz="9600" dirty="0">
                <a:latin typeface="Times New Roman" panose="02020603050405020304" pitchFamily="18" charset="0"/>
                <a:cs typeface="Times New Roman" panose="02020603050405020304" pitchFamily="18" charset="0"/>
              </a:rPr>
              <a:t>This moment of uncertainty is what we call a control hazard.</a:t>
            </a:r>
          </a:p>
          <a:p>
            <a:pPr marL="171450" indent="-171450">
              <a:buFont typeface="Wingdings" panose="05000000000000000000" pitchFamily="2" charset="2"/>
              <a:buChar char="v"/>
            </a:pPr>
            <a:endParaRPr lang="en-US" dirty="0"/>
          </a:p>
          <a:p>
            <a:endParaRPr lang="en-IN" dirty="0"/>
          </a:p>
        </p:txBody>
      </p:sp>
    </p:spTree>
    <p:extLst>
      <p:ext uri="{BB962C8B-B14F-4D97-AF65-F5344CB8AC3E}">
        <p14:creationId xmlns:p14="http://schemas.microsoft.com/office/powerpoint/2010/main" val="2897979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23293-FF3E-323F-DFB8-2CCC86D2CFE1}"/>
              </a:ext>
            </a:extLst>
          </p:cNvPr>
          <p:cNvSpPr>
            <a:spLocks noGrp="1"/>
          </p:cNvSpPr>
          <p:nvPr>
            <p:ph type="title"/>
          </p:nvPr>
        </p:nvSpPr>
        <p:spPr>
          <a:xfrm>
            <a:off x="521207" y="448056"/>
            <a:ext cx="10356343" cy="640080"/>
          </a:xfrm>
        </p:spPr>
        <p:txBody>
          <a:bodyPr>
            <a:normAutofit/>
          </a:bodyPr>
          <a:lstStyle/>
          <a:p>
            <a:r>
              <a:rPr lang="en-IN" dirty="0"/>
              <a:t>CONTROL HAZARD MITIGATION- HARDWARE TECHNIQUE</a:t>
            </a:r>
          </a:p>
        </p:txBody>
      </p:sp>
      <p:sp>
        <p:nvSpPr>
          <p:cNvPr id="3" name="Content Placeholder 2">
            <a:extLst>
              <a:ext uri="{FF2B5EF4-FFF2-40B4-BE49-F238E27FC236}">
                <a16:creationId xmlns:a16="http://schemas.microsoft.com/office/drawing/2014/main" id="{2063D77C-11A4-2CF3-B3AD-DA441EC1CA4F}"/>
              </a:ext>
            </a:extLst>
          </p:cNvPr>
          <p:cNvSpPr>
            <a:spLocks noGrp="1"/>
          </p:cNvSpPr>
          <p:nvPr>
            <p:ph sz="quarter" idx="10"/>
          </p:nvPr>
        </p:nvSpPr>
        <p:spPr>
          <a:xfrm>
            <a:off x="428625" y="1435608"/>
            <a:ext cx="11087099" cy="5174742"/>
          </a:xfrm>
        </p:spPr>
        <p:txBody>
          <a:bodyPr>
            <a:normAutofit lnSpcReduction="10000"/>
          </a:bodyPr>
          <a:lstStyle/>
          <a:p>
            <a:r>
              <a:rPr lang="en-US" sz="1600" dirty="0">
                <a:latin typeface="Times New Roman" panose="02020603050405020304" pitchFamily="18" charset="0"/>
                <a:cs typeface="Times New Roman" panose="02020603050405020304" pitchFamily="18" charset="0"/>
              </a:rPr>
              <a:t>1)Branch Prediction</a:t>
            </a:r>
          </a:p>
          <a:p>
            <a:r>
              <a:rPr lang="en-US" sz="1600" dirty="0">
                <a:latin typeface="Times New Roman" panose="02020603050405020304" pitchFamily="18" charset="0"/>
                <a:cs typeface="Times New Roman" panose="02020603050405020304" pitchFamily="18" charset="0"/>
              </a:rPr>
              <a:t>Branch prediction is a technique where the processor guesses the outcome of a branch instruction (taken or not taken) before the actual condition is known. The main goal is to keep the instruction pipeline filled without waiting for the branch decision to be resolved.</a:t>
            </a:r>
          </a:p>
          <a:p>
            <a:r>
              <a:rPr lang="en-US" sz="1600" dirty="0">
                <a:latin typeface="Times New Roman" panose="02020603050405020304" pitchFamily="18" charset="0"/>
                <a:cs typeface="Times New Roman" panose="02020603050405020304" pitchFamily="18" charset="0"/>
              </a:rPr>
              <a:t>There are two main types:</a:t>
            </a:r>
          </a:p>
          <a:p>
            <a:pPr marL="342900" indent="-342900">
              <a:buFont typeface="+mj-lt"/>
              <a:buAutoNum type="arabicPeriod"/>
            </a:pPr>
            <a:r>
              <a:rPr lang="en-US" sz="1600" b="1" dirty="0">
                <a:latin typeface="Times New Roman" panose="02020603050405020304" pitchFamily="18" charset="0"/>
                <a:cs typeface="Times New Roman" panose="02020603050405020304" pitchFamily="18" charset="0"/>
              </a:rPr>
              <a:t>Static branch prediction </a:t>
            </a:r>
            <a:r>
              <a:rPr lang="en-US" sz="1600" dirty="0">
                <a:latin typeface="Times New Roman" panose="02020603050405020304" pitchFamily="18" charset="0"/>
                <a:cs typeface="Times New Roman" panose="02020603050405020304" pitchFamily="18" charset="0"/>
              </a:rPr>
              <a:t>uses fixed rules determined at design or compile time. For example, backward (loop) branches are predicted as taken, and forward branches as not taken. This type of prediction is simple but not very adaptive to runtime behavior.</a:t>
            </a:r>
          </a:p>
          <a:p>
            <a:pPr marL="342900" indent="-342900">
              <a:buFont typeface="+mj-lt"/>
              <a:buAutoNum type="arabicPeriod"/>
            </a:pPr>
            <a:r>
              <a:rPr lang="en-US" sz="1600" b="1" dirty="0">
                <a:latin typeface="Times New Roman" panose="02020603050405020304" pitchFamily="18" charset="0"/>
                <a:cs typeface="Times New Roman" panose="02020603050405020304" pitchFamily="18" charset="0"/>
              </a:rPr>
              <a:t>Dynamic branch prediction </a:t>
            </a:r>
            <a:r>
              <a:rPr lang="en-US" sz="1600" dirty="0">
                <a:latin typeface="Times New Roman" panose="02020603050405020304" pitchFamily="18" charset="0"/>
                <a:cs typeface="Times New Roman" panose="02020603050405020304" pitchFamily="18" charset="0"/>
              </a:rPr>
              <a:t>employs hardware mechanisms such as a Branch History Table (BHT) or Branch Target Buffer (BTB) that record past branch outcomes and use them to predict future branch behavior. Adaptive or two-level predictors can achieve high accuracy by learning patterns from program execution</a:t>
            </a:r>
          </a:p>
          <a:p>
            <a:endParaRPr lang="en-US"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594431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6765-FE84-F8EC-3C0D-6C11D47DF9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0BAAA7-9EBD-A0A9-BAE7-8CF645AE2F8C}"/>
              </a:ext>
            </a:extLst>
          </p:cNvPr>
          <p:cNvSpPr>
            <a:spLocks noGrp="1"/>
          </p:cNvSpPr>
          <p:nvPr>
            <p:ph sz="quarter" idx="10"/>
          </p:nvPr>
        </p:nvSpPr>
        <p:spPr>
          <a:xfrm>
            <a:off x="539496" y="1435608"/>
            <a:ext cx="11119104" cy="3977640"/>
          </a:xfrm>
        </p:spPr>
        <p:txBody>
          <a:bodyPr>
            <a:normAutofit/>
          </a:bodyPr>
          <a:lstStyle/>
          <a:p>
            <a:r>
              <a:rPr lang="en-US" sz="1800" b="1" u="sng" dirty="0">
                <a:latin typeface="Times New Roman" panose="02020603050405020304" pitchFamily="18" charset="0"/>
                <a:cs typeface="Times New Roman" panose="02020603050405020304" pitchFamily="18" charset="0"/>
              </a:rPr>
              <a:t>Speculative Execution</a:t>
            </a:r>
          </a:p>
          <a:p>
            <a:r>
              <a:rPr lang="en-US" sz="1800" dirty="0">
                <a:latin typeface="Times New Roman" panose="02020603050405020304" pitchFamily="18" charset="0"/>
                <a:cs typeface="Times New Roman" panose="02020603050405020304" pitchFamily="18" charset="0"/>
              </a:rPr>
              <a:t>Speculative execution allows the processor to </a:t>
            </a:r>
            <a:r>
              <a:rPr lang="en-US" sz="1800" i="1" dirty="0">
                <a:latin typeface="Times New Roman" panose="02020603050405020304" pitchFamily="18" charset="0"/>
                <a:cs typeface="Times New Roman" panose="02020603050405020304" pitchFamily="18" charset="0"/>
              </a:rPr>
              <a:t>execute instructions along the predicted path</a:t>
            </a:r>
            <a:r>
              <a:rPr lang="en-US" sz="1800" dirty="0">
                <a:latin typeface="Times New Roman" panose="02020603050405020304" pitchFamily="18" charset="0"/>
                <a:cs typeface="Times New Roman" panose="02020603050405020304" pitchFamily="18" charset="0"/>
              </a:rPr>
              <a:t> before the branch outcome is confirmed. If the prediction turns out correct, results are committed, avoiding delays. If incorrect, the speculative results are discarded, and the pipeline is flushed and restarted from the correct branch target.</a:t>
            </a:r>
          </a:p>
          <a:p>
            <a:r>
              <a:rPr lang="en-US" sz="1800" dirty="0">
                <a:latin typeface="Times New Roman" panose="02020603050405020304" pitchFamily="18" charset="0"/>
                <a:cs typeface="Times New Roman" panose="02020603050405020304" pitchFamily="18" charset="0"/>
              </a:rPr>
              <a:t>This technique requires hardware support such as </a:t>
            </a:r>
            <a:r>
              <a:rPr lang="en-US" sz="1800" b="1" dirty="0">
                <a:latin typeface="Times New Roman" panose="02020603050405020304" pitchFamily="18" charset="0"/>
                <a:cs typeface="Times New Roman" panose="02020603050405020304" pitchFamily="18" charset="0"/>
              </a:rPr>
              <a:t>reorder buffers and commit logic</a:t>
            </a:r>
            <a:r>
              <a:rPr lang="en-US" sz="1800" dirty="0">
                <a:latin typeface="Times New Roman" panose="02020603050405020304" pitchFamily="18" charset="0"/>
                <a:cs typeface="Times New Roman" panose="02020603050405020304" pitchFamily="18" charset="0"/>
              </a:rPr>
              <a:t> to maintain precise exceptions and ensure correct program order. Although </a:t>
            </a:r>
            <a:r>
              <a:rPr lang="en-US" sz="1800" b="1" dirty="0">
                <a:latin typeface="Times New Roman" panose="02020603050405020304" pitchFamily="18" charset="0"/>
                <a:cs typeface="Times New Roman" panose="02020603050405020304" pitchFamily="18" charset="0"/>
              </a:rPr>
              <a:t>costly in terms of complexity and power, it significantly improves performance when branch predictions are accurate</a:t>
            </a:r>
          </a:p>
          <a:p>
            <a:endParaRPr lang="en-IN" dirty="0"/>
          </a:p>
        </p:txBody>
      </p:sp>
    </p:spTree>
    <p:extLst>
      <p:ext uri="{BB962C8B-B14F-4D97-AF65-F5344CB8AC3E}">
        <p14:creationId xmlns:p14="http://schemas.microsoft.com/office/powerpoint/2010/main" val="3482910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4BD6B-9A76-8ABB-7314-E4AD90706D3B}"/>
              </a:ext>
            </a:extLst>
          </p:cNvPr>
          <p:cNvSpPr>
            <a:spLocks noGrp="1"/>
          </p:cNvSpPr>
          <p:nvPr>
            <p:ph type="title"/>
          </p:nvPr>
        </p:nvSpPr>
        <p:spPr/>
        <p:txBody>
          <a:bodyPr/>
          <a:lstStyle/>
          <a:p>
            <a:r>
              <a:rPr lang="en-IN" dirty="0"/>
              <a:t>PROBLEMS</a:t>
            </a:r>
          </a:p>
        </p:txBody>
      </p:sp>
      <p:sp>
        <p:nvSpPr>
          <p:cNvPr id="3" name="Content Placeholder 2">
            <a:extLst>
              <a:ext uri="{FF2B5EF4-FFF2-40B4-BE49-F238E27FC236}">
                <a16:creationId xmlns:a16="http://schemas.microsoft.com/office/drawing/2014/main" id="{A70DACC5-29FE-CCE4-6431-112A0C04D010}"/>
              </a:ext>
            </a:extLst>
          </p:cNvPr>
          <p:cNvSpPr>
            <a:spLocks noGrp="1"/>
          </p:cNvSpPr>
          <p:nvPr>
            <p:ph sz="quarter" idx="10"/>
          </p:nvPr>
        </p:nvSpPr>
        <p:spPr>
          <a:xfrm>
            <a:off x="539495" y="1435608"/>
            <a:ext cx="10652379" cy="3977640"/>
          </a:xfrm>
        </p:spPr>
        <p:txBody>
          <a:bodyPr/>
          <a:lstStyle/>
          <a:p>
            <a:pPr algn="just"/>
            <a:r>
              <a:rPr lang="en-US" sz="2000" dirty="0">
                <a:latin typeface="Times New Roman" panose="02020603050405020304" pitchFamily="18" charset="0"/>
                <a:cs typeface="Times New Roman" panose="02020603050405020304" pitchFamily="18" charset="0"/>
              </a:rPr>
              <a:t>A 5-stage instruction pipeline has stage delays of 180, 250, 150, 170, and 250, respectively, in nanoseconds. The delay of an inter-stage latch is 10 nanoseconds. Assume that there are no pipeline stalls due to branches and other hazards. The time taken to process 1000 instructions in microseconds is __________ . (rounded off to two decimal places)</a:t>
            </a:r>
            <a:endParaRPr lang="en-IN" sz="2000" dirty="0">
              <a:latin typeface="Times New Roman" panose="02020603050405020304" pitchFamily="18" charset="0"/>
              <a:cs typeface="Times New Roman" panose="02020603050405020304" pitchFamily="18" charset="0"/>
            </a:endParaRPr>
          </a:p>
          <a:p>
            <a:endParaRPr lang="en-IN" dirty="0"/>
          </a:p>
        </p:txBody>
      </p:sp>
      <p:pic>
        <p:nvPicPr>
          <p:cNvPr id="4" name="Content Placeholder 4">
            <a:extLst>
              <a:ext uri="{FF2B5EF4-FFF2-40B4-BE49-F238E27FC236}">
                <a16:creationId xmlns:a16="http://schemas.microsoft.com/office/drawing/2014/main" id="{EF97C438-F48A-0A7C-A21D-B49D67080A4B}"/>
              </a:ext>
            </a:extLst>
          </p:cNvPr>
          <p:cNvPicPr>
            <a:picLocks noChangeAspect="1"/>
          </p:cNvPicPr>
          <p:nvPr/>
        </p:nvPicPr>
        <p:blipFill>
          <a:blip r:embed="rId2"/>
          <a:stretch>
            <a:fillRect/>
          </a:stretch>
        </p:blipFill>
        <p:spPr>
          <a:xfrm>
            <a:off x="2582069" y="3600449"/>
            <a:ext cx="6580981" cy="2733675"/>
          </a:xfrm>
          <a:prstGeom prst="rect">
            <a:avLst/>
          </a:prstGeom>
        </p:spPr>
      </p:pic>
    </p:spTree>
    <p:extLst>
      <p:ext uri="{BB962C8B-B14F-4D97-AF65-F5344CB8AC3E}">
        <p14:creationId xmlns:p14="http://schemas.microsoft.com/office/powerpoint/2010/main" val="35491905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A3E91-BE6E-0E88-85D4-15B1EBA2E8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BE1FD9-77E0-0EBF-5D66-D3ABCBCC93E2}"/>
              </a:ext>
            </a:extLst>
          </p:cNvPr>
          <p:cNvSpPr>
            <a:spLocks noGrp="1"/>
          </p:cNvSpPr>
          <p:nvPr>
            <p:ph sz="quarter" idx="10"/>
          </p:nvPr>
        </p:nvSpPr>
        <p:spPr>
          <a:xfrm>
            <a:off x="539495" y="1435608"/>
            <a:ext cx="10747629" cy="3977640"/>
          </a:xfrm>
        </p:spPr>
        <p:txBody>
          <a:bodyPr/>
          <a:lstStyle/>
          <a:p>
            <a:r>
              <a:rPr lang="en-US" sz="1600" dirty="0">
                <a:latin typeface="Times New Roman" panose="02020603050405020304" pitchFamily="18" charset="0"/>
                <a:cs typeface="Times New Roman" panose="02020603050405020304" pitchFamily="18" charset="0"/>
              </a:rPr>
              <a:t>Consider a 3-stage pipelined processor having a delay of 10 ns (nanoseconds), 20 ns, and 14 ns, for the first, second, and the third stages, respectively. Assume that there is no other delay and the processor does not suffer from any pipeline hazards. Also assume that one instruction is fetched every cycle.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The total execution time for executing 100 instructions on this processor is _______ ns</a:t>
            </a:r>
            <a:endParaRPr lang="en-IN" sz="1600" dirty="0">
              <a:latin typeface="Times New Roman" panose="02020603050405020304" pitchFamily="18" charset="0"/>
              <a:cs typeface="Times New Roman" panose="02020603050405020304" pitchFamily="18" charset="0"/>
            </a:endParaRPr>
          </a:p>
          <a:p>
            <a:endParaRPr lang="en-IN" dirty="0"/>
          </a:p>
        </p:txBody>
      </p:sp>
      <p:pic>
        <p:nvPicPr>
          <p:cNvPr id="4" name="Content Placeholder 4">
            <a:extLst>
              <a:ext uri="{FF2B5EF4-FFF2-40B4-BE49-F238E27FC236}">
                <a16:creationId xmlns:a16="http://schemas.microsoft.com/office/drawing/2014/main" id="{FC53A401-28F1-D48F-BEA9-0A88C935379A}"/>
              </a:ext>
            </a:extLst>
          </p:cNvPr>
          <p:cNvPicPr>
            <a:picLocks noChangeAspect="1"/>
          </p:cNvPicPr>
          <p:nvPr/>
        </p:nvPicPr>
        <p:blipFill>
          <a:blip r:embed="rId2"/>
          <a:stretch>
            <a:fillRect/>
          </a:stretch>
        </p:blipFill>
        <p:spPr>
          <a:xfrm>
            <a:off x="2362200" y="3270123"/>
            <a:ext cx="6791325" cy="2993522"/>
          </a:xfrm>
          <a:prstGeom prst="rect">
            <a:avLst/>
          </a:prstGeom>
        </p:spPr>
      </p:pic>
    </p:spTree>
    <p:extLst>
      <p:ext uri="{BB962C8B-B14F-4D97-AF65-F5344CB8AC3E}">
        <p14:creationId xmlns:p14="http://schemas.microsoft.com/office/powerpoint/2010/main" val="1128565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4B2B1-90CF-FB24-971E-90DE85EF45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ED57C43-EC71-4CB2-AC65-D97CA0B5DD6F}"/>
              </a:ext>
            </a:extLst>
          </p:cNvPr>
          <p:cNvSpPr>
            <a:spLocks noGrp="1"/>
          </p:cNvSpPr>
          <p:nvPr>
            <p:ph sz="quarter" idx="10"/>
          </p:nvPr>
        </p:nvSpPr>
        <p:spPr>
          <a:xfrm>
            <a:off x="539496" y="1435608"/>
            <a:ext cx="11319129" cy="3977640"/>
          </a:xfrm>
        </p:spPr>
        <p:txBody>
          <a:bodyPr/>
          <a:lstStyle/>
          <a:p>
            <a:r>
              <a:rPr lang="en-US" sz="1800" dirty="0">
                <a:latin typeface="Times New Roman" panose="02020603050405020304" pitchFamily="18" charset="0"/>
                <a:cs typeface="Times New Roman" panose="02020603050405020304" pitchFamily="18" charset="0"/>
              </a:rPr>
              <a:t>Consider a non-pipelined processor with a clock rate of 2.5 gigahertz and average cycles per instruction of four. The same processor is upgraded to a pipelined processor with five stages; but due to the internal pipeline delay, the clock speed is reduced to 2 gigahertz. Assume that there are no stalls in the pipeline. The speedup achieved in this pipelined processor is</a:t>
            </a:r>
            <a:endParaRPr lang="en-IN" sz="1800" dirty="0">
              <a:latin typeface="Times New Roman" panose="02020603050405020304" pitchFamily="18" charset="0"/>
              <a:cs typeface="Times New Roman" panose="02020603050405020304" pitchFamily="18" charset="0"/>
            </a:endParaRPr>
          </a:p>
          <a:p>
            <a:endParaRPr lang="en-IN" dirty="0"/>
          </a:p>
        </p:txBody>
      </p:sp>
      <p:pic>
        <p:nvPicPr>
          <p:cNvPr id="4" name="Content Placeholder 4">
            <a:extLst>
              <a:ext uri="{FF2B5EF4-FFF2-40B4-BE49-F238E27FC236}">
                <a16:creationId xmlns:a16="http://schemas.microsoft.com/office/drawing/2014/main" id="{101EBF02-43C1-2A5A-47C5-F6D9D65672CB}"/>
              </a:ext>
            </a:extLst>
          </p:cNvPr>
          <p:cNvPicPr>
            <a:picLocks noChangeAspect="1"/>
          </p:cNvPicPr>
          <p:nvPr/>
        </p:nvPicPr>
        <p:blipFill>
          <a:blip r:embed="rId2"/>
          <a:stretch>
            <a:fillRect/>
          </a:stretch>
        </p:blipFill>
        <p:spPr>
          <a:xfrm>
            <a:off x="3228975" y="3169802"/>
            <a:ext cx="5410200" cy="3345298"/>
          </a:xfrm>
          <a:prstGeom prst="rect">
            <a:avLst/>
          </a:prstGeom>
        </p:spPr>
      </p:pic>
    </p:spTree>
    <p:extLst>
      <p:ext uri="{BB962C8B-B14F-4D97-AF65-F5344CB8AC3E}">
        <p14:creationId xmlns:p14="http://schemas.microsoft.com/office/powerpoint/2010/main" val="1297160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12EFAB-A53C-5D79-2C66-6F4B7CF1E187}"/>
              </a:ext>
            </a:extLst>
          </p:cNvPr>
          <p:cNvPicPr>
            <a:picLocks noChangeAspect="1"/>
          </p:cNvPicPr>
          <p:nvPr/>
        </p:nvPicPr>
        <p:blipFill>
          <a:blip r:embed="rId2"/>
          <a:stretch>
            <a:fillRect/>
          </a:stretch>
        </p:blipFill>
        <p:spPr>
          <a:xfrm>
            <a:off x="495300" y="714376"/>
            <a:ext cx="11201400" cy="5741870"/>
          </a:xfrm>
          <a:prstGeom prst="rect">
            <a:avLst/>
          </a:prstGeom>
        </p:spPr>
      </p:pic>
    </p:spTree>
    <p:extLst>
      <p:ext uri="{BB962C8B-B14F-4D97-AF65-F5344CB8AC3E}">
        <p14:creationId xmlns:p14="http://schemas.microsoft.com/office/powerpoint/2010/main" val="24069124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B1BFFC-BBEF-E82A-22B1-865FF14FD169}"/>
              </a:ext>
            </a:extLst>
          </p:cNvPr>
          <p:cNvPicPr>
            <a:picLocks noChangeAspect="1"/>
          </p:cNvPicPr>
          <p:nvPr/>
        </p:nvPicPr>
        <p:blipFill>
          <a:blip r:embed="rId2"/>
          <a:stretch>
            <a:fillRect/>
          </a:stretch>
        </p:blipFill>
        <p:spPr>
          <a:xfrm>
            <a:off x="552450" y="590550"/>
            <a:ext cx="11125199" cy="5204665"/>
          </a:xfrm>
          <a:prstGeom prst="rect">
            <a:avLst/>
          </a:prstGeom>
        </p:spPr>
      </p:pic>
    </p:spTree>
    <p:extLst>
      <p:ext uri="{BB962C8B-B14F-4D97-AF65-F5344CB8AC3E}">
        <p14:creationId xmlns:p14="http://schemas.microsoft.com/office/powerpoint/2010/main" val="21827827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BF1E98-2740-D5BE-537A-35B109519860}"/>
              </a:ext>
            </a:extLst>
          </p:cNvPr>
          <p:cNvPicPr>
            <a:picLocks noChangeAspect="1"/>
          </p:cNvPicPr>
          <p:nvPr/>
        </p:nvPicPr>
        <p:blipFill>
          <a:blip r:embed="rId2"/>
          <a:stretch>
            <a:fillRect/>
          </a:stretch>
        </p:blipFill>
        <p:spPr>
          <a:xfrm>
            <a:off x="307082" y="285750"/>
            <a:ext cx="10970518" cy="5905500"/>
          </a:xfrm>
          <a:prstGeom prst="rect">
            <a:avLst/>
          </a:prstGeom>
        </p:spPr>
      </p:pic>
    </p:spTree>
    <p:extLst>
      <p:ext uri="{BB962C8B-B14F-4D97-AF65-F5344CB8AC3E}">
        <p14:creationId xmlns:p14="http://schemas.microsoft.com/office/powerpoint/2010/main" val="33639396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D1F7A-27A9-DFA9-9954-74F8250E7250}"/>
              </a:ext>
            </a:extLst>
          </p:cNvPr>
          <p:cNvSpPr>
            <a:spLocks noGrp="1"/>
          </p:cNvSpPr>
          <p:nvPr>
            <p:ph type="title"/>
          </p:nvPr>
        </p:nvSpPr>
        <p:spPr/>
        <p:txBody>
          <a:bodyPr/>
          <a:lstStyle/>
          <a:p>
            <a:r>
              <a:rPr lang="en-IN" dirty="0"/>
              <a:t>TYPES OF CPU ORGANIZATION</a:t>
            </a:r>
          </a:p>
        </p:txBody>
      </p:sp>
      <p:sp>
        <p:nvSpPr>
          <p:cNvPr id="3" name="Content Placeholder 2">
            <a:extLst>
              <a:ext uri="{FF2B5EF4-FFF2-40B4-BE49-F238E27FC236}">
                <a16:creationId xmlns:a16="http://schemas.microsoft.com/office/drawing/2014/main" id="{37A4CECC-F865-7D78-35F4-51457DC8674C}"/>
              </a:ext>
            </a:extLst>
          </p:cNvPr>
          <p:cNvSpPr>
            <a:spLocks noGrp="1"/>
          </p:cNvSpPr>
          <p:nvPr>
            <p:ph sz="quarter" idx="10"/>
          </p:nvPr>
        </p:nvSpPr>
        <p:spPr>
          <a:xfrm>
            <a:off x="539496" y="1435608"/>
            <a:ext cx="9804654" cy="3977640"/>
          </a:xfrm>
        </p:spPr>
        <p:txBody>
          <a:bodyPr/>
          <a:lstStyle/>
          <a:p>
            <a:r>
              <a:rPr lang="en-IN" dirty="0"/>
              <a:t>SINGLE ACCUMILATOR ORGANIZATION</a:t>
            </a:r>
          </a:p>
          <a:p>
            <a:r>
              <a:rPr lang="en-IN" dirty="0"/>
              <a:t>GENERAL PURPOSE ORGANIZATION</a:t>
            </a:r>
          </a:p>
          <a:p>
            <a:r>
              <a:rPr lang="en-IN" dirty="0"/>
              <a:t>STACK ORGANIZATION</a:t>
            </a:r>
          </a:p>
        </p:txBody>
      </p:sp>
    </p:spTree>
    <p:extLst>
      <p:ext uri="{BB962C8B-B14F-4D97-AF65-F5344CB8AC3E}">
        <p14:creationId xmlns:p14="http://schemas.microsoft.com/office/powerpoint/2010/main" val="33862066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23FFC-7436-1970-4969-121F4774AD79}"/>
              </a:ext>
            </a:extLst>
          </p:cNvPr>
          <p:cNvSpPr>
            <a:spLocks noGrp="1"/>
          </p:cNvSpPr>
          <p:nvPr>
            <p:ph type="title"/>
          </p:nvPr>
        </p:nvSpPr>
        <p:spPr/>
        <p:txBody>
          <a:bodyPr/>
          <a:lstStyle/>
          <a:p>
            <a:r>
              <a:rPr lang="en-IN" dirty="0"/>
              <a:t>Single Accumulator</a:t>
            </a:r>
          </a:p>
        </p:txBody>
      </p:sp>
      <mc:AlternateContent xmlns:mc="http://schemas.openxmlformats.org/markup-compatibility/2006" xmlns:a14="http://schemas.microsoft.com/office/drawing/2010/main">
        <mc:Choice Requires="a14">
          <p:sp>
            <p:nvSpPr>
              <p:cNvPr id="4" name="Rectangle 1">
                <a:extLst>
                  <a:ext uri="{FF2B5EF4-FFF2-40B4-BE49-F238E27FC236}">
                    <a16:creationId xmlns:a16="http://schemas.microsoft.com/office/drawing/2014/main" id="{0ACFF948-79D4-EB84-3D75-061C0ADF0C92}"/>
                  </a:ext>
                </a:extLst>
              </p:cNvPr>
              <p:cNvSpPr>
                <a:spLocks noGrp="1" noChangeArrowheads="1"/>
              </p:cNvSpPr>
              <p:nvPr>
                <p:ph sz="quarter" idx="10"/>
              </p:nvPr>
            </p:nvSpPr>
            <p:spPr bwMode="auto">
              <a:xfrm>
                <a:off x="390525" y="1263005"/>
                <a:ext cx="10912221" cy="535531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spcBef>
                    <a:spcPts val="0"/>
                  </a:spcBef>
                  <a:spcAft>
                    <a:spcPts val="0"/>
                  </a:spcAft>
                </a:pPr>
                <a:r>
                  <a:rPr lang="en-US" sz="1800" dirty="0">
                    <a:latin typeface="Times New Roman" panose="02020603050405020304" pitchFamily="18" charset="0"/>
                    <a:cs typeface="Times New Roman" panose="02020603050405020304" pitchFamily="18" charset="0"/>
                  </a:rPr>
                  <a:t>The processor has a single accumulator register to store intermediate results. All arithmetic and logical operations are performed using this accumulator.</a:t>
                </a:r>
              </a:p>
              <a:p>
                <a:pPr>
                  <a:lnSpc>
                    <a:spcPct val="100000"/>
                  </a:lnSpc>
                  <a:spcBef>
                    <a:spcPts val="0"/>
                  </a:spcBef>
                  <a:spcAft>
                    <a:spcPts val="0"/>
                  </a:spcAft>
                </a:pPr>
                <a:endParaRPr lang="en-US" sz="18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sz="1800" dirty="0">
                    <a:latin typeface="Times New Roman" panose="02020603050405020304" pitchFamily="18" charset="0"/>
                    <a:cs typeface="Times New Roman" panose="02020603050405020304" pitchFamily="18" charset="0"/>
                  </a:rPr>
                  <a:t>Characteristics:</a:t>
                </a:r>
              </a:p>
              <a:p>
                <a:pPr>
                  <a:lnSpc>
                    <a:spcPct val="100000"/>
                  </a:lnSpc>
                  <a:spcBef>
                    <a:spcPts val="0"/>
                  </a:spcBef>
                  <a:spcAft>
                    <a:spcPts val="0"/>
                  </a:spcAft>
                </a:pPr>
                <a:endParaRPr lang="en-US" sz="1800" dirty="0">
                  <a:latin typeface="Times New Roman" panose="02020603050405020304" pitchFamily="18" charset="0"/>
                  <a:cs typeface="Times New Roman" panose="02020603050405020304" pitchFamily="18" charset="0"/>
                </a:endParaRPr>
              </a:p>
              <a:p>
                <a:pPr marL="171450" indent="-171450">
                  <a:lnSpc>
                    <a:spcPct val="100000"/>
                  </a:lnSpc>
                  <a:spcBef>
                    <a:spcPts val="0"/>
                  </a:spcBef>
                  <a:spcAft>
                    <a:spcPts val="0"/>
                  </a:spcAft>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Simple structure — only one accumulator.</a:t>
                </a:r>
              </a:p>
              <a:p>
                <a:pPr marL="171450" indent="-171450">
                  <a:lnSpc>
                    <a:spcPct val="100000"/>
                  </a:lnSpc>
                  <a:spcBef>
                    <a:spcPts val="0"/>
                  </a:spcBef>
                  <a:spcAft>
                    <a:spcPts val="0"/>
                  </a:spcAft>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Operands must be loaded into the accumulator before performing operations.</a:t>
                </a:r>
              </a:p>
              <a:p>
                <a:pPr marL="171450" indent="-171450">
                  <a:lnSpc>
                    <a:spcPct val="100000"/>
                  </a:lnSpc>
                  <a:spcBef>
                    <a:spcPts val="0"/>
                  </a:spcBef>
                  <a:spcAft>
                    <a:spcPts val="0"/>
                  </a:spcAft>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After the operation, results are stored back in the accumulator or memory.</a:t>
                </a:r>
              </a:p>
              <a:p>
                <a:pPr>
                  <a:lnSpc>
                    <a:spcPct val="100000"/>
                  </a:lnSpc>
                  <a:spcBef>
                    <a:spcPts val="0"/>
                  </a:spcBef>
                  <a:spcAft>
                    <a:spcPts val="0"/>
                  </a:spcAft>
                </a:pPr>
                <a:endParaRPr lang="en-US" sz="18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sz="1800" dirty="0">
                    <a:latin typeface="Times New Roman" panose="02020603050405020304" pitchFamily="18" charset="0"/>
                    <a:cs typeface="Times New Roman" panose="02020603050405020304" pitchFamily="18" charset="0"/>
                  </a:rPr>
                  <a:t>Example Operation:</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To execute </a:t>
                </a:r>
                <a14:m>
                  <m:oMath xmlns:m="http://schemas.openxmlformats.org/officeDocument/2006/math">
                    <m:r>
                      <a:rPr lang="en-US" sz="1800" i="1">
                        <a:latin typeface="Cambria Math" panose="02040503050406030204" pitchFamily="18" charset="0"/>
                      </a:rPr>
                      <m:t>𝑅</m:t>
                    </m:r>
                    <m:r>
                      <a:rPr lang="en-US" sz="1800">
                        <a:latin typeface="Cambria Math" panose="02040503050406030204" pitchFamily="18" charset="0"/>
                      </a:rPr>
                      <m:t>1=</m:t>
                    </m:r>
                    <m:r>
                      <a:rPr lang="en-US" sz="1800" i="1">
                        <a:latin typeface="Cambria Math" panose="02040503050406030204" pitchFamily="18" charset="0"/>
                      </a:rPr>
                      <m:t>𝑅</m:t>
                    </m:r>
                    <m:r>
                      <a:rPr lang="en-US" sz="1800">
                        <a:latin typeface="Cambria Math" panose="02040503050406030204" pitchFamily="18" charset="0"/>
                      </a:rPr>
                      <m:t>1+</m:t>
                    </m:r>
                    <m:r>
                      <a:rPr lang="en-US" sz="1800" i="1">
                        <a:latin typeface="Cambria Math" panose="02040503050406030204" pitchFamily="18" charset="0"/>
                      </a:rPr>
                      <m:t>𝑅</m:t>
                    </m:r>
                    <m:r>
                      <a:rPr lang="en-US" sz="1800">
                        <a:latin typeface="Cambria Math" panose="02040503050406030204" pitchFamily="18" charset="0"/>
                      </a:rPr>
                      <m:t>2</m:t>
                    </m:r>
                  </m:oMath>
                </a14:m>
                <a:r>
                  <a:rPr lang="en-US" sz="1800" dirty="0">
                    <a:latin typeface="Times New Roman" panose="02020603050405020304" pitchFamily="18" charset="0"/>
                    <a:cs typeface="Times New Roman" panose="02020603050405020304" pitchFamily="18" charset="0"/>
                  </a:rPr>
                  <a:t>:</a:t>
                </a:r>
              </a:p>
              <a:p>
                <a:pPr>
                  <a:lnSpc>
                    <a:spcPct val="100000"/>
                  </a:lnSpc>
                  <a:spcBef>
                    <a:spcPts val="0"/>
                  </a:spcBef>
                  <a:spcAft>
                    <a:spcPts val="0"/>
                  </a:spcAft>
                </a:pPr>
                <a:endParaRPr lang="en-US" sz="18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sz="1800" dirty="0">
                    <a:latin typeface="Times New Roman" panose="02020603050405020304" pitchFamily="18" charset="0"/>
                    <a:cs typeface="Times New Roman" panose="02020603050405020304" pitchFamily="18" charset="0"/>
                  </a:rPr>
                  <a:t>LOAD R1  ; Load value into accumulator</a:t>
                </a:r>
              </a:p>
              <a:p>
                <a:pPr>
                  <a:lnSpc>
                    <a:spcPct val="100000"/>
                  </a:lnSpc>
                  <a:spcBef>
                    <a:spcPts val="0"/>
                  </a:spcBef>
                  <a:spcAft>
                    <a:spcPts val="0"/>
                  </a:spcAft>
                </a:pPr>
                <a:r>
                  <a:rPr lang="en-US" sz="1800" dirty="0">
                    <a:latin typeface="Times New Roman" panose="02020603050405020304" pitchFamily="18" charset="0"/>
                    <a:cs typeface="Times New Roman" panose="02020603050405020304" pitchFamily="18" charset="0"/>
                  </a:rPr>
                  <a:t>ADD R2   ; Add value of R2 to accumulator (result in accumulator)</a:t>
                </a:r>
              </a:p>
              <a:p>
                <a:pPr>
                  <a:lnSpc>
                    <a:spcPct val="100000"/>
                  </a:lnSpc>
                  <a:spcBef>
                    <a:spcPts val="0"/>
                  </a:spcBef>
                  <a:spcAft>
                    <a:spcPts val="0"/>
                  </a:spcAft>
                </a:pPr>
                <a:r>
                  <a:rPr lang="en-US" sz="1800" dirty="0">
                    <a:latin typeface="Times New Roman" panose="02020603050405020304" pitchFamily="18" charset="0"/>
                    <a:cs typeface="Times New Roman" panose="02020603050405020304" pitchFamily="18" charset="0"/>
                  </a:rPr>
                  <a:t>STORE R1 ; Store accumulator back to R1</a:t>
                </a:r>
              </a:p>
              <a:p>
                <a:pPr>
                  <a:lnSpc>
                    <a:spcPct val="100000"/>
                  </a:lnSpc>
                  <a:spcBef>
                    <a:spcPts val="0"/>
                  </a:spcBef>
                  <a:spcAft>
                    <a:spcPts val="0"/>
                  </a:spcAft>
                </a:pPr>
                <a:endParaRPr lang="en-US" sz="1800" dirty="0">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buFontTx/>
                  <a:buChar char="•"/>
                </a:pPr>
                <a:endParaRPr lang="en-IN" sz="1800" dirty="0">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buFontTx/>
                  <a:buChar char="•"/>
                </a:pPr>
                <a:endParaRPr lang="en-US" altLang="en-US" sz="18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4" name="Rectangle 1">
                <a:extLst>
                  <a:ext uri="{FF2B5EF4-FFF2-40B4-BE49-F238E27FC236}">
                    <a16:creationId xmlns:a16="http://schemas.microsoft.com/office/drawing/2014/main" id="{0ACFF948-79D4-EB84-3D75-061C0ADF0C92}"/>
                  </a:ext>
                </a:extLst>
              </p:cNvPr>
              <p:cNvSpPr>
                <a:spLocks noGrp="1" noRot="1" noChangeAspect="1" noMove="1" noResize="1" noEditPoints="1" noAdjustHandles="1" noChangeArrowheads="1" noChangeShapeType="1" noTextEdit="1"/>
              </p:cNvSpPr>
              <p:nvPr>
                <p:ph sz="quarter" idx="10"/>
              </p:nvPr>
            </p:nvSpPr>
            <p:spPr bwMode="auto">
              <a:xfrm>
                <a:off x="390525" y="1263005"/>
                <a:ext cx="10912221" cy="5355312"/>
              </a:xfrm>
              <a:prstGeom prst="rect">
                <a:avLst/>
              </a:prstGeom>
              <a:blipFill>
                <a:blip r:embed="rId2"/>
                <a:stretch>
                  <a:fillRect l="-447" t="-114" r="-95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190969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8262C2C-9829-B5A0-CE03-EDE17A099CB0}"/>
              </a:ext>
            </a:extLst>
          </p:cNvPr>
          <p:cNvPicPr>
            <a:picLocks noGrp="1" noChangeAspect="1"/>
          </p:cNvPicPr>
          <p:nvPr>
            <p:ph sz="quarter" idx="10"/>
          </p:nvPr>
        </p:nvPicPr>
        <p:blipFill>
          <a:blip r:embed="rId2"/>
          <a:stretch>
            <a:fillRect/>
          </a:stretch>
        </p:blipFill>
        <p:spPr>
          <a:xfrm>
            <a:off x="1377950" y="1197731"/>
            <a:ext cx="9042400" cy="1955044"/>
          </a:xfrm>
          <a:prstGeom prst="rect">
            <a:avLst/>
          </a:prstGeom>
        </p:spPr>
      </p:pic>
      <p:pic>
        <p:nvPicPr>
          <p:cNvPr id="5" name="Picture 4">
            <a:extLst>
              <a:ext uri="{FF2B5EF4-FFF2-40B4-BE49-F238E27FC236}">
                <a16:creationId xmlns:a16="http://schemas.microsoft.com/office/drawing/2014/main" id="{5ADB8BE5-5655-21C6-F1A1-F197BF7ACC99}"/>
              </a:ext>
            </a:extLst>
          </p:cNvPr>
          <p:cNvPicPr>
            <a:picLocks noChangeAspect="1"/>
          </p:cNvPicPr>
          <p:nvPr/>
        </p:nvPicPr>
        <p:blipFill>
          <a:blip r:embed="rId3"/>
          <a:stretch>
            <a:fillRect/>
          </a:stretch>
        </p:blipFill>
        <p:spPr>
          <a:xfrm>
            <a:off x="1435100" y="3505848"/>
            <a:ext cx="9042400" cy="2627604"/>
          </a:xfrm>
          <a:prstGeom prst="rect">
            <a:avLst/>
          </a:prstGeom>
        </p:spPr>
      </p:pic>
    </p:spTree>
    <p:extLst>
      <p:ext uri="{BB962C8B-B14F-4D97-AF65-F5344CB8AC3E}">
        <p14:creationId xmlns:p14="http://schemas.microsoft.com/office/powerpoint/2010/main" val="10688280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B7FDE-2FAA-B962-D167-EE7960120C3F}"/>
              </a:ext>
            </a:extLst>
          </p:cNvPr>
          <p:cNvSpPr>
            <a:spLocks noGrp="1"/>
          </p:cNvSpPr>
          <p:nvPr>
            <p:ph type="title"/>
          </p:nvPr>
        </p:nvSpPr>
        <p:spPr/>
        <p:txBody>
          <a:bodyPr/>
          <a:lstStyle/>
          <a:p>
            <a:endParaRPr lang="en-IN"/>
          </a:p>
        </p:txBody>
      </p:sp>
      <p:sp>
        <p:nvSpPr>
          <p:cNvPr id="3" name="Rectangle 2">
            <a:extLst>
              <a:ext uri="{FF2B5EF4-FFF2-40B4-BE49-F238E27FC236}">
                <a16:creationId xmlns:a16="http://schemas.microsoft.com/office/drawing/2014/main" id="{7C19BEFC-1927-3BC4-AAE6-DFB9A503FDEF}"/>
              </a:ext>
            </a:extLst>
          </p:cNvPr>
          <p:cNvSpPr/>
          <p:nvPr/>
        </p:nvSpPr>
        <p:spPr>
          <a:xfrm>
            <a:off x="4133850" y="1537525"/>
            <a:ext cx="2457450" cy="64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Control Unit</a:t>
            </a:r>
          </a:p>
        </p:txBody>
      </p:sp>
      <p:cxnSp>
        <p:nvCxnSpPr>
          <p:cNvPr id="6" name="Straight Connector 5">
            <a:extLst>
              <a:ext uri="{FF2B5EF4-FFF2-40B4-BE49-F238E27FC236}">
                <a16:creationId xmlns:a16="http://schemas.microsoft.com/office/drawing/2014/main" id="{CE9D7524-3224-8C2D-78E9-C1F25078D12A}"/>
              </a:ext>
            </a:extLst>
          </p:cNvPr>
          <p:cNvCxnSpPr/>
          <p:nvPr/>
        </p:nvCxnSpPr>
        <p:spPr>
          <a:xfrm>
            <a:off x="4638675" y="2177605"/>
            <a:ext cx="0" cy="683895"/>
          </a:xfrm>
          <a:prstGeom prst="line">
            <a:avLst/>
          </a:prstGeom>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AF71E442-C69E-A9E1-2E03-FA72C8656FC9}"/>
              </a:ext>
            </a:extLst>
          </p:cNvPr>
          <p:cNvSpPr/>
          <p:nvPr/>
        </p:nvSpPr>
        <p:spPr>
          <a:xfrm>
            <a:off x="4133850" y="2918629"/>
            <a:ext cx="2457450" cy="6000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Accumulator</a:t>
            </a:r>
          </a:p>
        </p:txBody>
      </p:sp>
      <p:sp>
        <p:nvSpPr>
          <p:cNvPr id="8" name="Rectangle 7">
            <a:extLst>
              <a:ext uri="{FF2B5EF4-FFF2-40B4-BE49-F238E27FC236}">
                <a16:creationId xmlns:a16="http://schemas.microsoft.com/office/drawing/2014/main" id="{951951D5-56B9-F628-C128-A3E1B5DEE95C}"/>
              </a:ext>
            </a:extLst>
          </p:cNvPr>
          <p:cNvSpPr/>
          <p:nvPr/>
        </p:nvSpPr>
        <p:spPr>
          <a:xfrm>
            <a:off x="4133850" y="4243377"/>
            <a:ext cx="2457450" cy="6400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ALU</a:t>
            </a:r>
          </a:p>
        </p:txBody>
      </p:sp>
      <p:sp>
        <p:nvSpPr>
          <p:cNvPr id="9" name="Rectangle 8">
            <a:extLst>
              <a:ext uri="{FF2B5EF4-FFF2-40B4-BE49-F238E27FC236}">
                <a16:creationId xmlns:a16="http://schemas.microsoft.com/office/drawing/2014/main" id="{EC44E602-7D12-DDBF-23B7-67E55A62DBF2}"/>
              </a:ext>
            </a:extLst>
          </p:cNvPr>
          <p:cNvSpPr/>
          <p:nvPr/>
        </p:nvSpPr>
        <p:spPr>
          <a:xfrm>
            <a:off x="4133850" y="5356178"/>
            <a:ext cx="2628900" cy="776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Memory</a:t>
            </a:r>
          </a:p>
        </p:txBody>
      </p:sp>
      <p:pic>
        <p:nvPicPr>
          <p:cNvPr id="10" name="Picture 9">
            <a:extLst>
              <a:ext uri="{FF2B5EF4-FFF2-40B4-BE49-F238E27FC236}">
                <a16:creationId xmlns:a16="http://schemas.microsoft.com/office/drawing/2014/main" id="{7AC596E3-0B4A-B26A-0F94-CB2BF753CF36}"/>
              </a:ext>
            </a:extLst>
          </p:cNvPr>
          <p:cNvPicPr>
            <a:picLocks noChangeAspect="1"/>
          </p:cNvPicPr>
          <p:nvPr/>
        </p:nvPicPr>
        <p:blipFill>
          <a:blip r:embed="rId2"/>
          <a:stretch>
            <a:fillRect/>
          </a:stretch>
        </p:blipFill>
        <p:spPr>
          <a:xfrm>
            <a:off x="5692901" y="2227115"/>
            <a:ext cx="6097" cy="695004"/>
          </a:xfrm>
          <a:prstGeom prst="rect">
            <a:avLst/>
          </a:prstGeom>
        </p:spPr>
      </p:pic>
      <p:pic>
        <p:nvPicPr>
          <p:cNvPr id="11" name="Picture 10">
            <a:extLst>
              <a:ext uri="{FF2B5EF4-FFF2-40B4-BE49-F238E27FC236}">
                <a16:creationId xmlns:a16="http://schemas.microsoft.com/office/drawing/2014/main" id="{62C721F9-B2EB-8894-168E-7BAA2C845BCF}"/>
              </a:ext>
            </a:extLst>
          </p:cNvPr>
          <p:cNvPicPr>
            <a:picLocks noChangeAspect="1"/>
          </p:cNvPicPr>
          <p:nvPr/>
        </p:nvPicPr>
        <p:blipFill>
          <a:blip r:embed="rId2"/>
          <a:stretch>
            <a:fillRect/>
          </a:stretch>
        </p:blipFill>
        <p:spPr>
          <a:xfrm>
            <a:off x="4740401" y="3522195"/>
            <a:ext cx="6097" cy="695004"/>
          </a:xfrm>
          <a:prstGeom prst="rect">
            <a:avLst/>
          </a:prstGeom>
        </p:spPr>
      </p:pic>
      <p:pic>
        <p:nvPicPr>
          <p:cNvPr id="12" name="Picture 11">
            <a:extLst>
              <a:ext uri="{FF2B5EF4-FFF2-40B4-BE49-F238E27FC236}">
                <a16:creationId xmlns:a16="http://schemas.microsoft.com/office/drawing/2014/main" id="{D931C141-EA61-D262-1CF0-11D8D0808A66}"/>
              </a:ext>
            </a:extLst>
          </p:cNvPr>
          <p:cNvPicPr>
            <a:picLocks noChangeAspect="1"/>
          </p:cNvPicPr>
          <p:nvPr/>
        </p:nvPicPr>
        <p:blipFill>
          <a:blip r:embed="rId2"/>
          <a:stretch>
            <a:fillRect/>
          </a:stretch>
        </p:blipFill>
        <p:spPr>
          <a:xfrm>
            <a:off x="5686804" y="3564725"/>
            <a:ext cx="6097" cy="695004"/>
          </a:xfrm>
          <a:prstGeom prst="rect">
            <a:avLst/>
          </a:prstGeom>
        </p:spPr>
      </p:pic>
      <p:cxnSp>
        <p:nvCxnSpPr>
          <p:cNvPr id="15" name="Straight Connector 14">
            <a:extLst>
              <a:ext uri="{FF2B5EF4-FFF2-40B4-BE49-F238E27FC236}">
                <a16:creationId xmlns:a16="http://schemas.microsoft.com/office/drawing/2014/main" id="{14C3C265-BC29-32C0-9703-B7500877A8BC}"/>
              </a:ext>
            </a:extLst>
          </p:cNvPr>
          <p:cNvCxnSpPr/>
          <p:nvPr/>
        </p:nvCxnSpPr>
        <p:spPr>
          <a:xfrm>
            <a:off x="4740401" y="4883457"/>
            <a:ext cx="0" cy="472721"/>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A8D8E69-D2A2-0B78-2FA9-97A6F044587A}"/>
              </a:ext>
            </a:extLst>
          </p:cNvPr>
          <p:cNvCxnSpPr/>
          <p:nvPr/>
        </p:nvCxnSpPr>
        <p:spPr>
          <a:xfrm>
            <a:off x="5695949" y="4883457"/>
            <a:ext cx="0" cy="47272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43666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560EAB-C170-006B-8424-DE91CA16DEDC}"/>
              </a:ext>
            </a:extLst>
          </p:cNvPr>
          <p:cNvPicPr>
            <a:picLocks noChangeAspect="1"/>
          </p:cNvPicPr>
          <p:nvPr/>
        </p:nvPicPr>
        <p:blipFill>
          <a:blip r:embed="rId2"/>
          <a:stretch>
            <a:fillRect/>
          </a:stretch>
        </p:blipFill>
        <p:spPr>
          <a:xfrm>
            <a:off x="552450" y="504825"/>
            <a:ext cx="11134725" cy="5229425"/>
          </a:xfrm>
          <a:prstGeom prst="rect">
            <a:avLst/>
          </a:prstGeom>
        </p:spPr>
      </p:pic>
    </p:spTree>
    <p:extLst>
      <p:ext uri="{BB962C8B-B14F-4D97-AF65-F5344CB8AC3E}">
        <p14:creationId xmlns:p14="http://schemas.microsoft.com/office/powerpoint/2010/main" val="5797625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E20B9-50C7-E628-10E9-B3A099EBEE53}"/>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5710A11F-9E06-A78A-7D99-F8C9E5169CE9}"/>
              </a:ext>
            </a:extLst>
          </p:cNvPr>
          <p:cNvSpPr txBox="1"/>
          <p:nvPr/>
        </p:nvSpPr>
        <p:spPr>
          <a:xfrm>
            <a:off x="1152525" y="1674674"/>
            <a:ext cx="10096500" cy="1477328"/>
          </a:xfrm>
          <a:prstGeom prst="rect">
            <a:avLst/>
          </a:prstGeom>
          <a:noFill/>
        </p:spPr>
        <p:txBody>
          <a:bodyPr wrap="square">
            <a:spAutoFit/>
          </a:bodyPr>
          <a:lstStyle/>
          <a:p>
            <a:pPr algn="l">
              <a:buFont typeface="Arial" panose="020B0604020202020204" pitchFamily="34" charset="0"/>
              <a:buChar char="•"/>
            </a:pPr>
            <a:r>
              <a:rPr lang="en-US" b="0" i="0" dirty="0">
                <a:effectLst/>
                <a:latin typeface="fkGroteskNeue"/>
              </a:rPr>
              <a:t>Multiple general-purpose registers are available; the CPU can use any for data storage or computation</a:t>
            </a:r>
          </a:p>
          <a:p>
            <a:pPr algn="l"/>
            <a:r>
              <a:rPr lang="en-US" b="0" i="0" dirty="0">
                <a:effectLst/>
                <a:latin typeface="fkGroteskNeue"/>
              </a:rPr>
              <a:t>.</a:t>
            </a:r>
          </a:p>
          <a:p>
            <a:pPr algn="l">
              <a:buFont typeface="Arial" panose="020B0604020202020204" pitchFamily="34" charset="0"/>
              <a:buChar char="•"/>
            </a:pPr>
            <a:r>
              <a:rPr lang="en-US" b="0" i="0" dirty="0">
                <a:effectLst/>
                <a:latin typeface="fkGroteskNeue"/>
              </a:rPr>
              <a:t>Data flows through buses and multiplexers (MUX) to the ALU, and results can be stored in any register.</a:t>
            </a:r>
          </a:p>
          <a:p>
            <a:pPr algn="l"/>
            <a:endParaRPr lang="en-US" b="0" i="0" dirty="0">
              <a:effectLst/>
              <a:latin typeface="fkGroteskNeue"/>
            </a:endParaRPr>
          </a:p>
          <a:p>
            <a:pPr algn="l">
              <a:buFont typeface="Arial" panose="020B0604020202020204" pitchFamily="34" charset="0"/>
              <a:buChar char="•"/>
            </a:pPr>
            <a:r>
              <a:rPr lang="en-US" b="0" i="0" dirty="0">
                <a:effectLst/>
                <a:latin typeface="fkGroteskNeue"/>
              </a:rPr>
              <a:t>Control signals select which registers are sources and destinations for operations.</a:t>
            </a:r>
          </a:p>
        </p:txBody>
      </p:sp>
      <p:sp>
        <p:nvSpPr>
          <p:cNvPr id="3" name="Rectangle 2">
            <a:extLst>
              <a:ext uri="{FF2B5EF4-FFF2-40B4-BE49-F238E27FC236}">
                <a16:creationId xmlns:a16="http://schemas.microsoft.com/office/drawing/2014/main" id="{058C760A-3394-1605-2BCB-611262890260}"/>
              </a:ext>
            </a:extLst>
          </p:cNvPr>
          <p:cNvSpPr/>
          <p:nvPr/>
        </p:nvSpPr>
        <p:spPr>
          <a:xfrm>
            <a:off x="1714500" y="3429000"/>
            <a:ext cx="857250" cy="3095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r1</a:t>
            </a:r>
          </a:p>
        </p:txBody>
      </p:sp>
      <p:pic>
        <p:nvPicPr>
          <p:cNvPr id="4" name="Picture 3">
            <a:extLst>
              <a:ext uri="{FF2B5EF4-FFF2-40B4-BE49-F238E27FC236}">
                <a16:creationId xmlns:a16="http://schemas.microsoft.com/office/drawing/2014/main" id="{B0C6CF37-86CE-4992-3D92-6CC8A65BACAB}"/>
              </a:ext>
            </a:extLst>
          </p:cNvPr>
          <p:cNvPicPr>
            <a:picLocks noChangeAspect="1"/>
          </p:cNvPicPr>
          <p:nvPr/>
        </p:nvPicPr>
        <p:blipFill>
          <a:blip r:embed="rId2"/>
          <a:stretch>
            <a:fillRect/>
          </a:stretch>
        </p:blipFill>
        <p:spPr>
          <a:xfrm>
            <a:off x="2571750" y="3429000"/>
            <a:ext cx="871804" cy="317019"/>
          </a:xfrm>
          <a:prstGeom prst="rect">
            <a:avLst/>
          </a:prstGeom>
        </p:spPr>
      </p:pic>
      <p:sp>
        <p:nvSpPr>
          <p:cNvPr id="6" name="Rectangle 5">
            <a:extLst>
              <a:ext uri="{FF2B5EF4-FFF2-40B4-BE49-F238E27FC236}">
                <a16:creationId xmlns:a16="http://schemas.microsoft.com/office/drawing/2014/main" id="{3F093A78-97A7-9B41-ADB0-86EE8C2C9B12}"/>
              </a:ext>
            </a:extLst>
          </p:cNvPr>
          <p:cNvSpPr/>
          <p:nvPr/>
        </p:nvSpPr>
        <p:spPr>
          <a:xfrm>
            <a:off x="3443554" y="3436479"/>
            <a:ext cx="857250" cy="3095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rn</a:t>
            </a:r>
            <a:endParaRPr lang="en-IN" dirty="0"/>
          </a:p>
        </p:txBody>
      </p:sp>
      <p:sp>
        <p:nvSpPr>
          <p:cNvPr id="7" name="Rectangle 6">
            <a:extLst>
              <a:ext uri="{FF2B5EF4-FFF2-40B4-BE49-F238E27FC236}">
                <a16:creationId xmlns:a16="http://schemas.microsoft.com/office/drawing/2014/main" id="{5372CC09-E887-EB7F-FCED-D7DC24457196}"/>
              </a:ext>
            </a:extLst>
          </p:cNvPr>
          <p:cNvSpPr/>
          <p:nvPr/>
        </p:nvSpPr>
        <p:spPr>
          <a:xfrm>
            <a:off x="1714500" y="4173630"/>
            <a:ext cx="2667000" cy="4381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Mux(A/B)</a:t>
            </a:r>
          </a:p>
        </p:txBody>
      </p:sp>
      <p:sp>
        <p:nvSpPr>
          <p:cNvPr id="8" name="Rectangle 7">
            <a:extLst>
              <a:ext uri="{FF2B5EF4-FFF2-40B4-BE49-F238E27FC236}">
                <a16:creationId xmlns:a16="http://schemas.microsoft.com/office/drawing/2014/main" id="{31D59413-EC23-B461-B3D9-3120C2E9D8AA}"/>
              </a:ext>
            </a:extLst>
          </p:cNvPr>
          <p:cNvSpPr/>
          <p:nvPr/>
        </p:nvSpPr>
        <p:spPr>
          <a:xfrm>
            <a:off x="2143125" y="4865350"/>
            <a:ext cx="1400175" cy="4381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ALU</a:t>
            </a:r>
          </a:p>
        </p:txBody>
      </p:sp>
      <p:sp>
        <p:nvSpPr>
          <p:cNvPr id="11" name="Rectangle 10">
            <a:extLst>
              <a:ext uri="{FF2B5EF4-FFF2-40B4-BE49-F238E27FC236}">
                <a16:creationId xmlns:a16="http://schemas.microsoft.com/office/drawing/2014/main" id="{0B456007-0B19-A18F-BF18-997E959FE403}"/>
              </a:ext>
            </a:extLst>
          </p:cNvPr>
          <p:cNvSpPr/>
          <p:nvPr/>
        </p:nvSpPr>
        <p:spPr>
          <a:xfrm>
            <a:off x="2143125" y="5610225"/>
            <a:ext cx="1408298" cy="32385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Out put bus</a:t>
            </a:r>
          </a:p>
        </p:txBody>
      </p:sp>
      <p:sp>
        <p:nvSpPr>
          <p:cNvPr id="12" name="Rectangle 11">
            <a:extLst>
              <a:ext uri="{FF2B5EF4-FFF2-40B4-BE49-F238E27FC236}">
                <a16:creationId xmlns:a16="http://schemas.microsoft.com/office/drawing/2014/main" id="{63CD6511-2461-8CED-4D64-4C43272C7812}"/>
              </a:ext>
            </a:extLst>
          </p:cNvPr>
          <p:cNvSpPr/>
          <p:nvPr/>
        </p:nvSpPr>
        <p:spPr>
          <a:xfrm>
            <a:off x="2247899" y="6265525"/>
            <a:ext cx="1476375" cy="52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Register Load</a:t>
            </a:r>
          </a:p>
        </p:txBody>
      </p:sp>
      <p:cxnSp>
        <p:nvCxnSpPr>
          <p:cNvPr id="14" name="Straight Arrow Connector 13">
            <a:extLst>
              <a:ext uri="{FF2B5EF4-FFF2-40B4-BE49-F238E27FC236}">
                <a16:creationId xmlns:a16="http://schemas.microsoft.com/office/drawing/2014/main" id="{3A7DB459-1A58-0458-7BA6-F2A87B8E5C00}"/>
              </a:ext>
            </a:extLst>
          </p:cNvPr>
          <p:cNvCxnSpPr>
            <a:stCxn id="11" idx="2"/>
          </p:cNvCxnSpPr>
          <p:nvPr/>
        </p:nvCxnSpPr>
        <p:spPr>
          <a:xfrm flipH="1">
            <a:off x="2838450" y="5934075"/>
            <a:ext cx="8824" cy="331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C353D28-4F6B-9DF4-46A9-DCE5CCB7A653}"/>
              </a:ext>
            </a:extLst>
          </p:cNvPr>
          <p:cNvCxnSpPr>
            <a:stCxn id="8" idx="2"/>
            <a:endCxn id="11" idx="0"/>
          </p:cNvCxnSpPr>
          <p:nvPr/>
        </p:nvCxnSpPr>
        <p:spPr>
          <a:xfrm>
            <a:off x="2843213" y="5303500"/>
            <a:ext cx="4061" cy="306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3A83DC6B-9320-1410-1B2B-997B34DC363F}"/>
              </a:ext>
            </a:extLst>
          </p:cNvPr>
          <p:cNvCxnSpPr>
            <a:endCxn id="8" idx="0"/>
          </p:cNvCxnSpPr>
          <p:nvPr/>
        </p:nvCxnSpPr>
        <p:spPr>
          <a:xfrm>
            <a:off x="2838450" y="4619625"/>
            <a:ext cx="4763" cy="2457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E9A0E01-B100-3206-FB91-56619E74EAA6}"/>
              </a:ext>
            </a:extLst>
          </p:cNvPr>
          <p:cNvCxnSpPr/>
          <p:nvPr/>
        </p:nvCxnSpPr>
        <p:spPr>
          <a:xfrm flipV="1">
            <a:off x="2247899" y="3746019"/>
            <a:ext cx="0" cy="4640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7716D67-6C71-3957-A895-BD15D54C6FF4}"/>
              </a:ext>
            </a:extLst>
          </p:cNvPr>
          <p:cNvCxnSpPr/>
          <p:nvPr/>
        </p:nvCxnSpPr>
        <p:spPr>
          <a:xfrm flipV="1">
            <a:off x="3724274" y="3746019"/>
            <a:ext cx="0" cy="3878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4578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DD176C-84AF-A1FE-3B07-C5F99067A636}"/>
              </a:ext>
            </a:extLst>
          </p:cNvPr>
          <p:cNvPicPr>
            <a:picLocks noChangeAspect="1"/>
          </p:cNvPicPr>
          <p:nvPr/>
        </p:nvPicPr>
        <p:blipFill>
          <a:blip r:embed="rId2"/>
          <a:stretch>
            <a:fillRect/>
          </a:stretch>
        </p:blipFill>
        <p:spPr>
          <a:xfrm>
            <a:off x="1771275" y="1230439"/>
            <a:ext cx="8649450" cy="4397121"/>
          </a:xfrm>
          <a:prstGeom prst="rect">
            <a:avLst/>
          </a:prstGeom>
        </p:spPr>
      </p:pic>
    </p:spTree>
    <p:extLst>
      <p:ext uri="{BB962C8B-B14F-4D97-AF65-F5344CB8AC3E}">
        <p14:creationId xmlns:p14="http://schemas.microsoft.com/office/powerpoint/2010/main" val="32704947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6309F-7CF0-B02F-6A7B-DC719EE61AA8}"/>
              </a:ext>
            </a:extLst>
          </p:cNvPr>
          <p:cNvSpPr>
            <a:spLocks noGrp="1"/>
          </p:cNvSpPr>
          <p:nvPr>
            <p:ph type="title"/>
          </p:nvPr>
        </p:nvSpPr>
        <p:spPr/>
        <p:txBody>
          <a:bodyPr/>
          <a:lstStyle/>
          <a:p>
            <a:r>
              <a:rPr lang="en-IN" dirty="0"/>
              <a:t>STACK ORGANIZATION</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575EFAA-A9B0-2947-9358-ADC657E9543E}"/>
                  </a:ext>
                </a:extLst>
              </p:cNvPr>
              <p:cNvSpPr txBox="1"/>
              <p:nvPr/>
            </p:nvSpPr>
            <p:spPr>
              <a:xfrm>
                <a:off x="857249" y="1495425"/>
                <a:ext cx="9058275" cy="4524315"/>
              </a:xfrm>
              <a:prstGeom prst="rect">
                <a:avLst/>
              </a:prstGeom>
              <a:noFill/>
            </p:spPr>
            <p:txBody>
              <a:bodyPr wrap="square">
                <a:spAutoFit/>
              </a:bodyPr>
              <a:lstStyle/>
              <a:p>
                <a:pPr algn="l">
                  <a:buNone/>
                </a:pPr>
                <a:endParaRPr lang="en-US" b="0" i="0" dirty="0">
                  <a:effectLst/>
                  <a:latin typeface="fkGrotesk"/>
                </a:endParaRPr>
              </a:p>
              <a:p>
                <a:r>
                  <a:rPr lang="en-US" dirty="0"/>
                  <a:t>In this type, operations are performed using a last-in, first-out (LIFO) stack instead of registers. </a:t>
                </a:r>
              </a:p>
              <a:p>
                <a:r>
                  <a:rPr lang="en-US" dirty="0"/>
                  <a:t>The operands are stored on a push-down stack, and the ALU always operates on the top elements.</a:t>
                </a:r>
              </a:p>
              <a:p>
                <a:r>
                  <a:rPr lang="en-US" dirty="0"/>
                  <a:t>Features:</a:t>
                </a:r>
              </a:p>
              <a:p>
                <a:r>
                  <a:rPr lang="en-US" dirty="0"/>
                  <a:t>No named registers (operands are accessed implicitly from the top of the stack).</a:t>
                </a:r>
              </a:p>
              <a:p>
                <a:r>
                  <a:rPr lang="en-US" dirty="0"/>
                  <a:t>Simple instruction set: PUSH, POP, ADD, SUB, etc.</a:t>
                </a:r>
              </a:p>
              <a:p>
                <a:r>
                  <a:rPr lang="en-US" dirty="0"/>
                  <a:t>Example:</a:t>
                </a:r>
                <a:br>
                  <a:rPr lang="en-US" dirty="0"/>
                </a:br>
                <a:r>
                  <a:rPr lang="en-US" dirty="0"/>
                  <a:t>To compute </a:t>
                </a:r>
                <a14:m>
                  <m:oMath xmlns:m="http://schemas.openxmlformats.org/officeDocument/2006/math">
                    <m:r>
                      <a:rPr lang="en-US" i="1">
                        <a:latin typeface="Cambria Math" panose="02040503050406030204" pitchFamily="18" charset="0"/>
                      </a:rPr>
                      <m:t>𝐴</m:t>
                    </m:r>
                    <m:r>
                      <a:rPr lang="en-US">
                        <a:latin typeface="Cambria Math" panose="02040503050406030204" pitchFamily="18" charset="0"/>
                      </a:rPr>
                      <m:t>+</m:t>
                    </m:r>
                    <m:r>
                      <a:rPr lang="en-US" i="1">
                        <a:latin typeface="Cambria Math" panose="02040503050406030204" pitchFamily="18" charset="0"/>
                      </a:rPr>
                      <m:t>𝐵</m:t>
                    </m:r>
                  </m:oMath>
                </a14:m>
                <a:r>
                  <a:rPr lang="en-US" dirty="0"/>
                  <a:t>:</a:t>
                </a:r>
              </a:p>
              <a:p>
                <a:r>
                  <a:rPr lang="en-US" dirty="0"/>
                  <a:t>PUSH A</a:t>
                </a:r>
              </a:p>
              <a:p>
                <a:r>
                  <a:rPr lang="en-US" dirty="0"/>
                  <a:t>PUSH B</a:t>
                </a:r>
              </a:p>
              <a:p>
                <a:r>
                  <a:rPr lang="en-US" dirty="0"/>
                  <a:t>ADD     ; Pops A and B, pushes (A+B)</a:t>
                </a:r>
              </a:p>
              <a:p>
                <a:r>
                  <a:rPr lang="en-US" dirty="0"/>
                  <a:t>POP R1  ; Store result in R1</a:t>
                </a:r>
              </a:p>
              <a:p>
                <a:endParaRPr lang="en-US" dirty="0"/>
              </a:p>
              <a:p>
                <a:pPr algn="l"/>
                <a:endParaRPr lang="en-US" b="0" i="0" dirty="0">
                  <a:effectLst/>
                  <a:latin typeface="fkGroteskNeue"/>
                </a:endParaRPr>
              </a:p>
            </p:txBody>
          </p:sp>
        </mc:Choice>
        <mc:Fallback xmlns="">
          <p:sp>
            <p:nvSpPr>
              <p:cNvPr id="5" name="TextBox 4">
                <a:extLst>
                  <a:ext uri="{FF2B5EF4-FFF2-40B4-BE49-F238E27FC236}">
                    <a16:creationId xmlns:a16="http://schemas.microsoft.com/office/drawing/2014/main" id="{A575EFAA-A9B0-2947-9358-ADC657E9543E}"/>
                  </a:ext>
                </a:extLst>
              </p:cNvPr>
              <p:cNvSpPr txBox="1">
                <a:spLocks noRot="1" noChangeAspect="1" noMove="1" noResize="1" noEditPoints="1" noAdjustHandles="1" noChangeArrowheads="1" noChangeShapeType="1" noTextEdit="1"/>
              </p:cNvSpPr>
              <p:nvPr/>
            </p:nvSpPr>
            <p:spPr>
              <a:xfrm>
                <a:off x="857249" y="1495425"/>
                <a:ext cx="9058275" cy="4524315"/>
              </a:xfrm>
              <a:prstGeom prst="rect">
                <a:avLst/>
              </a:prstGeom>
              <a:blipFill>
                <a:blip r:embed="rId2"/>
                <a:stretch>
                  <a:fillRect l="-606" r="-1009"/>
                </a:stretch>
              </a:blipFill>
            </p:spPr>
            <p:txBody>
              <a:bodyPr/>
              <a:lstStyle/>
              <a:p>
                <a:r>
                  <a:rPr lang="en-IN">
                    <a:noFill/>
                  </a:rPr>
                  <a:t> </a:t>
                </a:r>
              </a:p>
            </p:txBody>
          </p:sp>
        </mc:Fallback>
      </mc:AlternateContent>
    </p:spTree>
    <p:extLst>
      <p:ext uri="{BB962C8B-B14F-4D97-AF65-F5344CB8AC3E}">
        <p14:creationId xmlns:p14="http://schemas.microsoft.com/office/powerpoint/2010/main" val="8912553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5EF49B-7659-8979-8452-967DE5B5A784}"/>
              </a:ext>
            </a:extLst>
          </p:cNvPr>
          <p:cNvSpPr>
            <a:spLocks noGrp="1"/>
          </p:cNvSpPr>
          <p:nvPr>
            <p:ph sz="quarter" idx="10"/>
          </p:nvPr>
        </p:nvSpPr>
        <p:spPr>
          <a:xfrm>
            <a:off x="539495" y="1435608"/>
            <a:ext cx="10976230" cy="5212842"/>
          </a:xfrm>
        </p:spPr>
        <p:txBody>
          <a:bodyPr>
            <a:normAutofit/>
          </a:bodyPr>
          <a:lstStyle/>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Advantages: Efficient for some programming languages (like those using recursion); simplifies code generation for function calls and returns.</a:t>
            </a:r>
          </a:p>
          <a:p>
            <a:pPr>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Disadvantages: Limited direct access to data, making some operations slower.</a:t>
            </a:r>
          </a:p>
          <a:p>
            <a:r>
              <a:rPr lang="en-US" sz="2400" dirty="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72C5CCA6-91EF-E313-ED90-13E73C71130A}"/>
              </a:ext>
            </a:extLst>
          </p:cNvPr>
          <p:cNvSpPr/>
          <p:nvPr/>
        </p:nvSpPr>
        <p:spPr>
          <a:xfrm>
            <a:off x="3208209" y="4355973"/>
            <a:ext cx="2352675" cy="105727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TOP</a:t>
            </a:r>
          </a:p>
        </p:txBody>
      </p:sp>
      <p:sp>
        <p:nvSpPr>
          <p:cNvPr id="6" name="Rectangle 5">
            <a:extLst>
              <a:ext uri="{FF2B5EF4-FFF2-40B4-BE49-F238E27FC236}">
                <a16:creationId xmlns:a16="http://schemas.microsoft.com/office/drawing/2014/main" id="{CB0AFC95-E879-4C8E-D2E6-240B81543204}"/>
              </a:ext>
            </a:extLst>
          </p:cNvPr>
          <p:cNvSpPr/>
          <p:nvPr/>
        </p:nvSpPr>
        <p:spPr>
          <a:xfrm>
            <a:off x="3208209" y="5422392"/>
            <a:ext cx="2352675" cy="92392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Stack</a:t>
            </a:r>
          </a:p>
        </p:txBody>
      </p:sp>
      <p:cxnSp>
        <p:nvCxnSpPr>
          <p:cNvPr id="8" name="Straight Arrow Connector 7">
            <a:extLst>
              <a:ext uri="{FF2B5EF4-FFF2-40B4-BE49-F238E27FC236}">
                <a16:creationId xmlns:a16="http://schemas.microsoft.com/office/drawing/2014/main" id="{FF720733-E324-A66B-261A-4071002598B5}"/>
              </a:ext>
            </a:extLst>
          </p:cNvPr>
          <p:cNvCxnSpPr>
            <a:cxnSpLocks/>
            <a:endCxn id="4" idx="3"/>
          </p:cNvCxnSpPr>
          <p:nvPr/>
        </p:nvCxnSpPr>
        <p:spPr>
          <a:xfrm flipH="1">
            <a:off x="5560884" y="4884610"/>
            <a:ext cx="6286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C04CE13-AD8A-2B0E-4F91-DE748B25E30F}"/>
              </a:ext>
            </a:extLst>
          </p:cNvPr>
          <p:cNvSpPr/>
          <p:nvPr/>
        </p:nvSpPr>
        <p:spPr>
          <a:xfrm>
            <a:off x="6189534" y="4560612"/>
            <a:ext cx="2352675" cy="5714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Operated by ALU</a:t>
            </a:r>
          </a:p>
        </p:txBody>
      </p:sp>
    </p:spTree>
    <p:extLst>
      <p:ext uri="{BB962C8B-B14F-4D97-AF65-F5344CB8AC3E}">
        <p14:creationId xmlns:p14="http://schemas.microsoft.com/office/powerpoint/2010/main" val="30666913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46AB999-89A1-D52C-6A52-4668A95D743A}"/>
              </a:ext>
            </a:extLst>
          </p:cNvPr>
          <p:cNvGraphicFramePr>
            <a:graphicFrameLocks noGrp="1"/>
          </p:cNvGraphicFramePr>
          <p:nvPr>
            <p:ph sz="quarter" idx="10"/>
            <p:extLst>
              <p:ext uri="{D42A27DB-BD31-4B8C-83A1-F6EECF244321}">
                <p14:modId xmlns:p14="http://schemas.microsoft.com/office/powerpoint/2010/main" val="2173774503"/>
              </p:ext>
            </p:extLst>
          </p:nvPr>
        </p:nvGraphicFramePr>
        <p:xfrm>
          <a:off x="1128761" y="1435100"/>
          <a:ext cx="8062864" cy="4775199"/>
        </p:xfrm>
        <a:graphic>
          <a:graphicData uri="http://schemas.openxmlformats.org/drawingml/2006/table">
            <a:tbl>
              <a:tblPr/>
              <a:tblGrid>
                <a:gridCol w="2015716">
                  <a:extLst>
                    <a:ext uri="{9D8B030D-6E8A-4147-A177-3AD203B41FA5}">
                      <a16:colId xmlns:a16="http://schemas.microsoft.com/office/drawing/2014/main" val="3868937345"/>
                    </a:ext>
                  </a:extLst>
                </a:gridCol>
                <a:gridCol w="2015716">
                  <a:extLst>
                    <a:ext uri="{9D8B030D-6E8A-4147-A177-3AD203B41FA5}">
                      <a16:colId xmlns:a16="http://schemas.microsoft.com/office/drawing/2014/main" val="3091950406"/>
                    </a:ext>
                  </a:extLst>
                </a:gridCol>
                <a:gridCol w="2015716">
                  <a:extLst>
                    <a:ext uri="{9D8B030D-6E8A-4147-A177-3AD203B41FA5}">
                      <a16:colId xmlns:a16="http://schemas.microsoft.com/office/drawing/2014/main" val="358855036"/>
                    </a:ext>
                  </a:extLst>
                </a:gridCol>
                <a:gridCol w="2015716">
                  <a:extLst>
                    <a:ext uri="{9D8B030D-6E8A-4147-A177-3AD203B41FA5}">
                      <a16:colId xmlns:a16="http://schemas.microsoft.com/office/drawing/2014/main" val="3512083120"/>
                    </a:ext>
                  </a:extLst>
                </a:gridCol>
              </a:tblGrid>
              <a:tr h="831636">
                <a:tc>
                  <a:txBody>
                    <a:bodyPr/>
                    <a:lstStyle/>
                    <a:p>
                      <a:pPr algn="l">
                        <a:buNone/>
                      </a:pPr>
                      <a:r>
                        <a:rPr lang="en-IN" sz="1300" b="1">
                          <a:effectLst/>
                        </a:rPr>
                        <a:t>Type</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Data Storage</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Main Advantage</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tc>
                  <a:txBody>
                    <a:bodyPr/>
                    <a:lstStyle/>
                    <a:p>
                      <a:pPr algn="l">
                        <a:buNone/>
                      </a:pPr>
                      <a:r>
                        <a:rPr lang="en-IN" sz="1300" b="1">
                          <a:effectLst/>
                        </a:rPr>
                        <a:t>Main Drawback</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3225466727"/>
                  </a:ext>
                </a:extLst>
              </a:tr>
              <a:tr h="1073078">
                <a:tc>
                  <a:txBody>
                    <a:bodyPr/>
                    <a:lstStyle/>
                    <a:p>
                      <a:pPr algn="l">
                        <a:buNone/>
                      </a:pPr>
                      <a:r>
                        <a:rPr lang="en-IN" sz="1300">
                          <a:effectLst/>
                        </a:rPr>
                        <a:t>Single Accumulator</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sz="1300">
                          <a:effectLst/>
                        </a:rPr>
                        <a:t>One accumulator register</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sz="1300">
                          <a:effectLst/>
                        </a:rPr>
                        <a:t>Simple &amp; low hardware cost</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sz="1300">
                          <a:effectLst/>
                        </a:rPr>
                        <a:t>Many memory accesses</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1300672845"/>
                  </a:ext>
                </a:extLst>
              </a:tr>
              <a:tr h="1314521">
                <a:tc>
                  <a:txBody>
                    <a:bodyPr/>
                    <a:lstStyle/>
                    <a:p>
                      <a:pPr algn="l">
                        <a:buNone/>
                      </a:pPr>
                      <a:r>
                        <a:rPr lang="en-IN" sz="1300">
                          <a:effectLst/>
                        </a:rPr>
                        <a:t>General Register</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sz="1300">
                          <a:effectLst/>
                        </a:rPr>
                        <a:t>Multiple registers</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sz="1300">
                          <a:effectLst/>
                        </a:rPr>
                        <a:t>Fast, flexible, supports parallelism</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sz="1300">
                          <a:effectLst/>
                        </a:rPr>
                        <a:t>More control logic needed</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649984280"/>
                  </a:ext>
                </a:extLst>
              </a:tr>
              <a:tr h="1555964">
                <a:tc>
                  <a:txBody>
                    <a:bodyPr/>
                    <a:lstStyle/>
                    <a:p>
                      <a:pPr algn="l">
                        <a:buNone/>
                      </a:pPr>
                      <a:r>
                        <a:rPr lang="en-IN" sz="1300">
                          <a:effectLst/>
                        </a:rPr>
                        <a:t>Stack</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sz="1300">
                          <a:effectLst/>
                        </a:rPr>
                        <a:t>Stack memory (LIFO)</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US" sz="1300">
                          <a:effectLst/>
                        </a:rPr>
                        <a:t>Compact instructions, no register addressing</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tc>
                  <a:txBody>
                    <a:bodyPr/>
                    <a:lstStyle/>
                    <a:p>
                      <a:pPr algn="l">
                        <a:buNone/>
                      </a:pPr>
                      <a:r>
                        <a:rPr lang="en-IN" sz="1300" dirty="0">
                          <a:effectLst/>
                        </a:rPr>
                        <a:t>Slower for complex operations</a:t>
                      </a:r>
                    </a:p>
                  </a:txBody>
                  <a:tcPr marL="44700" marR="44700" marT="44700" marB="44700"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noFill/>
                  </a:tcPr>
                </a:tc>
                <a:extLst>
                  <a:ext uri="{0D108BD9-81ED-4DB2-BD59-A6C34878D82A}">
                    <a16:rowId xmlns:a16="http://schemas.microsoft.com/office/drawing/2014/main" val="2669936950"/>
                  </a:ext>
                </a:extLst>
              </a:tr>
            </a:tbl>
          </a:graphicData>
        </a:graphic>
      </p:graphicFrame>
    </p:spTree>
    <p:extLst>
      <p:ext uri="{BB962C8B-B14F-4D97-AF65-F5344CB8AC3E}">
        <p14:creationId xmlns:p14="http://schemas.microsoft.com/office/powerpoint/2010/main" val="3556509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D34BEB4-24EB-CB11-8CB4-E2395447CEF5}"/>
              </a:ext>
            </a:extLst>
          </p:cNvPr>
          <p:cNvPicPr>
            <a:picLocks noChangeAspect="1"/>
          </p:cNvPicPr>
          <p:nvPr/>
        </p:nvPicPr>
        <p:blipFill>
          <a:blip r:embed="rId2"/>
          <a:stretch>
            <a:fillRect/>
          </a:stretch>
        </p:blipFill>
        <p:spPr>
          <a:xfrm>
            <a:off x="742949" y="385762"/>
            <a:ext cx="10467975" cy="6086475"/>
          </a:xfrm>
          <a:prstGeom prst="rect">
            <a:avLst/>
          </a:prstGeom>
        </p:spPr>
      </p:pic>
    </p:spTree>
    <p:extLst>
      <p:ext uri="{BB962C8B-B14F-4D97-AF65-F5344CB8AC3E}">
        <p14:creationId xmlns:p14="http://schemas.microsoft.com/office/powerpoint/2010/main" val="14430502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3551A-AF10-34C9-AF72-20F8ABA4CA11}"/>
              </a:ext>
            </a:extLst>
          </p:cNvPr>
          <p:cNvSpPr>
            <a:spLocks noGrp="1"/>
          </p:cNvSpPr>
          <p:nvPr>
            <p:ph type="title"/>
          </p:nvPr>
        </p:nvSpPr>
        <p:spPr/>
        <p:txBody>
          <a:bodyPr/>
          <a:lstStyle/>
          <a:p>
            <a:r>
              <a:rPr lang="en-IN" dirty="0"/>
              <a:t>SMP</a:t>
            </a:r>
          </a:p>
        </p:txBody>
      </p:sp>
      <p:sp>
        <p:nvSpPr>
          <p:cNvPr id="5" name="TextBox 4">
            <a:extLst>
              <a:ext uri="{FF2B5EF4-FFF2-40B4-BE49-F238E27FC236}">
                <a16:creationId xmlns:a16="http://schemas.microsoft.com/office/drawing/2014/main" id="{B8A29F7A-A9EC-AA55-8502-415BC9BA1BBE}"/>
              </a:ext>
            </a:extLst>
          </p:cNvPr>
          <p:cNvSpPr txBox="1"/>
          <p:nvPr/>
        </p:nvSpPr>
        <p:spPr>
          <a:xfrm>
            <a:off x="600075" y="1552576"/>
            <a:ext cx="10734675" cy="5355312"/>
          </a:xfrm>
          <a:prstGeom prst="rect">
            <a:avLst/>
          </a:prstGeom>
          <a:noFill/>
        </p:spPr>
        <p:txBody>
          <a:bodyPr wrap="square">
            <a:spAutoFit/>
          </a:bodyPr>
          <a:lstStyle/>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SMP is a computer architecture where two or more identical processors share a single main memory and I/O system.</a:t>
            </a:r>
          </a:p>
          <a:p>
            <a:pPr algn="l"/>
            <a:endParaRPr lang="en-US"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All processors are peers — none are special or master. They share equal access to memory and peripherals.</a:t>
            </a:r>
          </a:p>
          <a:p>
            <a:pPr algn="l"/>
            <a:endParaRPr lang="en-US"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Each processor can execute different tasks or threads independently but all run under a single operating system instance.</a:t>
            </a:r>
          </a:p>
          <a:p>
            <a:pPr algn="l">
              <a:buFont typeface="Arial" panose="020B0604020202020204" pitchFamily="34" charset="0"/>
              <a:buChar char="•"/>
            </a:pPr>
            <a:endParaRPr lang="en-US" dirty="0">
              <a:latin typeface="fkGroteskNeue"/>
            </a:endParaRPr>
          </a:p>
          <a:p>
            <a:r>
              <a:rPr lang="en-US" u="sng" dirty="0"/>
              <a:t>Key Characteristics of SMP</a:t>
            </a:r>
          </a:p>
          <a:p>
            <a:r>
              <a:rPr lang="en-US" dirty="0">
                <a:latin typeface="Times New Roman" panose="02020603050405020304" pitchFamily="18" charset="0"/>
                <a:cs typeface="Times New Roman" panose="02020603050405020304" pitchFamily="18" charset="0"/>
              </a:rPr>
              <a:t>Uniform Memory Access (UMA): Every processor accesses all memory locations equally fast.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Processor Equality: No processor has priority; all can run processes.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Dynamic Load Balancing: The OS distributes workloads across processors for optimal performance.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Single OS Copy: One OS manages all processors.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Concurrency Control: The system manages simultaneous memory and I/O accesses to prevent conflicts.</a:t>
            </a:r>
          </a:p>
          <a:p>
            <a:pPr algn="l">
              <a:buFont typeface="Arial" panose="020B0604020202020204" pitchFamily="34" charset="0"/>
              <a:buChar char="•"/>
            </a:pPr>
            <a:endParaRPr lang="en-US" b="0" i="0" dirty="0">
              <a:effectLst/>
              <a:latin typeface="fkGroteskNeue"/>
            </a:endParaRPr>
          </a:p>
        </p:txBody>
      </p:sp>
    </p:spTree>
    <p:extLst>
      <p:ext uri="{BB962C8B-B14F-4D97-AF65-F5344CB8AC3E}">
        <p14:creationId xmlns:p14="http://schemas.microsoft.com/office/powerpoint/2010/main" val="13678746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0E61F-AB7A-7699-D10D-D76A06336762}"/>
              </a:ext>
            </a:extLst>
          </p:cNvPr>
          <p:cNvSpPr>
            <a:spLocks noGrp="1"/>
          </p:cNvSpPr>
          <p:nvPr>
            <p:ph type="title"/>
          </p:nvPr>
        </p:nvSpPr>
        <p:spPr/>
        <p:txBody>
          <a:bodyPr/>
          <a:lstStyle/>
          <a:p>
            <a:endParaRPr lang="en-IN"/>
          </a:p>
        </p:txBody>
      </p:sp>
      <p:sp>
        <p:nvSpPr>
          <p:cNvPr id="7" name="TextBox 6">
            <a:extLst>
              <a:ext uri="{FF2B5EF4-FFF2-40B4-BE49-F238E27FC236}">
                <a16:creationId xmlns:a16="http://schemas.microsoft.com/office/drawing/2014/main" id="{BC35FEB9-4C55-DFC8-AF09-4E2BA94663CA}"/>
              </a:ext>
            </a:extLst>
          </p:cNvPr>
          <p:cNvSpPr txBox="1"/>
          <p:nvPr/>
        </p:nvSpPr>
        <p:spPr>
          <a:xfrm>
            <a:off x="1057275" y="1582341"/>
            <a:ext cx="8086725" cy="3785652"/>
          </a:xfrm>
          <a:prstGeom prst="rect">
            <a:avLst/>
          </a:prstGeom>
          <a:noFill/>
        </p:spPr>
        <p:txBody>
          <a:bodyPr wrap="square">
            <a:spAutoFit/>
          </a:bodyPr>
          <a:lstStyle/>
          <a:p>
            <a:pPr algn="l">
              <a:buNone/>
            </a:pPr>
            <a:r>
              <a:rPr lang="en-US" sz="2000" b="0" i="0" dirty="0">
                <a:effectLst/>
                <a:latin typeface="Times New Roman" panose="02020603050405020304" pitchFamily="18" charset="0"/>
                <a:cs typeface="Times New Roman" panose="02020603050405020304" pitchFamily="18" charset="0"/>
              </a:rPr>
              <a:t>How SMP Works</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Multiple processors connected via a shared bus or interconnect.</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They share the same physical memory and I/O channels.</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Each processor has its own cache to speed up data access.</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OS schedules tasks/threads dynamically on any free processor.</a:t>
            </a:r>
          </a:p>
          <a:p>
            <a:pPr algn="l">
              <a:buFont typeface="Arial" panose="020B0604020202020204" pitchFamily="34" charset="0"/>
              <a:buChar char="•"/>
            </a:pPr>
            <a:endParaRPr lang="en-US" sz="2000" b="0" i="0" dirty="0">
              <a:effectLst/>
              <a:latin typeface="Times New Roman" panose="02020603050405020304" pitchFamily="18" charset="0"/>
              <a:cs typeface="Times New Roman" panose="02020603050405020304" pitchFamily="18" charset="0"/>
            </a:endParaRPr>
          </a:p>
          <a:p>
            <a:pPr algn="l">
              <a:buNone/>
            </a:pPr>
            <a:r>
              <a:rPr lang="en-US" sz="2000" b="0" i="0" dirty="0">
                <a:effectLst/>
                <a:latin typeface="Times New Roman" panose="02020603050405020304" pitchFamily="18" charset="0"/>
                <a:cs typeface="Times New Roman" panose="02020603050405020304" pitchFamily="18" charset="0"/>
              </a:rPr>
              <a:t>Advantages of SMP</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Increased throughput: More processes can run at once since multiple processors work in parallel.</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Reliability: If one processor fails, others continue running, so the system degrades gracefully.</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Flexibility: The system handles many users or processes efficiently.</a:t>
            </a:r>
          </a:p>
        </p:txBody>
      </p:sp>
    </p:spTree>
    <p:extLst>
      <p:ext uri="{BB962C8B-B14F-4D97-AF65-F5344CB8AC3E}">
        <p14:creationId xmlns:p14="http://schemas.microsoft.com/office/powerpoint/2010/main" val="42938620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F6714-F74A-0496-0DE4-F8E6983A95C7}"/>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4F11AD37-5AA8-90DF-AAAF-F70E22D0ACAD}"/>
              </a:ext>
            </a:extLst>
          </p:cNvPr>
          <p:cNvSpPr txBox="1"/>
          <p:nvPr/>
        </p:nvSpPr>
        <p:spPr>
          <a:xfrm>
            <a:off x="1447800" y="1443841"/>
            <a:ext cx="7677150" cy="4401205"/>
          </a:xfrm>
          <a:prstGeom prst="rect">
            <a:avLst/>
          </a:prstGeom>
          <a:noFill/>
        </p:spPr>
        <p:txBody>
          <a:bodyPr wrap="square">
            <a:spAutoFit/>
          </a:bodyPr>
          <a:lstStyle/>
          <a:p>
            <a:pPr algn="l">
              <a:buNone/>
            </a:pPr>
            <a:r>
              <a:rPr lang="en-US" sz="2000" b="0" i="0" dirty="0">
                <a:effectLst/>
                <a:latin typeface="Times New Roman" panose="02020603050405020304" pitchFamily="18" charset="0"/>
                <a:cs typeface="Times New Roman" panose="02020603050405020304" pitchFamily="18" charset="0"/>
              </a:rPr>
              <a:t>Disadvantages of SMP</a:t>
            </a:r>
          </a:p>
          <a:p>
            <a:pPr algn="l">
              <a:buNone/>
            </a:pPr>
            <a:endParaRPr lang="en-US"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Complex OS design: Managing multiple processors evenly requires sophisticated OS algorithms.</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Memory bottleneck: All processors share one memory bus, which can become a performance limiter.</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Cost: Larger shared memory and interconnects increase system cost.</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Usually limited to around 16 processors due to these scaling challenges.</a:t>
            </a:r>
          </a:p>
          <a:p>
            <a:pPr algn="l">
              <a:buFont typeface="Arial" panose="020B0604020202020204" pitchFamily="34" charset="0"/>
              <a:buChar char="•"/>
            </a:pPr>
            <a:endParaRPr lang="en-US" sz="2000" b="0" i="0" dirty="0">
              <a:effectLst/>
              <a:latin typeface="Times New Roman" panose="02020603050405020304" pitchFamily="18" charset="0"/>
              <a:cs typeface="Times New Roman" panose="02020603050405020304" pitchFamily="18" charset="0"/>
            </a:endParaRPr>
          </a:p>
          <a:p>
            <a:pPr algn="l">
              <a:buNone/>
            </a:pPr>
            <a:r>
              <a:rPr lang="en-US" sz="2000" b="0" i="0" dirty="0">
                <a:effectLst/>
                <a:latin typeface="Times New Roman" panose="02020603050405020304" pitchFamily="18" charset="0"/>
                <a:cs typeface="Times New Roman" panose="02020603050405020304" pitchFamily="18" charset="0"/>
              </a:rPr>
              <a:t>Typical Uses</a:t>
            </a:r>
          </a:p>
          <a:p>
            <a:pPr algn="l">
              <a:buNone/>
            </a:pPr>
            <a:endParaRPr lang="en-US"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Servers and workstations requiring multitasking and high reliability.</a:t>
            </a:r>
          </a:p>
          <a:p>
            <a:pPr algn="l">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Systems running time-sharing, parallel processing, and multithreaded applications.</a:t>
            </a:r>
          </a:p>
        </p:txBody>
      </p:sp>
    </p:spTree>
    <p:extLst>
      <p:ext uri="{BB962C8B-B14F-4D97-AF65-F5344CB8AC3E}">
        <p14:creationId xmlns:p14="http://schemas.microsoft.com/office/powerpoint/2010/main" val="7550878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29883-70D2-1E56-ADFF-A3AD74BC8929}"/>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3059FDC5-0D9C-59D2-C7DF-A651FBC961C3}"/>
              </a:ext>
            </a:extLst>
          </p:cNvPr>
          <p:cNvSpPr txBox="1"/>
          <p:nvPr/>
        </p:nvSpPr>
        <p:spPr>
          <a:xfrm>
            <a:off x="838200" y="1582340"/>
            <a:ext cx="10220325" cy="3785652"/>
          </a:xfrm>
          <a:prstGeom prst="rect">
            <a:avLst/>
          </a:prstGeom>
          <a:noFill/>
        </p:spPr>
        <p:txBody>
          <a:bodyPr wrap="square">
            <a:spAutoFit/>
          </a:bodyPr>
          <a:lstStyle/>
          <a:p>
            <a:pPr algn="l">
              <a:buNone/>
            </a:pPr>
            <a:r>
              <a:rPr lang="en-US" sz="2000" b="0" i="0" dirty="0">
                <a:effectLst/>
                <a:latin typeface="Times New Roman" panose="02020603050405020304" pitchFamily="18" charset="0"/>
                <a:cs typeface="Times New Roman" panose="02020603050405020304" pitchFamily="18" charset="0"/>
              </a:rPr>
              <a:t>Two programming models used for multiprocessors are:</a:t>
            </a:r>
          </a:p>
          <a:p>
            <a:pPr algn="l">
              <a:buNone/>
            </a:pPr>
            <a:endParaRPr lang="en-US" sz="2000" b="0" i="0" dirty="0">
              <a:effectLst/>
              <a:latin typeface="Times New Roman" panose="02020603050405020304" pitchFamily="18" charset="0"/>
              <a:cs typeface="Times New Roman" panose="02020603050405020304" pitchFamily="18" charset="0"/>
            </a:endParaRPr>
          </a:p>
          <a:p>
            <a:pPr algn="l">
              <a:buFont typeface="+mj-lt"/>
              <a:buAutoNum type="arabicPeriod"/>
            </a:pPr>
            <a:r>
              <a:rPr lang="en-US" sz="2000" b="1" i="0" dirty="0">
                <a:effectLst/>
                <a:latin typeface="Times New Roman" panose="02020603050405020304" pitchFamily="18" charset="0"/>
                <a:cs typeface="Times New Roman" panose="02020603050405020304" pitchFamily="18" charset="0"/>
              </a:rPr>
              <a:t>Shared Memory Model</a:t>
            </a:r>
            <a:r>
              <a:rPr lang="en-US" sz="2000" b="0" i="0" dirty="0">
                <a:effectLst/>
                <a:latin typeface="Times New Roman" panose="02020603050405020304" pitchFamily="18" charset="0"/>
                <a:cs typeface="Times New Roman" panose="02020603050405020304" pitchFamily="18" charset="0"/>
              </a:rPr>
              <a:t>: In this model, multiple processors share a common address space and communicate by reading and writing to shared variables. Synchronization mechanisms like locks and semaphores are used to manage access. An example is the Uniform Memory Access (UMA) model, where all processors have equal access time to shared memory. OpenMP is a typical API used for programming in this model.</a:t>
            </a:r>
          </a:p>
          <a:p>
            <a:pPr algn="l"/>
            <a:endParaRPr lang="en-US" sz="2000" b="0" i="0" dirty="0">
              <a:effectLst/>
              <a:latin typeface="Times New Roman" panose="02020603050405020304" pitchFamily="18" charset="0"/>
              <a:cs typeface="Times New Roman" panose="02020603050405020304" pitchFamily="18" charset="0"/>
            </a:endParaRPr>
          </a:p>
          <a:p>
            <a:pPr algn="l"/>
            <a:r>
              <a:rPr lang="en-US" sz="2000" b="1" i="0" dirty="0">
                <a:effectLst/>
                <a:latin typeface="Times New Roman" panose="02020603050405020304" pitchFamily="18" charset="0"/>
                <a:cs typeface="Times New Roman" panose="02020603050405020304" pitchFamily="18" charset="0"/>
              </a:rPr>
              <a:t>2.Message Passing Model</a:t>
            </a:r>
            <a:r>
              <a:rPr lang="en-US" sz="2000" b="0" i="0" dirty="0">
                <a:effectLst/>
                <a:latin typeface="Times New Roman" panose="02020603050405020304" pitchFamily="18" charset="0"/>
                <a:cs typeface="Times New Roman" panose="02020603050405020304" pitchFamily="18" charset="0"/>
              </a:rPr>
              <a:t>: Each processor has its own local memory, and processors communicate by explicitly sending messages to each other. This avoids shared memory but requires more management of message passing. The Message Passing Interface (MPI) is a widely-used example of this model.</a:t>
            </a:r>
          </a:p>
        </p:txBody>
      </p:sp>
    </p:spTree>
    <p:extLst>
      <p:ext uri="{BB962C8B-B14F-4D97-AF65-F5344CB8AC3E}">
        <p14:creationId xmlns:p14="http://schemas.microsoft.com/office/powerpoint/2010/main" val="19594334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A6738-870D-270C-F84E-60557EDE83DC}"/>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Vector SIMD (Single Instruction, Multiple Data)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011F31-9C01-BE4C-28E4-D986E8DA3098}"/>
              </a:ext>
            </a:extLst>
          </p:cNvPr>
          <p:cNvSpPr>
            <a:spLocks noGrp="1"/>
          </p:cNvSpPr>
          <p:nvPr>
            <p:ph sz="quarter" idx="10"/>
          </p:nvPr>
        </p:nvSpPr>
        <p:spPr>
          <a:xfrm>
            <a:off x="361950" y="1276351"/>
            <a:ext cx="11544300" cy="5248274"/>
          </a:xfrm>
        </p:spPr>
        <p:txBody>
          <a:bodyPr>
            <a:noAutofit/>
          </a:bodyPr>
          <a:lstStyle/>
          <a:p>
            <a:pPr marL="342900" indent="-342900">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processing is a parallel computing architecture where a single instruction operates simultaneously on multiple data elements organized in vectors. </a:t>
            </a:r>
          </a:p>
          <a:p>
            <a:pPr marL="342900" indent="-342900">
              <a:lnSpc>
                <a:spcPct val="100000"/>
              </a:lnSpc>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Instead of executing one instruction per data item (scalar processing), SIMD performs the </a:t>
            </a:r>
            <a:r>
              <a:rPr lang="en-US" sz="2000" b="1" dirty="0">
                <a:latin typeface="Times New Roman" panose="02020603050405020304" pitchFamily="18" charset="0"/>
                <a:cs typeface="Times New Roman" panose="02020603050405020304" pitchFamily="18" charset="0"/>
              </a:rPr>
              <a:t>same operation on a whole vector of data</a:t>
            </a:r>
            <a:r>
              <a:rPr lang="en-US" sz="2000" dirty="0">
                <a:latin typeface="Times New Roman" panose="02020603050405020304" pitchFamily="18" charset="0"/>
                <a:cs typeface="Times New Roman" panose="02020603050405020304" pitchFamily="18" charset="0"/>
              </a:rPr>
              <a:t> in one go.</a:t>
            </a:r>
          </a:p>
          <a:p>
            <a:pPr marL="342900" indent="-342900">
              <a:lnSpc>
                <a:spcPct val="100000"/>
              </a:lnSpc>
              <a:spcBef>
                <a:spcPts val="0"/>
              </a:spcBef>
              <a:spcAft>
                <a:spcPts val="0"/>
              </a:spcAft>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Example:</a:t>
            </a:r>
          </a:p>
          <a:p>
            <a:pPr>
              <a:lnSpc>
                <a:spcPct val="110000"/>
              </a:lnSpc>
              <a:spcBef>
                <a:spcPts val="0"/>
              </a:spcBef>
              <a:spcAft>
                <a:spcPts val="0"/>
              </a:spcAft>
            </a:pPr>
            <a:r>
              <a:rPr lang="en-US" sz="2000" dirty="0">
                <a:latin typeface="Times New Roman" panose="02020603050405020304" pitchFamily="18" charset="0"/>
                <a:cs typeface="Times New Roman" panose="02020603050405020304" pitchFamily="18" charset="0"/>
              </a:rPr>
              <a:t>If you want to add two arrays:</a:t>
            </a:r>
          </a:p>
          <a:p>
            <a:pPr marL="342900" indent="-342900">
              <a:lnSpc>
                <a:spcPct val="110000"/>
              </a:lnSpc>
              <a:spcBef>
                <a:spcPts val="0"/>
              </a:spcBef>
              <a:spcAft>
                <a:spcPts val="0"/>
              </a:spcAf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a:lnSpc>
                <a:spcPct val="110000"/>
              </a:lnSpc>
              <a:spcBef>
                <a:spcPts val="0"/>
              </a:spcBef>
              <a:spcAft>
                <a:spcPts val="0"/>
              </a:spcAft>
            </a:pPr>
            <a:r>
              <a:rPr lang="pt-BR" sz="2000" dirty="0">
                <a:latin typeface="Times New Roman" panose="02020603050405020304" pitchFamily="18" charset="0"/>
                <a:cs typeface="Times New Roman" panose="02020603050405020304" pitchFamily="18" charset="0"/>
              </a:rPr>
              <a:t>A = [2, 4, 6, 8]</a:t>
            </a:r>
          </a:p>
          <a:p>
            <a:pPr>
              <a:lnSpc>
                <a:spcPct val="110000"/>
              </a:lnSpc>
              <a:spcBef>
                <a:spcPts val="0"/>
              </a:spcBef>
              <a:spcAft>
                <a:spcPts val="0"/>
              </a:spcAft>
            </a:pPr>
            <a:r>
              <a:rPr lang="pt-BR" sz="2000" dirty="0">
                <a:latin typeface="Times New Roman" panose="02020603050405020304" pitchFamily="18" charset="0"/>
                <a:cs typeface="Times New Roman" panose="02020603050405020304" pitchFamily="18" charset="0"/>
              </a:rPr>
              <a:t>B = [1, 3, 5, 7]</a:t>
            </a:r>
          </a:p>
          <a:p>
            <a:pPr marL="342900" indent="-342900">
              <a:lnSpc>
                <a:spcPct val="110000"/>
              </a:lnSpc>
              <a:spcBef>
                <a:spcPts val="0"/>
              </a:spcBef>
              <a:spcAft>
                <a:spcPts val="0"/>
              </a:spcAft>
              <a:buFont typeface="Wingdings" panose="05000000000000000000" pitchFamily="2" charset="2"/>
              <a:buChar char="v"/>
            </a:pPr>
            <a:endParaRPr lang="pt-BR" sz="2000" dirty="0">
              <a:latin typeface="Times New Roman" panose="02020603050405020304" pitchFamily="18" charset="0"/>
              <a:cs typeface="Times New Roman" panose="02020603050405020304" pitchFamily="18" charset="0"/>
            </a:endParaRPr>
          </a:p>
          <a:p>
            <a:pPr marL="342900" indent="-342900">
              <a:lnSpc>
                <a:spcPct val="110000"/>
              </a:lnSpc>
              <a:spcBef>
                <a:spcPts val="0"/>
              </a:spcBef>
              <a:spcAft>
                <a:spcPts val="0"/>
              </a:spcAf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 scalar processor adds one pair at a time,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but a vector processor performs: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A + B = [3, 7, 11, 15]</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 </a:t>
            </a:r>
            <a:r>
              <a:rPr lang="en-US" sz="2000" b="1" dirty="0">
                <a:latin typeface="Times New Roman" panose="02020603050405020304" pitchFamily="18" charset="0"/>
                <a:cs typeface="Times New Roman" panose="02020603050405020304" pitchFamily="18" charset="0"/>
              </a:rPr>
              <a:t>a single instruction cycle</a:t>
            </a:r>
            <a:r>
              <a:rPr lang="en-US" sz="2000" dirty="0">
                <a:latin typeface="Times New Roman" panose="02020603050405020304" pitchFamily="18" charset="0"/>
                <a:cs typeface="Times New Roman" panose="02020603050405020304" pitchFamily="18" charset="0"/>
              </a:rPr>
              <a:t> using vector registers.</a:t>
            </a:r>
          </a:p>
          <a:p>
            <a:pPr marL="342900" indent="-342900">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90338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8AB4E-62DB-4DB3-D75A-D7C335858AC4}"/>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FBAAC673-E80B-27FC-1A9D-CCB3C2A003A4}"/>
              </a:ext>
            </a:extLst>
          </p:cNvPr>
          <p:cNvSpPr txBox="1"/>
          <p:nvPr/>
        </p:nvSpPr>
        <p:spPr>
          <a:xfrm>
            <a:off x="1019175" y="1690319"/>
            <a:ext cx="8124825" cy="3853427"/>
          </a:xfrm>
          <a:prstGeom prst="rect">
            <a:avLst/>
          </a:prstGeom>
          <a:noFill/>
        </p:spPr>
        <p:txBody>
          <a:bodyPr wrap="square">
            <a:spAutoFit/>
          </a:bodyPr>
          <a:lstStyle/>
          <a:p>
            <a:pPr>
              <a:lnSpc>
                <a:spcPct val="110000"/>
              </a:lnSpc>
              <a:spcBef>
                <a:spcPts val="0"/>
              </a:spcBef>
              <a:spcAft>
                <a:spcPts val="0"/>
              </a:spcAft>
            </a:pPr>
            <a:endParaRPr lang="en-US" sz="20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IN" sz="2000" b="1" dirty="0">
                <a:latin typeface="Times New Roman" panose="02020603050405020304" pitchFamily="18" charset="0"/>
                <a:cs typeface="Times New Roman" panose="02020603050405020304" pitchFamily="18" charset="0"/>
              </a:rPr>
              <a:t>Advantages:</a:t>
            </a:r>
          </a:p>
          <a:p>
            <a:pPr>
              <a:lnSpc>
                <a:spcPct val="100000"/>
              </a:lnSpc>
              <a:spcBef>
                <a:spcPts val="0"/>
              </a:spcBef>
              <a:spcAft>
                <a:spcPts val="0"/>
              </a:spcAft>
            </a:pPr>
            <a:r>
              <a:rPr lang="en-IN" sz="2000" dirty="0">
                <a:latin typeface="Times New Roman" panose="02020603050405020304" pitchFamily="18" charset="0"/>
                <a:cs typeface="Times New Roman" panose="02020603050405020304" pitchFamily="18" charset="0"/>
              </a:rPr>
              <a:t>High performance for </a:t>
            </a:r>
            <a:r>
              <a:rPr lang="en-IN" sz="2000" b="1" dirty="0">
                <a:latin typeface="Times New Roman" panose="02020603050405020304" pitchFamily="18" charset="0"/>
                <a:cs typeface="Times New Roman" panose="02020603050405020304" pitchFamily="18" charset="0"/>
              </a:rPr>
              <a:t>scientific and multimedia applications</a:t>
            </a:r>
            <a:r>
              <a:rPr lang="en-IN" sz="2000" dirty="0">
                <a:latin typeface="Times New Roman" panose="02020603050405020304" pitchFamily="18" charset="0"/>
                <a:cs typeface="Times New Roman" panose="02020603050405020304" pitchFamily="18" charset="0"/>
              </a:rPr>
              <a:t>.</a:t>
            </a:r>
          </a:p>
          <a:p>
            <a:pPr>
              <a:lnSpc>
                <a:spcPct val="100000"/>
              </a:lnSpc>
              <a:spcBef>
                <a:spcPts val="0"/>
              </a:spcBef>
              <a:spcAft>
                <a:spcPts val="0"/>
              </a:spcAft>
            </a:pPr>
            <a:r>
              <a:rPr lang="en-IN" sz="2000" b="1" dirty="0">
                <a:latin typeface="Times New Roman" panose="02020603050405020304" pitchFamily="18" charset="0"/>
                <a:cs typeface="Times New Roman" panose="02020603050405020304" pitchFamily="18" charset="0"/>
              </a:rPr>
              <a:t>Efficient use of memory bandwidth.</a:t>
            </a:r>
            <a:endParaRPr lang="en-IN" sz="2000"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IN" sz="2000" dirty="0">
                <a:latin typeface="Times New Roman" panose="02020603050405020304" pitchFamily="18" charset="0"/>
                <a:cs typeface="Times New Roman" panose="02020603050405020304" pitchFamily="18" charset="0"/>
              </a:rPr>
              <a:t>Simplifies programming for </a:t>
            </a:r>
            <a:r>
              <a:rPr lang="en-IN" sz="2000" b="1" dirty="0">
                <a:latin typeface="Times New Roman" panose="02020603050405020304" pitchFamily="18" charset="0"/>
                <a:cs typeface="Times New Roman" panose="02020603050405020304" pitchFamily="18" charset="0"/>
              </a:rPr>
              <a:t>data-parallel tasks</a:t>
            </a:r>
            <a:r>
              <a:rPr lang="en-IN" sz="2000" dirty="0">
                <a:latin typeface="Times New Roman" panose="02020603050405020304" pitchFamily="18" charset="0"/>
                <a:cs typeface="Times New Roman" panose="02020603050405020304" pitchFamily="18" charset="0"/>
              </a:rPr>
              <a:t>.</a:t>
            </a:r>
          </a:p>
          <a:p>
            <a:pPr>
              <a:lnSpc>
                <a:spcPct val="100000"/>
              </a:lnSpc>
              <a:spcBef>
                <a:spcPts val="0"/>
              </a:spcBef>
              <a:spcAft>
                <a:spcPts val="0"/>
              </a:spcAft>
            </a:pPr>
            <a:endParaRPr lang="en-IN" sz="2000" dirty="0">
              <a:latin typeface="Times New Roman" panose="02020603050405020304" pitchFamily="18" charset="0"/>
              <a:cs typeface="Times New Roman" panose="02020603050405020304" pitchFamily="18" charset="0"/>
            </a:endParaRPr>
          </a:p>
          <a:p>
            <a:pPr>
              <a:spcBef>
                <a:spcPts val="0"/>
              </a:spcBef>
              <a:spcAft>
                <a:spcPts val="0"/>
              </a:spcAft>
            </a:pPr>
            <a:r>
              <a:rPr lang="en-IN" sz="2000" b="1" dirty="0">
                <a:latin typeface="Times New Roman" panose="02020603050405020304" pitchFamily="18" charset="0"/>
                <a:cs typeface="Times New Roman" panose="02020603050405020304" pitchFamily="18" charset="0"/>
              </a:rPr>
              <a:t>🔹 Examples of SIMD Architectures:</a:t>
            </a:r>
          </a:p>
          <a:p>
            <a:pPr>
              <a:spcBef>
                <a:spcPts val="0"/>
              </a:spcBef>
              <a:spcAft>
                <a:spcPts val="0"/>
              </a:spcAft>
            </a:pPr>
            <a:r>
              <a:rPr lang="en-IN" sz="2000" b="1" dirty="0">
                <a:latin typeface="Times New Roman" panose="02020603050405020304" pitchFamily="18" charset="0"/>
                <a:cs typeface="Times New Roman" panose="02020603050405020304" pitchFamily="18" charset="0"/>
              </a:rPr>
              <a:t>Cray vector processors</a:t>
            </a:r>
            <a:r>
              <a:rPr lang="en-IN" sz="2000" dirty="0">
                <a:latin typeface="Times New Roman" panose="02020603050405020304" pitchFamily="18" charset="0"/>
                <a:cs typeface="Times New Roman" panose="02020603050405020304" pitchFamily="18" charset="0"/>
              </a:rPr>
              <a:t> (e.g., Cray-1)</a:t>
            </a:r>
          </a:p>
          <a:p>
            <a:pPr>
              <a:spcBef>
                <a:spcPts val="0"/>
              </a:spcBef>
              <a:spcAft>
                <a:spcPts val="0"/>
              </a:spcAft>
            </a:pPr>
            <a:r>
              <a:rPr lang="en-IN" sz="2000" b="1" dirty="0">
                <a:latin typeface="Times New Roman" panose="02020603050405020304" pitchFamily="18" charset="0"/>
                <a:cs typeface="Times New Roman" panose="02020603050405020304" pitchFamily="18" charset="0"/>
              </a:rPr>
              <a:t>Modern CPUs:</a:t>
            </a:r>
            <a:r>
              <a:rPr lang="en-IN" sz="2000" dirty="0">
                <a:latin typeface="Times New Roman" panose="02020603050405020304" pitchFamily="18" charset="0"/>
                <a:cs typeface="Times New Roman" panose="02020603050405020304" pitchFamily="18" charset="0"/>
              </a:rPr>
              <a:t> Intel AVX, ARM NEON</a:t>
            </a:r>
          </a:p>
          <a:p>
            <a:pPr>
              <a:spcBef>
                <a:spcPts val="0"/>
              </a:spcBef>
              <a:spcAft>
                <a:spcPts val="0"/>
              </a:spcAft>
            </a:pPr>
            <a:r>
              <a:rPr lang="en-IN" sz="2000" b="1" dirty="0">
                <a:latin typeface="Times New Roman" panose="02020603050405020304" pitchFamily="18" charset="0"/>
                <a:cs typeface="Times New Roman" panose="02020603050405020304" pitchFamily="18" charset="0"/>
              </a:rPr>
              <a:t>GPUs:</a:t>
            </a:r>
            <a:r>
              <a:rPr lang="en-IN" sz="2000" dirty="0">
                <a:latin typeface="Times New Roman" panose="02020603050405020304" pitchFamily="18" charset="0"/>
                <a:cs typeface="Times New Roman" panose="02020603050405020304" pitchFamily="18" charset="0"/>
              </a:rPr>
              <a:t> NVIDIA CUDA cores use SIMD-like execution</a:t>
            </a:r>
          </a:p>
          <a:p>
            <a:pPr>
              <a:lnSpc>
                <a:spcPct val="110000"/>
              </a:lnSpc>
              <a:spcBef>
                <a:spcPts val="0"/>
              </a:spcBef>
              <a:spcAft>
                <a:spcPts val="0"/>
              </a:spcAft>
            </a:pPr>
            <a:endParaRPr lang="en-US" sz="2000" dirty="0">
              <a:latin typeface="Times New Roman" panose="02020603050405020304" pitchFamily="18" charset="0"/>
              <a:cs typeface="Times New Roman" panose="02020603050405020304" pitchFamily="18" charset="0"/>
            </a:endParaRPr>
          </a:p>
          <a:p>
            <a:pPr>
              <a:lnSpc>
                <a:spcPct val="110000"/>
              </a:lnSpc>
              <a:spcBef>
                <a:spcPts val="0"/>
              </a:spcBef>
              <a:spcAft>
                <a:spcPts val="0"/>
              </a:spcAft>
            </a:pPr>
            <a:endParaRPr lang="pt-B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9738338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D30E0-9A65-C25E-F671-C29C2E8538C0}"/>
              </a:ext>
            </a:extLst>
          </p:cNvPr>
          <p:cNvSpPr>
            <a:spLocks noGrp="1"/>
          </p:cNvSpPr>
          <p:nvPr>
            <p:ph type="title"/>
          </p:nvPr>
        </p:nvSpPr>
        <p:spPr>
          <a:xfrm>
            <a:off x="485775" y="409575"/>
            <a:ext cx="6912552" cy="678561"/>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GPU -</a:t>
            </a:r>
            <a:r>
              <a:rPr lang="en-US" b="1" dirty="0">
                <a:latin typeface="Times New Roman" panose="02020603050405020304" pitchFamily="18" charset="0"/>
                <a:cs typeface="Times New Roman" panose="02020603050405020304" pitchFamily="18" charset="0"/>
              </a:rPr>
              <a:t>Graphics Processing Unit</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8A46E2F-C631-5B56-CF70-2F180A2FB2A9}"/>
              </a:ext>
            </a:extLst>
          </p:cNvPr>
          <p:cNvSpPr txBox="1"/>
          <p:nvPr/>
        </p:nvSpPr>
        <p:spPr>
          <a:xfrm>
            <a:off x="761999" y="1779537"/>
            <a:ext cx="10925176" cy="3970318"/>
          </a:xfrm>
          <a:prstGeom prst="rect">
            <a:avLst/>
          </a:prstGeom>
          <a:noFill/>
        </p:spPr>
        <p:txBody>
          <a:bodyPr wrap="square">
            <a:spAutoFit/>
          </a:bodyPr>
          <a:lstStyle/>
          <a:p>
            <a:pPr>
              <a:buFont typeface="Arial" panose="020B0604020202020204" pitchFamily="34" charset="0"/>
              <a:buChar char="•"/>
            </a:pPr>
            <a:r>
              <a:rPr lang="en-US" b="1" dirty="0"/>
              <a:t>GPU</a:t>
            </a:r>
            <a:r>
              <a:rPr lang="en-US" dirty="0"/>
              <a:t> stands for </a:t>
            </a:r>
            <a:r>
              <a:rPr lang="en-US" b="1" dirty="0"/>
              <a:t>Graphics Processing Unit</a:t>
            </a:r>
            <a:r>
              <a:rPr lang="en-US" dirty="0"/>
              <a:t>.</a:t>
            </a:r>
          </a:p>
          <a:p>
            <a:endParaRPr lang="en-US" dirty="0"/>
          </a:p>
          <a:p>
            <a:r>
              <a:rPr lang="en-US" b="1" dirty="0"/>
              <a:t>Graphics Processing Unit (GPU)</a:t>
            </a:r>
            <a:r>
              <a:rPr lang="en-US" dirty="0"/>
              <a:t> is a </a:t>
            </a:r>
            <a:r>
              <a:rPr lang="en-US" b="1" dirty="0"/>
              <a:t>specialized electronic circuit</a:t>
            </a:r>
            <a:r>
              <a:rPr lang="en-US" dirty="0"/>
              <a:t> designed to </a:t>
            </a:r>
            <a:r>
              <a:rPr lang="en-US" b="1" dirty="0"/>
              <a:t>rapidly process and manipulate data</a:t>
            </a:r>
            <a:r>
              <a:rPr lang="en-US" dirty="0"/>
              <a:t> to produce images, animations, and videos for display.</a:t>
            </a:r>
          </a:p>
          <a:p>
            <a:endParaRPr lang="en-US" dirty="0"/>
          </a:p>
          <a:p>
            <a:r>
              <a:rPr lang="en-US" dirty="0"/>
              <a:t> Used for </a:t>
            </a:r>
            <a:r>
              <a:rPr lang="en-US" b="1" dirty="0"/>
              <a:t>general-purpose parallel computing</a:t>
            </a:r>
            <a:r>
              <a:rPr lang="en-US" dirty="0"/>
              <a:t> tasks, such as </a:t>
            </a:r>
            <a:r>
              <a:rPr lang="en-US" b="1" dirty="0"/>
              <a:t>AI, deep learning, and scientific simulations</a:t>
            </a:r>
            <a:r>
              <a:rPr lang="en-US" dirty="0"/>
              <a:t>.</a:t>
            </a:r>
          </a:p>
          <a:p>
            <a:pPr>
              <a:buFont typeface="Arial" panose="020B0604020202020204" pitchFamily="34" charset="0"/>
              <a:buChar char="•"/>
            </a:pPr>
            <a:endParaRPr lang="en-US" dirty="0"/>
          </a:p>
          <a:p>
            <a:r>
              <a:rPr lang="en-US" dirty="0"/>
              <a:t>It is a </a:t>
            </a:r>
            <a:r>
              <a:rPr lang="en-US" b="1" dirty="0"/>
              <a:t>highly parallel processor</a:t>
            </a:r>
            <a:r>
              <a:rPr lang="en-US" dirty="0"/>
              <a:t> originally designed for graphics and image processing.</a:t>
            </a:r>
          </a:p>
          <a:p>
            <a:endParaRPr lang="en-US" dirty="0"/>
          </a:p>
          <a:p>
            <a:pPr>
              <a:buFont typeface="Arial" panose="020B0604020202020204" pitchFamily="34" charset="0"/>
              <a:buChar char="•"/>
            </a:pPr>
            <a:r>
              <a:rPr lang="en-US" dirty="0"/>
              <a:t>Modern GPUs are now used for </a:t>
            </a:r>
            <a:r>
              <a:rPr lang="en-US" b="1" dirty="0"/>
              <a:t>general-purpose parallel computing</a:t>
            </a:r>
            <a:r>
              <a:rPr lang="en-US" dirty="0"/>
              <a:t> (GPGPU).</a:t>
            </a:r>
          </a:p>
          <a:p>
            <a:endParaRPr lang="en-US" dirty="0"/>
          </a:p>
          <a:p>
            <a:pPr>
              <a:buNone/>
            </a:pPr>
            <a:r>
              <a:rPr lang="en-US" dirty="0"/>
              <a:t>Each GPU has </a:t>
            </a:r>
            <a:r>
              <a:rPr lang="en-US" b="1" dirty="0"/>
              <a:t>hundreds or thousands of small cores</a:t>
            </a:r>
            <a:r>
              <a:rPr lang="en-US" dirty="0"/>
              <a:t> that execute the same instruction on different data — which is exactly the </a:t>
            </a:r>
            <a:r>
              <a:rPr lang="en-US" b="1" dirty="0"/>
              <a:t>SIMD concept</a:t>
            </a:r>
            <a:r>
              <a:rPr lang="en-US" dirty="0"/>
              <a:t>.</a:t>
            </a:r>
          </a:p>
        </p:txBody>
      </p:sp>
    </p:spTree>
    <p:extLst>
      <p:ext uri="{BB962C8B-B14F-4D97-AF65-F5344CB8AC3E}">
        <p14:creationId xmlns:p14="http://schemas.microsoft.com/office/powerpoint/2010/main" val="29029125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1FD82-030A-08FB-CEE5-3AFF1C896EF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BD0198-8DE8-2B94-528F-C4A4E5D1936D}"/>
              </a:ext>
            </a:extLst>
          </p:cNvPr>
          <p:cNvSpPr>
            <a:spLocks noGrp="1"/>
          </p:cNvSpPr>
          <p:nvPr>
            <p:ph sz="quarter" idx="10"/>
          </p:nvPr>
        </p:nvSpPr>
        <p:spPr>
          <a:xfrm>
            <a:off x="539496" y="1435608"/>
            <a:ext cx="10204704" cy="3977640"/>
          </a:xfrm>
        </p:spPr>
        <p:txBody>
          <a:bodyPr>
            <a:normAutofit fontScale="92500" lnSpcReduction="10000"/>
          </a:bodyPr>
          <a:lstStyle/>
          <a:p>
            <a:r>
              <a:rPr lang="en-US" sz="1800" dirty="0">
                <a:latin typeface="Times New Roman" panose="02020603050405020304" pitchFamily="18" charset="0"/>
                <a:cs typeface="Times New Roman" panose="02020603050405020304" pitchFamily="18" charset="0"/>
              </a:rPr>
              <a:t>A GPU is a </a:t>
            </a:r>
            <a:r>
              <a:rPr lang="en-US" sz="1800" b="1" dirty="0">
                <a:latin typeface="Times New Roman" panose="02020603050405020304" pitchFamily="18" charset="0"/>
                <a:cs typeface="Times New Roman" panose="02020603050405020304" pitchFamily="18" charset="0"/>
              </a:rPr>
              <a:t>parallel processor</a:t>
            </a:r>
            <a:r>
              <a:rPr lang="en-US" sz="1800" dirty="0">
                <a:latin typeface="Times New Roman" panose="02020603050405020304" pitchFamily="18" charset="0"/>
                <a:cs typeface="Times New Roman" panose="02020603050405020304" pitchFamily="18" charset="0"/>
              </a:rPr>
              <a:t> that can execute </a:t>
            </a:r>
            <a:r>
              <a:rPr lang="en-US" sz="1800" b="1" dirty="0">
                <a:latin typeface="Times New Roman" panose="02020603050405020304" pitchFamily="18" charset="0"/>
                <a:cs typeface="Times New Roman" panose="02020603050405020304" pitchFamily="18" charset="0"/>
              </a:rPr>
              <a:t>thousands of small operations simultaneously</a:t>
            </a:r>
            <a:r>
              <a:rPr lang="en-US" sz="1800" dirty="0">
                <a:latin typeface="Times New Roman" panose="02020603050405020304" pitchFamily="18" charset="0"/>
                <a:cs typeface="Times New Roman" panose="02020603050405020304" pitchFamily="18" charset="0"/>
              </a:rPr>
              <a:t>, making it ideal for tasks that require the same operation to be performed on large sets of data.</a:t>
            </a:r>
          </a:p>
          <a:p>
            <a:pPr>
              <a:lnSpc>
                <a:spcPct val="120000"/>
              </a:lnSpc>
              <a:spcBef>
                <a:spcPts val="0"/>
              </a:spcBef>
              <a:spcAft>
                <a:spcPts val="0"/>
              </a:spcAft>
            </a:pPr>
            <a:r>
              <a:rPr lang="en-US" sz="1800" b="1" dirty="0">
                <a:latin typeface="Times New Roman" panose="02020603050405020304" pitchFamily="18" charset="0"/>
                <a:cs typeface="Times New Roman" panose="02020603050405020304" pitchFamily="18" charset="0"/>
              </a:rPr>
              <a:t>Why GPU is Needed</a:t>
            </a:r>
          </a:p>
          <a:p>
            <a:pPr>
              <a:lnSpc>
                <a:spcPct val="120000"/>
              </a:lnSpc>
              <a:spcBef>
                <a:spcPts val="0"/>
              </a:spcBef>
              <a:spcAft>
                <a:spcPts val="0"/>
              </a:spcAft>
            </a:pPr>
            <a:r>
              <a:rPr lang="en-US" sz="1800" dirty="0">
                <a:latin typeface="Times New Roman" panose="02020603050405020304" pitchFamily="18" charset="0"/>
                <a:cs typeface="Times New Roman" panose="02020603050405020304" pitchFamily="18" charset="0"/>
              </a:rPr>
              <a:t>A normal </a:t>
            </a:r>
            <a:r>
              <a:rPr lang="en-US" sz="1800" b="1" dirty="0">
                <a:latin typeface="Times New Roman" panose="02020603050405020304" pitchFamily="18" charset="0"/>
                <a:cs typeface="Times New Roman" panose="02020603050405020304" pitchFamily="18" charset="0"/>
              </a:rPr>
              <a:t>CPU (Central Processing Unit)</a:t>
            </a:r>
            <a:r>
              <a:rPr lang="en-US" sz="1800" dirty="0">
                <a:latin typeface="Times New Roman" panose="02020603050405020304" pitchFamily="18" charset="0"/>
                <a:cs typeface="Times New Roman" panose="02020603050405020304" pitchFamily="18" charset="0"/>
              </a:rPr>
              <a:t> can perform a variety of complex tasks — but only </a:t>
            </a:r>
            <a:r>
              <a:rPr lang="en-US" sz="1800" b="1" dirty="0">
                <a:latin typeface="Times New Roman" panose="02020603050405020304" pitchFamily="18" charset="0"/>
                <a:cs typeface="Times New Roman" panose="02020603050405020304" pitchFamily="18" charset="0"/>
              </a:rPr>
              <a:t>a few at a time</a:t>
            </a:r>
            <a:r>
              <a:rPr lang="en-US" sz="18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When it comes to </a:t>
            </a:r>
            <a:r>
              <a:rPr lang="en-US" sz="1800" b="1" dirty="0">
                <a:latin typeface="Times New Roman" panose="02020603050405020304" pitchFamily="18" charset="0"/>
                <a:cs typeface="Times New Roman" panose="02020603050405020304" pitchFamily="18" charset="0"/>
              </a:rPr>
              <a:t>graphics rendering</a:t>
            </a:r>
            <a:r>
              <a:rPr lang="en-US" sz="1800" dirty="0">
                <a:latin typeface="Times New Roman" panose="02020603050405020304" pitchFamily="18" charset="0"/>
                <a:cs typeface="Times New Roman" panose="02020603050405020304" pitchFamily="18" charset="0"/>
              </a:rPr>
              <a:t>, millions of pixels need to be processed together, which the CPU cannot handle efficiently.</a:t>
            </a:r>
          </a:p>
          <a:p>
            <a:pPr>
              <a:spcBef>
                <a:spcPts val="0"/>
              </a:spcBef>
              <a:spcAft>
                <a:spcPts val="0"/>
              </a:spcAft>
            </a:pPr>
            <a:endParaRPr lang="en-US" sz="1800" dirty="0">
              <a:latin typeface="Times New Roman" panose="02020603050405020304" pitchFamily="18" charset="0"/>
              <a:cs typeface="Times New Roman" panose="02020603050405020304" pitchFamily="18" charset="0"/>
            </a:endParaRPr>
          </a:p>
          <a:p>
            <a:pPr>
              <a:spcBef>
                <a:spcPts val="0"/>
              </a:spcBef>
              <a:spcAft>
                <a:spcPts val="0"/>
              </a:spcAft>
            </a:pPr>
            <a:r>
              <a:rPr lang="en-US" sz="1800" dirty="0">
                <a:latin typeface="Times New Roman" panose="02020603050405020304" pitchFamily="18" charset="0"/>
                <a:cs typeface="Times New Roman" panose="02020603050405020304" pitchFamily="18" charset="0"/>
              </a:rPr>
              <a:t>Hence, </a:t>
            </a:r>
            <a:r>
              <a:rPr lang="en-US" sz="1800" b="1" dirty="0">
                <a:latin typeface="Times New Roman" panose="02020603050405020304" pitchFamily="18" charset="0"/>
                <a:cs typeface="Times New Roman" panose="02020603050405020304" pitchFamily="18" charset="0"/>
              </a:rPr>
              <a:t>GPU</a:t>
            </a:r>
            <a:r>
              <a:rPr lang="en-US" sz="1800" dirty="0">
                <a:latin typeface="Times New Roman" panose="02020603050405020304" pitchFamily="18" charset="0"/>
                <a:cs typeface="Times New Roman" panose="02020603050405020304" pitchFamily="18" charset="0"/>
              </a:rPr>
              <a:t> was developed to:</a:t>
            </a:r>
          </a:p>
          <a:p>
            <a:pPr>
              <a:spcBef>
                <a:spcPts val="0"/>
              </a:spcBef>
              <a:spcAft>
                <a:spcPts val="0"/>
              </a:spcAft>
            </a:pPr>
            <a:r>
              <a:rPr lang="en-US" sz="1800" dirty="0">
                <a:latin typeface="Times New Roman" panose="02020603050405020304" pitchFamily="18" charset="0"/>
                <a:cs typeface="Times New Roman" panose="02020603050405020304" pitchFamily="18" charset="0"/>
              </a:rPr>
              <a:t>Handle </a:t>
            </a:r>
            <a:r>
              <a:rPr lang="en-US" sz="1800" b="1" dirty="0">
                <a:latin typeface="Times New Roman" panose="02020603050405020304" pitchFamily="18" charset="0"/>
                <a:cs typeface="Times New Roman" panose="02020603050405020304" pitchFamily="18" charset="0"/>
              </a:rPr>
              <a:t>large amounts of data</a:t>
            </a:r>
            <a:r>
              <a:rPr lang="en-US" sz="1800" dirty="0">
                <a:latin typeface="Times New Roman" panose="02020603050405020304" pitchFamily="18" charset="0"/>
                <a:cs typeface="Times New Roman" panose="02020603050405020304" pitchFamily="18" charset="0"/>
              </a:rPr>
              <a:t> in parallel.</a:t>
            </a:r>
          </a:p>
          <a:p>
            <a:pPr>
              <a:spcBef>
                <a:spcPts val="0"/>
              </a:spcBef>
              <a:spcAft>
                <a:spcPts val="0"/>
              </a:spcAft>
            </a:pPr>
            <a:r>
              <a:rPr lang="en-US" sz="1800" b="1" dirty="0">
                <a:latin typeface="Times New Roman" panose="02020603050405020304" pitchFamily="18" charset="0"/>
                <a:cs typeface="Times New Roman" panose="02020603050405020304" pitchFamily="18" charset="0"/>
              </a:rPr>
              <a:t>Speed up</a:t>
            </a:r>
            <a:r>
              <a:rPr lang="en-US" sz="1800" dirty="0">
                <a:latin typeface="Times New Roman" panose="02020603050405020304" pitchFamily="18" charset="0"/>
                <a:cs typeface="Times New Roman" panose="02020603050405020304" pitchFamily="18" charset="0"/>
              </a:rPr>
              <a:t> image rendering and complex mathematical operations.</a:t>
            </a:r>
          </a:p>
          <a:p>
            <a:pPr>
              <a:spcBef>
                <a:spcPts val="0"/>
              </a:spcBef>
              <a:spcAft>
                <a:spcPts val="0"/>
              </a:spcAft>
            </a:pPr>
            <a:r>
              <a:rPr lang="en-US" sz="1800" b="1" dirty="0">
                <a:latin typeface="Times New Roman" panose="02020603050405020304" pitchFamily="18" charset="0"/>
                <a:cs typeface="Times New Roman" panose="02020603050405020304" pitchFamily="18" charset="0"/>
              </a:rPr>
              <a:t>Reduce CPU workload</a:t>
            </a:r>
            <a:r>
              <a:rPr lang="en-US" sz="1800" dirty="0">
                <a:latin typeface="Times New Roman" panose="02020603050405020304" pitchFamily="18" charset="0"/>
                <a:cs typeface="Times New Roman" panose="02020603050405020304" pitchFamily="18" charset="0"/>
              </a:rPr>
              <a:t> for graphics and parallel tasks.</a:t>
            </a:r>
          </a:p>
          <a:p>
            <a:endParaRPr lang="en-IN" dirty="0"/>
          </a:p>
        </p:txBody>
      </p:sp>
    </p:spTree>
    <p:extLst>
      <p:ext uri="{BB962C8B-B14F-4D97-AF65-F5344CB8AC3E}">
        <p14:creationId xmlns:p14="http://schemas.microsoft.com/office/powerpoint/2010/main" val="40393013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DEDA-5CCD-17E1-B9FF-F021BBB7D26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72CC5B8-6337-8B1C-69E0-93BFE7EA7AD9}"/>
              </a:ext>
            </a:extLst>
          </p:cNvPr>
          <p:cNvSpPr>
            <a:spLocks noGrp="1"/>
          </p:cNvSpPr>
          <p:nvPr>
            <p:ph sz="quarter" idx="10"/>
          </p:nvPr>
        </p:nvSpPr>
        <p:spPr>
          <a:xfrm>
            <a:off x="539496" y="1435608"/>
            <a:ext cx="10147554" cy="3977640"/>
          </a:xfrm>
        </p:spPr>
        <p:txBody>
          <a:bodyPr>
            <a:normAutofit fontScale="92500" lnSpcReduction="20000"/>
          </a:bodyPr>
          <a:lstStyle/>
          <a:p>
            <a:pPr>
              <a:lnSpc>
                <a:spcPct val="100000"/>
              </a:lnSpc>
              <a:spcBef>
                <a:spcPts val="0"/>
              </a:spcBef>
              <a:spcAft>
                <a:spcPts val="0"/>
              </a:spcAft>
            </a:pPr>
            <a:r>
              <a:rPr lang="en-US" sz="2000" b="1" dirty="0">
                <a:latin typeface="Times New Roman" panose="02020603050405020304" pitchFamily="18" charset="0"/>
                <a:cs typeface="Times New Roman" panose="02020603050405020304" pitchFamily="18" charset="0"/>
              </a:rPr>
              <a:t> Working Principle (How GPU Works)</a:t>
            </a:r>
          </a:p>
          <a:p>
            <a:pPr>
              <a:lnSpc>
                <a:spcPct val="100000"/>
              </a:lnSpc>
              <a:spcBef>
                <a:spcPts val="0"/>
              </a:spcBef>
              <a:spcAft>
                <a:spcPts val="0"/>
              </a:spcAft>
            </a:pPr>
            <a:endParaRPr lang="en-US" sz="2000" b="1" dirty="0">
              <a:latin typeface="Times New Roman" panose="02020603050405020304" pitchFamily="18" charset="0"/>
              <a:cs typeface="Times New Roman" panose="02020603050405020304" pitchFamily="18" charset="0"/>
            </a:endParaRPr>
          </a:p>
          <a:p>
            <a:pPr marL="342900" indent="-342900">
              <a:lnSpc>
                <a:spcPct val="100000"/>
              </a:lnSpc>
              <a:spcBef>
                <a:spcPts val="0"/>
              </a:spcBef>
              <a:spcAft>
                <a:spcPts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CPU sends data (for example, image pixels or matrix values) and instructions to the GPU.</a:t>
            </a:r>
          </a:p>
          <a:p>
            <a:pPr marL="342900" indent="-342900">
              <a:lnSpc>
                <a:spcPct val="100000"/>
              </a:lnSpc>
              <a:spcBef>
                <a:spcPts val="0"/>
              </a:spcBef>
              <a:spcAft>
                <a:spcPts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GPU divides the work</a:t>
            </a:r>
            <a:r>
              <a:rPr lang="en-US" sz="2000" dirty="0">
                <a:latin typeface="Times New Roman" panose="02020603050405020304" pitchFamily="18" charset="0"/>
                <a:cs typeface="Times New Roman" panose="02020603050405020304" pitchFamily="18" charset="0"/>
              </a:rPr>
              <a:t> into many small parts.</a:t>
            </a:r>
          </a:p>
          <a:p>
            <a:pPr marL="342900" indent="-342900">
              <a:lnSpc>
                <a:spcPct val="100000"/>
              </a:lnSpc>
              <a:spcBef>
                <a:spcPts val="0"/>
              </a:spcBef>
              <a:spcAft>
                <a:spcPts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Each GPU core performs </a:t>
            </a:r>
            <a:r>
              <a:rPr lang="en-US" sz="2000" b="1" dirty="0">
                <a:latin typeface="Times New Roman" panose="02020603050405020304" pitchFamily="18" charset="0"/>
                <a:cs typeface="Times New Roman" panose="02020603050405020304" pitchFamily="18" charset="0"/>
              </a:rPr>
              <a:t>the same instruction</a:t>
            </a:r>
            <a:r>
              <a:rPr lang="en-US" sz="2000" dirty="0">
                <a:latin typeface="Times New Roman" panose="02020603050405020304" pitchFamily="18" charset="0"/>
                <a:cs typeface="Times New Roman" panose="02020603050405020304" pitchFamily="18" charset="0"/>
              </a:rPr>
              <a:t> on </a:t>
            </a:r>
            <a:r>
              <a:rPr lang="en-US" sz="2000" b="1" dirty="0">
                <a:latin typeface="Times New Roman" panose="02020603050405020304" pitchFamily="18" charset="0"/>
                <a:cs typeface="Times New Roman" panose="02020603050405020304" pitchFamily="18" charset="0"/>
              </a:rPr>
              <a:t>different data</a:t>
            </a:r>
            <a:r>
              <a:rPr lang="en-US" sz="2000" dirty="0">
                <a:latin typeface="Times New Roman" panose="02020603050405020304" pitchFamily="18" charset="0"/>
                <a:cs typeface="Times New Roman" panose="02020603050405020304" pitchFamily="18" charset="0"/>
              </a:rPr>
              <a:t> at the same time.</a:t>
            </a:r>
          </a:p>
          <a:p>
            <a:pPr marL="342900" indent="-342900">
              <a:lnSpc>
                <a:spcPct val="100000"/>
              </a:lnSpc>
              <a:spcBef>
                <a:spcPts val="0"/>
              </a:spcBef>
              <a:spcAft>
                <a:spcPts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All results are combined to form the final output (like a rendered image or computed matrix).</a:t>
            </a:r>
          </a:p>
          <a:p>
            <a:endParaRPr lang="en-IN" sz="2000" dirty="0">
              <a:latin typeface="Times New Roman" panose="02020603050405020304" pitchFamily="18" charset="0"/>
              <a:cs typeface="Times New Roman" panose="02020603050405020304" pitchFamily="18" charset="0"/>
            </a:endParaRPr>
          </a:p>
          <a:p>
            <a:pPr>
              <a:lnSpc>
                <a:spcPct val="110000"/>
              </a:lnSpc>
              <a:spcBef>
                <a:spcPts val="0"/>
              </a:spcBef>
              <a:spcAft>
                <a:spcPts val="0"/>
              </a:spcAft>
            </a:pPr>
            <a:r>
              <a:rPr lang="en-US" sz="2000" b="1" dirty="0">
                <a:latin typeface="Times New Roman" panose="02020603050405020304" pitchFamily="18" charset="0"/>
                <a:cs typeface="Times New Roman" panose="02020603050405020304" pitchFamily="18" charset="0"/>
              </a:rPr>
              <a:t>Example: Image Brightness Adjustment</a:t>
            </a:r>
          </a:p>
          <a:p>
            <a:pPr>
              <a:lnSpc>
                <a:spcPct val="110000"/>
              </a:lnSpc>
              <a:spcBef>
                <a:spcPts val="0"/>
              </a:spcBef>
              <a:spcAft>
                <a:spcPts val="0"/>
              </a:spcAft>
            </a:pPr>
            <a:endParaRPr lang="en-US" sz="2000" b="1" dirty="0">
              <a:latin typeface="Times New Roman" panose="02020603050405020304" pitchFamily="18" charset="0"/>
              <a:cs typeface="Times New Roman" panose="02020603050405020304" pitchFamily="18" charset="0"/>
            </a:endParaRPr>
          </a:p>
          <a:p>
            <a:pPr marL="342900" indent="-342900">
              <a:lnSpc>
                <a:spcPct val="110000"/>
              </a:lnSpc>
              <a:spcBef>
                <a:spcPts val="0"/>
              </a:spcBef>
              <a:spcAft>
                <a:spcPts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Imagine an image has 1 million pixels.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Each pixel’s brightness must be increased by 10.</a:t>
            </a:r>
          </a:p>
          <a:p>
            <a:pPr marL="342900" indent="-342900">
              <a:lnSpc>
                <a:spcPct val="110000"/>
              </a:lnSpc>
              <a:spcBef>
                <a:spcPts val="0"/>
              </a:spcBef>
              <a:spcAft>
                <a:spcPts val="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CPU way:</a:t>
            </a:r>
            <a:r>
              <a:rPr lang="en-US" sz="2000" dirty="0">
                <a:latin typeface="Times New Roman" panose="02020603050405020304" pitchFamily="18" charset="0"/>
                <a:cs typeface="Times New Roman" panose="02020603050405020304" pitchFamily="18" charset="0"/>
              </a:rPr>
              <a:t> Increase one pixel’s brightness → move to next → repeat 1 million times.</a:t>
            </a:r>
          </a:p>
          <a:p>
            <a:pPr marL="342900" indent="-342900">
              <a:lnSpc>
                <a:spcPct val="110000"/>
              </a:lnSpc>
              <a:spcBef>
                <a:spcPts val="0"/>
              </a:spcBef>
              <a:spcAft>
                <a:spcPts val="0"/>
              </a:spcAf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GPU way:</a:t>
            </a:r>
            <a:r>
              <a:rPr lang="en-US" sz="2000" dirty="0">
                <a:latin typeface="Times New Roman" panose="02020603050405020304" pitchFamily="18" charset="0"/>
                <a:cs typeface="Times New Roman" panose="02020603050405020304" pitchFamily="18" charset="0"/>
              </a:rPr>
              <a:t> All 1 million pixels’ brightness values are increased </a:t>
            </a:r>
            <a:r>
              <a:rPr lang="en-US" sz="2000" b="1" dirty="0">
                <a:latin typeface="Times New Roman" panose="02020603050405020304" pitchFamily="18" charset="0"/>
                <a:cs typeface="Times New Roman" panose="02020603050405020304" pitchFamily="18" charset="0"/>
              </a:rPr>
              <a:t>simultaneously</a:t>
            </a:r>
            <a:r>
              <a:rPr lang="en-US" sz="2000" dirty="0">
                <a:latin typeface="Times New Roman" panose="02020603050405020304" pitchFamily="18" charset="0"/>
                <a:cs typeface="Times New Roman" panose="02020603050405020304" pitchFamily="18" charset="0"/>
              </a:rPr>
              <a:t> using thousands of GPU cores.</a:t>
            </a:r>
          </a:p>
          <a:p>
            <a:endParaRPr lang="en-IN" dirty="0"/>
          </a:p>
        </p:txBody>
      </p:sp>
    </p:spTree>
    <p:extLst>
      <p:ext uri="{BB962C8B-B14F-4D97-AF65-F5344CB8AC3E}">
        <p14:creationId xmlns:p14="http://schemas.microsoft.com/office/powerpoint/2010/main" val="11180696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848B34-0447-FB36-85F4-31B6B8754BC0}"/>
              </a:ext>
            </a:extLst>
          </p:cNvPr>
          <p:cNvSpPr txBox="1"/>
          <p:nvPr/>
        </p:nvSpPr>
        <p:spPr>
          <a:xfrm>
            <a:off x="1352550" y="1752600"/>
            <a:ext cx="10363200" cy="4801314"/>
          </a:xfrm>
          <a:prstGeom prst="rect">
            <a:avLst/>
          </a:prstGeom>
          <a:noFill/>
        </p:spPr>
        <p:txBody>
          <a:bodyPr wrap="square">
            <a:spAutoFit/>
          </a:bodyPr>
          <a:lstStyle/>
          <a:p>
            <a:pPr>
              <a:buNone/>
            </a:pPr>
            <a:r>
              <a:rPr lang="en-IN" b="1" dirty="0"/>
              <a:t>Applications of GPU</a:t>
            </a:r>
          </a:p>
          <a:p>
            <a:pPr>
              <a:buNone/>
            </a:pPr>
            <a:r>
              <a:rPr lang="en-IN" dirty="0"/>
              <a:t> </a:t>
            </a:r>
            <a:r>
              <a:rPr lang="en-IN" b="1" dirty="0"/>
              <a:t>Graphics Rendering</a:t>
            </a:r>
            <a:r>
              <a:rPr lang="en-IN" dirty="0"/>
              <a:t> – Games, animations, 3D models</a:t>
            </a:r>
            <a:br>
              <a:rPr lang="en-IN" dirty="0"/>
            </a:br>
            <a:r>
              <a:rPr lang="en-IN" dirty="0"/>
              <a:t> </a:t>
            </a:r>
            <a:r>
              <a:rPr lang="en-IN" b="1" dirty="0"/>
              <a:t>Scientific Computation</a:t>
            </a:r>
            <a:r>
              <a:rPr lang="en-IN" dirty="0"/>
              <a:t> – Weather </a:t>
            </a:r>
            <a:r>
              <a:rPr lang="en-IN" dirty="0" err="1"/>
              <a:t>modeling</a:t>
            </a:r>
            <a:r>
              <a:rPr lang="en-IN" dirty="0"/>
              <a:t>, simulations</a:t>
            </a:r>
            <a:br>
              <a:rPr lang="en-IN" dirty="0"/>
            </a:br>
            <a:r>
              <a:rPr lang="en-IN" dirty="0"/>
              <a:t> </a:t>
            </a:r>
            <a:r>
              <a:rPr lang="en-IN" b="1" dirty="0"/>
              <a:t>Artificial Intelligence</a:t>
            </a:r>
            <a:r>
              <a:rPr lang="en-IN" dirty="0"/>
              <a:t> – Training neural networks</a:t>
            </a:r>
            <a:br>
              <a:rPr lang="en-IN" dirty="0"/>
            </a:br>
            <a:r>
              <a:rPr lang="en-IN" dirty="0"/>
              <a:t> </a:t>
            </a:r>
            <a:r>
              <a:rPr lang="en-IN" b="1" dirty="0"/>
              <a:t>Video Editing</a:t>
            </a:r>
            <a:r>
              <a:rPr lang="en-IN" dirty="0"/>
              <a:t> – Encoding and real-time rendering</a:t>
            </a:r>
            <a:br>
              <a:rPr lang="en-IN" dirty="0"/>
            </a:br>
            <a:r>
              <a:rPr lang="en-IN" dirty="0"/>
              <a:t> </a:t>
            </a:r>
            <a:r>
              <a:rPr lang="en-IN" b="1" dirty="0"/>
              <a:t>Medical Imaging</a:t>
            </a:r>
            <a:r>
              <a:rPr lang="en-IN" dirty="0"/>
              <a:t> – MRI, CT scan visualization</a:t>
            </a:r>
            <a:br>
              <a:rPr lang="en-IN" dirty="0"/>
            </a:br>
            <a:r>
              <a:rPr lang="en-IN" b="1" dirty="0"/>
              <a:t>Cryptocurrency Mining</a:t>
            </a:r>
            <a:r>
              <a:rPr lang="en-IN" dirty="0"/>
              <a:t> – Performs repetitive hash computations</a:t>
            </a:r>
          </a:p>
          <a:p>
            <a:pPr>
              <a:buNone/>
            </a:pPr>
            <a:br>
              <a:rPr lang="en-IN" dirty="0"/>
            </a:br>
            <a:endParaRPr lang="en-IN" dirty="0"/>
          </a:p>
          <a:p>
            <a:pPr>
              <a:buNone/>
            </a:pPr>
            <a:r>
              <a:rPr lang="en-IN" b="1" dirty="0"/>
              <a:t>Advantages of GPU</a:t>
            </a:r>
          </a:p>
          <a:p>
            <a:pPr>
              <a:buNone/>
            </a:pPr>
            <a:r>
              <a:rPr lang="en-IN" dirty="0"/>
              <a:t>Massive </a:t>
            </a:r>
            <a:r>
              <a:rPr lang="en-IN" b="1" dirty="0"/>
              <a:t>parallel processing</a:t>
            </a:r>
            <a:r>
              <a:rPr lang="en-IN" dirty="0"/>
              <a:t> capability</a:t>
            </a:r>
            <a:br>
              <a:rPr lang="en-IN" dirty="0"/>
            </a:br>
            <a:r>
              <a:rPr lang="en-IN" dirty="0"/>
              <a:t> High </a:t>
            </a:r>
            <a:r>
              <a:rPr lang="en-IN" b="1" dirty="0"/>
              <a:t>throughput</a:t>
            </a:r>
            <a:r>
              <a:rPr lang="en-IN" dirty="0"/>
              <a:t> (many tasks per second)</a:t>
            </a:r>
            <a:br>
              <a:rPr lang="en-IN" dirty="0"/>
            </a:br>
            <a:r>
              <a:rPr lang="en-IN" dirty="0"/>
              <a:t> Great for </a:t>
            </a:r>
            <a:r>
              <a:rPr lang="en-IN" b="1" dirty="0"/>
              <a:t>repetitive operations</a:t>
            </a:r>
            <a:r>
              <a:rPr lang="en-IN" dirty="0"/>
              <a:t> on large data</a:t>
            </a:r>
            <a:br>
              <a:rPr lang="en-IN" dirty="0"/>
            </a:br>
            <a:r>
              <a:rPr lang="en-IN" dirty="0"/>
              <a:t> Reduces </a:t>
            </a:r>
            <a:r>
              <a:rPr lang="en-IN" b="1" dirty="0"/>
              <a:t>CPU load</a:t>
            </a:r>
            <a:br>
              <a:rPr lang="en-IN" dirty="0"/>
            </a:br>
            <a:r>
              <a:rPr lang="en-IN" dirty="0"/>
              <a:t>Ideal for </a:t>
            </a:r>
            <a:r>
              <a:rPr lang="en-IN" b="1" dirty="0"/>
              <a:t>AI, ML, and data-intensive tasks</a:t>
            </a:r>
            <a:endParaRPr lang="en-IN" dirty="0"/>
          </a:p>
          <a:p>
            <a:pPr>
              <a:buNone/>
            </a:pPr>
            <a:br>
              <a:rPr lang="en-IN" dirty="0"/>
            </a:br>
            <a:endParaRPr lang="en-IN" dirty="0"/>
          </a:p>
        </p:txBody>
      </p:sp>
    </p:spTree>
    <p:extLst>
      <p:ext uri="{BB962C8B-B14F-4D97-AF65-F5344CB8AC3E}">
        <p14:creationId xmlns:p14="http://schemas.microsoft.com/office/powerpoint/2010/main" val="42885497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6259-7D7D-19A2-7295-D6269E4E0270}"/>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BFE599B1-89AF-996E-A5D3-659EFBCA8FE7}"/>
              </a:ext>
            </a:extLst>
          </p:cNvPr>
          <p:cNvPicPr>
            <a:picLocks noChangeAspect="1"/>
          </p:cNvPicPr>
          <p:nvPr/>
        </p:nvPicPr>
        <p:blipFill>
          <a:blip r:embed="rId2"/>
          <a:stretch>
            <a:fillRect/>
          </a:stretch>
        </p:blipFill>
        <p:spPr>
          <a:xfrm>
            <a:off x="742950" y="1554317"/>
            <a:ext cx="10801349" cy="4855627"/>
          </a:xfrm>
          <a:prstGeom prst="rect">
            <a:avLst/>
          </a:prstGeom>
        </p:spPr>
      </p:pic>
    </p:spTree>
    <p:extLst>
      <p:ext uri="{BB962C8B-B14F-4D97-AF65-F5344CB8AC3E}">
        <p14:creationId xmlns:p14="http://schemas.microsoft.com/office/powerpoint/2010/main" val="33404272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309C0-162E-87C6-317F-9E2869AFE45D}"/>
              </a:ext>
            </a:extLst>
          </p:cNvPr>
          <p:cNvSpPr>
            <a:spLocks noGrp="1"/>
          </p:cNvSpPr>
          <p:nvPr>
            <p:ph type="title"/>
          </p:nvPr>
        </p:nvSpPr>
        <p:spPr/>
        <p:txBody>
          <a:bodyPr/>
          <a:lstStyle/>
          <a:p>
            <a:r>
              <a:rPr lang="en-IN" dirty="0"/>
              <a:t>SHARED MEMORY MULTIPROCESSOR</a:t>
            </a:r>
          </a:p>
        </p:txBody>
      </p:sp>
      <p:sp>
        <p:nvSpPr>
          <p:cNvPr id="3" name="Content Placeholder 2">
            <a:extLst>
              <a:ext uri="{FF2B5EF4-FFF2-40B4-BE49-F238E27FC236}">
                <a16:creationId xmlns:a16="http://schemas.microsoft.com/office/drawing/2014/main" id="{4CCDDBF8-517F-8383-3FBC-70D6128BD505}"/>
              </a:ext>
            </a:extLst>
          </p:cNvPr>
          <p:cNvSpPr>
            <a:spLocks noGrp="1"/>
          </p:cNvSpPr>
          <p:nvPr>
            <p:ph sz="quarter" idx="10"/>
          </p:nvPr>
        </p:nvSpPr>
        <p:spPr>
          <a:xfrm>
            <a:off x="539496" y="1435608"/>
            <a:ext cx="11138154" cy="3977640"/>
          </a:xfrm>
        </p:spPr>
        <p:txBody>
          <a:bodyPr>
            <a:normAutofit fontScale="92500"/>
          </a:bodyPr>
          <a:lstStyle/>
          <a:p>
            <a:r>
              <a:rPr lang="en-US" sz="2400" dirty="0">
                <a:latin typeface="Times New Roman" panose="02020603050405020304" pitchFamily="18" charset="0"/>
                <a:cs typeface="Times New Roman" panose="02020603050405020304" pitchFamily="18" charset="0"/>
              </a:rPr>
              <a:t>A Shared-Memory Multiprocessor system is an architecture where multiple independent processors (or CPU cores) can all access a common memory address space. </a:t>
            </a:r>
          </a:p>
          <a:p>
            <a:r>
              <a:rPr lang="en-US" sz="2400" dirty="0">
                <a:latin typeface="Times New Roman" panose="02020603050405020304" pitchFamily="18" charset="0"/>
                <a:cs typeface="Times New Roman" panose="02020603050405020304" pitchFamily="18" charset="0"/>
              </a:rPr>
              <a:t>processors can directly communicate and share data by simply reading from and writing to the shared memory locations using standard load and store operations.</a:t>
            </a:r>
          </a:p>
          <a:p>
            <a:r>
              <a:rPr lang="en-US" sz="2400" dirty="0">
                <a:latin typeface="Times New Roman" panose="02020603050405020304" pitchFamily="18" charset="0"/>
                <a:cs typeface="Times New Roman" panose="02020603050405020304" pitchFamily="18" charset="0"/>
              </a:rPr>
              <a:t>This architecture follows the Multiple-Instruction, Multiple-Data (MIMD) paradigm, allowing different processors to execute different instruction streams on different data simultaneously.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1530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5531D-ACA3-9CDB-E949-1E38A53CC2EB}"/>
              </a:ext>
            </a:extLst>
          </p:cNvPr>
          <p:cNvSpPr>
            <a:spLocks noGrp="1"/>
          </p:cNvSpPr>
          <p:nvPr>
            <p:ph type="title"/>
          </p:nvPr>
        </p:nvSpPr>
        <p:spPr>
          <a:xfrm>
            <a:off x="352425" y="164806"/>
            <a:ext cx="7045901" cy="923330"/>
          </a:xfrm>
        </p:spPr>
        <p:txBody>
          <a:bodyPr>
            <a:normAutofit fontScale="90000"/>
          </a:bodyPr>
          <a:lstStyle/>
          <a:p>
            <a:pPr algn="ctr"/>
            <a:r>
              <a:rPr lang="en-US" b="1" dirty="0"/>
              <a:t>Working Principle</a:t>
            </a:r>
            <a:br>
              <a:rPr lang="en-US" b="1" dirty="0"/>
            </a:br>
            <a:endParaRPr lang="en-IN" dirty="0"/>
          </a:p>
        </p:txBody>
      </p:sp>
      <p:sp>
        <p:nvSpPr>
          <p:cNvPr id="5" name="TextBox 4">
            <a:extLst>
              <a:ext uri="{FF2B5EF4-FFF2-40B4-BE49-F238E27FC236}">
                <a16:creationId xmlns:a16="http://schemas.microsoft.com/office/drawing/2014/main" id="{B0F29868-6D01-C6F8-663C-1A35510D5A8F}"/>
              </a:ext>
            </a:extLst>
          </p:cNvPr>
          <p:cNvSpPr txBox="1"/>
          <p:nvPr/>
        </p:nvSpPr>
        <p:spPr>
          <a:xfrm>
            <a:off x="447675" y="1419225"/>
            <a:ext cx="11153775" cy="1631216"/>
          </a:xfrm>
          <a:prstGeom prst="rect">
            <a:avLst/>
          </a:prstGeom>
          <a:noFill/>
        </p:spPr>
        <p:txBody>
          <a:bodyPr wrap="square">
            <a:spAutoFit/>
          </a:bodyPr>
          <a:lstStyle/>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processors execute instructions </a:t>
            </a:r>
            <a:r>
              <a:rPr lang="en-US" sz="2000" b="1" dirty="0">
                <a:latin typeface="Times New Roman" panose="02020603050405020304" pitchFamily="18" charset="0"/>
                <a:cs typeface="Times New Roman" panose="02020603050405020304" pitchFamily="18" charset="0"/>
              </a:rPr>
              <a:t>concurrently</a:t>
            </a:r>
            <a:r>
              <a:rPr lang="en-US" sz="2000" dirty="0">
                <a:latin typeface="Times New Roman" panose="02020603050405020304" pitchFamily="18" charset="0"/>
                <a:cs typeface="Times New Roman" panose="02020603050405020304" pitchFamily="18" charset="0"/>
              </a:rPr>
              <a:t> and access </a:t>
            </a:r>
            <a:r>
              <a:rPr lang="en-US" sz="2000" b="1" dirty="0">
                <a:latin typeface="Times New Roman" panose="02020603050405020304" pitchFamily="18" charset="0"/>
                <a:cs typeface="Times New Roman" panose="02020603050405020304" pitchFamily="18" charset="0"/>
              </a:rPr>
              <a:t>shared data</a:t>
            </a:r>
            <a:r>
              <a:rPr lang="en-US" sz="2000" dirty="0">
                <a:latin typeface="Times New Roman" panose="02020603050405020304" pitchFamily="18" charset="0"/>
                <a:cs typeface="Times New Roman" panose="02020603050405020304" pitchFamily="18" charset="0"/>
              </a:rPr>
              <a:t>.</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Synchronization mechanisms (locks, semaphores, barriers) ensure correct access to shared data.</a:t>
            </a:r>
          </a:p>
          <a:p>
            <a:endParaRPr 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Cache coherence protocols</a:t>
            </a:r>
            <a:r>
              <a:rPr lang="en-US" sz="2000" dirty="0">
                <a:latin typeface="Times New Roman" panose="02020603050405020304" pitchFamily="18" charset="0"/>
                <a:cs typeface="Times New Roman" panose="02020603050405020304" pitchFamily="18" charset="0"/>
              </a:rPr>
              <a:t> maintain consistency when multiple caches store the same memory block.</a:t>
            </a:r>
          </a:p>
        </p:txBody>
      </p:sp>
    </p:spTree>
    <p:extLst>
      <p:ext uri="{BB962C8B-B14F-4D97-AF65-F5344CB8AC3E}">
        <p14:creationId xmlns:p14="http://schemas.microsoft.com/office/powerpoint/2010/main" val="31282064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7EEAA-316E-4660-5476-B585F57130AB}"/>
              </a:ext>
            </a:extLst>
          </p:cNvPr>
          <p:cNvSpPr>
            <a:spLocks noGrp="1"/>
          </p:cNvSpPr>
          <p:nvPr>
            <p:ph type="title"/>
          </p:nvPr>
        </p:nvSpPr>
        <p:spPr>
          <a:xfrm>
            <a:off x="521207" y="448056"/>
            <a:ext cx="9746743" cy="640080"/>
          </a:xfrm>
        </p:spPr>
        <p:txBody>
          <a:bodyPr>
            <a:normAutofit/>
          </a:bodyPr>
          <a:lstStyle/>
          <a:p>
            <a:r>
              <a:rPr lang="en-US" dirty="0">
                <a:latin typeface="Times New Roman" panose="02020603050405020304" pitchFamily="18" charset="0"/>
                <a:cs typeface="Times New Roman" panose="02020603050405020304" pitchFamily="18" charset="0"/>
              </a:rPr>
              <a:t>Key Characteristics and Components Shared Address Space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D1BE6A0-4623-412A-1AF6-2AADCE920636}"/>
              </a:ext>
            </a:extLst>
          </p:cNvPr>
          <p:cNvSpPr>
            <a:spLocks noGrp="1"/>
          </p:cNvSpPr>
          <p:nvPr>
            <p:ph sz="quarter" idx="10"/>
          </p:nvPr>
        </p:nvSpPr>
        <p:spPr>
          <a:xfrm>
            <a:off x="539495" y="1435608"/>
            <a:ext cx="11404855" cy="5346192"/>
          </a:xfrm>
        </p:spPr>
        <p:txBody>
          <a:bodyPr>
            <a:noAutofit/>
          </a:bodyPr>
          <a:lstStyle/>
          <a:p>
            <a:r>
              <a:rPr lang="en-US" sz="1600" dirty="0">
                <a:latin typeface="Times New Roman" panose="02020603050405020304" pitchFamily="18" charset="0"/>
                <a:cs typeface="Times New Roman" panose="02020603050405020304" pitchFamily="18" charset="0"/>
              </a:rPr>
              <a:t>All processors see a single, unified view of the main memory.</a:t>
            </a:r>
          </a:p>
          <a:p>
            <a:r>
              <a:rPr lang="en-US" sz="1600" dirty="0">
                <a:latin typeface="Times New Roman" panose="02020603050405020304" pitchFamily="18" charset="0"/>
                <a:cs typeface="Times New Roman" panose="02020603050405020304" pitchFamily="18" charset="0"/>
              </a:rPr>
              <a:t>Private Caches: Each processor usually has its own cache hierarchy (L1, L2, etc.) to improve performance by reducing memory access latency.</a:t>
            </a:r>
          </a:p>
          <a:p>
            <a:r>
              <a:rPr lang="en-US" sz="1600" dirty="0">
                <a:latin typeface="Times New Roman" panose="02020603050405020304" pitchFamily="18" charset="0"/>
                <a:cs typeface="Times New Roman" panose="02020603050405020304" pitchFamily="18" charset="0"/>
              </a:rPr>
              <a:t>Interconnection Network: A mechanism like a bus, crossbar switch, or multi-stage network connects the processors and memory modules, facilitating data transfer.</a:t>
            </a:r>
          </a:p>
          <a:p>
            <a:r>
              <a:rPr lang="en-US" sz="1600" dirty="0">
                <a:latin typeface="Times New Roman" panose="02020603050405020304" pitchFamily="18" charset="0"/>
                <a:cs typeface="Times New Roman" panose="02020603050405020304" pitchFamily="18" charset="0"/>
              </a:rPr>
              <a:t>Synchronization Primitives: Mechanisms like locks, semaphores, and barriers are necessary to coordinate access to shared data and resources, preventing race conditions and ensuring data integrity.</a:t>
            </a:r>
          </a:p>
          <a:p>
            <a:r>
              <a:rPr lang="en-US" sz="1600" dirty="0">
                <a:latin typeface="Times New Roman" panose="02020603050405020304" pitchFamily="18" charset="0"/>
                <a:cs typeface="Times New Roman" panose="02020603050405020304" pitchFamily="18" charset="0"/>
              </a:rPr>
              <a:t>Cache Coherence: This is a critical challenge. Because each processor has a private cache, a data item modified in one processor's cache may not be up-to-date in other caches or in the main memory. </a:t>
            </a:r>
          </a:p>
          <a:p>
            <a:r>
              <a:rPr lang="en-US" sz="1600" dirty="0">
                <a:latin typeface="Times New Roman" panose="02020603050405020304" pitchFamily="18" charset="0"/>
                <a:cs typeface="Times New Roman" panose="02020603050405020304" pitchFamily="18" charset="0"/>
              </a:rPr>
              <a:t>Cache coherence protocols (like Snooping or Directory-based protocols) are implemented in hardware to ensure that all processors see a consistent, up-to-date value for shared data</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992222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29486-C39F-980D-9A8A-4F7CE7D6DD42}"/>
              </a:ext>
            </a:extLst>
          </p:cNvPr>
          <p:cNvSpPr>
            <a:spLocks noGrp="1"/>
          </p:cNvSpPr>
          <p:nvPr>
            <p:ph type="title"/>
          </p:nvPr>
        </p:nvSpPr>
        <p:spPr>
          <a:xfrm>
            <a:off x="521207" y="448056"/>
            <a:ext cx="10889743" cy="640080"/>
          </a:xfrm>
        </p:spPr>
        <p:txBody>
          <a:bodyPr/>
          <a:lstStyle/>
          <a:p>
            <a:r>
              <a:rPr lang="en-IN" dirty="0">
                <a:latin typeface="Times New Roman" panose="02020603050405020304" pitchFamily="18" charset="0"/>
                <a:cs typeface="Times New Roman" panose="02020603050405020304" pitchFamily="18" charset="0"/>
              </a:rPr>
              <a:t>Models of Shared-Memory Multiprocessors</a:t>
            </a:r>
          </a:p>
        </p:txBody>
      </p:sp>
      <p:graphicFrame>
        <p:nvGraphicFramePr>
          <p:cNvPr id="4" name="Content Placeholder 3">
            <a:extLst>
              <a:ext uri="{FF2B5EF4-FFF2-40B4-BE49-F238E27FC236}">
                <a16:creationId xmlns:a16="http://schemas.microsoft.com/office/drawing/2014/main" id="{CF3DE451-E5F0-E3A0-7804-ECCDE81D8D6E}"/>
              </a:ext>
            </a:extLst>
          </p:cNvPr>
          <p:cNvGraphicFramePr>
            <a:graphicFrameLocks noGrp="1"/>
          </p:cNvGraphicFramePr>
          <p:nvPr>
            <p:ph sz="quarter" idx="10"/>
            <p:extLst>
              <p:ext uri="{D42A27DB-BD31-4B8C-83A1-F6EECF244321}">
                <p14:modId xmlns:p14="http://schemas.microsoft.com/office/powerpoint/2010/main" val="3151150457"/>
              </p:ext>
            </p:extLst>
          </p:nvPr>
        </p:nvGraphicFramePr>
        <p:xfrm>
          <a:off x="1246828" y="1435100"/>
          <a:ext cx="8811573" cy="4870451"/>
        </p:xfrm>
        <a:graphic>
          <a:graphicData uri="http://schemas.openxmlformats.org/drawingml/2006/table">
            <a:tbl>
              <a:tblPr/>
              <a:tblGrid>
                <a:gridCol w="2937191">
                  <a:extLst>
                    <a:ext uri="{9D8B030D-6E8A-4147-A177-3AD203B41FA5}">
                      <a16:colId xmlns:a16="http://schemas.microsoft.com/office/drawing/2014/main" val="2569165874"/>
                    </a:ext>
                  </a:extLst>
                </a:gridCol>
                <a:gridCol w="2937191">
                  <a:extLst>
                    <a:ext uri="{9D8B030D-6E8A-4147-A177-3AD203B41FA5}">
                      <a16:colId xmlns:a16="http://schemas.microsoft.com/office/drawing/2014/main" val="3938195634"/>
                    </a:ext>
                  </a:extLst>
                </a:gridCol>
                <a:gridCol w="2937191">
                  <a:extLst>
                    <a:ext uri="{9D8B030D-6E8A-4147-A177-3AD203B41FA5}">
                      <a16:colId xmlns:a16="http://schemas.microsoft.com/office/drawing/2014/main" val="2485179009"/>
                    </a:ext>
                  </a:extLst>
                </a:gridCol>
              </a:tblGrid>
              <a:tr h="304403">
                <a:tc>
                  <a:txBody>
                    <a:bodyPr/>
                    <a:lstStyle/>
                    <a:p>
                      <a:pPr>
                        <a:buNone/>
                      </a:pPr>
                      <a:r>
                        <a:rPr lang="en-IN" sz="1200" dirty="0"/>
                        <a:t>Type</a:t>
                      </a:r>
                    </a:p>
                  </a:txBody>
                  <a:tcPr marL="62161" marR="62161" marT="31080" marB="31080" anchor="ctr">
                    <a:lnL>
                      <a:noFill/>
                    </a:lnL>
                    <a:lnR>
                      <a:noFill/>
                    </a:lnR>
                    <a:lnT>
                      <a:noFill/>
                    </a:lnT>
                    <a:lnB>
                      <a:noFill/>
                    </a:lnB>
                    <a:noFill/>
                  </a:tcPr>
                </a:tc>
                <a:tc>
                  <a:txBody>
                    <a:bodyPr/>
                    <a:lstStyle/>
                    <a:p>
                      <a:pPr>
                        <a:buNone/>
                      </a:pPr>
                      <a:r>
                        <a:rPr lang="en-IN" sz="1200"/>
                        <a:t>Description</a:t>
                      </a:r>
                    </a:p>
                  </a:txBody>
                  <a:tcPr marL="62161" marR="62161" marT="31080" marB="31080" anchor="ctr">
                    <a:lnL>
                      <a:noFill/>
                    </a:lnL>
                    <a:lnR>
                      <a:noFill/>
                    </a:lnR>
                    <a:lnT>
                      <a:noFill/>
                    </a:lnT>
                    <a:lnB>
                      <a:noFill/>
                    </a:lnB>
                    <a:noFill/>
                  </a:tcPr>
                </a:tc>
                <a:tc>
                  <a:txBody>
                    <a:bodyPr/>
                    <a:lstStyle/>
                    <a:p>
                      <a:pPr>
                        <a:buNone/>
                      </a:pPr>
                      <a:r>
                        <a:rPr lang="en-IN" sz="1200"/>
                        <a:t>Example</a:t>
                      </a:r>
                    </a:p>
                  </a:txBody>
                  <a:tcPr marL="62161" marR="62161" marT="31080" marB="31080" anchor="ctr">
                    <a:lnL>
                      <a:noFill/>
                    </a:lnL>
                    <a:lnR>
                      <a:noFill/>
                    </a:lnR>
                    <a:lnT>
                      <a:noFill/>
                    </a:lnT>
                    <a:lnB>
                      <a:noFill/>
                    </a:lnB>
                    <a:noFill/>
                  </a:tcPr>
                </a:tc>
                <a:extLst>
                  <a:ext uri="{0D108BD9-81ED-4DB2-BD59-A6C34878D82A}">
                    <a16:rowId xmlns:a16="http://schemas.microsoft.com/office/drawing/2014/main" val="3281660751"/>
                  </a:ext>
                </a:extLst>
              </a:tr>
              <a:tr h="1445915">
                <a:tc>
                  <a:txBody>
                    <a:bodyPr/>
                    <a:lstStyle/>
                    <a:p>
                      <a:pPr>
                        <a:buNone/>
                      </a:pPr>
                      <a:r>
                        <a:rPr lang="en-IN" sz="1200" b="1"/>
                        <a:t>UMA (Uniform Memory Access)</a:t>
                      </a:r>
                      <a:endParaRPr lang="en-IN" sz="1200"/>
                    </a:p>
                  </a:txBody>
                  <a:tcPr marL="62161" marR="62161" marT="31080" marB="31080" anchor="ctr">
                    <a:lnL>
                      <a:noFill/>
                    </a:lnL>
                    <a:lnR>
                      <a:noFill/>
                    </a:lnR>
                    <a:lnT>
                      <a:noFill/>
                    </a:lnT>
                    <a:lnB>
                      <a:noFill/>
                    </a:lnB>
                    <a:noFill/>
                  </a:tcPr>
                </a:tc>
                <a:tc>
                  <a:txBody>
                    <a:bodyPr/>
                    <a:lstStyle/>
                    <a:p>
                      <a:pPr>
                        <a:buNone/>
                      </a:pPr>
                      <a:r>
                        <a:rPr lang="en-US" sz="1200"/>
                        <a:t>All processors have equal access time to shared memory.</a:t>
                      </a:r>
                    </a:p>
                  </a:txBody>
                  <a:tcPr marL="62161" marR="62161" marT="31080" marB="31080" anchor="ctr">
                    <a:lnL>
                      <a:noFill/>
                    </a:lnL>
                    <a:lnR>
                      <a:noFill/>
                    </a:lnR>
                    <a:lnT>
                      <a:noFill/>
                    </a:lnT>
                    <a:lnB>
                      <a:noFill/>
                    </a:lnB>
                    <a:noFill/>
                  </a:tcPr>
                </a:tc>
                <a:tc>
                  <a:txBody>
                    <a:bodyPr/>
                    <a:lstStyle/>
                    <a:p>
                      <a:pPr>
                        <a:buNone/>
                      </a:pPr>
                      <a:r>
                        <a:rPr lang="en-IN" sz="1200"/>
                        <a:t>Symmetric Multiprocessor (SMP)</a:t>
                      </a:r>
                    </a:p>
                  </a:txBody>
                  <a:tcPr marL="62161" marR="62161" marT="31080" marB="31080" anchor="ctr">
                    <a:lnL>
                      <a:noFill/>
                    </a:lnL>
                    <a:lnR>
                      <a:noFill/>
                    </a:lnR>
                    <a:lnT>
                      <a:noFill/>
                    </a:lnT>
                    <a:lnB>
                      <a:noFill/>
                    </a:lnB>
                    <a:noFill/>
                  </a:tcPr>
                </a:tc>
                <a:extLst>
                  <a:ext uri="{0D108BD9-81ED-4DB2-BD59-A6C34878D82A}">
                    <a16:rowId xmlns:a16="http://schemas.microsoft.com/office/drawing/2014/main" val="3781234628"/>
                  </a:ext>
                </a:extLst>
              </a:tr>
              <a:tr h="1674218">
                <a:tc>
                  <a:txBody>
                    <a:bodyPr/>
                    <a:lstStyle/>
                    <a:p>
                      <a:pPr>
                        <a:buNone/>
                      </a:pPr>
                      <a:r>
                        <a:rPr lang="en-IN" sz="1200" b="1"/>
                        <a:t>NUMA (Non-Uniform Memory Access)</a:t>
                      </a:r>
                      <a:endParaRPr lang="en-IN" sz="1200"/>
                    </a:p>
                  </a:txBody>
                  <a:tcPr marL="62161" marR="62161" marT="31080" marB="31080" anchor="ctr">
                    <a:lnL>
                      <a:noFill/>
                    </a:lnL>
                    <a:lnR>
                      <a:noFill/>
                    </a:lnR>
                    <a:lnT>
                      <a:noFill/>
                    </a:lnT>
                    <a:lnB>
                      <a:noFill/>
                    </a:lnB>
                    <a:noFill/>
                  </a:tcPr>
                </a:tc>
                <a:tc>
                  <a:txBody>
                    <a:bodyPr/>
                    <a:lstStyle/>
                    <a:p>
                      <a:pPr>
                        <a:buNone/>
                      </a:pPr>
                      <a:r>
                        <a:rPr lang="en-US" sz="1200"/>
                        <a:t>Memory access time depends on memory location relative to processor.</a:t>
                      </a:r>
                    </a:p>
                  </a:txBody>
                  <a:tcPr marL="62161" marR="62161" marT="31080" marB="31080" anchor="ctr">
                    <a:lnL>
                      <a:noFill/>
                    </a:lnL>
                    <a:lnR>
                      <a:noFill/>
                    </a:lnR>
                    <a:lnT>
                      <a:noFill/>
                    </a:lnT>
                    <a:lnB>
                      <a:noFill/>
                    </a:lnB>
                    <a:noFill/>
                  </a:tcPr>
                </a:tc>
                <a:tc>
                  <a:txBody>
                    <a:bodyPr/>
                    <a:lstStyle/>
                    <a:p>
                      <a:pPr>
                        <a:buNone/>
                      </a:pPr>
                      <a:r>
                        <a:rPr lang="en-IN" sz="1200"/>
                        <a:t>Modern high-performance servers</a:t>
                      </a:r>
                    </a:p>
                  </a:txBody>
                  <a:tcPr marL="62161" marR="62161" marT="31080" marB="31080" anchor="ctr">
                    <a:lnL>
                      <a:noFill/>
                    </a:lnL>
                    <a:lnR>
                      <a:noFill/>
                    </a:lnR>
                    <a:lnT>
                      <a:noFill/>
                    </a:lnT>
                    <a:lnB>
                      <a:noFill/>
                    </a:lnB>
                    <a:noFill/>
                  </a:tcPr>
                </a:tc>
                <a:extLst>
                  <a:ext uri="{0D108BD9-81ED-4DB2-BD59-A6C34878D82A}">
                    <a16:rowId xmlns:a16="http://schemas.microsoft.com/office/drawing/2014/main" val="2722964773"/>
                  </a:ext>
                </a:extLst>
              </a:tr>
              <a:tr h="1445915">
                <a:tc>
                  <a:txBody>
                    <a:bodyPr/>
                    <a:lstStyle/>
                    <a:p>
                      <a:pPr>
                        <a:buNone/>
                      </a:pPr>
                      <a:r>
                        <a:rPr lang="en-IN" sz="1200" b="1"/>
                        <a:t>COMA (Cache-Only Memory Architecture)</a:t>
                      </a:r>
                      <a:endParaRPr lang="en-IN" sz="1200"/>
                    </a:p>
                  </a:txBody>
                  <a:tcPr marL="62161" marR="62161" marT="31080" marB="31080" anchor="ctr">
                    <a:lnL>
                      <a:noFill/>
                    </a:lnL>
                    <a:lnR>
                      <a:noFill/>
                    </a:lnR>
                    <a:lnT>
                      <a:noFill/>
                    </a:lnT>
                    <a:lnB>
                      <a:noFill/>
                    </a:lnB>
                    <a:noFill/>
                  </a:tcPr>
                </a:tc>
                <a:tc>
                  <a:txBody>
                    <a:bodyPr/>
                    <a:lstStyle/>
                    <a:p>
                      <a:pPr>
                        <a:buNone/>
                      </a:pPr>
                      <a:r>
                        <a:rPr lang="en-US" sz="1200"/>
                        <a:t>Memory consists entirely of caches; data migrates dynamically.</a:t>
                      </a:r>
                    </a:p>
                  </a:txBody>
                  <a:tcPr marL="62161" marR="62161" marT="31080" marB="31080" anchor="ctr">
                    <a:lnL>
                      <a:noFill/>
                    </a:lnL>
                    <a:lnR>
                      <a:noFill/>
                    </a:lnR>
                    <a:lnT>
                      <a:noFill/>
                    </a:lnT>
                    <a:lnB>
                      <a:noFill/>
                    </a:lnB>
                    <a:noFill/>
                  </a:tcPr>
                </a:tc>
                <a:tc>
                  <a:txBody>
                    <a:bodyPr/>
                    <a:lstStyle/>
                    <a:p>
                      <a:pPr>
                        <a:buNone/>
                      </a:pPr>
                      <a:r>
                        <a:rPr lang="en-IN" sz="1200" dirty="0"/>
                        <a:t>Experimental systems</a:t>
                      </a:r>
                    </a:p>
                  </a:txBody>
                  <a:tcPr marL="62161" marR="62161" marT="31080" marB="31080" anchor="ctr">
                    <a:lnL>
                      <a:noFill/>
                    </a:lnL>
                    <a:lnR>
                      <a:noFill/>
                    </a:lnR>
                    <a:lnT>
                      <a:noFill/>
                    </a:lnT>
                    <a:lnB>
                      <a:noFill/>
                    </a:lnB>
                    <a:noFill/>
                  </a:tcPr>
                </a:tc>
                <a:extLst>
                  <a:ext uri="{0D108BD9-81ED-4DB2-BD59-A6C34878D82A}">
                    <a16:rowId xmlns:a16="http://schemas.microsoft.com/office/drawing/2014/main" val="3131579079"/>
                  </a:ext>
                </a:extLst>
              </a:tr>
            </a:tbl>
          </a:graphicData>
        </a:graphic>
      </p:graphicFrame>
    </p:spTree>
    <p:extLst>
      <p:ext uri="{BB962C8B-B14F-4D97-AF65-F5344CB8AC3E}">
        <p14:creationId xmlns:p14="http://schemas.microsoft.com/office/powerpoint/2010/main" val="10736962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DE5C0-42A4-C177-E91E-64655060E3B3}"/>
              </a:ext>
            </a:extLst>
          </p:cNvPr>
          <p:cNvSpPr>
            <a:spLocks noGrp="1"/>
          </p:cNvSpPr>
          <p:nvPr>
            <p:ph type="title"/>
          </p:nvPr>
        </p:nvSpPr>
        <p:spPr/>
        <p:txBody>
          <a:bodyPr/>
          <a:lstStyle/>
          <a:p>
            <a:endParaRPr lang="en-IN"/>
          </a:p>
        </p:txBody>
      </p:sp>
      <p:graphicFrame>
        <p:nvGraphicFramePr>
          <p:cNvPr id="4" name="Content Placeholder 3">
            <a:extLst>
              <a:ext uri="{FF2B5EF4-FFF2-40B4-BE49-F238E27FC236}">
                <a16:creationId xmlns:a16="http://schemas.microsoft.com/office/drawing/2014/main" id="{B3A71CF8-4AFD-7953-06A4-9530988B08E2}"/>
              </a:ext>
            </a:extLst>
          </p:cNvPr>
          <p:cNvGraphicFramePr>
            <a:graphicFrameLocks noGrp="1"/>
          </p:cNvGraphicFramePr>
          <p:nvPr>
            <p:ph sz="quarter" idx="10"/>
            <p:extLst>
              <p:ext uri="{D42A27DB-BD31-4B8C-83A1-F6EECF244321}">
                <p14:modId xmlns:p14="http://schemas.microsoft.com/office/powerpoint/2010/main" val="36867851"/>
              </p:ext>
            </p:extLst>
          </p:nvPr>
        </p:nvGraphicFramePr>
        <p:xfrm>
          <a:off x="1095375" y="1435100"/>
          <a:ext cx="8772525" cy="4065077"/>
        </p:xfrm>
        <a:graphic>
          <a:graphicData uri="http://schemas.openxmlformats.org/drawingml/2006/table">
            <a:tbl>
              <a:tblPr/>
              <a:tblGrid>
                <a:gridCol w="4733925">
                  <a:extLst>
                    <a:ext uri="{9D8B030D-6E8A-4147-A177-3AD203B41FA5}">
                      <a16:colId xmlns:a16="http://schemas.microsoft.com/office/drawing/2014/main" val="3799547832"/>
                    </a:ext>
                  </a:extLst>
                </a:gridCol>
                <a:gridCol w="4038600">
                  <a:extLst>
                    <a:ext uri="{9D8B030D-6E8A-4147-A177-3AD203B41FA5}">
                      <a16:colId xmlns:a16="http://schemas.microsoft.com/office/drawing/2014/main" val="731642798"/>
                    </a:ext>
                  </a:extLst>
                </a:gridCol>
              </a:tblGrid>
              <a:tr h="226831">
                <a:tc>
                  <a:txBody>
                    <a:bodyPr/>
                    <a:lstStyle/>
                    <a:p>
                      <a:pPr rtl="0">
                        <a:buNone/>
                      </a:pPr>
                      <a:r>
                        <a:rPr lang="en-IN" sz="1600" b="1" dirty="0">
                          <a:solidFill>
                            <a:srgbClr val="1B1C1D"/>
                          </a:solidFill>
                          <a:effectLst/>
                          <a:latin typeface="Times New Roman" panose="02020603050405020304" pitchFamily="18" charset="0"/>
                          <a:cs typeface="Times New Roman" panose="02020603050405020304" pitchFamily="18" charset="0"/>
                        </a:rPr>
                        <a:t>Advantages (Pros)</a:t>
                      </a:r>
                      <a:endParaRPr lang="en-IN" sz="1600" dirty="0">
                        <a:solidFill>
                          <a:srgbClr val="1B1C1D"/>
                        </a:solidFill>
                        <a:effectLst/>
                        <a:latin typeface="Times New Roman" panose="02020603050405020304" pitchFamily="18" charset="0"/>
                        <a:cs typeface="Times New Roman" panose="02020603050405020304" pitchFamily="18" charset="0"/>
                      </a:endParaRPr>
                    </a:p>
                  </a:txBody>
                  <a:tcPr marL="52346" marR="52346" marT="34897" marB="348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IN" sz="1400" b="1" dirty="0">
                          <a:solidFill>
                            <a:srgbClr val="1B1C1D"/>
                          </a:solidFill>
                          <a:effectLst/>
                          <a:latin typeface="Times New Roman" panose="02020603050405020304" pitchFamily="18" charset="0"/>
                          <a:cs typeface="Times New Roman" panose="02020603050405020304" pitchFamily="18" charset="0"/>
                        </a:rPr>
                        <a:t>Disadvantages (Cons)</a:t>
                      </a:r>
                      <a:endParaRPr lang="en-IN" sz="1400" dirty="0">
                        <a:solidFill>
                          <a:srgbClr val="1B1C1D"/>
                        </a:solidFill>
                        <a:effectLst/>
                        <a:latin typeface="Times New Roman" panose="02020603050405020304" pitchFamily="18" charset="0"/>
                        <a:cs typeface="Times New Roman" panose="02020603050405020304" pitchFamily="18" charset="0"/>
                      </a:endParaRPr>
                    </a:p>
                  </a:txBody>
                  <a:tcPr marL="52346" marR="52346" marT="34897" marB="348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08668900"/>
                  </a:ext>
                </a:extLst>
              </a:tr>
              <a:tr h="1797203">
                <a:tc>
                  <a:txBody>
                    <a:bodyPr/>
                    <a:lstStyle/>
                    <a:p>
                      <a:pPr rtl="0">
                        <a:buNone/>
                      </a:pPr>
                      <a:r>
                        <a:rPr lang="en-US" sz="1400" b="1" dirty="0">
                          <a:solidFill>
                            <a:srgbClr val="1B1C1D"/>
                          </a:solidFill>
                          <a:effectLst/>
                          <a:latin typeface="Times New Roman" panose="02020603050405020304" pitchFamily="18" charset="0"/>
                          <a:cs typeface="Times New Roman" panose="02020603050405020304" pitchFamily="18" charset="0"/>
                        </a:rPr>
                        <a:t>Simplified Programming Model:</a:t>
                      </a:r>
                      <a:r>
                        <a:rPr lang="en-US" sz="1400" dirty="0">
                          <a:solidFill>
                            <a:srgbClr val="1B1C1D"/>
                          </a:solidFill>
                          <a:effectLst/>
                          <a:latin typeface="Times New Roman" panose="02020603050405020304" pitchFamily="18" charset="0"/>
                          <a:cs typeface="Times New Roman" panose="02020603050405020304" pitchFamily="18" charset="0"/>
                        </a:rPr>
                        <a:t> Developers use conventional programming constructs with a single, global address space, making parallel programming more intuitive.</a:t>
                      </a:r>
                    </a:p>
                  </a:txBody>
                  <a:tcPr marL="52346" marR="52346" marT="34897" marB="348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rtl="0">
                        <a:buNone/>
                      </a:pPr>
                      <a:r>
                        <a:rPr lang="en-US" sz="1400" b="1" dirty="0">
                          <a:solidFill>
                            <a:srgbClr val="1B1C1D"/>
                          </a:solidFill>
                          <a:effectLst/>
                          <a:latin typeface="Times New Roman" panose="02020603050405020304" pitchFamily="18" charset="0"/>
                          <a:cs typeface="Times New Roman" panose="02020603050405020304" pitchFamily="18" charset="0"/>
                        </a:rPr>
                        <a:t>Scalability Issues:</a:t>
                      </a:r>
                      <a:r>
                        <a:rPr lang="en-US" sz="1400" dirty="0">
                          <a:solidFill>
                            <a:srgbClr val="1B1C1D"/>
                          </a:solidFill>
                          <a:effectLst/>
                          <a:latin typeface="Times New Roman" panose="02020603050405020304" pitchFamily="18" charset="0"/>
                          <a:cs typeface="Times New Roman" panose="02020603050405020304" pitchFamily="18" charset="0"/>
                        </a:rPr>
                        <a:t> As the number of processors increases, contention for the shared bus, memory bandwidth, and interconnect resources can become a major bottleneck, limiting performance gains.</a:t>
                      </a:r>
                    </a:p>
                  </a:txBody>
                  <a:tcPr marL="52346" marR="52346" marT="34897" marB="348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47701596"/>
                  </a:ext>
                </a:extLst>
              </a:tr>
              <a:tr h="1954240">
                <a:tc>
                  <a:txBody>
                    <a:bodyPr/>
                    <a:lstStyle/>
                    <a:p>
                      <a:pPr rtl="0">
                        <a:buNone/>
                      </a:pPr>
                      <a:r>
                        <a:rPr lang="en-US" sz="1600" b="1" dirty="0">
                          <a:solidFill>
                            <a:srgbClr val="1B1C1D"/>
                          </a:solidFill>
                          <a:effectLst/>
                          <a:latin typeface="Times New Roman" panose="02020603050405020304" pitchFamily="18" charset="0"/>
                          <a:cs typeface="Times New Roman" panose="02020603050405020304" pitchFamily="18" charset="0"/>
                        </a:rPr>
                        <a:t>Efficient Data Sharing:</a:t>
                      </a:r>
                      <a:r>
                        <a:rPr lang="en-US" sz="1600" dirty="0">
                          <a:solidFill>
                            <a:srgbClr val="1B1C1D"/>
                          </a:solidFill>
                          <a:effectLst/>
                          <a:latin typeface="Times New Roman" panose="02020603050405020304" pitchFamily="18" charset="0"/>
                          <a:cs typeface="Times New Roman" panose="02020603050405020304" pitchFamily="18" charset="0"/>
                        </a:rPr>
                        <a:t> Communication is fast and efficient since processors can directly read/write shared data in memory, reducing communication overhead.</a:t>
                      </a:r>
                    </a:p>
                  </a:txBody>
                  <a:tcPr marL="52346" marR="52346" marT="34897" marB="348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tc>
                  <a:txBody>
                    <a:bodyPr/>
                    <a:lstStyle/>
                    <a:p>
                      <a:pPr algn="just" rtl="0">
                        <a:buNone/>
                      </a:pPr>
                      <a:r>
                        <a:rPr lang="en-US" sz="1600" b="1" dirty="0">
                          <a:solidFill>
                            <a:srgbClr val="1B1C1D"/>
                          </a:solidFill>
                          <a:effectLst/>
                          <a:latin typeface="Times New Roman" panose="02020603050405020304" pitchFamily="18" charset="0"/>
                          <a:cs typeface="Times New Roman" panose="02020603050405020304" pitchFamily="18" charset="0"/>
                        </a:rPr>
                        <a:t>Cache Coherence Overhead:</a:t>
                      </a:r>
                      <a:r>
                        <a:rPr lang="en-US" sz="1600" dirty="0">
                          <a:solidFill>
                            <a:srgbClr val="1B1C1D"/>
                          </a:solidFill>
                          <a:effectLst/>
                          <a:latin typeface="Times New Roman" panose="02020603050405020304" pitchFamily="18" charset="0"/>
                          <a:cs typeface="Times New Roman" panose="02020603050405020304" pitchFamily="18" charset="0"/>
                        </a:rPr>
                        <a:t> Maintaining data consistency across multiple caches (cache coherence) requires complex hardware protocols, which introduce significant overhead, especially as the system size grows.</a:t>
                      </a:r>
                    </a:p>
                  </a:txBody>
                  <a:tcPr marL="52346" marR="52346" marT="34897" marB="34897"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6400358"/>
                  </a:ext>
                </a:extLst>
              </a:tr>
            </a:tbl>
          </a:graphicData>
        </a:graphic>
      </p:graphicFrame>
    </p:spTree>
    <p:extLst>
      <p:ext uri="{BB962C8B-B14F-4D97-AF65-F5344CB8AC3E}">
        <p14:creationId xmlns:p14="http://schemas.microsoft.com/office/powerpoint/2010/main" val="13846358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D6627-3664-A268-D0D0-3AB43931425C}"/>
              </a:ext>
            </a:extLst>
          </p:cNvPr>
          <p:cNvSpPr>
            <a:spLocks noGrp="1"/>
          </p:cNvSpPr>
          <p:nvPr>
            <p:ph type="title"/>
          </p:nvPr>
        </p:nvSpPr>
        <p:spPr/>
        <p:txBody>
          <a:bodyPr/>
          <a:lstStyle/>
          <a:p>
            <a:r>
              <a:rPr lang="en-IN" dirty="0"/>
              <a:t>CASHE COHERENCE</a:t>
            </a:r>
          </a:p>
        </p:txBody>
      </p:sp>
      <p:sp>
        <p:nvSpPr>
          <p:cNvPr id="7" name="Rectangle 2">
            <a:extLst>
              <a:ext uri="{FF2B5EF4-FFF2-40B4-BE49-F238E27FC236}">
                <a16:creationId xmlns:a16="http://schemas.microsoft.com/office/drawing/2014/main" id="{10DE00A8-B534-AABB-DF51-B423D916DB33}"/>
              </a:ext>
            </a:extLst>
          </p:cNvPr>
          <p:cNvSpPr>
            <a:spLocks noChangeArrowheads="1"/>
          </p:cNvSpPr>
          <p:nvPr/>
        </p:nvSpPr>
        <p:spPr bwMode="auto">
          <a:xfrm>
            <a:off x="397382" y="1294906"/>
            <a:ext cx="102012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Cache Coherence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fundamental problem in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shared-memory multiprocessor systems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(like UMA/SMPs and NUMA) where multiple processors maintain private caches.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issue arises because a copy of the same shared data block can exist in several different private caches simultaneously, as well as in the main memory.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considered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cache coherent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after a processor modifies a shared data item in its cache, all subsequent accesses to that item by </a:t>
            </a:r>
            <a:r>
              <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processor across the system return the modified value.</a:t>
            </a:r>
          </a:p>
        </p:txBody>
      </p:sp>
    </p:spTree>
    <p:extLst>
      <p:ext uri="{BB962C8B-B14F-4D97-AF65-F5344CB8AC3E}">
        <p14:creationId xmlns:p14="http://schemas.microsoft.com/office/powerpoint/2010/main" val="16971513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60303-F075-F9DB-6791-D65F9F8B848B}"/>
              </a:ext>
            </a:extLst>
          </p:cNvPr>
          <p:cNvSpPr>
            <a:spLocks noGrp="1"/>
          </p:cNvSpPr>
          <p:nvPr>
            <p:ph type="title"/>
          </p:nvPr>
        </p:nvSpPr>
        <p:spPr/>
        <p:txBody>
          <a:bodyPr/>
          <a:lstStyle/>
          <a:p>
            <a:r>
              <a:rPr lang="en-US" dirty="0"/>
              <a:t>The Need for Coherence</a:t>
            </a:r>
            <a:endParaRPr lang="en-IN" dirty="0"/>
          </a:p>
        </p:txBody>
      </p:sp>
      <p:sp>
        <p:nvSpPr>
          <p:cNvPr id="3" name="Content Placeholder 2">
            <a:extLst>
              <a:ext uri="{FF2B5EF4-FFF2-40B4-BE49-F238E27FC236}">
                <a16:creationId xmlns:a16="http://schemas.microsoft.com/office/drawing/2014/main" id="{05785D14-85F3-79E2-7D88-EB61703A6677}"/>
              </a:ext>
            </a:extLst>
          </p:cNvPr>
          <p:cNvSpPr>
            <a:spLocks noGrp="1"/>
          </p:cNvSpPr>
          <p:nvPr>
            <p:ph sz="quarter" idx="10"/>
          </p:nvPr>
        </p:nvSpPr>
        <p:spPr>
          <a:xfrm>
            <a:off x="539496" y="1435608"/>
            <a:ext cx="10376154" cy="3977640"/>
          </a:xfrm>
        </p:spPr>
        <p:txBody>
          <a:bodyPr>
            <a:normAutofit/>
          </a:bodyPr>
          <a:lstStyle/>
          <a:p>
            <a:r>
              <a:rPr lang="en-US" sz="2000" dirty="0">
                <a:latin typeface="Times New Roman" panose="02020603050405020304" pitchFamily="18" charset="0"/>
                <a:cs typeface="Times New Roman" panose="02020603050405020304" pitchFamily="18" charset="0"/>
              </a:rPr>
              <a:t>A lack of coherence leads to a stale data problem, which can cause incorrect program execution</a:t>
            </a:r>
          </a:p>
          <a:p>
            <a:r>
              <a:rPr lang="en-US" sz="2000" dirty="0">
                <a:latin typeface="Times New Roman" panose="02020603050405020304" pitchFamily="18" charset="0"/>
                <a:cs typeface="Times New Roman" panose="02020603050405020304" pitchFamily="18" charset="0"/>
              </a:rPr>
              <a:t>3Scenario:</a:t>
            </a:r>
          </a:p>
          <a:p>
            <a:r>
              <a:rPr lang="en-US" sz="2000" dirty="0">
                <a:latin typeface="Times New Roman" panose="02020603050405020304" pitchFamily="18" charset="0"/>
                <a:cs typeface="Times New Roman" panose="02020603050405020304" pitchFamily="18" charset="0"/>
              </a:rPr>
              <a:t>Processor P1 reads variable X.  It brings X into its private cache (Cache 1).</a:t>
            </a:r>
          </a:p>
          <a:p>
            <a:r>
              <a:rPr lang="en-US" sz="2000" dirty="0">
                <a:latin typeface="Times New Roman" panose="02020603050405020304" pitchFamily="18" charset="0"/>
                <a:cs typeface="Times New Roman" panose="02020603050405020304" pitchFamily="18" charset="0"/>
              </a:rPr>
              <a:t>Processor P2 also reads variable X. It brings X into its private cache (Cache 2).</a:t>
            </a:r>
          </a:p>
          <a:p>
            <a:r>
              <a:rPr lang="en-US" sz="2000" dirty="0">
                <a:latin typeface="Times New Roman" panose="02020603050405020304" pitchFamily="18" charset="0"/>
                <a:cs typeface="Times New Roman" panose="02020603050405020304" pitchFamily="18" charset="0"/>
              </a:rPr>
              <a:t>Processor P1 writes a new value, X to its copy of X in Cache 1.If P2 reads X again from Cache 2, it will read the old, stale value X, not the new value X.</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29447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60624-9187-36A7-2B24-E377F4153D4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567405-EC87-B707-EEA3-DFA84B4E40B0}"/>
              </a:ext>
            </a:extLst>
          </p:cNvPr>
          <p:cNvSpPr>
            <a:spLocks noGrp="1"/>
          </p:cNvSpPr>
          <p:nvPr>
            <p:ph sz="quarter" idx="10"/>
          </p:nvPr>
        </p:nvSpPr>
        <p:spPr>
          <a:xfrm>
            <a:off x="539495" y="1435608"/>
            <a:ext cx="8842629" cy="3977640"/>
          </a:xfrm>
        </p:spPr>
        <p:txBody>
          <a:bodyPr/>
          <a:lstStyle/>
          <a:p>
            <a:r>
              <a:rPr lang="en-US" sz="1600" dirty="0">
                <a:latin typeface="Times New Roman" panose="02020603050405020304" pitchFamily="18" charset="0"/>
                <a:cs typeface="Times New Roman" panose="02020603050405020304" pitchFamily="18" charset="0"/>
              </a:rPr>
              <a:t>To maintain coherence, a system must enforce two properties:</a:t>
            </a:r>
          </a:p>
          <a:p>
            <a:r>
              <a:rPr lang="en-US" sz="1600" dirty="0">
                <a:latin typeface="Times New Roman" panose="02020603050405020304" pitchFamily="18" charset="0"/>
                <a:cs typeface="Times New Roman" panose="02020603050405020304" pitchFamily="18" charset="0"/>
              </a:rPr>
              <a:t>Write Propagation: Changes to the data in one cache must eventually be propagated to all other caches.</a:t>
            </a:r>
          </a:p>
          <a:p>
            <a:r>
              <a:rPr lang="en-US" sz="1600" dirty="0">
                <a:latin typeface="Times New Roman" panose="02020603050405020304" pitchFamily="18" charset="0"/>
                <a:cs typeface="Times New Roman" panose="02020603050405020304" pitchFamily="18" charset="0"/>
              </a:rPr>
              <a:t>Write Serialization: Writes to the same location must be seen in the same order by all processors</a:t>
            </a:r>
            <a:r>
              <a:rPr lang="en-US" dirty="0"/>
              <a:t>.</a:t>
            </a:r>
            <a:endParaRPr lang="en-IN" dirty="0"/>
          </a:p>
        </p:txBody>
      </p:sp>
    </p:spTree>
    <p:extLst>
      <p:ext uri="{BB962C8B-B14F-4D97-AF65-F5344CB8AC3E}">
        <p14:creationId xmlns:p14="http://schemas.microsoft.com/office/powerpoint/2010/main" val="18155844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35B83-A343-2F21-F97E-7213A25A053E}"/>
              </a:ext>
            </a:extLst>
          </p:cNvPr>
          <p:cNvSpPr>
            <a:spLocks noGrp="1"/>
          </p:cNvSpPr>
          <p:nvPr>
            <p:ph type="title"/>
          </p:nvPr>
        </p:nvSpPr>
        <p:spPr>
          <a:xfrm>
            <a:off x="352425" y="228600"/>
            <a:ext cx="8724900" cy="859536"/>
          </a:xfrm>
        </p:spPr>
        <p:txBody>
          <a:bodyPr>
            <a:normAutofit fontScale="90000"/>
          </a:bodyPr>
          <a:lstStyle/>
          <a:p>
            <a:r>
              <a:rPr lang="en-US" dirty="0"/>
              <a:t>Cache Coherence Protocols</a:t>
            </a:r>
            <a:br>
              <a:rPr lang="en-US" dirty="0"/>
            </a:br>
            <a:endParaRPr lang="en-IN" dirty="0"/>
          </a:p>
        </p:txBody>
      </p:sp>
      <p:sp>
        <p:nvSpPr>
          <p:cNvPr id="3" name="Content Placeholder 2">
            <a:extLst>
              <a:ext uri="{FF2B5EF4-FFF2-40B4-BE49-F238E27FC236}">
                <a16:creationId xmlns:a16="http://schemas.microsoft.com/office/drawing/2014/main" id="{C84D7E79-E197-1F1B-E2BF-E8AC918B3BB7}"/>
              </a:ext>
            </a:extLst>
          </p:cNvPr>
          <p:cNvSpPr>
            <a:spLocks noGrp="1"/>
          </p:cNvSpPr>
          <p:nvPr>
            <p:ph sz="quarter" idx="10"/>
          </p:nvPr>
        </p:nvSpPr>
        <p:spPr>
          <a:xfrm>
            <a:off x="485775" y="1435608"/>
            <a:ext cx="11458575" cy="5746242"/>
          </a:xfrm>
        </p:spPr>
        <p:txBody>
          <a:bodyPr>
            <a:noAutofit/>
          </a:bodyPr>
          <a:lstStyle/>
          <a:p>
            <a:r>
              <a:rPr lang="en-US" sz="1800" dirty="0">
                <a:latin typeface="Times New Roman" panose="02020603050405020304" pitchFamily="18" charset="0"/>
                <a:cs typeface="Times New Roman" panose="02020603050405020304" pitchFamily="18" charset="0"/>
              </a:rPr>
              <a:t>Hardware protocols are implemented to manage the state of shared data blocks and enforce coherence. They typically operate by tracking the state of each block in every cache. The two main types are:</a:t>
            </a:r>
          </a:p>
          <a:p>
            <a:pPr>
              <a:lnSpc>
                <a:spcPct val="100000"/>
              </a:lnSpc>
            </a:pPr>
            <a:r>
              <a:rPr lang="en-US" sz="1800" b="1" dirty="0">
                <a:latin typeface="Times New Roman" panose="02020603050405020304" pitchFamily="18" charset="0"/>
                <a:cs typeface="Times New Roman" panose="02020603050405020304" pitchFamily="18" charset="0"/>
              </a:rPr>
              <a:t>Snooping Protocols:</a:t>
            </a:r>
          </a:p>
          <a:p>
            <a:pPr>
              <a:lnSpc>
                <a:spcPct val="100000"/>
              </a:lnSpc>
            </a:pPr>
            <a:r>
              <a:rPr lang="en-US" sz="1800" dirty="0">
                <a:latin typeface="Times New Roman" panose="02020603050405020304" pitchFamily="18" charset="0"/>
                <a:cs typeface="Times New Roman" panose="02020603050405020304" pitchFamily="18" charset="0"/>
              </a:rPr>
              <a:t> All cache controllers "snoop" (monitor) the shared bus for memory transactions.</a:t>
            </a:r>
          </a:p>
          <a:p>
            <a:pPr>
              <a:lnSpc>
                <a:spcPct val="100000"/>
              </a:lnSpc>
            </a:pPr>
            <a:r>
              <a:rPr lang="en-US" sz="1800" dirty="0">
                <a:latin typeface="Times New Roman" panose="02020603050405020304" pitchFamily="18" charset="0"/>
                <a:cs typeface="Times New Roman" panose="02020603050405020304" pitchFamily="18" charset="0"/>
              </a:rPr>
              <a:t>When a processor performs a write to a block it owns, it broadcasts this write operation onto the </a:t>
            </a:r>
            <a:r>
              <a:rPr lang="en-US" sz="1800" dirty="0" err="1">
                <a:latin typeface="Times New Roman" panose="02020603050405020304" pitchFamily="18" charset="0"/>
                <a:cs typeface="Times New Roman" panose="02020603050405020304" pitchFamily="18" charset="0"/>
              </a:rPr>
              <a:t>bus.Writes</a:t>
            </a:r>
            <a:r>
              <a:rPr lang="en-US" sz="1800" dirty="0">
                <a:latin typeface="Times New Roman" panose="02020603050405020304" pitchFamily="18" charset="0"/>
                <a:cs typeface="Times New Roman" panose="02020603050405020304" pitchFamily="18" charset="0"/>
              </a:rPr>
              <a:t> to Shared Data: </a:t>
            </a:r>
          </a:p>
          <a:p>
            <a:pPr>
              <a:lnSpc>
                <a:spcPct val="100000"/>
              </a:lnSpc>
            </a:pPr>
            <a:r>
              <a:rPr lang="en-US" sz="1800" dirty="0">
                <a:latin typeface="Times New Roman" panose="02020603050405020304" pitchFamily="18" charset="0"/>
                <a:cs typeface="Times New Roman" panose="02020603050405020304" pitchFamily="18" charset="0"/>
              </a:rPr>
              <a:t>If a processor sees a write transaction for a block it also holds, it can either invalidate its local copy (marking it as stale) or update its local copy.</a:t>
            </a:r>
          </a:p>
        </p:txBody>
      </p:sp>
    </p:spTree>
    <p:extLst>
      <p:ext uri="{BB962C8B-B14F-4D97-AF65-F5344CB8AC3E}">
        <p14:creationId xmlns:p14="http://schemas.microsoft.com/office/powerpoint/2010/main" val="37580756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ADBC5-10D5-1451-811E-DF35ED3F1EAC}"/>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65AA2C54-76ED-BFAD-EEC9-21674179E9C0}"/>
              </a:ext>
            </a:extLst>
          </p:cNvPr>
          <p:cNvSpPr txBox="1"/>
          <p:nvPr/>
        </p:nvSpPr>
        <p:spPr>
          <a:xfrm>
            <a:off x="609600" y="1166843"/>
            <a:ext cx="10325100" cy="3693319"/>
          </a:xfrm>
          <a:prstGeom prst="rect">
            <a:avLst/>
          </a:prstGeom>
          <a:noFill/>
        </p:spPr>
        <p:txBody>
          <a:bodyPr wrap="square">
            <a:spAutoFit/>
          </a:bodyPr>
          <a:lstStyle/>
          <a:p>
            <a:pPr>
              <a:lnSpc>
                <a:spcPct val="100000"/>
              </a:lnSpc>
              <a:spcBef>
                <a:spcPts val="0"/>
              </a:spcBef>
              <a:spcAft>
                <a:spcPts val="0"/>
              </a:spcAft>
            </a:pPr>
            <a:r>
              <a:rPr lang="en-US" dirty="0">
                <a:latin typeface="Times New Roman" panose="02020603050405020304" pitchFamily="18" charset="0"/>
                <a:cs typeface="Times New Roman" panose="02020603050405020304" pitchFamily="18" charset="0"/>
              </a:rPr>
              <a:t>Best Suited for: </a:t>
            </a:r>
          </a:p>
          <a:p>
            <a:pPr>
              <a:lnSpc>
                <a:spcPct val="100000"/>
              </a:lnSpc>
              <a:spcBef>
                <a:spcPts val="0"/>
              </a:spcBef>
              <a:spcAft>
                <a:spcPts val="0"/>
              </a:spcAft>
            </a:pPr>
            <a:endParaRPr lang="en-US"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dirty="0">
                <a:latin typeface="Times New Roman" panose="02020603050405020304" pitchFamily="18" charset="0"/>
                <a:cs typeface="Times New Roman" panose="02020603050405020304" pitchFamily="18" charset="0"/>
              </a:rPr>
              <a:t>Bus-based Symmetric Multiprocessors (SMPs), where the number of processors is small to moderate (MESI Protocol): </a:t>
            </a:r>
          </a:p>
          <a:p>
            <a:pPr>
              <a:lnSpc>
                <a:spcPct val="100000"/>
              </a:lnSpc>
              <a:spcBef>
                <a:spcPts val="0"/>
              </a:spcBef>
              <a:spcAft>
                <a:spcPts val="0"/>
              </a:spcAft>
            </a:pPr>
            <a:endParaRPr lang="en-US"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dirty="0">
                <a:latin typeface="Times New Roman" panose="02020603050405020304" pitchFamily="18" charset="0"/>
                <a:cs typeface="Times New Roman" panose="02020603050405020304" pitchFamily="18" charset="0"/>
              </a:rPr>
              <a:t>A widely used snooping protocol that defines four states for each cache block:</a:t>
            </a:r>
          </a:p>
          <a:p>
            <a:pPr>
              <a:lnSpc>
                <a:spcPct val="100000"/>
              </a:lnSpc>
              <a:spcBef>
                <a:spcPts val="0"/>
              </a:spcBef>
              <a:spcAft>
                <a:spcPts val="0"/>
              </a:spcAft>
            </a:pPr>
            <a:endParaRPr lang="en-US"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dirty="0">
                <a:latin typeface="Times New Roman" panose="02020603050405020304" pitchFamily="18" charset="0"/>
                <a:cs typeface="Times New Roman" panose="02020603050405020304" pitchFamily="18" charset="0"/>
              </a:rPr>
              <a:t>Modified: The block is only in this cache and has been modified (dirty).</a:t>
            </a:r>
          </a:p>
          <a:p>
            <a:pPr>
              <a:lnSpc>
                <a:spcPct val="100000"/>
              </a:lnSpc>
              <a:spcBef>
                <a:spcPts val="0"/>
              </a:spcBef>
              <a:spcAft>
                <a:spcPts val="0"/>
              </a:spcAft>
            </a:pPr>
            <a:endParaRPr lang="en-US"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dirty="0">
                <a:latin typeface="Times New Roman" panose="02020603050405020304" pitchFamily="18" charset="0"/>
                <a:cs typeface="Times New Roman" panose="02020603050405020304" pitchFamily="18" charset="0"/>
              </a:rPr>
              <a:t>Exclusive: The block is only in this cache and is clean (matches main memory).</a:t>
            </a:r>
          </a:p>
          <a:p>
            <a:pPr>
              <a:lnSpc>
                <a:spcPct val="100000"/>
              </a:lnSpc>
              <a:spcBef>
                <a:spcPts val="0"/>
              </a:spcBef>
              <a:spcAft>
                <a:spcPts val="0"/>
              </a:spcAft>
            </a:pPr>
            <a:endParaRPr lang="en-US" dirty="0">
              <a:latin typeface="Times New Roman" panose="02020603050405020304" pitchFamily="18" charset="0"/>
              <a:cs typeface="Times New Roman" panose="02020603050405020304" pitchFamily="18" charset="0"/>
            </a:endParaRPr>
          </a:p>
          <a:p>
            <a:pPr>
              <a:lnSpc>
                <a:spcPct val="100000"/>
              </a:lnSpc>
              <a:spcBef>
                <a:spcPts val="0"/>
              </a:spcBef>
              <a:spcAft>
                <a:spcPts val="0"/>
              </a:spcAft>
            </a:pPr>
            <a:r>
              <a:rPr lang="en-US" dirty="0">
                <a:latin typeface="Times New Roman" panose="02020603050405020304" pitchFamily="18" charset="0"/>
                <a:cs typeface="Times New Roman" panose="02020603050405020304" pitchFamily="18" charset="0"/>
              </a:rPr>
              <a:t>Shared: The block is in this cache and potentially in other caches; it is </a:t>
            </a:r>
            <a:r>
              <a:rPr lang="en-US" dirty="0" err="1">
                <a:latin typeface="Times New Roman" panose="02020603050405020304" pitchFamily="18" charset="0"/>
                <a:cs typeface="Times New Roman" panose="02020603050405020304" pitchFamily="18" charset="0"/>
              </a:rPr>
              <a:t>clean.Invalid</a:t>
            </a:r>
            <a:r>
              <a:rPr lang="en-US" dirty="0">
                <a:latin typeface="Times New Roman" panose="02020603050405020304" pitchFamily="18" charset="0"/>
                <a:cs typeface="Times New Roman" panose="02020603050405020304" pitchFamily="18" charset="0"/>
              </a:rPr>
              <a:t>: The block contains stale data.</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49649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5D785-1E5E-AC86-726B-4D2CCB638B9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5287C5-7C24-78F9-BD21-15B007DE9C8D}"/>
              </a:ext>
            </a:extLst>
          </p:cNvPr>
          <p:cNvSpPr>
            <a:spLocks noGrp="1"/>
          </p:cNvSpPr>
          <p:nvPr>
            <p:ph sz="quarter" idx="10"/>
          </p:nvPr>
        </p:nvSpPr>
        <p:spPr>
          <a:xfrm>
            <a:off x="521207" y="1435608"/>
            <a:ext cx="10403967" cy="5079492"/>
          </a:xfrm>
        </p:spPr>
        <p:txBody>
          <a:bodyPr>
            <a:noAutofit/>
          </a:bodyPr>
          <a:lstStyle/>
          <a:p>
            <a:r>
              <a:rPr lang="en-US" sz="1800" dirty="0">
                <a:latin typeface="Times New Roman" panose="02020603050405020304" pitchFamily="18" charset="0"/>
                <a:cs typeface="Times New Roman" panose="02020603050405020304" pitchFamily="18" charset="0"/>
              </a:rPr>
              <a:t>2:Directory-Based Protocol: </a:t>
            </a:r>
          </a:p>
          <a:p>
            <a:r>
              <a:rPr lang="en-US" sz="1800" dirty="0">
                <a:latin typeface="Times New Roman" panose="02020603050405020304" pitchFamily="18" charset="0"/>
                <a:cs typeface="Times New Roman" panose="02020603050405020304" pitchFamily="18" charset="0"/>
              </a:rPr>
              <a:t>Instead of broadcasting transactions to all processors, coherence information is centralized in a directory structure (often distributed across memory modules in a NUMA system).</a:t>
            </a:r>
          </a:p>
          <a:p>
            <a:r>
              <a:rPr lang="en-US" sz="1800" dirty="0">
                <a:latin typeface="Times New Roman" panose="02020603050405020304" pitchFamily="18" charset="0"/>
                <a:cs typeface="Times New Roman" panose="02020603050405020304" pitchFamily="18" charset="0"/>
              </a:rPr>
              <a:t>The directory tracks which caches hold a copy of each memory block and the state of that block (e.g., shared, unmodified, owned).</a:t>
            </a:r>
          </a:p>
          <a:p>
            <a:r>
              <a:rPr lang="en-US" sz="1800" dirty="0">
                <a:latin typeface="Times New Roman" panose="02020603050405020304" pitchFamily="18" charset="0"/>
                <a:cs typeface="Times New Roman" panose="02020603050405020304" pitchFamily="18" charset="0"/>
              </a:rPr>
              <a:t>When a processor wants to write to a block, it checks the directory. </a:t>
            </a:r>
          </a:p>
          <a:p>
            <a:r>
              <a:rPr lang="en-US" sz="1800" dirty="0">
                <a:latin typeface="Times New Roman" panose="02020603050405020304" pitchFamily="18" charset="0"/>
                <a:cs typeface="Times New Roman" panose="02020603050405020304" pitchFamily="18" charset="0"/>
              </a:rPr>
              <a:t>The directory then sends explicit point-to-point messages (like invalidation requests) only to the specific caches that hold a copy.</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78314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F17DA-932F-8654-983B-9A20D447E7C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A51CA3-DEE3-7C68-E297-852DDAAF93DA}"/>
              </a:ext>
            </a:extLst>
          </p:cNvPr>
          <p:cNvSpPr>
            <a:spLocks noGrp="1"/>
          </p:cNvSpPr>
          <p:nvPr>
            <p:ph sz="quarter" idx="10"/>
          </p:nvPr>
        </p:nvSpPr>
        <p:spPr>
          <a:xfrm>
            <a:off x="539495" y="1435608"/>
            <a:ext cx="8061579" cy="3977640"/>
          </a:xfrm>
        </p:spPr>
        <p:txBody>
          <a:bodyPr>
            <a:normAutofit/>
          </a:bodyPr>
          <a:lstStyle/>
          <a:p>
            <a:r>
              <a:rPr lang="en-US" sz="1600" dirty="0">
                <a:latin typeface="Times New Roman" panose="02020603050405020304" pitchFamily="18" charset="0"/>
                <a:cs typeface="Times New Roman" panose="02020603050405020304" pitchFamily="18" charset="0"/>
              </a:rPr>
              <a:t>Best Suited for: Large-scale multiprocessors with non-broadcast interconnection networks (like meshes or MINs), where broadcasting is inefficient or </a:t>
            </a:r>
            <a:r>
              <a:rPr lang="en-US" sz="1600" dirty="0" err="1">
                <a:latin typeface="Times New Roman" panose="02020603050405020304" pitchFamily="18" charset="0"/>
                <a:cs typeface="Times New Roman" panose="02020603050405020304" pitchFamily="18" charset="0"/>
              </a:rPr>
              <a:t>impossible.Scalability</a:t>
            </a:r>
            <a:r>
              <a:rPr lang="en-US" sz="1600" dirty="0">
                <a:latin typeface="Times New Roman" panose="02020603050405020304" pitchFamily="18" charset="0"/>
                <a:cs typeface="Times New Roman" panose="02020603050405020304" pitchFamily="18" charset="0"/>
              </a:rPr>
              <a:t>: </a:t>
            </a:r>
          </a:p>
          <a:p>
            <a:r>
              <a:rPr lang="en-US" sz="1600" dirty="0">
                <a:latin typeface="Times New Roman" panose="02020603050405020304" pitchFamily="18" charset="0"/>
                <a:cs typeface="Times New Roman" panose="02020603050405020304" pitchFamily="18" charset="0"/>
              </a:rPr>
              <a:t>Much more scalable than snooping because the coherence traffic is limited to the nodes that actually share the data, reducing load on the network.</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280209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DD379-1D97-B043-B72F-D7AB40423E8A}"/>
              </a:ext>
            </a:extLst>
          </p:cNvPr>
          <p:cNvSpPr>
            <a:spLocks noGrp="1"/>
          </p:cNvSpPr>
          <p:nvPr>
            <p:ph type="title"/>
          </p:nvPr>
        </p:nvSpPr>
        <p:spPr/>
        <p:txBody>
          <a:bodyPr/>
          <a:lstStyle/>
          <a:p>
            <a:r>
              <a:rPr lang="en-US" dirty="0"/>
              <a:t>Parallel programming for multiprocessors</a:t>
            </a:r>
            <a:endParaRPr lang="en-IN" dirty="0"/>
          </a:p>
        </p:txBody>
      </p:sp>
      <p:sp>
        <p:nvSpPr>
          <p:cNvPr id="3" name="Content Placeholder 2">
            <a:extLst>
              <a:ext uri="{FF2B5EF4-FFF2-40B4-BE49-F238E27FC236}">
                <a16:creationId xmlns:a16="http://schemas.microsoft.com/office/drawing/2014/main" id="{DC6FC403-DDE7-442C-8A33-87A240867DC8}"/>
              </a:ext>
            </a:extLst>
          </p:cNvPr>
          <p:cNvSpPr>
            <a:spLocks noGrp="1"/>
          </p:cNvSpPr>
          <p:nvPr>
            <p:ph sz="quarter" idx="10"/>
          </p:nvPr>
        </p:nvSpPr>
        <p:spPr>
          <a:xfrm>
            <a:off x="539495" y="1435608"/>
            <a:ext cx="11176255" cy="3977640"/>
          </a:xfrm>
        </p:spPr>
        <p:txBody>
          <a:bodyPr>
            <a:normAutofit fontScale="77500" lnSpcReduction="20000"/>
          </a:bodyPr>
          <a:lstStyle/>
          <a:p>
            <a:r>
              <a:rPr lang="en-US" sz="2000" dirty="0">
                <a:latin typeface="Times New Roman" panose="02020603050405020304" pitchFamily="18" charset="0"/>
                <a:cs typeface="Times New Roman" panose="02020603050405020304" pitchFamily="18" charset="0"/>
              </a:rPr>
              <a:t>Parallel programming for multiprocessors is a method to divide computational tasks into parts that run simultaneously on multiple processors, improving performance and efficiency by leveraging the hardware parallelism. </a:t>
            </a:r>
          </a:p>
          <a:p>
            <a:r>
              <a:rPr lang="en-US" sz="2000" dirty="0">
                <a:latin typeface="Times New Roman" panose="02020603050405020304" pitchFamily="18" charset="0"/>
                <a:cs typeface="Times New Roman" panose="02020603050405020304" pitchFamily="18" charset="0"/>
              </a:rPr>
              <a:t>Multiprocessors can be classified into tightly coupled systems (shared memory) where processors share a common memory, and loosely coupled systems (distributed memory) where each processor has its own memory and communicates through message passing</a:t>
            </a:r>
            <a:r>
              <a:rPr lang="en-US" dirty="0"/>
              <a:t>.</a:t>
            </a:r>
          </a:p>
          <a:p>
            <a:r>
              <a:rPr lang="en-US" sz="1900" b="1" dirty="0">
                <a:latin typeface="Times New Roman" panose="02020603050405020304" pitchFamily="18" charset="0"/>
                <a:cs typeface="Times New Roman" panose="02020603050405020304" pitchFamily="18" charset="0"/>
              </a:rPr>
              <a:t>Splitting:</a:t>
            </a:r>
            <a:r>
              <a:rPr lang="en-US" sz="1900" dirty="0">
                <a:latin typeface="Times New Roman" panose="02020603050405020304" pitchFamily="18" charset="0"/>
                <a:cs typeface="Times New Roman" panose="02020603050405020304" pitchFamily="18" charset="0"/>
              </a:rPr>
              <a:t> The initial task is broken down into smaller, independent subtasks. </a:t>
            </a:r>
          </a:p>
          <a:p>
            <a:r>
              <a:rPr lang="en-US" sz="1900" b="1" dirty="0">
                <a:latin typeface="Times New Roman" panose="02020603050405020304" pitchFamily="18" charset="0"/>
                <a:cs typeface="Times New Roman" panose="02020603050405020304" pitchFamily="18" charset="0"/>
              </a:rPr>
              <a:t>Applying (Parallel Execution):</a:t>
            </a:r>
            <a:r>
              <a:rPr lang="en-US" sz="1900" dirty="0">
                <a:latin typeface="Times New Roman" panose="02020603050405020304" pitchFamily="18" charset="0"/>
                <a:cs typeface="Times New Roman" panose="02020603050405020304" pitchFamily="18" charset="0"/>
              </a:rPr>
              <a:t> These subtasks are distributed to and executed simultaneously by different processors or CPU cores. </a:t>
            </a:r>
          </a:p>
          <a:p>
            <a:r>
              <a:rPr lang="en-US" sz="1900" b="1" dirty="0">
                <a:latin typeface="Times New Roman" panose="02020603050405020304" pitchFamily="18" charset="0"/>
                <a:cs typeface="Times New Roman" panose="02020603050405020304" pitchFamily="18" charset="0"/>
              </a:rPr>
              <a:t>Combining:</a:t>
            </a:r>
            <a:r>
              <a:rPr lang="en-US" sz="1900" dirty="0">
                <a:latin typeface="Times New Roman" panose="02020603050405020304" pitchFamily="18" charset="0"/>
                <a:cs typeface="Times New Roman" panose="02020603050405020304" pitchFamily="18" charset="0"/>
              </a:rPr>
              <a:t> Once each subtask is complete, the results are gathered and combined to produce the final outcome</a:t>
            </a:r>
          </a:p>
          <a:p>
            <a:endParaRPr lang="en-IN" dirty="0"/>
          </a:p>
        </p:txBody>
      </p:sp>
    </p:spTree>
    <p:extLst>
      <p:ext uri="{BB962C8B-B14F-4D97-AF65-F5344CB8AC3E}">
        <p14:creationId xmlns:p14="http://schemas.microsoft.com/office/powerpoint/2010/main" val="27706404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1086F-4F60-520A-EEBC-9F633DFF23DA}"/>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F6D5A376-BABF-E465-4490-CB7339FC31CC}"/>
              </a:ext>
            </a:extLst>
          </p:cNvPr>
          <p:cNvSpPr txBox="1"/>
          <p:nvPr/>
        </p:nvSpPr>
        <p:spPr>
          <a:xfrm>
            <a:off x="628649" y="1835936"/>
            <a:ext cx="9667875" cy="2724464"/>
          </a:xfrm>
          <a:prstGeom prst="rect">
            <a:avLst/>
          </a:prstGeom>
          <a:noFill/>
        </p:spPr>
        <p:txBody>
          <a:bodyPr wrap="square">
            <a:spAutoFit/>
          </a:bodyPr>
          <a:lstStyle/>
          <a:p>
            <a:pPr algn="l">
              <a:lnSpc>
                <a:spcPts val="1800"/>
              </a:lnSpc>
              <a:spcBef>
                <a:spcPts val="750"/>
              </a:spcBef>
              <a:spcAft>
                <a:spcPts val="600"/>
              </a:spcAft>
              <a:buFont typeface="Arial" panose="020B0604020202020204" pitchFamily="34" charset="0"/>
              <a:buChar char="•"/>
            </a:pPr>
            <a:r>
              <a:rPr lang="en-US" b="1" i="0" dirty="0">
                <a:solidFill>
                  <a:srgbClr val="001D35"/>
                </a:solidFill>
                <a:effectLst/>
                <a:latin typeface="Google Sans"/>
              </a:rPr>
              <a:t>Increased speed:</a:t>
            </a:r>
            <a:r>
              <a:rPr lang="en-US" b="0" i="0" dirty="0">
                <a:solidFill>
                  <a:srgbClr val="001D35"/>
                </a:solidFill>
                <a:effectLst/>
                <a:latin typeface="Google Sans"/>
              </a:rPr>
              <a:t> </a:t>
            </a:r>
          </a:p>
          <a:p>
            <a:pPr algn="l">
              <a:lnSpc>
                <a:spcPts val="1800"/>
              </a:lnSpc>
              <a:spcBef>
                <a:spcPts val="750"/>
              </a:spcBef>
              <a:spcAft>
                <a:spcPts val="600"/>
              </a:spcAft>
              <a:buFont typeface="Arial" panose="020B0604020202020204" pitchFamily="34" charset="0"/>
              <a:buChar char="•"/>
            </a:pPr>
            <a:r>
              <a:rPr lang="en-US" b="0" i="0" dirty="0">
                <a:solidFill>
                  <a:srgbClr val="001D35"/>
                </a:solidFill>
                <a:effectLst/>
                <a:latin typeface="Google Sans"/>
              </a:rPr>
              <a:t>By performing multiple operations at the same time, the overall time to complete a task is significantly reduced. </a:t>
            </a:r>
          </a:p>
          <a:p>
            <a:pPr algn="l">
              <a:lnSpc>
                <a:spcPts val="1800"/>
              </a:lnSpc>
              <a:spcBef>
                <a:spcPts val="750"/>
              </a:spcBef>
              <a:spcAft>
                <a:spcPts val="600"/>
              </a:spcAft>
              <a:buFont typeface="Arial" panose="020B0604020202020204" pitchFamily="34" charset="0"/>
              <a:buChar char="•"/>
            </a:pPr>
            <a:r>
              <a:rPr lang="en-US" b="1" i="0" dirty="0">
                <a:solidFill>
                  <a:srgbClr val="001D35"/>
                </a:solidFill>
                <a:effectLst/>
                <a:latin typeface="Google Sans"/>
              </a:rPr>
              <a:t>Improved performance:</a:t>
            </a:r>
            <a:r>
              <a:rPr lang="en-US" b="0" i="0" dirty="0">
                <a:solidFill>
                  <a:srgbClr val="001D35"/>
                </a:solidFill>
                <a:effectLst/>
                <a:latin typeface="Google Sans"/>
              </a:rPr>
              <a:t> </a:t>
            </a:r>
          </a:p>
          <a:p>
            <a:pPr algn="l">
              <a:lnSpc>
                <a:spcPts val="1800"/>
              </a:lnSpc>
              <a:spcBef>
                <a:spcPts val="750"/>
              </a:spcBef>
              <a:spcAft>
                <a:spcPts val="600"/>
              </a:spcAft>
              <a:buFont typeface="Arial" panose="020B0604020202020204" pitchFamily="34" charset="0"/>
              <a:buChar char="•"/>
            </a:pPr>
            <a:r>
              <a:rPr lang="en-US" b="0" i="0" dirty="0">
                <a:solidFill>
                  <a:srgbClr val="001D35"/>
                </a:solidFill>
                <a:effectLst/>
                <a:latin typeface="Google Sans"/>
              </a:rPr>
              <a:t>Parallel processing leads to a higher throughput and better utilization of system resources. </a:t>
            </a:r>
          </a:p>
          <a:p>
            <a:pPr algn="l">
              <a:lnSpc>
                <a:spcPts val="1800"/>
              </a:lnSpc>
              <a:spcBef>
                <a:spcPts val="750"/>
              </a:spcBef>
              <a:spcAft>
                <a:spcPts val="1500"/>
              </a:spcAft>
              <a:buFont typeface="Arial" panose="020B0604020202020204" pitchFamily="34" charset="0"/>
              <a:buChar char="•"/>
            </a:pPr>
            <a:r>
              <a:rPr lang="en-US" b="1" i="0" dirty="0">
                <a:solidFill>
                  <a:srgbClr val="001D35"/>
                </a:solidFill>
                <a:effectLst/>
                <a:latin typeface="Google Sans"/>
              </a:rPr>
              <a:t>Scalability:</a:t>
            </a:r>
            <a:r>
              <a:rPr lang="en-US" b="0" i="0" dirty="0">
                <a:solidFill>
                  <a:srgbClr val="001D35"/>
                </a:solidFill>
                <a:effectLst/>
                <a:latin typeface="Google Sans"/>
              </a:rPr>
              <a:t> </a:t>
            </a:r>
          </a:p>
          <a:p>
            <a:pPr algn="l">
              <a:lnSpc>
                <a:spcPts val="1800"/>
              </a:lnSpc>
              <a:spcBef>
                <a:spcPts val="750"/>
              </a:spcBef>
              <a:spcAft>
                <a:spcPts val="1500"/>
              </a:spcAft>
              <a:buFont typeface="Arial" panose="020B0604020202020204" pitchFamily="34" charset="0"/>
              <a:buChar char="•"/>
            </a:pPr>
            <a:r>
              <a:rPr lang="en-US" b="0" i="0" dirty="0">
                <a:solidFill>
                  <a:srgbClr val="001D35"/>
                </a:solidFill>
                <a:effectLst/>
                <a:latin typeface="Google Sans"/>
              </a:rPr>
              <a:t>Performance can be increased further by adding more processors to the system</a:t>
            </a:r>
          </a:p>
        </p:txBody>
      </p:sp>
    </p:spTree>
    <p:extLst>
      <p:ext uri="{BB962C8B-B14F-4D97-AF65-F5344CB8AC3E}">
        <p14:creationId xmlns:p14="http://schemas.microsoft.com/office/powerpoint/2010/main" val="41164536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67D8-F078-33E6-34B7-13EE4B0572FD}"/>
              </a:ext>
            </a:extLst>
          </p:cNvPr>
          <p:cNvSpPr>
            <a:spLocks noGrp="1"/>
          </p:cNvSpPr>
          <p:nvPr>
            <p:ph type="title"/>
          </p:nvPr>
        </p:nvSpPr>
        <p:spPr/>
        <p:txBody>
          <a:bodyPr/>
          <a:lstStyle/>
          <a:p>
            <a:endParaRPr lang="en-IN"/>
          </a:p>
        </p:txBody>
      </p:sp>
      <p:sp>
        <p:nvSpPr>
          <p:cNvPr id="5" name="TextBox 4">
            <a:extLst>
              <a:ext uri="{FF2B5EF4-FFF2-40B4-BE49-F238E27FC236}">
                <a16:creationId xmlns:a16="http://schemas.microsoft.com/office/drawing/2014/main" id="{8D6C2AA1-A7E0-D288-20F5-8ADB496B3CE3}"/>
              </a:ext>
            </a:extLst>
          </p:cNvPr>
          <p:cNvSpPr txBox="1"/>
          <p:nvPr/>
        </p:nvSpPr>
        <p:spPr>
          <a:xfrm>
            <a:off x="1019175" y="2361721"/>
            <a:ext cx="8124825" cy="1903726"/>
          </a:xfrm>
          <a:prstGeom prst="rect">
            <a:avLst/>
          </a:prstGeom>
          <a:noFill/>
        </p:spPr>
        <p:txBody>
          <a:bodyPr wrap="square">
            <a:spAutoFit/>
          </a:bodyPr>
          <a:lstStyle/>
          <a:p>
            <a:pPr algn="just">
              <a:lnSpc>
                <a:spcPts val="2100"/>
              </a:lnSpc>
              <a:spcBef>
                <a:spcPts val="1500"/>
              </a:spcBef>
              <a:spcAft>
                <a:spcPts val="750"/>
              </a:spcAft>
              <a:buNone/>
            </a:pPr>
            <a:r>
              <a:rPr lang="en-US" b="0" i="0" dirty="0">
                <a:solidFill>
                  <a:srgbClr val="001D35"/>
                </a:solidFill>
                <a:effectLst/>
                <a:latin typeface="Times New Roman" panose="02020603050405020304" pitchFamily="18" charset="0"/>
                <a:cs typeface="Times New Roman" panose="02020603050405020304" pitchFamily="18" charset="0"/>
              </a:rPr>
              <a:t>Applications</a:t>
            </a:r>
          </a:p>
          <a:p>
            <a:pPr algn="just">
              <a:lnSpc>
                <a:spcPts val="1800"/>
              </a:lnSpc>
              <a:spcBef>
                <a:spcPts val="750"/>
              </a:spcBef>
              <a:spcAft>
                <a:spcPts val="600"/>
              </a:spcAft>
              <a:buFont typeface="Arial" panose="020B0604020202020204" pitchFamily="34" charset="0"/>
              <a:buChar char="•"/>
            </a:pPr>
            <a:r>
              <a:rPr lang="en-US" b="0" i="0" dirty="0">
                <a:solidFill>
                  <a:srgbClr val="001D35"/>
                </a:solidFill>
                <a:effectLst/>
                <a:latin typeface="Times New Roman" panose="02020603050405020304" pitchFamily="18" charset="0"/>
                <a:cs typeface="Times New Roman" panose="02020603050405020304" pitchFamily="18" charset="0"/>
              </a:rPr>
              <a:t>Parallel programming is used in many fields, including scientific computing, data science, and engineering, to handle large datasets and complex computations that are beyond the capabilities of a single processor.</a:t>
            </a:r>
          </a:p>
          <a:p>
            <a:pPr algn="just">
              <a:lnSpc>
                <a:spcPts val="1800"/>
              </a:lnSpc>
              <a:spcBef>
                <a:spcPts val="750"/>
              </a:spcBef>
              <a:spcAft>
                <a:spcPts val="1500"/>
              </a:spcAft>
              <a:buFont typeface="Arial" panose="020B0604020202020204" pitchFamily="34" charset="0"/>
              <a:buChar char="•"/>
            </a:pPr>
            <a:r>
              <a:rPr lang="en-US" b="0" i="0" dirty="0">
                <a:solidFill>
                  <a:srgbClr val="001D35"/>
                </a:solidFill>
                <a:effectLst/>
                <a:latin typeface="Times New Roman" panose="02020603050405020304" pitchFamily="18" charset="0"/>
                <a:cs typeface="Times New Roman" panose="02020603050405020304" pitchFamily="18" charset="0"/>
              </a:rPr>
              <a:t>Examples include simulations, data analysis, and complex modeling in fields like life sciences and aerospace. </a:t>
            </a:r>
          </a:p>
        </p:txBody>
      </p:sp>
    </p:spTree>
    <p:extLst>
      <p:ext uri="{BB962C8B-B14F-4D97-AF65-F5344CB8AC3E}">
        <p14:creationId xmlns:p14="http://schemas.microsoft.com/office/powerpoint/2010/main" val="1798304192"/>
      </p:ext>
    </p:extLst>
  </p:cSld>
  <p:clrMapOvr>
    <a:masterClrMapping/>
  </p:clrMapOvr>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563EE24-83AF-4B4D-B45B-11D1ECD4364A}">
  <ds:schemaRefs>
    <ds:schemaRef ds:uri="http://schemas.microsoft.com/sharepoint/v3/contenttype/forms"/>
  </ds:schemaRefs>
</ds:datastoreItem>
</file>

<file path=customXml/itemProps2.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{893E1A8D-67CC-4E0A-B367-2B441371EDB4}tf10001108_win32</Template>
  <TotalTime>4006</TotalTime>
  <Words>4353</Words>
  <Application>Microsoft Office PowerPoint</Application>
  <PresentationFormat>Widescreen</PresentationFormat>
  <Paragraphs>372</Paragraphs>
  <Slides>74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74</vt:i4>
      </vt:variant>
    </vt:vector>
  </HeadingPairs>
  <TitlesOfParts>
    <vt:vector size="85" baseType="lpstr">
      <vt:lpstr>Arial</vt:lpstr>
      <vt:lpstr>Calibri</vt:lpstr>
      <vt:lpstr>Cambria Math</vt:lpstr>
      <vt:lpstr>fkGrotesk</vt:lpstr>
      <vt:lpstr>fkGroteskNeue</vt:lpstr>
      <vt:lpstr>Google Sans</vt:lpstr>
      <vt:lpstr>Segoe UI</vt:lpstr>
      <vt:lpstr>Segoe UI Light</vt:lpstr>
      <vt:lpstr>Times New Roman</vt:lpstr>
      <vt:lpstr>Wingdings</vt:lpstr>
      <vt:lpstr>Custom</vt:lpstr>
      <vt:lpstr>MODULE 5</vt:lpstr>
      <vt:lpstr>INTRODUCTION TO PIPELINING</vt:lpstr>
      <vt:lpstr>PowerPoint Presentation</vt:lpstr>
      <vt:lpstr>PowerPoint Presentation</vt:lpstr>
      <vt:lpstr>PowerPoint Presentation</vt:lpstr>
      <vt:lpstr>PowerPoint Presentation</vt:lpstr>
      <vt:lpstr>PowerPoint Presentation</vt:lpstr>
      <vt:lpstr>PowerPoint Presentation</vt:lpstr>
      <vt:lpstr>PIPELINING</vt:lpstr>
      <vt:lpstr>PowerPoint Presentation</vt:lpstr>
      <vt:lpstr>PowerPoint Presentation</vt:lpstr>
      <vt:lpstr>PowerPoint Presentation</vt:lpstr>
      <vt:lpstr>PowerPoint Presentation</vt:lpstr>
      <vt:lpstr>PowerPoint Presentation</vt:lpstr>
      <vt:lpstr>PowerPoint Presentation</vt:lpstr>
      <vt:lpstr>HAZARDS</vt:lpstr>
      <vt:lpstr>Data Hazards</vt:lpstr>
      <vt:lpstr>RAW</vt:lpstr>
      <vt:lpstr>WAR</vt:lpstr>
      <vt:lpstr>HARDWARE-Forwarding</vt:lpstr>
      <vt:lpstr>PowerPoint Presentation</vt:lpstr>
      <vt:lpstr>PowerPoint Presentation</vt:lpstr>
      <vt:lpstr>CODE RECORDING</vt:lpstr>
      <vt:lpstr>Simple Example (No Reordering vs. With Reordering) </vt:lpstr>
      <vt:lpstr> With code recording </vt:lpstr>
      <vt:lpstr>STRUCTURAL HAZARDS </vt:lpstr>
      <vt:lpstr>CONTROL HAZARDS</vt:lpstr>
      <vt:lpstr>PowerPoint Presentation</vt:lpstr>
      <vt:lpstr>PowerPoint Presentation</vt:lpstr>
      <vt:lpstr>CONTROL HAZARD MITIGATION- HARDWARE TECHNIQUE</vt:lpstr>
      <vt:lpstr>PowerPoint Presentation</vt:lpstr>
      <vt:lpstr>PROBLEMS</vt:lpstr>
      <vt:lpstr>PowerPoint Presentation</vt:lpstr>
      <vt:lpstr>PowerPoint Presentation</vt:lpstr>
      <vt:lpstr>PowerPoint Presentation</vt:lpstr>
      <vt:lpstr>PowerPoint Presentation</vt:lpstr>
      <vt:lpstr>PowerPoint Presentation</vt:lpstr>
      <vt:lpstr>TYPES OF CPU ORGANIZATION</vt:lpstr>
      <vt:lpstr>Single Accumulator</vt:lpstr>
      <vt:lpstr>PowerPoint Presentation</vt:lpstr>
      <vt:lpstr>PowerPoint Presentation</vt:lpstr>
      <vt:lpstr>PowerPoint Presentation</vt:lpstr>
      <vt:lpstr>PowerPoint Presentation</vt:lpstr>
      <vt:lpstr>PowerPoint Presentation</vt:lpstr>
      <vt:lpstr>STACK ORGANIZATION</vt:lpstr>
      <vt:lpstr>PowerPoint Presentation</vt:lpstr>
      <vt:lpstr>PowerPoint Presentation</vt:lpstr>
      <vt:lpstr>PowerPoint Presentation</vt:lpstr>
      <vt:lpstr>SMP</vt:lpstr>
      <vt:lpstr>PowerPoint Presentation</vt:lpstr>
      <vt:lpstr>PowerPoint Presentation</vt:lpstr>
      <vt:lpstr>PowerPoint Presentation</vt:lpstr>
      <vt:lpstr>Vector SIMD (Single Instruction, Multiple Data) </vt:lpstr>
      <vt:lpstr>PowerPoint Presentation</vt:lpstr>
      <vt:lpstr>GPU -Graphics Processing Unit. </vt:lpstr>
      <vt:lpstr>PowerPoint Presentation</vt:lpstr>
      <vt:lpstr>PowerPoint Presentation</vt:lpstr>
      <vt:lpstr>PowerPoint Presentation</vt:lpstr>
      <vt:lpstr>PowerPoint Presentation</vt:lpstr>
      <vt:lpstr>SHARED MEMORY MULTIPROCESSOR</vt:lpstr>
      <vt:lpstr>Working Principle </vt:lpstr>
      <vt:lpstr>Key Characteristics and Components Shared Address Space</vt:lpstr>
      <vt:lpstr>Models of Shared-Memory Multiprocessors</vt:lpstr>
      <vt:lpstr>PowerPoint Presentation</vt:lpstr>
      <vt:lpstr>CASHE COHERENCE</vt:lpstr>
      <vt:lpstr>The Need for Coherence</vt:lpstr>
      <vt:lpstr>PowerPoint Presentation</vt:lpstr>
      <vt:lpstr>Cache Coherence Protocols </vt:lpstr>
      <vt:lpstr>PowerPoint Presentation</vt:lpstr>
      <vt:lpstr>PowerPoint Presentation</vt:lpstr>
      <vt:lpstr>PowerPoint Presentation</vt:lpstr>
      <vt:lpstr>Parallel programming for multiprocessors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Faisal Ibrahim</dc:creator>
  <cp:keywords/>
  <cp:lastModifiedBy>Faisal Ibrahim</cp:lastModifiedBy>
  <cp:revision>8</cp:revision>
  <dcterms:created xsi:type="dcterms:W3CDTF">2025-10-16T16:16:54Z</dcterms:created>
  <dcterms:modified xsi:type="dcterms:W3CDTF">2025-10-30T09:21:47Z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