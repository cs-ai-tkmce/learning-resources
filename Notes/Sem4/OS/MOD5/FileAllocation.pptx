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66" r:id="rId12"/>
    <p:sldId id="268" r:id="rId13"/>
    <p:sldId id="267" r:id="rId14"/>
    <p:sldId id="269" r:id="rId15"/>
    <p:sldId id="259" r:id="rId16"/>
    <p:sldId id="260" r:id="rId17"/>
    <p:sldId id="261" r:id="rId18"/>
    <p:sldId id="258" r:id="rId19"/>
    <p:sldId id="262" r:id="rId20"/>
    <p:sldId id="263" r:id="rId21"/>
    <p:sldId id="264" r:id="rId22"/>
    <p:sldId id="265" r:id="rId23"/>
    <p:sldId id="270" r:id="rId24"/>
    <p:sldId id="27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04-03T04:05:43.8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4322 11324 0,'0'-35'31,"0"53"47,0 34-62,0 90-1,0 16 1,0-87-16,0-1 15,17 72 1,-17-72 0,0-17-1,0-18 1</inkml:trace>
  <inkml:trace contextRef="#ctx0" brushRef="#br0" timeOffset="347.96">4339 11377 0,'0'0'0,"0"-35"16,71-18 15,-1 0-15,18 35-1,54-17 1,-72 35-16,18 0 15,-52 18 1,-1 35 0</inkml:trace>
  <inkml:trace contextRef="#ctx0" brushRef="#br0" timeOffset="629.74">4427 11695 0,'0'35'16,"18"-35"-1,53 0 1,17 0 15,53 0-31,-106 0 16</inkml:trace>
  <inkml:trace contextRef="#ctx0" brushRef="#br0" timeOffset="960.12">5221 11465 0,'-18'0'63,"18"212"-32,-35-142-31,35 72 16,0-19-1,0-35 1,0-52 0</inkml:trace>
  <inkml:trace contextRef="#ctx0" brushRef="#br0" timeOffset="1261.77">5468 11430 0,'0'0'0,"35"194"78,-35-106-62,0 71 0,36-88-1,-36-54 1</inkml:trace>
  <inkml:trace contextRef="#ctx0" brushRef="#br0" timeOffset="1478.47">5521 11342 0,'0'0'0,"71"-35"15,-19-18 1,1 53-1,-17 0-15,17 0 16,-1 88 0,-52-18-1</inkml:trace>
  <inkml:trace contextRef="#ctx0" brushRef="#br0" timeOffset="1695.49">5380 11677 0,'53'0'47,"88"0"-31,-53 53-1,-35-53-15</inkml:trace>
  <inkml:trace contextRef="#ctx0" brushRef="#br0" timeOffset="2080.06">6050 11659 0,'0'0'0,"-35"36"47,0 52-16,35-71-31,0 19 16,70 52-1,1-53 1,-1-35-1,1 0 1,-18-17 0,-18-107-1,-35 1 1,-53-1 0,-17 54-1,34 70-15,-70-36 16,36 36-1,35 0 1</inkml:trace>
  <inkml:trace contextRef="#ctx0" brushRef="#br0" timeOffset="2334.52">6738 11783 0,'35'0'31,"71"0"-15,18 0-1,17 0 1,-71 0-16</inkml:trace>
  <inkml:trace contextRef="#ctx0" brushRef="#br0" timeOffset="2812.7">7408 11553 0,'-35'89'31,"35"-36"-15,0-18-1,0 0 1,53-35 47,-18 0-48,36 0 1,-18 35-1,0 18 1,17 0 0,-35 0-1,-35 0 1,-70-35 0,-54 17-1,-17-35 1,71 0-16,34 0 15</inkml:trace>
  <inkml:trace contextRef="#ctx0" brushRef="#br0" timeOffset="3027.88">7232 11606 0,'0'0'15,"35"0"-15,0-35 16,212 0 15,-123 35-15,-18 0 0,-71 35-16</inkml:trace>
  <inkml:trace contextRef="#ctx0" brushRef="#br0" timeOffset="3445.77">8273 11695 0,'0'-36'31,"-18"36"-16,0 0-15,-35 0 16,1 18 0,16 88-1,-17-53 1,53 0-16,0-36 16,36 71-1,34-52 1,1-1-1,-36-35-15,53-35 32,-88-36-17,0 18 1,-88 0 0,35 53-16,35 0 31,-34 0-31</inkml:trace>
  <inkml:trace contextRef="#ctx0" brushRef="#br0" timeOffset="3925.77">8608 11571 0,'0'0'31,"0"35"0,0 18-15,0 0-1,35 0 1,-17-53 15,17 0-15,0 0 0,18 0-1,-18 0-15,1 0 16,34 53-1,1 0 1,-36 0 0,-35 0-1,-18-18 17,-70 0-32,-35-35 31,17 0-31</inkml:trace>
  <inkml:trace contextRef="#ctx0" brushRef="#br0" timeOffset="4160.45">8731 11642 0,'71'-18'16,"52"18"-1,71 0 1,53 0 0,-35 0-1</inkml:trace>
  <inkml:trace contextRef="#ctx0" brushRef="#br0" timeOffset="5353.46">4833 12735 0,'0'0'0,"0"-17"16,-35 17 15,-36 0 0,18 35-31,0-17 0,18 34 31,17-16-15,18-1 0,36 18-1,70-18 1,-1 18 0,-16 0-1,-72 0 1,-17-18-1,0 18-15,-35-53 0,-18 53 16,-70-18 0,34-35-16,1 0 15</inkml:trace>
  <inkml:trace contextRef="#ctx0" brushRef="#br0" timeOffset="5805.9">5627 12788 0,'0'0'15,"-53"0"1,18 0-16,17 0 16,-35 18-1,18 35 1,35 0 0,0-18-1,70 18 16,1 0-15,17 0 0,-53-18-1,1 0 1,-36 1-16,-124 16 31,-35-52-15,54 0-1</inkml:trace>
  <inkml:trace contextRef="#ctx0" brushRef="#br0" timeOffset="6207.95">6297 12718 0,'-18'0'15,"107"0"64,158 0-64,-195 0 1,-52 17 15</inkml:trace>
  <inkml:trace contextRef="#ctx0" brushRef="#br0" timeOffset="6410.05">6509 12753 0,'0'35'31,"0"53"-15,0 18 0,0-18-1,17-35-15,-17 53 16,0-18 0</inkml:trace>
  <inkml:trace contextRef="#ctx0" brushRef="#br0" timeOffset="6690.7">6879 12841 0,'0'0'15,"0"124"32,0 17-31,0-18 0,35-52-1,-35-36-15,0 18 16</inkml:trace>
  <inkml:trace contextRef="#ctx0" brushRef="#br0" timeOffset="6955.12">6950 12841 0,'0'0'0,"35"-35"31,106 0-15,-88 35-16,-18 0 16,71 17-1,-106 36 16,0-35-31</inkml:trace>
  <inkml:trace contextRef="#ctx0" brushRef="#br0" timeOffset="7139.49">6914 13088 0,'53'0'47,"88"0"-32,-88 0-15,0 0 16,0 0 0</inkml:trace>
  <inkml:trace contextRef="#ctx0" brushRef="#br0" timeOffset="7440.2">7549 13212 0,'0'0'0,"36"0"47,34 0-32,-17 0-15,35 0 16,-52 35-1</inkml:trace>
  <inkml:trace contextRef="#ctx0" brushRef="#br0" timeOffset="8038.46">8114 12823 0,'0'71'63,"0"-36"-48,-35 89 1,35-1 0,0-52-16,0 52 15,0-105-15</inkml:trace>
  <inkml:trace contextRef="#ctx0" brushRef="#br0" timeOffset="8505.94">8643 12771 0,'0'0'0,"-71"0"32,-34 70-17,34 18 1,53 0-1,-34 36 1,52-71-16,0 88 16,35-53-1,18-53 1,0 1 0,-18-36-16,18 0 15,-18-18 1,0-52-1,-52-1 17,-142 53-1</inkml:trace>
  <inkml:trace contextRef="#ctx0" brushRef="#br0" timeOffset="9088.83">8943 13106 0,'-18'17'32,"-35"-17"-17,18 0 1,17 0 15,18-35-15,0-18-1,89 18 1,-36 35 0,70-35-1,-70 52 1,-53 54 0,35 35-1,-70-18 1,0-35-16,-18 0 15,-141 70 1,158-88 0,36-17 15,89-18 0,52 0-15,53 0-1,17 53 1,-122-53-16,-36 18 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3BABB-6099-4F8D-651D-601DA24999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BCD024-334A-E7D6-6E05-5A5A59A1AC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54364-ED3D-9492-5D03-AB7BA8F4D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4C7E9-19E9-4AB1-9AC4-393ABEEBCDF8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B2FE9-B24C-EFAA-0169-E76CF07CD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71170-704D-E12E-6B33-2933F21E5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F8C1E-84EB-4C85-A700-74C46846F3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105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593DD-BCBA-0513-285D-01AF68DD1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EEF5B-34EB-B000-5D42-6A6B3158A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C67143-98F8-4F45-F548-31DBA78DE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4C7E9-19E9-4AB1-9AC4-393ABEEBCDF8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4AA76-D508-3047-399E-FA5F47702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2985C-5F30-4802-A49C-3657A8754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F8C1E-84EB-4C85-A700-74C46846F3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435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84FEB-A5C1-7716-FCF6-A80C4EBA3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D00DB6-427B-D8B5-CFCF-7AB8F1239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B2FB1-794E-570A-49C0-2C5E8A318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4C7E9-19E9-4AB1-9AC4-393ABEEBCDF8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50502-0F70-377F-061F-BB48408F9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4E330-E153-ECDF-B2DD-0B0F9CA57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F8C1E-84EB-4C85-A700-74C46846F3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189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ECB16-1D3B-9BBA-5416-8AFBAE1C5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49BA2-E2F9-87D6-091F-9C41166EC8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7EE12-7F00-3A2E-4AC5-189E014924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50662D-3ACF-2A08-583C-3651CADD3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4C7E9-19E9-4AB1-9AC4-393ABEEBCDF8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D09389-9815-05CF-0CDB-106FE0169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187675-373E-8929-1C42-2CE9AE8BA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F8C1E-84EB-4C85-A700-74C46846F3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634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7E4E1-4B8E-2CB3-BC17-B849269B0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89CBC4-D9C2-3C97-8D3E-D147135AE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568390-A8FB-29EC-5E26-59883A86ED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0A65EC-08D0-D225-D068-EDA39E87BD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6A738B-6CE9-45BF-3413-59F4D0DA01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C2AE0A-B2CC-F3E6-47E3-D8F534ABB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4C7E9-19E9-4AB1-9AC4-393ABEEBCDF8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F70B1E-1857-0B4E-AA75-117DFDE0C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EA4ABA-CBDC-B76C-FE14-02DB4DA1F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F8C1E-84EB-4C85-A700-74C46846F3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605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A4655-92BF-3175-C4C9-B5ABB4561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F17997-F801-0D53-C6B4-4CB5548E6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4C7E9-19E9-4AB1-9AC4-393ABEEBCDF8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4208D-BC10-FEE0-5DC4-7BD533A57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2BF43A-2B4A-2855-E01F-36CA9CD6C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F8C1E-84EB-4C85-A700-74C46846F3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924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7FB97E-A490-DA69-4BF7-57CD0FBB2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4C7E9-19E9-4AB1-9AC4-393ABEEBCDF8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693E8D-A060-8B26-08A2-6BF0BA749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564C3F-55EA-AE9A-2384-2DF9F6C3A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F8C1E-84EB-4C85-A700-74C46846F3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494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76827-36F2-7DB3-C53A-08D0A8C29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D4F53-AB7B-B1A6-4AF5-F8CC608A8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59F05A-9976-5D94-FF6B-1AB21E5FD0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2007E4-7B6C-3F0E-960C-A0D43956B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4C7E9-19E9-4AB1-9AC4-393ABEEBCDF8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405720-1C58-75DA-2788-E79DD16EF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3814F3-3084-ABDF-9D70-804014511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F8C1E-84EB-4C85-A700-74C46846F3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5715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66BB2-CCC9-600D-6451-025657662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550A47-A18D-6BDB-BC47-9601E99CED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092C30-1124-0DB7-607B-72CC708FDB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6E01D0-0EC0-582C-27C8-601DD0DEA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4C7E9-19E9-4AB1-9AC4-393ABEEBCDF8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027F4F-A51F-C065-69C8-C8F4321DC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1F4E9E-C895-A6DA-CA3C-E8CCDD29E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F8C1E-84EB-4C85-A700-74C46846F3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357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B8EA3-7883-89AF-765C-35265A0F8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44B4A9-6966-4B60-3508-A8628DD09E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7CBCB-8661-9834-387F-B49C0B8B0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4C7E9-19E9-4AB1-9AC4-393ABEEBCDF8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64CAFA-F0A4-C8B6-6B4E-F4D233F68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05457-EA63-DFEA-9BC1-1A94738F5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F8C1E-84EB-4C85-A700-74C46846F3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5235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AA96F7-F9D1-1630-9A32-5E4ADBF994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649D2E-C0E0-5FCB-5E04-F71A57F403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3799F-C5AB-D11E-7FDA-7C4B49F4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4C7E9-19E9-4AB1-9AC4-393ABEEBCDF8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C626F-E595-9561-D7F8-465066057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14C15-3995-19D9-8862-CF324CE91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F8C1E-84EB-4C85-A700-74C46846F3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538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9A7459-53AF-7594-E90D-9C15B46A1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29948D-B4C0-5E62-8F69-B6BA48084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6E1C1-0760-2842-6127-A89AFB5194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C4C7E9-19E9-4AB1-9AC4-393ABEEBCDF8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BBAD0-36B7-8354-BFC8-8E2BFA41A4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3F4EA-B336-C5EF-FD3A-76758B4AD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3F8C1E-84EB-4C85-A700-74C46846F3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8301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6597D-D959-366C-5338-118F7C3F31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File System Protection</a:t>
            </a:r>
            <a:br>
              <a:rPr lang="en-IN" dirty="0"/>
            </a:br>
            <a:r>
              <a:rPr lang="en-IN" dirty="0"/>
              <a:t>File Allocation 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344AF9-1EB6-6420-770F-9D8CF46083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59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EB101-0240-F83E-40A6-3D0FA5AC6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73FA6-B706-F677-BCEB-835685980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file</a:t>
            </a:r>
            <a:r>
              <a:rPr lang="en-US" dirty="0"/>
              <a:t> is a collection of related data stored on secondary storage (like a disk). </a:t>
            </a:r>
          </a:p>
          <a:p>
            <a:r>
              <a:rPr lang="en-US" dirty="0"/>
              <a:t>It is the basic unit of storage in a file system.</a:t>
            </a:r>
          </a:p>
          <a:p>
            <a:r>
              <a:rPr lang="en-US" dirty="0"/>
              <a:t>A </a:t>
            </a:r>
            <a:r>
              <a:rPr lang="en-US" b="1" dirty="0"/>
              <a:t>file system</a:t>
            </a:r>
            <a:r>
              <a:rPr lang="en-US" dirty="0"/>
              <a:t> is a method used by the operating system to organize, store, retrieve, and manage files on a storage device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2148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65EEE-4BB3-C8DC-213F-71A2ABEA4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File Attributes (Metadata)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3F8BD-C0ED-C3B1-FADD-61D4C6664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File attributes describe the properties of a file. They are stored in the directory or file control block.</a:t>
            </a:r>
          </a:p>
          <a:p>
            <a:r>
              <a:rPr lang="en-US" b="1" dirty="0"/>
              <a:t>Common attributes:</a:t>
            </a:r>
            <a:endParaRPr lang="en-US" dirty="0"/>
          </a:p>
          <a:p>
            <a:r>
              <a:rPr lang="en-US" dirty="0"/>
              <a:t>Name – Human-readable file name</a:t>
            </a:r>
          </a:p>
          <a:p>
            <a:r>
              <a:rPr lang="en-US" dirty="0"/>
              <a:t>Identifier – Unique ID for the file</a:t>
            </a:r>
          </a:p>
          <a:p>
            <a:r>
              <a:rPr lang="en-US" dirty="0"/>
              <a:t>Type – Indicates file type (e.g., .txt, .exe)</a:t>
            </a:r>
          </a:p>
          <a:p>
            <a:r>
              <a:rPr lang="en-US" dirty="0"/>
              <a:t>Location – Pointer to file location on disk</a:t>
            </a:r>
          </a:p>
          <a:p>
            <a:r>
              <a:rPr lang="en-US" dirty="0"/>
              <a:t>Size – Current file size</a:t>
            </a:r>
          </a:p>
          <a:p>
            <a:r>
              <a:rPr lang="en-US" dirty="0"/>
              <a:t>Protection – Access permissions (read/write/execute)</a:t>
            </a:r>
          </a:p>
          <a:p>
            <a:r>
              <a:rPr lang="en-US" dirty="0"/>
              <a:t>Time &amp; Date – Creation, last access, modification time</a:t>
            </a:r>
          </a:p>
          <a:p>
            <a:r>
              <a:rPr lang="en-US" dirty="0"/>
              <a:t>Owner/User ID – Who created or owns the file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3222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685FC-B3B7-1A5C-291A-D4290EB87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File Operations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6D092-4F7C-99BA-EEA8-FCA349F7A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Operating systems provide system calls to manipulate files.</a:t>
            </a:r>
          </a:p>
          <a:p>
            <a:r>
              <a:rPr lang="en-US" b="1" dirty="0"/>
              <a:t>Basic file operations:</a:t>
            </a:r>
            <a:endParaRPr lang="en-US" dirty="0"/>
          </a:p>
          <a:p>
            <a:r>
              <a:rPr lang="en-US" dirty="0"/>
              <a:t>Create – Create a new file</a:t>
            </a:r>
          </a:p>
          <a:p>
            <a:r>
              <a:rPr lang="en-US" dirty="0"/>
              <a:t>Open – Open file for reading/writing</a:t>
            </a:r>
          </a:p>
          <a:p>
            <a:r>
              <a:rPr lang="en-US" dirty="0"/>
              <a:t>Read – Read data from file</a:t>
            </a:r>
          </a:p>
          <a:p>
            <a:r>
              <a:rPr lang="en-US" dirty="0"/>
              <a:t>Write – Write data into file</a:t>
            </a:r>
          </a:p>
          <a:p>
            <a:r>
              <a:rPr lang="en-US" dirty="0"/>
              <a:t>Append – Add data to end of file</a:t>
            </a:r>
          </a:p>
          <a:p>
            <a:r>
              <a:rPr lang="en-US" dirty="0"/>
              <a:t>Seek – Move file pointer to a specific location</a:t>
            </a:r>
          </a:p>
          <a:p>
            <a:r>
              <a:rPr lang="en-US" dirty="0"/>
              <a:t>Close – Close the file after use</a:t>
            </a:r>
          </a:p>
          <a:p>
            <a:r>
              <a:rPr lang="en-US" dirty="0"/>
              <a:t>Delete – Remove file from system</a:t>
            </a:r>
          </a:p>
          <a:p>
            <a:r>
              <a:rPr lang="en-US" dirty="0"/>
              <a:t>Truncate – Erase file content but keep file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2385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1AAF0-A38E-8192-9885-F30B94671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Files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9CF17-CFBF-19B6-428F-6852E9D035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Files can be categorized in different ways:</a:t>
            </a:r>
          </a:p>
          <a:p>
            <a:r>
              <a:rPr lang="en-US" b="1" dirty="0"/>
              <a:t>Based on Content</a:t>
            </a:r>
          </a:p>
          <a:p>
            <a:r>
              <a:rPr lang="en-US" b="1" dirty="0"/>
              <a:t>Text Files</a:t>
            </a:r>
            <a:endParaRPr lang="en-US" dirty="0"/>
          </a:p>
          <a:p>
            <a:pPr lvl="1"/>
            <a:r>
              <a:rPr lang="en-US" dirty="0"/>
              <a:t>Store data in human-readable form</a:t>
            </a:r>
          </a:p>
          <a:p>
            <a:pPr lvl="1"/>
            <a:r>
              <a:rPr lang="en-US" dirty="0"/>
              <a:t>Example: .txt, .c, .java</a:t>
            </a:r>
          </a:p>
          <a:p>
            <a:r>
              <a:rPr lang="en-US" b="1" dirty="0"/>
              <a:t>Binary Files</a:t>
            </a:r>
            <a:endParaRPr lang="en-US" dirty="0"/>
          </a:p>
          <a:p>
            <a:pPr lvl="1"/>
            <a:r>
              <a:rPr lang="en-US" dirty="0"/>
              <a:t>Store data in machine-readable format</a:t>
            </a:r>
          </a:p>
          <a:p>
            <a:pPr lvl="1"/>
            <a:r>
              <a:rPr lang="en-US" dirty="0"/>
              <a:t>Example: .exe, .</a:t>
            </a:r>
            <a:r>
              <a:rPr lang="en-US" dirty="0" err="1"/>
              <a:t>dat</a:t>
            </a:r>
            <a:r>
              <a:rPr lang="en-US" dirty="0"/>
              <a:t>, .bin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1464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96C66-DB79-497F-0890-B792E8B39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Based on Function (in OS like UNIX/Linux)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2D3F5-0CC8-70DB-9A20-910CEC38C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Regular Files</a:t>
            </a:r>
            <a:endParaRPr lang="en-IN" dirty="0"/>
          </a:p>
          <a:p>
            <a:pPr lvl="1"/>
            <a:r>
              <a:rPr lang="en-IN" dirty="0"/>
              <a:t>Contain user data (text or binary)</a:t>
            </a:r>
          </a:p>
          <a:p>
            <a:r>
              <a:rPr lang="en-IN" b="1" dirty="0"/>
              <a:t>Directory Files</a:t>
            </a:r>
            <a:endParaRPr lang="en-IN" dirty="0"/>
          </a:p>
          <a:p>
            <a:pPr lvl="1"/>
            <a:r>
              <a:rPr lang="en-IN" dirty="0"/>
              <a:t>Store list of files and directories</a:t>
            </a:r>
          </a:p>
          <a:p>
            <a:r>
              <a:rPr lang="en-IN" b="1" dirty="0"/>
              <a:t>Special Files</a:t>
            </a:r>
            <a:endParaRPr lang="en-IN" dirty="0"/>
          </a:p>
          <a:p>
            <a:pPr lvl="1"/>
            <a:r>
              <a:rPr lang="en-IN" dirty="0"/>
              <a:t>Represent devices</a:t>
            </a:r>
          </a:p>
          <a:p>
            <a:pPr lvl="1"/>
            <a:r>
              <a:rPr lang="en-IN" dirty="0"/>
              <a:t>Types:</a:t>
            </a:r>
          </a:p>
          <a:p>
            <a:pPr lvl="2"/>
            <a:r>
              <a:rPr lang="en-IN" b="1" dirty="0"/>
              <a:t>Character Special Files</a:t>
            </a:r>
            <a:r>
              <a:rPr lang="en-IN" dirty="0"/>
              <a:t> (keyboard, mouse)</a:t>
            </a:r>
          </a:p>
          <a:p>
            <a:pPr lvl="2"/>
            <a:r>
              <a:rPr lang="en-IN" b="1" dirty="0"/>
              <a:t>Block Special Files</a:t>
            </a:r>
            <a:r>
              <a:rPr lang="en-IN" dirty="0"/>
              <a:t> (disk drives)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2268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C2453-0494-A30D-FF2B-EB633DE41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Based on Access Method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534AC-FA0B-1528-C566-95F91942EF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Sequential Access Files</a:t>
            </a:r>
            <a:endParaRPr lang="en-US" dirty="0"/>
          </a:p>
          <a:p>
            <a:pPr lvl="1"/>
            <a:r>
              <a:rPr lang="en-US" dirty="0"/>
              <a:t>Data accessed in order</a:t>
            </a:r>
          </a:p>
          <a:p>
            <a:r>
              <a:rPr lang="en-US" b="1" dirty="0"/>
              <a:t>Direct (Random) Access Files</a:t>
            </a:r>
            <a:endParaRPr lang="en-US" dirty="0"/>
          </a:p>
          <a:p>
            <a:pPr lvl="1"/>
            <a:r>
              <a:rPr lang="en-US" dirty="0"/>
              <a:t>Data accessed in any order</a:t>
            </a:r>
          </a:p>
          <a:p>
            <a:r>
              <a:rPr lang="en-US" b="1" dirty="0"/>
              <a:t>Indexed Files</a:t>
            </a:r>
            <a:endParaRPr lang="en-US" dirty="0"/>
          </a:p>
          <a:p>
            <a:pPr lvl="1"/>
            <a:r>
              <a:rPr lang="en-US" dirty="0"/>
              <a:t>Use index for fast access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1394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8F12E-1CEB-1101-7902-CF8F917AC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File Structure in Operating System</a:t>
            </a:r>
            <a:br>
              <a:rPr lang="en-US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B7A66-AC89-5E26-57D2-066CC9B65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File structure defines how data is organized inside a file and how it can be accessed.</a:t>
            </a:r>
          </a:p>
          <a:p>
            <a:r>
              <a:rPr lang="en-US" b="1" dirty="0"/>
              <a:t>1. Access Methods</a:t>
            </a:r>
          </a:p>
          <a:p>
            <a:pPr lvl="1"/>
            <a:r>
              <a:rPr lang="en-US" dirty="0"/>
              <a:t>Access methods determine </a:t>
            </a:r>
            <a:r>
              <a:rPr lang="en-US" b="1" dirty="0"/>
              <a:t>how data in a file is read or written</a:t>
            </a:r>
            <a:r>
              <a:rPr lang="en-US" dirty="0"/>
              <a:t>.</a:t>
            </a:r>
          </a:p>
          <a:p>
            <a:r>
              <a:rPr lang="en-US" b="1" dirty="0"/>
              <a:t>A. Sequential Access</a:t>
            </a:r>
          </a:p>
          <a:p>
            <a:pPr lvl="1"/>
            <a:r>
              <a:rPr lang="en-US" dirty="0"/>
              <a:t>Data is accessed </a:t>
            </a:r>
            <a:r>
              <a:rPr lang="en-US" b="1" dirty="0"/>
              <a:t>in order (one after another)</a:t>
            </a:r>
            <a:endParaRPr lang="en-US" dirty="0"/>
          </a:p>
          <a:p>
            <a:pPr lvl="1"/>
            <a:r>
              <a:rPr lang="en-US" dirty="0"/>
              <a:t>Like reading a book from beginning to end</a:t>
            </a:r>
          </a:p>
          <a:p>
            <a:pPr marL="0" indent="0">
              <a:buNone/>
            </a:pPr>
            <a:r>
              <a:rPr lang="en-US" b="1" dirty="0"/>
              <a:t>Operations:</a:t>
            </a:r>
            <a:endParaRPr lang="en-US" dirty="0"/>
          </a:p>
          <a:p>
            <a:r>
              <a:rPr lang="en-US" dirty="0"/>
              <a:t>Read next, Write next, Reset (move pointer to start)</a:t>
            </a:r>
          </a:p>
          <a:p>
            <a:r>
              <a:rPr lang="en-US" b="1" dirty="0"/>
              <a:t>Advantages:</a:t>
            </a:r>
            <a:endParaRPr lang="en-US" dirty="0"/>
          </a:p>
          <a:p>
            <a:r>
              <a:rPr lang="en-US" dirty="0"/>
              <a:t>Simple to implement, Efficient for large sequential processing</a:t>
            </a:r>
          </a:p>
          <a:p>
            <a:r>
              <a:rPr lang="en-US" b="1" dirty="0"/>
              <a:t>Disadvantages:</a:t>
            </a:r>
            <a:endParaRPr lang="en-US" dirty="0"/>
          </a:p>
          <a:p>
            <a:r>
              <a:rPr lang="en-US" dirty="0"/>
              <a:t>Slow for random access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1539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53831-848B-E9E2-ABBF-2E4A75451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DA70B-4F7C-92CB-405B-6961C523E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Direct (Random) Access</a:t>
            </a:r>
          </a:p>
          <a:p>
            <a:r>
              <a:rPr lang="en-US" dirty="0"/>
              <a:t>Data can be accessed </a:t>
            </a:r>
            <a:r>
              <a:rPr lang="en-US" b="1" dirty="0"/>
              <a:t>in any order</a:t>
            </a:r>
            <a:endParaRPr lang="en-US" dirty="0"/>
          </a:p>
          <a:p>
            <a:r>
              <a:rPr lang="en-US" dirty="0"/>
              <a:t>File is divided into fixed-size blocks/records</a:t>
            </a:r>
          </a:p>
          <a:p>
            <a:pPr marL="0" indent="0">
              <a:buNone/>
            </a:pPr>
            <a:r>
              <a:rPr lang="en-US" b="1" dirty="0"/>
              <a:t>Operations:</a:t>
            </a:r>
            <a:endParaRPr lang="en-US" dirty="0"/>
          </a:p>
          <a:p>
            <a:r>
              <a:rPr lang="en-US" dirty="0"/>
              <a:t>Read block n</a:t>
            </a:r>
          </a:p>
          <a:p>
            <a:r>
              <a:rPr lang="en-US" dirty="0"/>
              <a:t>Write block n</a:t>
            </a:r>
          </a:p>
          <a:p>
            <a:r>
              <a:rPr lang="en-US" b="1" dirty="0"/>
              <a:t>Advantages:</a:t>
            </a:r>
            <a:endParaRPr lang="en-US" dirty="0"/>
          </a:p>
          <a:p>
            <a:r>
              <a:rPr lang="en-US" dirty="0"/>
              <a:t>Fast access to any location, Suitable for databases</a:t>
            </a:r>
          </a:p>
          <a:p>
            <a:r>
              <a:rPr lang="en-US" b="1" dirty="0"/>
              <a:t>Disadvantages:</a:t>
            </a:r>
            <a:endParaRPr lang="en-US" dirty="0"/>
          </a:p>
          <a:p>
            <a:r>
              <a:rPr lang="en-US" dirty="0"/>
              <a:t>More complex than sequential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8697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AE689-78D4-831C-53AF-5810980E4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1DF7D-31F8-034D-2F9E-EDDFD195A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Indexed Access</a:t>
            </a:r>
          </a:p>
          <a:p>
            <a:r>
              <a:rPr lang="en-US" dirty="0"/>
              <a:t>Uses an </a:t>
            </a:r>
            <a:r>
              <a:rPr lang="en-US" b="1" dirty="0"/>
              <a:t>index table</a:t>
            </a:r>
            <a:r>
              <a:rPr lang="en-US" dirty="0"/>
              <a:t> to locate records quickly</a:t>
            </a:r>
          </a:p>
          <a:p>
            <a:pPr marL="0" indent="0">
              <a:buNone/>
            </a:pPr>
            <a:r>
              <a:rPr lang="en-US" b="1" dirty="0"/>
              <a:t>How it works:</a:t>
            </a:r>
            <a:endParaRPr lang="en-US" dirty="0"/>
          </a:p>
          <a:p>
            <a:r>
              <a:rPr lang="en-US" dirty="0"/>
              <a:t>Index stores pointers to actual data blocks</a:t>
            </a:r>
          </a:p>
          <a:p>
            <a:r>
              <a:rPr lang="en-US" dirty="0"/>
              <a:t>Search index → get location → access data</a:t>
            </a:r>
          </a:p>
          <a:p>
            <a:r>
              <a:rPr lang="en-US" b="1" dirty="0"/>
              <a:t>Advantages:</a:t>
            </a:r>
            <a:endParaRPr lang="en-US" dirty="0"/>
          </a:p>
          <a:p>
            <a:r>
              <a:rPr lang="en-US" dirty="0"/>
              <a:t>Fast searching</a:t>
            </a:r>
          </a:p>
          <a:p>
            <a:r>
              <a:rPr lang="en-US" dirty="0"/>
              <a:t>Supports both sequential and direct access</a:t>
            </a:r>
          </a:p>
          <a:p>
            <a:r>
              <a:rPr lang="en-US" b="1" dirty="0"/>
              <a:t>Disadvantages:</a:t>
            </a:r>
            <a:endParaRPr lang="en-US" dirty="0"/>
          </a:p>
          <a:p>
            <a:r>
              <a:rPr lang="en-US" dirty="0"/>
              <a:t>Extra storage needed for index</a:t>
            </a:r>
          </a:p>
          <a:p>
            <a:r>
              <a:rPr lang="en-US" dirty="0"/>
              <a:t>Overhead in maintaining index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6023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147E0-942E-9D28-D748-507420C8D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File System Protection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76337B8-E6B2-43AF-9DBC-FBCF1BD57F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62025" y="1560397"/>
            <a:ext cx="10883107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latin typeface="PalatinoLTStd-Roman"/>
              </a:rPr>
              <a:t>Information is stored in a computer system,  kept  safe from physical damage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dirty="0">
                <a:latin typeface="PalatinoLTStd-Roman"/>
              </a:rPr>
              <a:t>  (the issue of reliability) and improper access (the issue </a:t>
            </a:r>
            <a:r>
              <a:rPr lang="en-IN" sz="2400" dirty="0">
                <a:latin typeface="PalatinoLTStd-Roman"/>
              </a:rPr>
              <a:t>of protection).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Prevents unauthorized access, modification, or deletion of files.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Ensures data integrity, confidentiality, and 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availability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Protects against malware, accidental deletion, and privilege escalation attacks.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1478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DBC4-7E34-D762-740D-9C57B1670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File System Protection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2CF9A-A14E-3496-8B2D-2FEAA9A17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PalatinoLTStd-Roman"/>
              </a:rPr>
              <a:t>Reliability is generally provided by duplicate copies of files.</a:t>
            </a:r>
          </a:p>
          <a:p>
            <a:pPr algn="l"/>
            <a:r>
              <a:rPr lang="en-US" sz="1800" b="0" i="0" u="none" strike="noStrike" baseline="0" dirty="0">
                <a:latin typeface="PalatinoLTStd-Roman"/>
              </a:rPr>
              <a:t>Protection can be provided in many ways</a:t>
            </a:r>
            <a:endParaRPr lang="en-US" sz="1800" dirty="0">
              <a:latin typeface="PalatinoLTStd-Roman"/>
            </a:endParaRPr>
          </a:p>
          <a:p>
            <a:pPr lvl="1"/>
            <a:r>
              <a:rPr lang="en-US" dirty="0">
                <a:latin typeface="PalatinoLTStd-Roman"/>
              </a:rPr>
              <a:t>User authentication</a:t>
            </a:r>
          </a:p>
          <a:p>
            <a:pPr lvl="1"/>
            <a:r>
              <a:rPr lang="en-US" dirty="0">
                <a:latin typeface="PalatinoLTStd-Roman"/>
              </a:rPr>
              <a:t>Data encryption</a:t>
            </a:r>
          </a:p>
          <a:p>
            <a:pPr lvl="1"/>
            <a:r>
              <a:rPr lang="en-US" dirty="0">
                <a:latin typeface="PalatinoLTStd-Roman"/>
              </a:rPr>
              <a:t>firewalls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1663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0AA50-E3DE-EFD7-E904-C64A5039B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Access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85F79-84C4-AC42-370C-6DC56403F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IN" sz="1800" dirty="0">
                <a:solidFill>
                  <a:srgbClr val="000000"/>
                </a:solidFill>
                <a:latin typeface="PalatinoLTStd-Roman"/>
              </a:rPr>
              <a:t>M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PalatinoLTStd-Roman"/>
              </a:rPr>
              <a:t>ake access dependent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PalatinoLTStd-Roman"/>
              </a:rPr>
              <a:t>on the identity of the user. 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PalatinoLTStd-Roman"/>
              </a:rPr>
              <a:t>Different users may need different types of access to a file or directory. 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PalatinoLTStd-Roman"/>
              </a:rPr>
              <a:t>Implement identity dependent access -  to associate with each file and directory an </a:t>
            </a:r>
            <a:r>
              <a:rPr lang="en-US" sz="1800" b="1" i="0" u="none" strike="noStrike" baseline="0" dirty="0">
                <a:latin typeface="PalatinoLTStd-Bold"/>
              </a:rPr>
              <a:t>access-control</a:t>
            </a:r>
          </a:p>
          <a:p>
            <a:pPr marL="0" indent="0" algn="l">
              <a:buNone/>
            </a:pPr>
            <a:r>
              <a:rPr lang="en-US" sz="1800" b="1" i="0" u="none" strike="noStrike" baseline="0" dirty="0">
                <a:latin typeface="PalatinoLTStd-Bold"/>
              </a:rPr>
              <a:t>     list </a:t>
            </a:r>
            <a:r>
              <a:rPr lang="en-US" sz="1800" b="0" i="0" u="none" strike="noStrike" baseline="0" dirty="0">
                <a:latin typeface="PalatinoLTStd-Roman"/>
              </a:rPr>
              <a:t>(</a:t>
            </a:r>
            <a:r>
              <a:rPr lang="en-US" sz="1800" b="1" i="0" u="none" strike="noStrike" baseline="0" dirty="0">
                <a:latin typeface="PalatinoLTStd-Bold"/>
              </a:rPr>
              <a:t>ACL</a:t>
            </a:r>
            <a:r>
              <a:rPr lang="en-US" sz="1800" b="0" i="0" u="none" strike="noStrike" baseline="0" dirty="0">
                <a:latin typeface="PalatinoLTStd-Roman"/>
              </a:rPr>
              <a:t>)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PalatinoLTStd-Roman"/>
              </a:rPr>
              <a:t>specifying user names and the types of access allowed for each user.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PalatinoLTStd-Roman"/>
              </a:rPr>
              <a:t>When a user requests access to a particular file, the operating system checks the access list associated with that file. 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PalatinoLTStd-Roman"/>
              </a:rPr>
              <a:t>If that user is listed for the requested access, the access is allowed. 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PalatinoLTStd-Roman"/>
              </a:rPr>
              <a:t>Otherwise, a protection violation occurs, and the user job is denied access to the file.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08539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97F2E-DE6D-F6CE-FFC7-3B916FC58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BAAA1-3654-17F9-5D65-29BEDCB6A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PalatinoLTStd-Roman"/>
              </a:rPr>
              <a:t>Constructing such a list may be a tedious and unrewarding task, especially if we do not know in advance the list of users in the system.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PalatinoLTStd-Roman"/>
              </a:rPr>
              <a:t>To condense the length of the access-control list, many systems recognize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PalatinoLTStd-Roman"/>
              </a:rPr>
              <a:t>three classifications of users in connection with each file: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FFFF"/>
                </a:solidFill>
                <a:latin typeface="PalatinoLTStd-Roman"/>
              </a:rPr>
              <a:t>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PalatinoLTStd-Bold"/>
              </a:rPr>
              <a:t>Owner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PalatinoLTStd-Roman"/>
              </a:rPr>
              <a:t>. The user who created the file is the owner.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FFFF"/>
                </a:solidFill>
                <a:latin typeface="PalatinoLTStd-Roman"/>
              </a:rPr>
              <a:t>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PalatinoLTStd-Bold"/>
              </a:rPr>
              <a:t>Group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PalatinoLTStd-Roman"/>
              </a:rPr>
              <a:t>. A set of users who are sharing the file and need similar access is a 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PalatinoLTStd-Roman"/>
              </a:rPr>
              <a:t>group, or work group.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FFFF"/>
                </a:solidFill>
                <a:latin typeface="PalatinoLTStd-Roman"/>
              </a:rPr>
              <a:t>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PalatinoLTStd-Bold"/>
              </a:rPr>
              <a:t>Other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PalatinoLTStd-Roman"/>
              </a:rPr>
              <a:t>. All other users in the system.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51274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BE937-CCB9-3B82-FEAE-B889AD752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9F818-2560-3DE7-7148-D8368AAA9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File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30DA0-A0F1-BB02-62C3-FF4B96651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File allocation determines how files are stored on disk.  </a:t>
            </a:r>
          </a:p>
          <a:p>
            <a:r>
              <a:rPr lang="en-IN" dirty="0"/>
              <a:t>Efficient allocation ensures optimal disk space usage and quick access.  </a:t>
            </a:r>
          </a:p>
          <a:p>
            <a:r>
              <a:rPr lang="en-IN" dirty="0"/>
              <a:t>Three main methods: Contiguous, Linked, and Indexed allocation. 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48616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8F21E-0BD2-6275-4D7E-A5CDC8338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EF592-3DB4-FEDD-B5EC-FD34EA794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Contiguous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7D1B5-FD80-B2B1-43A7-D5486D4F3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Each file occupies a continuous block of memory.  </a:t>
            </a:r>
          </a:p>
          <a:p>
            <a:r>
              <a:rPr lang="en-IN" dirty="0"/>
              <a:t>Requires storing the start block and file length.  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Advantages:  </a:t>
            </a:r>
          </a:p>
          <a:p>
            <a:r>
              <a:rPr lang="en-IN" dirty="0"/>
              <a:t> Fast access (sequential read/write).  </a:t>
            </a:r>
          </a:p>
          <a:p>
            <a:r>
              <a:rPr lang="en-IN" dirty="0"/>
              <a:t> Simple implementation.  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Disadvantages:  </a:t>
            </a:r>
          </a:p>
          <a:p>
            <a:r>
              <a:rPr lang="en-IN" dirty="0"/>
              <a:t> External fragmentation.  </a:t>
            </a:r>
          </a:p>
          <a:p>
            <a:r>
              <a:rPr lang="en-IN" dirty="0"/>
              <a:t> Difficult to expand files. 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47955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A2881-6990-987F-08D1-B47246C30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64ABB-A7BE-EBE7-4290-C3A5E51CD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Linked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A39D6-F598-E00F-5B48-E1842CC71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6447"/>
            <a:ext cx="10515600" cy="4549295"/>
          </a:xfrm>
        </p:spPr>
        <p:txBody>
          <a:bodyPr>
            <a:normAutofit fontScale="62500" lnSpcReduction="20000"/>
          </a:bodyPr>
          <a:lstStyle/>
          <a:p>
            <a:r>
              <a:rPr lang="en-IN" dirty="0"/>
              <a:t>Files are stored as a linked list of disk blocks.  </a:t>
            </a:r>
          </a:p>
          <a:p>
            <a:r>
              <a:rPr lang="en-IN" dirty="0"/>
              <a:t> Each block contains data + pointer to the next block. 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Advantages:</a:t>
            </a:r>
          </a:p>
          <a:p>
            <a:r>
              <a:rPr lang="en-IN" dirty="0"/>
              <a:t>No external fragmentation.  </a:t>
            </a:r>
          </a:p>
          <a:p>
            <a:r>
              <a:rPr lang="en-IN" dirty="0"/>
              <a:t>Files can grow dynamically.  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Disadvantages:</a:t>
            </a:r>
          </a:p>
          <a:p>
            <a:r>
              <a:rPr lang="en-IN" dirty="0"/>
              <a:t>Slow access (sequential traversal needed).  </a:t>
            </a:r>
          </a:p>
          <a:p>
            <a:r>
              <a:rPr lang="en-IN" dirty="0"/>
              <a:t>Extra overhead (pointers take space). 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Example:</a:t>
            </a:r>
          </a:p>
          <a:p>
            <a:r>
              <a:rPr lang="en-IN" dirty="0"/>
              <a:t>File A: Block 5 → Block 12 → Block 20 → NULL  </a:t>
            </a:r>
          </a:p>
          <a:p>
            <a:r>
              <a:rPr lang="en-IN" dirty="0"/>
              <a:t>File B: Block 8 → Block 3 → Block 9 → NULL</a:t>
            </a:r>
          </a:p>
        </p:txBody>
      </p:sp>
    </p:spTree>
    <p:extLst>
      <p:ext uri="{BB962C8B-B14F-4D97-AF65-F5344CB8AC3E}">
        <p14:creationId xmlns:p14="http://schemas.microsoft.com/office/powerpoint/2010/main" val="21884469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7C921-8649-595B-432B-87FC06891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Indexed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EA922-2E63-78F4-C791-978D43FB6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5721"/>
            <a:ext cx="10515600" cy="4831242"/>
          </a:xfrm>
        </p:spPr>
        <p:txBody>
          <a:bodyPr>
            <a:normAutofit fontScale="77500" lnSpcReduction="20000"/>
          </a:bodyPr>
          <a:lstStyle/>
          <a:p>
            <a:r>
              <a:rPr lang="en-IN" dirty="0"/>
              <a:t>Each file has an index block storing pointers to its data blocks.  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Advantages: </a:t>
            </a:r>
          </a:p>
          <a:p>
            <a:r>
              <a:rPr lang="en-IN" dirty="0"/>
              <a:t>Supports random access.  </a:t>
            </a:r>
          </a:p>
          <a:p>
            <a:r>
              <a:rPr lang="en-IN" dirty="0"/>
              <a:t>No external fragmentation. 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Disadvantages:  </a:t>
            </a:r>
          </a:p>
          <a:p>
            <a:r>
              <a:rPr lang="en-IN" dirty="0"/>
              <a:t> Extra space needed for index block.  </a:t>
            </a:r>
          </a:p>
          <a:p>
            <a:r>
              <a:rPr lang="en-IN" dirty="0"/>
              <a:t> Limited file size due to fixed index block size. 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Example:</a:t>
            </a:r>
          </a:p>
          <a:p>
            <a:r>
              <a:rPr lang="en-IN" dirty="0"/>
              <a:t>File A Index Block: [5, 12, 20, 25] → Data stored at these blocks.  </a:t>
            </a:r>
          </a:p>
          <a:p>
            <a:r>
              <a:rPr lang="en-IN" dirty="0"/>
              <a:t>File B Index Block: [8, 3, 9, 15]  → Data stored at these blocks. 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38822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81841-59E8-33AD-90BD-77303B525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BF70-B9C3-1B2E-B789-3B97A14D7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FDF58-94C7-8A52-F795-E409BD6FD6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Method   | Speed  | Fragmentation | File Growth  | Random Access|</a:t>
            </a:r>
          </a:p>
          <a:p>
            <a:pPr marL="0" indent="0">
              <a:buNone/>
            </a:pPr>
            <a:r>
              <a:rPr lang="en-IN" dirty="0"/>
              <a:t>Contiguous| Fast        | Yes (External) | Difficult         |  Yes </a:t>
            </a:r>
          </a:p>
          <a:p>
            <a:pPr marL="0" indent="0">
              <a:buNone/>
            </a:pPr>
            <a:r>
              <a:rPr lang="en-IN" dirty="0"/>
              <a:t>Linked         | Slow       | No                   | Easy               |  No </a:t>
            </a:r>
          </a:p>
          <a:p>
            <a:pPr marL="0" indent="0">
              <a:buNone/>
            </a:pPr>
            <a:r>
              <a:rPr lang="en-IN" dirty="0"/>
              <a:t>Indexed      | Medium | No                   | Limited         |  Yes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12279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BE05C-8656-1E8D-50CC-4836665BD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6FCFD-8F80-94F7-9B22-7D370E33C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36DC8-C0A8-985A-5E7D-A8705CEAA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Contiguous Allocation: Best for speed but limited flexibility.  </a:t>
            </a:r>
          </a:p>
          <a:p>
            <a:r>
              <a:rPr lang="en-IN" dirty="0"/>
              <a:t>Linked Allocation:  Good for dynamic growth but slow access.  </a:t>
            </a:r>
          </a:p>
          <a:p>
            <a:r>
              <a:rPr lang="en-IN" dirty="0"/>
              <a:t>Indexed Allocation: Best for random access but requires additional space. 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69801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01AB7-40B1-01FE-BFDD-5F6853AF3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A2D0A-5146-6ED5-B8B2-1582B6B7D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Crash Consistency, Filesystem Checker, and Journaling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92B2A-E425-8798-CB29-289438C0B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Crash consistency ensures that a filesystem remains in a valid state after an unexpected system crash (e.g., power failure, hardware failure). </a:t>
            </a:r>
          </a:p>
          <a:p>
            <a:r>
              <a:rPr lang="en-US" dirty="0"/>
              <a:t>Without crash consistency, files might be lost or corrupted due to incomplete writes.</a:t>
            </a:r>
          </a:p>
          <a:p>
            <a:pPr>
              <a:buNone/>
            </a:pPr>
            <a:r>
              <a:rPr lang="en-US" b="1" dirty="0"/>
              <a:t>Problems That Can Occur Due to a Crash: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Incomplete Writes:</a:t>
            </a:r>
            <a:r>
              <a:rPr lang="en-US" dirty="0"/>
              <a:t> If a file is partially written when a crash occurs, it may become corrupted.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Metadata Inconsistency:</a:t>
            </a:r>
            <a:r>
              <a:rPr lang="en-US" dirty="0"/>
              <a:t> If file system metadata (e.g., </a:t>
            </a:r>
            <a:r>
              <a:rPr lang="en-US" dirty="0" err="1"/>
              <a:t>inodes</a:t>
            </a:r>
            <a:r>
              <a:rPr lang="en-US" dirty="0"/>
              <a:t>) is not updated properly, files may become inaccessible.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Dangling Pointers:</a:t>
            </a:r>
            <a:r>
              <a:rPr lang="en-US" dirty="0"/>
              <a:t> File system structures may point to invalid locations, leading to corruption.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79004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538A0-D406-03D3-2CDD-6AD938BA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1B1C50D8-389D-CEF8-F59C-5AD042F05C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673963"/>
            <a:ext cx="541718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4000" dirty="0"/>
              <a:t>Filesystem Checker (</a:t>
            </a:r>
            <a:r>
              <a:rPr lang="en-US" altLang="en-US" sz="4000" dirty="0" err="1"/>
              <a:t>fsck</a:t>
            </a:r>
            <a:r>
              <a:rPr lang="en-US" altLang="en-US" sz="4000" dirty="0"/>
              <a:t>)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8BD8A87-FFDF-C30C-BDAB-81B91EDE1F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62193"/>
            <a:ext cx="10767820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fsck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(File System Consistency Check) is a utility that scans and repairs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filesystem inconsistencies caused by crashes.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How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fsck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Works: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Checks for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orphaned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inodes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(files without proper directory references).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Repairs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metadata inconsistencies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(e.g., incorrect free space count).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Recovers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lost data blocks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when possible.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Limitations of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fsck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Can be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slow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large filesystems.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May not always recover all lost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Requires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manual intervention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some cases.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8840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FA487-3985-AF02-BD23-CCEFFE089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9875"/>
            <a:ext cx="10515600" cy="987425"/>
          </a:xfrm>
        </p:spPr>
        <p:txBody>
          <a:bodyPr/>
          <a:lstStyle/>
          <a:p>
            <a:r>
              <a:rPr lang="en-IN" dirty="0"/>
              <a:t>Journaling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22AAC13-2C24-BF40-6653-928D37FD12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046641"/>
            <a:ext cx="12063752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Journaling is a crash recovery mechanism that logs filesystem changes before applying them.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If a crash occurs, the journal can be used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quickly restore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filesystem to a consistent state.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How Journaling Works: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Write-Ahead Logging: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b="1" dirty="0"/>
              <a:t>	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Changes (metadata or data) are first written to a special area called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journal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Commit Stage: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/>
              <a:t>	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Once the journal entry is safely written, the actual filesystem is updated.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Crash Recovery: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dirty="0"/>
              <a:t>	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If a crash occurs before changes are fully written, the system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replays the journal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dirty="0"/>
              <a:t>	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restore consistency.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Types of Journaling: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Metadata Journaling: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Only logs filesystem metadata changes (common in ext3, ext4).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Full Journaling: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Logs both metadata and data changes (safer but slower).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Ordered Journaling: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Metadata is logged, but data is written first before metadata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/>
              <a:t>    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                   </a:t>
            </a:r>
            <a:r>
              <a:rPr lang="en-US" altLang="en-US" sz="2400" dirty="0"/>
              <a:t>is committed (default in ext4).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13121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AB135-11DF-9490-431F-CA04FCA39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9948C-40F3-DE99-0226-FF7E19A96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queue of requests in FIFO is 86,147,91,177,94,150,102,175,130 (Total </a:t>
            </a:r>
            <a:r>
              <a:rPr lang="en-IN" dirty="0"/>
              <a:t>200 tracks </a:t>
            </a:r>
            <a:r>
              <a:rPr lang="en-IN"/>
              <a:t>numbered from </a:t>
            </a:r>
            <a:r>
              <a:rPr lang="en-IN" dirty="0"/>
              <a:t>0 </a:t>
            </a:r>
            <a:r>
              <a:rPr lang="en-IN"/>
              <a:t>to 199)</a:t>
            </a:r>
            <a:r>
              <a:rPr lang="en-US" dirty="0"/>
              <a:t>.  The current head position is at track 143.What is the total head movement needed to satisfy the requests for the following Scheduling algorithms FCFS, SSTF, SCAN, C-SCAN, LOOK, C-LOOK. 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45D2D6D-AA8C-3AF5-04EA-DD3EA9040477}"/>
                  </a:ext>
                </a:extLst>
              </p14:cNvPr>
              <p14:cNvContentPartPr/>
              <p14:nvPr/>
            </p14:nvContentPartPr>
            <p14:xfrm>
              <a:off x="1555920" y="4025880"/>
              <a:ext cx="1899000" cy="8704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45D2D6D-AA8C-3AF5-04EA-DD3EA904047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46560" y="4016520"/>
                <a:ext cx="1917720" cy="88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5301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2007</TotalTime>
  <Words>1610</Words>
  <Application>Microsoft Office PowerPoint</Application>
  <PresentationFormat>Widescreen</PresentationFormat>
  <Paragraphs>204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PalatinoLTStd-Bold</vt:lpstr>
      <vt:lpstr>PalatinoLTStd-Roman</vt:lpstr>
      <vt:lpstr>Office Theme</vt:lpstr>
      <vt:lpstr>File System Protection File Allocation Methods</vt:lpstr>
      <vt:lpstr>Files</vt:lpstr>
      <vt:lpstr>File Attributes (Metadata)</vt:lpstr>
      <vt:lpstr> File Operations </vt:lpstr>
      <vt:lpstr>Types of Files </vt:lpstr>
      <vt:lpstr>Based on Function (in OS like UNIX/Linux) </vt:lpstr>
      <vt:lpstr>Based on Access Method </vt:lpstr>
      <vt:lpstr>File Structure in Operating System </vt:lpstr>
      <vt:lpstr>PowerPoint Presentation</vt:lpstr>
      <vt:lpstr>PowerPoint Presentation</vt:lpstr>
      <vt:lpstr>File System Protection</vt:lpstr>
      <vt:lpstr>File System Protection</vt:lpstr>
      <vt:lpstr>Access Control</vt:lpstr>
      <vt:lpstr>PowerPoint Presentation</vt:lpstr>
      <vt:lpstr>File allocation</vt:lpstr>
      <vt:lpstr>Contiguous Allocation</vt:lpstr>
      <vt:lpstr>Linked Allocation</vt:lpstr>
      <vt:lpstr>Indexed Allocation</vt:lpstr>
      <vt:lpstr>PowerPoint Presentation</vt:lpstr>
      <vt:lpstr>PowerPoint Presentation</vt:lpstr>
      <vt:lpstr>Crash Consistency, Filesystem Checker, and Journaling </vt:lpstr>
      <vt:lpstr>Filesystem Checker (fsck) </vt:lpstr>
      <vt:lpstr>Journaling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REENA GEORGE</dc:creator>
  <cp:lastModifiedBy>REENA GEORGE</cp:lastModifiedBy>
  <cp:revision>11</cp:revision>
  <dcterms:created xsi:type="dcterms:W3CDTF">2025-04-01T14:08:34Z</dcterms:created>
  <dcterms:modified xsi:type="dcterms:W3CDTF">2026-03-29T18:05:22Z</dcterms:modified>
</cp:coreProperties>
</file>