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3" r:id="rId15"/>
    <p:sldId id="274" r:id="rId16"/>
    <p:sldId id="276" r:id="rId17"/>
    <p:sldId id="277" r:id="rId18"/>
    <p:sldId id="278" r:id="rId19"/>
    <p:sldId id="279" r:id="rId20"/>
    <p:sldId id="282" r:id="rId21"/>
    <p:sldId id="283" r:id="rId22"/>
    <p:sldId id="284" r:id="rId23"/>
    <p:sldId id="285" r:id="rId24"/>
    <p:sldId id="280" r:id="rId25"/>
    <p:sldId id="281" r:id="rId26"/>
    <p:sldId id="286" r:id="rId27"/>
    <p:sldId id="287" r:id="rId28"/>
    <p:sldId id="290" r:id="rId29"/>
    <p:sldId id="291" r:id="rId30"/>
    <p:sldId id="289" r:id="rId31"/>
    <p:sldId id="297" r:id="rId32"/>
    <p:sldId id="292" r:id="rId33"/>
    <p:sldId id="288" r:id="rId34"/>
    <p:sldId id="298" r:id="rId35"/>
    <p:sldId id="299" r:id="rId36"/>
    <p:sldId id="294" r:id="rId37"/>
    <p:sldId id="295" r:id="rId38"/>
    <p:sldId id="296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9" y="1936090"/>
            <a:ext cx="9032111" cy="1784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99768"/>
          </a:xfrm>
        </p:spPr>
        <p:txBody>
          <a:bodyPr>
            <a:normAutofit fontScale="90000"/>
          </a:bodyPr>
          <a:lstStyle/>
          <a:p>
            <a:r>
              <a:rPr dirty="0"/>
              <a:t>Icebreaker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252"/>
            <a:ext cx="8229600" cy="5378912"/>
          </a:xfrm>
        </p:spPr>
        <p:txBody>
          <a:bodyPr/>
          <a:lstStyle/>
          <a:p>
            <a:pPr algn="just"/>
            <a:r>
              <a:rPr dirty="0">
                <a:latin typeface="Bookman Old Style" panose="02050604050505020204" pitchFamily="18" charset="0"/>
              </a:rPr>
              <a:t>How many apps do you think are running on your laptop?</a:t>
            </a:r>
          </a:p>
          <a:p>
            <a:pPr lvl="1" algn="just"/>
            <a:r>
              <a:rPr dirty="0">
                <a:latin typeface="Bookman Old Style" panose="02050604050505020204" pitchFamily="18" charset="0"/>
              </a:rPr>
              <a:t>5?</a:t>
            </a:r>
            <a:endParaRPr lang="en-IN" dirty="0">
              <a:latin typeface="Bookman Old Style" panose="02050604050505020204" pitchFamily="18" charset="0"/>
            </a:endParaRPr>
          </a:p>
          <a:p>
            <a:pPr lvl="1" algn="just"/>
            <a:r>
              <a:rPr dirty="0">
                <a:latin typeface="Bookman Old Style" panose="02050604050505020204" pitchFamily="18" charset="0"/>
              </a:rPr>
              <a:t>10? </a:t>
            </a:r>
            <a:endParaRPr lang="en-IN" dirty="0">
              <a:latin typeface="Bookman Old Style" panose="02050604050505020204" pitchFamily="18" charset="0"/>
            </a:endParaRPr>
          </a:p>
          <a:p>
            <a:pPr lvl="1" algn="just"/>
            <a:r>
              <a:rPr dirty="0">
                <a:latin typeface="Bookman Old Style" panose="02050604050505020204" pitchFamily="18" charset="0"/>
              </a:rPr>
              <a:t>20?</a:t>
            </a:r>
          </a:p>
          <a:p>
            <a:pPr algn="just"/>
            <a:r>
              <a:rPr dirty="0">
                <a:latin typeface="Bookman Old Style" panose="02050604050505020204" pitchFamily="18" charset="0"/>
              </a:rPr>
              <a:t>Reality: 150</a:t>
            </a:r>
            <a:r>
              <a:rPr lang="en-IN" dirty="0">
                <a:latin typeface="Bookman Old Style" panose="02050604050505020204" pitchFamily="18" charset="0"/>
              </a:rPr>
              <a:t> +</a:t>
            </a:r>
          </a:p>
          <a:p>
            <a:pPr algn="just"/>
            <a:r>
              <a:rPr lang="en-US" dirty="0">
                <a:latin typeface="Bookman Old Style" panose="02050604050505020204" pitchFamily="18" charset="0"/>
              </a:rPr>
              <a:t>Open </a:t>
            </a:r>
            <a:r>
              <a:rPr lang="en-US" dirty="0">
                <a:highlight>
                  <a:srgbClr val="FFFF00"/>
                </a:highlight>
                <a:latin typeface="Bookman Old Style" panose="02050604050505020204" pitchFamily="18" charset="0"/>
              </a:rPr>
              <a:t>Task Manager</a:t>
            </a:r>
            <a:r>
              <a:rPr lang="en-US" dirty="0">
                <a:latin typeface="Bookman Old Style" panose="02050604050505020204" pitchFamily="18" charset="0"/>
              </a:rPr>
              <a:t> / Activity Monitor / </a:t>
            </a:r>
            <a:r>
              <a:rPr lang="en-US" dirty="0" err="1">
                <a:latin typeface="Bookman Old Style" panose="02050604050505020204" pitchFamily="18" charset="0"/>
              </a:rPr>
              <a:t>htop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dirty="0">
                <a:latin typeface="Bookman Old Style" panose="02050604050505020204" pitchFamily="18" charset="0"/>
              </a:rPr>
              <a:t>Count the processes</a:t>
            </a:r>
          </a:p>
          <a:p>
            <a:pPr algn="just"/>
            <a:endParaRPr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ookman Old Style" panose="02050604050505020204" pitchFamily="18" charset="0"/>
              </a:rPr>
              <a:t>What are these processes?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Bookman Old Style" panose="02050604050505020204" pitchFamily="18" charset="0"/>
              </a:rPr>
              <a:t>Foreground processes</a:t>
            </a:r>
          </a:p>
          <a:p>
            <a:pPr algn="just"/>
            <a:r>
              <a:rPr lang="en-US" dirty="0">
                <a:latin typeface="Bookman Old Style" panose="02050604050505020204" pitchFamily="18" charset="0"/>
              </a:rPr>
              <a:t>Background processes</a:t>
            </a:r>
          </a:p>
          <a:p>
            <a:pPr algn="just"/>
            <a:r>
              <a:rPr lang="en-US" dirty="0">
                <a:latin typeface="Bookman Old Style" panose="02050604050505020204" pitchFamily="18" charset="0"/>
              </a:rPr>
              <a:t>System services (daemons)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</a:rPr>
              <a:t>Examples: Wi-Fi, Bluetooth, Notifications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457200" y="38289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Bookman Old Style" panose="02050604050505020204" pitchFamily="18" charset="0"/>
              </a:rPr>
              <a:t>Who started them?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457200" y="472194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ookman Old Style" panose="02050604050505020204" pitchFamily="18" charset="0"/>
              </a:rPr>
              <a:t>If you didn’t start them… who did?</a:t>
            </a:r>
          </a:p>
          <a:p>
            <a:pPr marL="0" indent="0">
              <a:buNone/>
            </a:pPr>
            <a:r>
              <a:rPr lang="en-US" dirty="0">
                <a:latin typeface="Bookman Old Style" panose="02050604050505020204" pitchFamily="18" charset="0"/>
              </a:rPr>
              <a:t>                 </a:t>
            </a:r>
            <a:r>
              <a:rPr lang="en-US" dirty="0">
                <a:highlight>
                  <a:srgbClr val="FFFF00"/>
                </a:highlight>
                <a:latin typeface="Bookman Old Style" panose="02050604050505020204" pitchFamily="18" charset="0"/>
              </a:rPr>
              <a:t>Operating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2446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OS =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310" y="835742"/>
            <a:ext cx="8711380" cy="592885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dirty="0">
                <a:latin typeface="Bookman Old Style" panose="02050604050505020204" pitchFamily="18" charset="0"/>
              </a:rPr>
              <a:t>Manages CPU, Memory, Files, Devices, Security</a:t>
            </a:r>
          </a:p>
          <a:p>
            <a:pPr algn="just">
              <a:lnSpc>
                <a:spcPct val="160000"/>
              </a:lnSpc>
            </a:pPr>
            <a:r>
              <a:rPr dirty="0">
                <a:highlight>
                  <a:srgbClr val="FFFF00"/>
                </a:highlight>
                <a:latin typeface="Bookman Old Style" panose="02050604050505020204" pitchFamily="18" charset="0"/>
              </a:rPr>
              <a:t>Without OS → Chaos</a:t>
            </a:r>
            <a:r>
              <a:rPr lang="en-IN" dirty="0">
                <a:highlight>
                  <a:srgbClr val="FFFF00"/>
                </a:highlight>
                <a:latin typeface="Bookman Old Style" panose="02050604050505020204" pitchFamily="18" charset="0"/>
              </a:rPr>
              <a:t>, </a:t>
            </a:r>
            <a:r>
              <a:rPr dirty="0">
                <a:highlight>
                  <a:srgbClr val="FFFF00"/>
                </a:highlight>
                <a:latin typeface="Bookman Old Style" panose="02050604050505020204" pitchFamily="18" charset="0"/>
              </a:rPr>
              <a:t>With OS → Order</a:t>
            </a:r>
            <a:endParaRPr lang="en-IN" dirty="0"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latin typeface="Bookman Old Style" panose="02050604050505020204" pitchFamily="18" charset="0"/>
              </a:rPr>
              <a:t>CPU runs one instruction at a time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Bookman Old Style" panose="02050604050505020204" pitchFamily="18" charset="0"/>
              </a:rPr>
              <a:t>But 150+ processes run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Bookman Old Style" panose="02050604050505020204" pitchFamily="18" charset="0"/>
              </a:rPr>
              <a:t>Because OS schedules them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Bookman Old Style" panose="02050604050505020204" pitchFamily="18" charset="0"/>
              </a:rPr>
              <a:t>CPU → Process 1 → Process 2 → Process 3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Bookman Old Style" panose="02050604050505020204" pitchFamily="18" charset="0"/>
              </a:rPr>
              <a:t>Fast switching gives illusion of parallelism</a:t>
            </a:r>
          </a:p>
          <a:p>
            <a:pPr>
              <a:lnSpc>
                <a:spcPct val="160000"/>
              </a:lnSpc>
            </a:pPr>
            <a:endParaRPr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30" y="178088"/>
            <a:ext cx="8227070" cy="5851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9936" y="5039346"/>
            <a:ext cx="78264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Courier New" panose="02070309020205020404" pitchFamily="49" charset="0"/>
              </a:rPr>
              <a:t>printf</a:t>
            </a:r>
            <a:r>
              <a:rPr lang="en-IN" sz="2400" b="1" dirty="0">
                <a:latin typeface="Courier New" panose="02070309020205020404" pitchFamily="49" charset="0"/>
              </a:rPr>
              <a:t>()</a:t>
            </a:r>
            <a:r>
              <a:rPr lang="en-IN" sz="2400" b="1" dirty="0"/>
              <a:t> → C Library → System Call → Kernel → Driver → Hardware → Display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4" y="1600200"/>
            <a:ext cx="8760542" cy="4525963"/>
          </a:xfrm>
        </p:spPr>
        <p:txBody>
          <a:bodyPr/>
          <a:lstStyle/>
          <a:p>
            <a:pPr algn="just"/>
            <a:r>
              <a:rPr lang="en-US" dirty="0" err="1">
                <a:latin typeface="Bookman Old Style" panose="02050604050505020204" pitchFamily="18" charset="0"/>
              </a:rPr>
              <a:t>printf</a:t>
            </a:r>
            <a:r>
              <a:rPr lang="en-US" dirty="0">
                <a:latin typeface="Bookman Old Style" panose="02050604050505020204" pitchFamily="18" charset="0"/>
              </a:rPr>
              <a:t>() is </a:t>
            </a:r>
            <a:r>
              <a:rPr lang="en-US" b="1" dirty="0">
                <a:latin typeface="Bookman Old Style" panose="02050604050505020204" pitchFamily="18" charset="0"/>
              </a:rPr>
              <a:t>not part of the OS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  <a:br>
              <a:rPr lang="en-US" dirty="0">
                <a:latin typeface="Bookman Old Style" panose="02050604050505020204" pitchFamily="18" charset="0"/>
              </a:rPr>
            </a:br>
            <a:r>
              <a:rPr lang="en-US" dirty="0">
                <a:latin typeface="Bookman Old Style" panose="02050604050505020204" pitchFamily="18" charset="0"/>
              </a:rPr>
              <a:t>It belongs to the </a:t>
            </a:r>
            <a:r>
              <a:rPr lang="en-US" b="1" dirty="0">
                <a:latin typeface="Bookman Old Style" panose="02050604050505020204" pitchFamily="18" charset="0"/>
              </a:rPr>
              <a:t>C Standard Library</a:t>
            </a:r>
            <a:r>
              <a:rPr lang="en-US" dirty="0">
                <a:latin typeface="Bookman Old Style" panose="02050604050505020204" pitchFamily="18" charset="0"/>
              </a:rPr>
              <a:t> (</a:t>
            </a:r>
            <a:r>
              <a:rPr lang="en-US" dirty="0" err="1">
                <a:latin typeface="Bookman Old Style" panose="02050604050505020204" pitchFamily="18" charset="0"/>
              </a:rPr>
              <a:t>glibc</a:t>
            </a:r>
            <a:r>
              <a:rPr lang="en-US" dirty="0">
                <a:latin typeface="Bookman Old Style" panose="02050604050505020204" pitchFamily="18" charset="0"/>
              </a:rPr>
              <a:t> on Linux, </a:t>
            </a:r>
            <a:r>
              <a:rPr lang="en-US" dirty="0" err="1">
                <a:latin typeface="Bookman Old Style" panose="02050604050505020204" pitchFamily="18" charset="0"/>
              </a:rPr>
              <a:t>msvcrt</a:t>
            </a:r>
            <a:r>
              <a:rPr lang="en-US" dirty="0">
                <a:latin typeface="Bookman Old Style" panose="02050604050505020204" pitchFamily="18" charset="0"/>
              </a:rPr>
              <a:t> on Windows)</a:t>
            </a:r>
          </a:p>
          <a:p>
            <a:pPr algn="just"/>
            <a:r>
              <a:rPr lang="en-US" b="1" dirty="0">
                <a:latin typeface="Bookman Old Style" panose="02050604050505020204" pitchFamily="18" charset="0"/>
              </a:rPr>
              <a:t>What it does: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</a:rPr>
              <a:t>Takes your format string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</a:rPr>
              <a:t>Performs formatting (convert integers, floats, etc.)</a:t>
            </a:r>
          </a:p>
          <a:p>
            <a:pPr lvl="1" algn="just"/>
            <a:r>
              <a:rPr lang="en-US" dirty="0">
                <a:latin typeface="Bookman Old Style" panose="02050604050505020204" pitchFamily="18" charset="0"/>
              </a:rPr>
              <a:t>Stores characters temporarily in a buffer</a:t>
            </a:r>
          </a:p>
          <a:p>
            <a:pPr algn="just"/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19040" t="29825" r="16432" b="31431"/>
          <a:stretch>
            <a:fillRect/>
          </a:stretch>
        </p:blipFill>
        <p:spPr>
          <a:xfrm>
            <a:off x="147484" y="54641"/>
            <a:ext cx="3706761" cy="1582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484" y="6120894"/>
            <a:ext cx="89965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Courier New" panose="02070309020205020404" pitchFamily="49" charset="0"/>
              </a:rPr>
              <a:t>printf</a:t>
            </a:r>
            <a:r>
              <a:rPr lang="en-IN" sz="2400" b="1" dirty="0">
                <a:latin typeface="Courier New" panose="02070309020205020404" pitchFamily="49" charset="0"/>
              </a:rPr>
              <a:t>()</a:t>
            </a:r>
            <a:r>
              <a:rPr lang="en-IN" sz="2400" b="1" dirty="0"/>
              <a:t> → C Library → System Call → Kernel → Driver → Hardware → Display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4" y="1600200"/>
            <a:ext cx="8760542" cy="5007077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stdout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is a file stream connected to your </a:t>
            </a:r>
            <a:r>
              <a:rPr lang="en-US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terminal </a:t>
            </a:r>
          </a:p>
          <a:p>
            <a:pPr algn="just"/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 library calls a low-level function (User Level)</a:t>
            </a:r>
          </a:p>
          <a:p>
            <a:pPr algn="just"/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User space cannot directly talk to hardware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Needs the OS kernel</a:t>
            </a:r>
          </a:p>
          <a:p>
            <a:pPr algn="just"/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To go into the kernel, it triggers a </a:t>
            </a:r>
            <a:r>
              <a:rPr lang="en-US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system call interrupt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syscall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instruction in modern systems</a:t>
            </a:r>
          </a:p>
          <a:p>
            <a:pPr algn="just"/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Switches the CPU from </a:t>
            </a:r>
            <a:r>
              <a:rPr lang="en-US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user mode → kernel mode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OS is in charge</a:t>
            </a:r>
          </a:p>
          <a:p>
            <a:pPr algn="just"/>
            <a:endParaRPr lang="en-US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19040" t="29825" r="16432" b="31431"/>
          <a:stretch>
            <a:fillRect/>
          </a:stretch>
        </p:blipFill>
        <p:spPr>
          <a:xfrm>
            <a:off x="78658" y="54641"/>
            <a:ext cx="3706761" cy="1582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484" y="6388814"/>
            <a:ext cx="9193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>
                <a:latin typeface="Courier New" panose="02070309020205020404" pitchFamily="49" charset="0"/>
              </a:rPr>
              <a:t>printf</a:t>
            </a:r>
            <a:r>
              <a:rPr lang="en-IN" sz="2000" b="1" dirty="0">
                <a:latin typeface="Courier New" panose="02070309020205020404" pitchFamily="49" charset="0"/>
              </a:rPr>
              <a:t>()</a:t>
            </a:r>
            <a:r>
              <a:rPr lang="en-IN" sz="2000" b="1" dirty="0"/>
              <a:t> → C Library → System Call → Kernel → Driver → Hardware → Display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4" y="1600200"/>
            <a:ext cx="8760542" cy="483382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Kernel Validates and Processes </a:t>
            </a:r>
            <a:r>
              <a:rPr lang="en-US" dirty="0">
                <a:latin typeface="Bookman Old Style" panose="02050604050505020204" pitchFamily="18" charset="0"/>
              </a:rPr>
              <a:t>the Request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Kernel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Writes to the Terminal Driver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Driver </a:t>
            </a:r>
            <a:r>
              <a:rPr lang="en-US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Converts Text into Pixel / Character Data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If GUI mode: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The terminal emulator receives the bytes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The terminal emulator uses </a:t>
            </a:r>
            <a:r>
              <a:rPr lang="en-US" b="1" dirty="0">
                <a:latin typeface="Bookman Old Style" panose="02050604050505020204" pitchFamily="18" charset="0"/>
              </a:rPr>
              <a:t>GPU driver </a:t>
            </a:r>
            <a:r>
              <a:rPr lang="en-US" dirty="0">
                <a:latin typeface="Bookman Old Style" panose="02050604050505020204" pitchFamily="18" charset="0"/>
              </a:rPr>
              <a:t>to draw characters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If text mode (rare today):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Driver writes characters to VGA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19040" t="29825" r="16432" b="31431"/>
          <a:stretch>
            <a:fillRect/>
          </a:stretch>
        </p:blipFill>
        <p:spPr>
          <a:xfrm>
            <a:off x="147484" y="54641"/>
            <a:ext cx="3706761" cy="1582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485" y="6434027"/>
            <a:ext cx="8996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latin typeface="Courier New" panose="02070309020205020404" pitchFamily="49" charset="0"/>
              </a:rPr>
              <a:t>printf</a:t>
            </a:r>
            <a:r>
              <a:rPr lang="en-IN" b="1" dirty="0">
                <a:latin typeface="Courier New" panose="02070309020205020404" pitchFamily="49" charset="0"/>
              </a:rPr>
              <a:t>()</a:t>
            </a:r>
            <a:r>
              <a:rPr lang="en-IN" b="1" dirty="0"/>
              <a:t> → C Library → System Call → Kernel → Driver → Hardware → Display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4" y="206477"/>
            <a:ext cx="8760542" cy="591968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Bookman Old Style" panose="02050604050505020204" pitchFamily="18" charset="0"/>
              </a:rPr>
              <a:t>GPU receives draw commands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GPU writes pixels into the framebuffer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Framebuffer is scanned out to your monitor at 60Hz</a:t>
            </a:r>
          </a:p>
          <a:p>
            <a:pPr marL="0" indent="0">
              <a:buNone/>
            </a:pPr>
            <a:r>
              <a:rPr lang="en-US" sz="2800" dirty="0">
                <a:latin typeface="Bookman Old Style" panose="02050604050505020204" pitchFamily="18" charset="0"/>
              </a:rPr>
              <a:t>					</a:t>
            </a:r>
            <a:r>
              <a:rPr lang="en-US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	Hello World appear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With OS:</a:t>
            </a:r>
          </a:p>
          <a:p>
            <a:pPr lvl="1"/>
            <a:r>
              <a:rPr lang="en-US" sz="2400" dirty="0">
                <a:latin typeface="Bookman Old Style" panose="02050604050505020204" pitchFamily="18" charset="0"/>
              </a:rPr>
              <a:t>You write one line of code</a:t>
            </a:r>
          </a:p>
          <a:p>
            <a:pPr lvl="1"/>
            <a:r>
              <a:rPr lang="en-US" sz="2400" dirty="0">
                <a:latin typeface="Bookman Old Style" panose="02050604050505020204" pitchFamily="18" charset="0"/>
              </a:rPr>
              <a:t>OS handles </a:t>
            </a:r>
            <a:r>
              <a:rPr lang="en-US" sz="2400" i="1" dirty="0">
                <a:latin typeface="Bookman Old Style" panose="02050604050505020204" pitchFamily="18" charset="0"/>
              </a:rPr>
              <a:t>memory, CPU mode switching, drivers, GPU, scheduling, protection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800" dirty="0">
                <a:latin typeface="Bookman Old Style" panose="02050604050505020204" pitchFamily="18" charset="0"/>
              </a:rPr>
              <a:t>Without OS:</a:t>
            </a:r>
          </a:p>
          <a:p>
            <a:pPr lvl="1"/>
            <a:r>
              <a:rPr lang="en-US" sz="2400" dirty="0">
                <a:latin typeface="Bookman Old Style" panose="02050604050505020204" pitchFamily="18" charset="0"/>
              </a:rPr>
              <a:t>YOU must handle everything manually</a:t>
            </a:r>
          </a:p>
          <a:p>
            <a:pPr lvl="1"/>
            <a:r>
              <a:rPr lang="en-US" sz="2400" dirty="0">
                <a:latin typeface="Bookman Old Style" panose="02050604050505020204" pitchFamily="18" charset="0"/>
              </a:rPr>
              <a:t>Even one character requires deep system and hardware programming</a:t>
            </a:r>
          </a:p>
          <a:p>
            <a:endParaRPr lang="en-US" sz="2800" dirty="0">
              <a:latin typeface="Bookman Old Style" panose="0205060405050502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484" y="6466857"/>
            <a:ext cx="8996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latin typeface="Courier New" panose="02070309020205020404" pitchFamily="49" charset="0"/>
              </a:rPr>
              <a:t>printf</a:t>
            </a:r>
            <a:r>
              <a:rPr lang="en-IN" b="1" dirty="0">
                <a:latin typeface="Courier New" panose="02070309020205020404" pitchFamily="49" charset="0"/>
              </a:rPr>
              <a:t>()</a:t>
            </a:r>
            <a:r>
              <a:rPr lang="en-IN" b="1" dirty="0"/>
              <a:t> → C Library → System Call → Kernel → Driver → Hardware → Display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happens if no OS is present?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16181"/>
          <a:stretch>
            <a:fillRect/>
          </a:stretch>
        </p:blipFill>
        <p:spPr>
          <a:xfrm>
            <a:off x="145810" y="1417638"/>
            <a:ext cx="885238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Without an OS, EVERYTHING is Your Responsibility</a:t>
            </a:r>
            <a:endParaRPr lang="en-IN" sz="36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/>
              <a:t>In a normal system:</a:t>
            </a:r>
          </a:p>
          <a:p>
            <a:pPr lvl="1"/>
            <a:r>
              <a:rPr lang="en-US" dirty="0"/>
              <a:t>OS initializes CPU</a:t>
            </a:r>
          </a:p>
          <a:p>
            <a:pPr lvl="1"/>
            <a:r>
              <a:rPr lang="en-US" dirty="0"/>
              <a:t>OS sets up memory</a:t>
            </a:r>
          </a:p>
          <a:p>
            <a:pPr lvl="1"/>
            <a:r>
              <a:rPr lang="en-US" dirty="0"/>
              <a:t>OS configures GPU</a:t>
            </a:r>
          </a:p>
          <a:p>
            <a:pPr lvl="1"/>
            <a:r>
              <a:rPr lang="en-US" dirty="0"/>
              <a:t>OS loads drivers</a:t>
            </a:r>
          </a:p>
          <a:p>
            <a:pPr lvl="1"/>
            <a:r>
              <a:rPr lang="en-US" dirty="0"/>
              <a:t>OS provides APIs (</a:t>
            </a:r>
            <a:r>
              <a:rPr lang="en-US" dirty="0" err="1"/>
              <a:t>printf</a:t>
            </a:r>
            <a:r>
              <a:rPr lang="en-US" dirty="0"/>
              <a:t>, write)</a:t>
            </a:r>
          </a:p>
          <a:p>
            <a:pPr lvl="1"/>
            <a:r>
              <a:rPr lang="en-US" dirty="0"/>
              <a:t>OS draws to the screen</a:t>
            </a:r>
          </a:p>
          <a:p>
            <a:r>
              <a:rPr lang="en-US" b="1" dirty="0"/>
              <a:t>Without an OS</a:t>
            </a:r>
            <a:r>
              <a:rPr lang="en-US" dirty="0"/>
              <a:t>, NONE of this exists</a:t>
            </a:r>
          </a:p>
          <a:p>
            <a:r>
              <a:rPr lang="en-US" dirty="0"/>
              <a:t>Your CPU powers on to a blank environment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9703"/>
            <a:ext cx="8229600" cy="55847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Print a character: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You must write to a </a:t>
            </a:r>
            <a:r>
              <a:rPr lang="en-US" sz="2400" i="1" dirty="0">
                <a:latin typeface="Bookman Old Style" panose="02050604050505020204" pitchFamily="18" charset="0"/>
              </a:rPr>
              <a:t>hardware port</a:t>
            </a:r>
            <a:r>
              <a:rPr lang="en-US" sz="2400" dirty="0">
                <a:latin typeface="Bookman Old Style" panose="02050604050505020204" pitchFamily="18" charset="0"/>
              </a:rPr>
              <a:t> (VGA text mode):</a:t>
            </a:r>
          </a:p>
          <a:p>
            <a:pPr marL="1714500" lvl="4" indent="0">
              <a:buNone/>
            </a:pPr>
            <a:r>
              <a:rPr lang="en-US" sz="2400" dirty="0">
                <a:latin typeface="Bookman Old Style" panose="02050604050505020204" pitchFamily="18" charset="0"/>
              </a:rPr>
              <a:t>mov ax, 0xB800</a:t>
            </a:r>
          </a:p>
          <a:p>
            <a:pPr marL="1714500" lvl="4" indent="0">
              <a:buNone/>
            </a:pPr>
            <a:r>
              <a:rPr lang="en-US" sz="2400" dirty="0">
                <a:latin typeface="Bookman Old Style" panose="02050604050505020204" pitchFamily="18" charset="0"/>
              </a:rPr>
              <a:t>mov es, ax</a:t>
            </a:r>
          </a:p>
          <a:p>
            <a:pPr marL="1714500" lvl="4" indent="0">
              <a:buNone/>
            </a:pPr>
            <a:r>
              <a:rPr lang="en-US" sz="2400" dirty="0">
                <a:latin typeface="Bookman Old Style" panose="02050604050505020204" pitchFamily="18" charset="0"/>
              </a:rPr>
              <a:t>mov di, 0</a:t>
            </a:r>
          </a:p>
          <a:p>
            <a:pPr marL="1714500" lvl="4" indent="0">
              <a:buNone/>
            </a:pPr>
            <a:r>
              <a:rPr lang="en-US" sz="2400" dirty="0">
                <a:latin typeface="Bookman Old Style" panose="02050604050505020204" pitchFamily="18" charset="0"/>
              </a:rPr>
              <a:t>mov al, 'H'</a:t>
            </a:r>
          </a:p>
          <a:p>
            <a:pPr marL="1714500" lvl="4" indent="0">
              <a:buNone/>
            </a:pPr>
            <a:r>
              <a:rPr lang="en-US" sz="2400" dirty="0">
                <a:latin typeface="Bookman Old Style" panose="02050604050505020204" pitchFamily="18" charset="0"/>
              </a:rPr>
              <a:t>mov ah, 0x07   ; color</a:t>
            </a:r>
          </a:p>
          <a:p>
            <a:pPr marL="1714500" lvl="4" indent="0">
              <a:buNone/>
            </a:pPr>
            <a:r>
              <a:rPr lang="en-US" sz="2400" dirty="0">
                <a:latin typeface="Bookman Old Style" panose="02050604050505020204" pitchFamily="18" charset="0"/>
              </a:rPr>
              <a:t>mov [</a:t>
            </a:r>
            <a:r>
              <a:rPr lang="en-US" sz="2400" dirty="0" err="1">
                <a:latin typeface="Bookman Old Style" panose="02050604050505020204" pitchFamily="18" charset="0"/>
              </a:rPr>
              <a:t>es:di</a:t>
            </a:r>
            <a:r>
              <a:rPr lang="en-US" sz="2400" dirty="0">
                <a:latin typeface="Bookman Old Style" panose="02050604050505020204" pitchFamily="18" charset="0"/>
              </a:rPr>
              <a:t>], ax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Writes the letter </a:t>
            </a:r>
            <a:r>
              <a:rPr lang="en-US" sz="2400" b="1" dirty="0">
                <a:latin typeface="Bookman Old Style" panose="02050604050505020204" pitchFamily="18" charset="0"/>
              </a:rPr>
              <a:t>H</a:t>
            </a:r>
            <a:r>
              <a:rPr lang="en-US" sz="2400" dirty="0">
                <a:latin typeface="Bookman Old Style" panose="02050604050505020204" pitchFamily="18" charset="0"/>
              </a:rPr>
              <a:t> to the top-left pixel of screen memory.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There is:</a:t>
            </a:r>
          </a:p>
          <a:p>
            <a:pPr lvl="1"/>
            <a:r>
              <a:rPr lang="en-US" sz="2400" dirty="0">
                <a:latin typeface="Bookman Old Style" panose="02050604050505020204" pitchFamily="18" charset="0"/>
              </a:rPr>
              <a:t>No </a:t>
            </a:r>
            <a:r>
              <a:rPr lang="en-US" sz="2400" dirty="0" err="1">
                <a:latin typeface="Bookman Old Style" panose="02050604050505020204" pitchFamily="18" charset="0"/>
              </a:rPr>
              <a:t>printf</a:t>
            </a:r>
            <a:r>
              <a:rPr lang="en-US" sz="2400" dirty="0">
                <a:latin typeface="Bookman Old Style" panose="02050604050505020204" pitchFamily="18" charset="0"/>
              </a:rPr>
              <a:t>()</a:t>
            </a:r>
          </a:p>
          <a:p>
            <a:pPr lvl="1"/>
            <a:r>
              <a:rPr lang="en-US" sz="2400" dirty="0">
                <a:latin typeface="Bookman Old Style" panose="02050604050505020204" pitchFamily="18" charset="0"/>
              </a:rPr>
              <a:t>No terminal</a:t>
            </a:r>
          </a:p>
          <a:p>
            <a:pPr lvl="1"/>
            <a:r>
              <a:rPr lang="en-US" sz="2400" dirty="0">
                <a:latin typeface="Bookman Old Style" panose="02050604050505020204" pitchFamily="18" charset="0"/>
              </a:rPr>
              <a:t>No fonts except VGA hardware font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You must manage cursor, scrolling, colors manually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722" y="184355"/>
            <a:ext cx="8229600" cy="659990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YOU must configure the GPU manually</a:t>
            </a:r>
          </a:p>
          <a:p>
            <a:r>
              <a:rPr lang="en-US" dirty="0">
                <a:latin typeface="Bookman Old Style" panose="02050604050505020204" pitchFamily="18" charset="0"/>
              </a:rPr>
              <a:t>The GPU does NOT show anything unless:</a:t>
            </a:r>
          </a:p>
          <a:p>
            <a:pPr lvl="1"/>
            <a:r>
              <a:rPr lang="en-US" dirty="0">
                <a:latin typeface="Bookman Old Style" panose="02050604050505020204" pitchFamily="18" charset="0"/>
              </a:rPr>
              <a:t>You set the right graphics mode</a:t>
            </a:r>
          </a:p>
          <a:p>
            <a:pPr lvl="1"/>
            <a:r>
              <a:rPr lang="en-US" dirty="0">
                <a:latin typeface="Bookman Old Style" panose="02050604050505020204" pitchFamily="18" charset="0"/>
              </a:rPr>
              <a:t>Allocate a framebuffer</a:t>
            </a:r>
          </a:p>
          <a:p>
            <a:pPr lvl="1"/>
            <a:r>
              <a:rPr lang="en-US" dirty="0">
                <a:latin typeface="Bookman Old Style" panose="02050604050505020204" pitchFamily="18" charset="0"/>
              </a:rPr>
              <a:t>Write pixel values yourself</a:t>
            </a:r>
          </a:p>
          <a:p>
            <a:pPr lvl="1"/>
            <a:r>
              <a:rPr lang="en-US" dirty="0">
                <a:latin typeface="Bookman Old Style" panose="02050604050505020204" pitchFamily="18" charset="0"/>
              </a:rPr>
              <a:t>Refresh the display</a:t>
            </a:r>
          </a:p>
          <a:p>
            <a:pPr lvl="1"/>
            <a:endParaRPr lang="en-US" dirty="0">
              <a:latin typeface="Bookman Old Style" panose="02050604050505020204" pitchFamily="18" charset="0"/>
            </a:endParaRPr>
          </a:p>
          <a:p>
            <a:r>
              <a:rPr lang="en-IN" dirty="0">
                <a:latin typeface="Bookman Old Style" panose="02050604050505020204" pitchFamily="18" charset="0"/>
              </a:rPr>
              <a:t>YOU must draw text manually</a:t>
            </a:r>
          </a:p>
          <a:p>
            <a:pPr lvl="1"/>
            <a:r>
              <a:rPr lang="en-IN" dirty="0">
                <a:latin typeface="Bookman Old Style" panose="02050604050505020204" pitchFamily="18" charset="0"/>
              </a:rPr>
              <a:t>Load a font bitmap</a:t>
            </a:r>
          </a:p>
          <a:p>
            <a:pPr lvl="1"/>
            <a:r>
              <a:rPr lang="en-IN" dirty="0">
                <a:latin typeface="Bookman Old Style" panose="02050604050505020204" pitchFamily="18" charset="0"/>
              </a:rPr>
              <a:t>Convert characters to pixel matrices</a:t>
            </a:r>
          </a:p>
          <a:p>
            <a:pPr lvl="1"/>
            <a:r>
              <a:rPr lang="en-IN" dirty="0">
                <a:latin typeface="Bookman Old Style" panose="02050604050505020204" pitchFamily="18" charset="0"/>
              </a:rPr>
              <a:t>Write pixels to framebuffer</a:t>
            </a:r>
          </a:p>
          <a:p>
            <a:pPr lvl="1"/>
            <a:r>
              <a:rPr lang="en-IN" dirty="0">
                <a:latin typeface="Bookman Old Style" panose="02050604050505020204" pitchFamily="18" charset="0"/>
              </a:rPr>
              <a:t>Handle newlines</a:t>
            </a:r>
          </a:p>
          <a:p>
            <a:pPr lvl="1"/>
            <a:r>
              <a:rPr lang="en-IN" dirty="0">
                <a:latin typeface="Bookman Old Style" panose="02050604050505020204" pitchFamily="18" charset="0"/>
              </a:rPr>
              <a:t>Handle scrolling</a:t>
            </a:r>
          </a:p>
          <a:p>
            <a:pPr lvl="1"/>
            <a:r>
              <a:rPr lang="en-IN" dirty="0">
                <a:latin typeface="Bookman Old Style" panose="02050604050505020204" pitchFamily="18" charset="0"/>
              </a:rPr>
              <a:t>Handle </a:t>
            </a:r>
            <a:r>
              <a:rPr lang="en-IN" dirty="0" err="1">
                <a:latin typeface="Bookman Old Style" panose="02050604050505020204" pitchFamily="18" charset="0"/>
              </a:rPr>
              <a:t>colors</a:t>
            </a:r>
            <a:endParaRPr lang="en-IN" dirty="0">
              <a:latin typeface="Bookman Old Style" panose="02050604050505020204" pitchFamily="18" charset="0"/>
            </a:endParaRPr>
          </a:p>
          <a:p>
            <a:pPr lvl="1"/>
            <a:r>
              <a:rPr lang="en-IN" dirty="0">
                <a:latin typeface="Bookman Old Style" panose="02050604050505020204" pitchFamily="18" charset="0"/>
              </a:rPr>
              <a:t>Handle screen clearing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Just to show </a:t>
            </a:r>
            <a:r>
              <a:rPr lang="en-US" b="1" dirty="0">
                <a:latin typeface="Bookman Old Style" panose="02050604050505020204" pitchFamily="18" charset="0"/>
              </a:rPr>
              <a:t>“Hello World”</a:t>
            </a:r>
            <a:r>
              <a:rPr lang="en-US" dirty="0">
                <a:latin typeface="Bookman Old Style" panose="02050604050505020204" pitchFamily="18" charset="0"/>
              </a:rPr>
              <a:t> on screen, you write </a:t>
            </a:r>
            <a:r>
              <a:rPr lang="en-US" b="1" dirty="0">
                <a:latin typeface="Bookman Old Style" panose="02050604050505020204" pitchFamily="18" charset="0"/>
              </a:rPr>
              <a:t>hundreds of lines</a:t>
            </a:r>
            <a:r>
              <a:rPr lang="en-US" dirty="0">
                <a:latin typeface="Bookman Old Style" panose="02050604050505020204" pitchFamily="18" charset="0"/>
              </a:rPr>
              <a:t> of assembly + C.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Bookman Old Style" panose="02050604050505020204" pitchFamily="18" charset="0"/>
              </a:rPr>
              <a:t>With OS (easy):</a:t>
            </a:r>
          </a:p>
          <a:p>
            <a:pPr lvl="1" algn="just">
              <a:lnSpc>
                <a:spcPct val="150000"/>
              </a:lnSpc>
            </a:pPr>
            <a:r>
              <a:rPr lang="en-US" dirty="0" err="1">
                <a:latin typeface="Bookman Old Style" panose="02050604050505020204" pitchFamily="18" charset="0"/>
              </a:rPr>
              <a:t>printf</a:t>
            </a:r>
            <a:r>
              <a:rPr lang="en-US" dirty="0">
                <a:latin typeface="Bookman Old Style" panose="02050604050505020204" pitchFamily="18" charset="0"/>
              </a:rPr>
              <a:t> → OS → driver → GPU → monitor</a:t>
            </a:r>
            <a:br>
              <a:rPr lang="en-US" dirty="0">
                <a:latin typeface="Bookman Old Style" panose="02050604050505020204" pitchFamily="18" charset="0"/>
              </a:rPr>
            </a:br>
            <a:r>
              <a:rPr lang="en-US" dirty="0">
                <a:latin typeface="Bookman Old Style" panose="02050604050505020204" pitchFamily="18" charset="0"/>
              </a:rPr>
              <a:t>You do </a:t>
            </a:r>
            <a:r>
              <a:rPr lang="en-US" b="1" dirty="0">
                <a:latin typeface="Bookman Old Style" panose="02050604050505020204" pitchFamily="18" charset="0"/>
              </a:rPr>
              <a:t>1 line</a:t>
            </a:r>
            <a:r>
              <a:rPr lang="en-US" dirty="0">
                <a:latin typeface="Bookman Old Style" panose="02050604050505020204" pitchFamily="18" charset="0"/>
              </a:rPr>
              <a:t> of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Operating Systems: </a:t>
            </a:r>
            <a:r>
              <a:rPr lang="en-IN" b="1" dirty="0">
                <a:highlight>
                  <a:srgbClr val="FFFF00"/>
                </a:highlight>
              </a:rPr>
              <a:t>Abstraction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90" y="1600200"/>
            <a:ext cx="8355419" cy="46727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Why study operating systems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8530"/>
            <a:ext cx="8229600" cy="532483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What exactly happens when you run a user program?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How to make your program run faster and more efficiently?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How to make your programs more secure, reliable, tolerant to failures?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Why is your program running slowly and how to fix it?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How much CPU/memory is your program consuming, and why?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OS expertise is one of the most important skills when building high performance, robust, complex real-life systems 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993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What is a program?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04569"/>
            <a:ext cx="8499987" cy="5810864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User program = code (instructions for CPU) + data to do a specific task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Stored program concept</a:t>
            </a:r>
          </a:p>
          <a:p>
            <a:pPr lvl="1"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User programs stored in main memory (instructions + data)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Memory is byte-addressable: data accessed via memory address CPU fetches code/data from memory using address, and executes instruction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CPU runs processes = running programs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Modern CPUs have multiple cores for parallel execution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Each core runs one process at a time each 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C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9032"/>
            <a:ext cx="8549148" cy="562896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C code translated into executable by compiler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Executable file stored on hard disk (say, “</a:t>
            </a:r>
            <a:r>
              <a:rPr lang="en-US" dirty="0" err="1">
                <a:latin typeface="Bookman Old Style" panose="02050604050505020204" pitchFamily="18" charset="0"/>
              </a:rPr>
              <a:t>a.out</a:t>
            </a:r>
            <a:r>
              <a:rPr lang="en-US" dirty="0">
                <a:latin typeface="Bookman Old Style" panose="02050604050505020204" pitchFamily="18" charset="0"/>
              </a:rPr>
              <a:t>”)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When executable is run, a new process is created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Process allocated space in RAM to store code and data 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CPU starts executing the instructions of the program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When CPU is running a process, CPU registers contain the execution context of the process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PC points to instruction in the program, general purpose registers store data in the program, and so on 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069"/>
            <a:ext cx="8229600" cy="580768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Virtualizing the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835742"/>
            <a:ext cx="4286865" cy="5604387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Bookman Old Style" panose="02050604050505020204" pitchFamily="18" charset="0"/>
              </a:rPr>
              <a:t>#include &lt;</a:t>
            </a:r>
            <a:r>
              <a:rPr lang="en-US" sz="2800" dirty="0" err="1">
                <a:latin typeface="Bookman Old Style" panose="02050604050505020204" pitchFamily="18" charset="0"/>
              </a:rPr>
              <a:t>stdio.h</a:t>
            </a:r>
            <a:r>
              <a:rPr lang="en-US" sz="2800" dirty="0">
                <a:latin typeface="Bookman Old Style" panose="02050604050505020204" pitchFamily="18" charset="0"/>
              </a:rPr>
              <a:t>&gt;</a:t>
            </a:r>
            <a:br>
              <a:rPr lang="en-US" sz="2800" dirty="0">
                <a:latin typeface="Bookman Old Style" panose="02050604050505020204" pitchFamily="18" charset="0"/>
              </a:rPr>
            </a:br>
            <a:r>
              <a:rPr lang="en-US" sz="2800" dirty="0">
                <a:latin typeface="Bookman Old Style" panose="02050604050505020204" pitchFamily="18" charset="0"/>
              </a:rPr>
              <a:t>#include &lt;</a:t>
            </a:r>
            <a:r>
              <a:rPr lang="en-US" sz="2800" dirty="0" err="1">
                <a:latin typeface="Bookman Old Style" panose="02050604050505020204" pitchFamily="18" charset="0"/>
              </a:rPr>
              <a:t>stdlib.h</a:t>
            </a:r>
            <a:r>
              <a:rPr lang="en-US" sz="2800" dirty="0">
                <a:latin typeface="Bookman Old Style" panose="02050604050505020204" pitchFamily="18" charset="0"/>
              </a:rPr>
              <a:t>&gt;</a:t>
            </a:r>
            <a:br>
              <a:rPr lang="en-US" sz="2800" dirty="0">
                <a:latin typeface="Bookman Old Style" panose="02050604050505020204" pitchFamily="18" charset="0"/>
              </a:rPr>
            </a:br>
            <a:r>
              <a:rPr lang="en-IN" sz="2800" dirty="0">
                <a:latin typeface="Bookman Old Style" panose="02050604050505020204" pitchFamily="18" charset="0"/>
              </a:rPr>
              <a:t>int main()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	char *str=“ab”;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	while(1)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  		sleep(1);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  		</a:t>
            </a:r>
            <a:r>
              <a:rPr lang="en-IN" sz="2800" dirty="0" err="1">
                <a:latin typeface="Bookman Old Style" panose="02050604050505020204" pitchFamily="18" charset="0"/>
              </a:rPr>
              <a:t>printf</a:t>
            </a:r>
            <a:r>
              <a:rPr lang="en-IN" sz="2800" dirty="0">
                <a:latin typeface="Bookman Old Style" panose="02050604050505020204" pitchFamily="18" charset="0"/>
              </a:rPr>
              <a:t>(“%s\n”, str);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	}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	return 0;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Save as os1.c</a:t>
            </a:r>
          </a:p>
          <a:p>
            <a:pPr marL="0" indent="0">
              <a:buNone/>
            </a:pPr>
            <a:endParaRPr lang="en-IN" sz="28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4503174" y="835742"/>
            <a:ext cx="4640826" cy="56043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Compile: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gcc</a:t>
            </a:r>
            <a:r>
              <a:rPr lang="en-US" sz="2400" dirty="0">
                <a:latin typeface="Bookman Old Style" panose="02050604050505020204" pitchFamily="18" charset="0"/>
              </a:rPr>
              <a:t> os1.c –o os1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Run:</a:t>
            </a:r>
            <a:r>
              <a:rPr lang="en-US" sz="2800" dirty="0">
                <a:latin typeface="Bookman Old Style" panose="02050604050505020204" pitchFamily="18" charset="0"/>
              </a:rPr>
              <a:t> ./os1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Output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dirty="0">
                <a:latin typeface="Bookman Old Style" panose="02050604050505020204" pitchFamily="18" charset="0"/>
              </a:rPr>
              <a:t>ab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dirty="0">
                <a:latin typeface="Bookman Old Style" panose="02050604050505020204" pitchFamily="18" charset="0"/>
              </a:rPr>
              <a:t>ab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dirty="0">
                <a:latin typeface="Bookman Old Style" panose="02050604050505020204" pitchFamily="18" charset="0"/>
              </a:rPr>
              <a:t>ab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dirty="0">
                <a:latin typeface="Bookman Old Style" panose="02050604050505020204" pitchFamily="18" charset="0"/>
              </a:rPr>
              <a:t> 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069"/>
            <a:ext cx="8229600" cy="580768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Virtualizing the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835742"/>
            <a:ext cx="3475703" cy="5604387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#include &lt;</a:t>
            </a:r>
            <a:r>
              <a:rPr lang="en-US" sz="2000" dirty="0" err="1">
                <a:latin typeface="Bookman Old Style" panose="02050604050505020204" pitchFamily="18" charset="0"/>
              </a:rPr>
              <a:t>stdio.h</a:t>
            </a:r>
            <a:r>
              <a:rPr lang="en-US" sz="2000" dirty="0">
                <a:latin typeface="Bookman Old Style" panose="02050604050505020204" pitchFamily="18" charset="0"/>
              </a:rPr>
              <a:t>&gt;</a:t>
            </a:r>
            <a:br>
              <a:rPr lang="en-US" sz="2000" dirty="0">
                <a:latin typeface="Bookman Old Style" panose="02050604050505020204" pitchFamily="18" charset="0"/>
              </a:rPr>
            </a:br>
            <a:r>
              <a:rPr lang="en-US" sz="2000" dirty="0">
                <a:latin typeface="Bookman Old Style" panose="02050604050505020204" pitchFamily="18" charset="0"/>
              </a:rPr>
              <a:t>#include &lt;</a:t>
            </a:r>
            <a:r>
              <a:rPr lang="en-US" sz="2000" dirty="0" err="1">
                <a:latin typeface="Bookman Old Style" panose="02050604050505020204" pitchFamily="18" charset="0"/>
              </a:rPr>
              <a:t>stdlib.h</a:t>
            </a:r>
            <a:r>
              <a:rPr lang="en-US" sz="2000" dirty="0">
                <a:latin typeface="Bookman Old Style" panose="02050604050505020204" pitchFamily="18" charset="0"/>
              </a:rPr>
              <a:t>&gt;</a:t>
            </a:r>
            <a:br>
              <a:rPr lang="en-US" sz="2000" dirty="0">
                <a:latin typeface="Bookman Old Style" panose="02050604050505020204" pitchFamily="18" charset="0"/>
              </a:rPr>
            </a:br>
            <a:r>
              <a:rPr lang="en-IN" sz="2000" dirty="0">
                <a:latin typeface="Bookman Old Style" panose="02050604050505020204" pitchFamily="18" charset="0"/>
              </a:rPr>
              <a:t>int main()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char *str=“ab”;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while(1)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  		sleep(1);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  		</a:t>
            </a:r>
            <a:r>
              <a:rPr lang="en-IN" sz="2000" dirty="0" err="1">
                <a:latin typeface="Bookman Old Style" panose="02050604050505020204" pitchFamily="18" charset="0"/>
              </a:rPr>
              <a:t>printf</a:t>
            </a:r>
            <a:r>
              <a:rPr lang="en-IN" sz="2000" dirty="0">
                <a:latin typeface="Bookman Old Style" panose="02050604050505020204" pitchFamily="18" charset="0"/>
              </a:rPr>
              <a:t>(“%s\n”, str);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}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return 0;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Save as os1.c</a:t>
            </a: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3814916" y="835742"/>
            <a:ext cx="5329084" cy="56043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Compile: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gcc</a:t>
            </a:r>
            <a:r>
              <a:rPr lang="en-US" sz="2400" dirty="0">
                <a:latin typeface="Bookman Old Style" panose="02050604050505020204" pitchFamily="18" charset="0"/>
              </a:rPr>
              <a:t> os1.c –o os1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Run:</a:t>
            </a:r>
            <a:r>
              <a:rPr lang="en-US" sz="2800" dirty="0">
                <a:latin typeface="Bookman Old Style" panose="02050604050505020204" pitchFamily="18" charset="0"/>
              </a:rPr>
              <a:t> ./os1 &amp; ./os1 &amp; ./os1&amp;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Output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[2] 7640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[3] 7641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[4] 7642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ab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ab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ab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069"/>
            <a:ext cx="8229600" cy="580768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Virtualizing the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835742"/>
            <a:ext cx="4286865" cy="5604387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#include &lt;</a:t>
            </a:r>
            <a:r>
              <a:rPr lang="en-US" sz="2000" dirty="0" err="1">
                <a:latin typeface="Bookman Old Style" panose="02050604050505020204" pitchFamily="18" charset="0"/>
              </a:rPr>
              <a:t>stdio.h</a:t>
            </a:r>
            <a:r>
              <a:rPr lang="en-US" sz="2000" dirty="0">
                <a:latin typeface="Bookman Old Style" panose="02050604050505020204" pitchFamily="18" charset="0"/>
              </a:rPr>
              <a:t>&gt;</a:t>
            </a:r>
            <a:br>
              <a:rPr lang="en-US" sz="2000" dirty="0">
                <a:latin typeface="Bookman Old Style" panose="02050604050505020204" pitchFamily="18" charset="0"/>
              </a:rPr>
            </a:br>
            <a:r>
              <a:rPr lang="en-US" sz="2000" dirty="0">
                <a:latin typeface="Bookman Old Style" panose="02050604050505020204" pitchFamily="18" charset="0"/>
              </a:rPr>
              <a:t>#include &lt;</a:t>
            </a:r>
            <a:r>
              <a:rPr lang="en-US" sz="2000" dirty="0" err="1">
                <a:latin typeface="Bookman Old Style" panose="02050604050505020204" pitchFamily="18" charset="0"/>
              </a:rPr>
              <a:t>stdlib.h</a:t>
            </a:r>
            <a:r>
              <a:rPr lang="en-US" sz="2000" dirty="0">
                <a:latin typeface="Bookman Old Style" panose="02050604050505020204" pitchFamily="18" charset="0"/>
              </a:rPr>
              <a:t>&gt;</a:t>
            </a:r>
            <a:br>
              <a:rPr lang="en-US" sz="2000" dirty="0">
                <a:latin typeface="Bookman Old Style" panose="02050604050505020204" pitchFamily="18" charset="0"/>
              </a:rPr>
            </a:br>
            <a:r>
              <a:rPr lang="en-IN" sz="2000" dirty="0">
                <a:latin typeface="Bookman Old Style" panose="02050604050505020204" pitchFamily="18" charset="0"/>
              </a:rPr>
              <a:t>int main(int </a:t>
            </a:r>
            <a:r>
              <a:rPr lang="en-IN" sz="2000" dirty="0" err="1">
                <a:latin typeface="Bookman Old Style" panose="02050604050505020204" pitchFamily="18" charset="0"/>
              </a:rPr>
              <a:t>argc</a:t>
            </a:r>
            <a:r>
              <a:rPr lang="en-IN" sz="2000" dirty="0">
                <a:latin typeface="Bookman Old Style" panose="02050604050505020204" pitchFamily="18" charset="0"/>
              </a:rPr>
              <a:t>, char *</a:t>
            </a:r>
            <a:r>
              <a:rPr lang="en-IN" sz="2000" dirty="0" err="1">
                <a:latin typeface="Bookman Old Style" panose="02050604050505020204" pitchFamily="18" charset="0"/>
              </a:rPr>
              <a:t>argv</a:t>
            </a:r>
            <a:r>
              <a:rPr lang="en-IN" sz="2000" dirty="0">
                <a:latin typeface="Bookman Old Style" panose="02050604050505020204" pitchFamily="18" charset="0"/>
              </a:rPr>
              <a:t>[])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char *str=</a:t>
            </a:r>
            <a:r>
              <a:rPr lang="en-IN" sz="2000" dirty="0" err="1">
                <a:latin typeface="Bookman Old Style" panose="02050604050505020204" pitchFamily="18" charset="0"/>
              </a:rPr>
              <a:t>argv</a:t>
            </a:r>
            <a:r>
              <a:rPr lang="en-IN" sz="2000" dirty="0">
                <a:latin typeface="Bookman Old Style" panose="02050604050505020204" pitchFamily="18" charset="0"/>
              </a:rPr>
              <a:t>[1];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while(1)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  		sleep(1);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  		</a:t>
            </a:r>
            <a:r>
              <a:rPr lang="en-IN" sz="2000" dirty="0" err="1">
                <a:latin typeface="Bookman Old Style" panose="02050604050505020204" pitchFamily="18" charset="0"/>
              </a:rPr>
              <a:t>printf</a:t>
            </a:r>
            <a:r>
              <a:rPr lang="en-IN" sz="2000" dirty="0">
                <a:latin typeface="Bookman Old Style" panose="02050604050505020204" pitchFamily="18" charset="0"/>
              </a:rPr>
              <a:t>(“%s\n”, str);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}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return 0;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Save as os1.c</a:t>
            </a: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4714570" y="835742"/>
            <a:ext cx="4429430" cy="56043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Compile: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gcc</a:t>
            </a:r>
            <a:r>
              <a:rPr lang="en-US" sz="2400" dirty="0">
                <a:latin typeface="Bookman Old Style" panose="02050604050505020204" pitchFamily="18" charset="0"/>
              </a:rPr>
              <a:t> os1.c –o os1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Run:</a:t>
            </a:r>
            <a:r>
              <a:rPr lang="en-US" sz="2800" dirty="0">
                <a:latin typeface="Bookman Old Style" panose="02050604050505020204" pitchFamily="18" charset="0"/>
              </a:rPr>
              <a:t> ./os1 A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Output</a:t>
            </a:r>
            <a:endParaRPr lang="en-IN" sz="2800" dirty="0">
              <a:latin typeface="Bookman Old Style" panose="02050604050505020204" pitchFamily="18" charset="0"/>
            </a:endParaRP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</a:t>
            </a:r>
            <a:br>
              <a:rPr lang="en-IN" sz="2800" dirty="0">
                <a:latin typeface="Bookman Old Style" panose="02050604050505020204" pitchFamily="18" charset="0"/>
              </a:rPr>
            </a:br>
            <a:r>
              <a:rPr lang="en-IN" sz="2800" dirty="0" err="1">
                <a:latin typeface="Bookman Old Style" panose="02050604050505020204" pitchFamily="18" charset="0"/>
              </a:rPr>
              <a:t>A</a:t>
            </a:r>
            <a:endParaRPr lang="en-IN" sz="2800" dirty="0">
              <a:latin typeface="Bookman Old Style" panose="02050604050505020204" pitchFamily="18" charset="0"/>
            </a:endParaRP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069"/>
            <a:ext cx="8229600" cy="580768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Virtualizing the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835742"/>
            <a:ext cx="3633019" cy="5604387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Bookman Old Style" panose="02050604050505020204" pitchFamily="18" charset="0"/>
              </a:rPr>
              <a:t>#include &lt;</a:t>
            </a:r>
            <a:r>
              <a:rPr lang="en-US" sz="2000" dirty="0" err="1">
                <a:latin typeface="Bookman Old Style" panose="02050604050505020204" pitchFamily="18" charset="0"/>
              </a:rPr>
              <a:t>stdio.h</a:t>
            </a:r>
            <a:r>
              <a:rPr lang="en-US" sz="2000" dirty="0">
                <a:latin typeface="Bookman Old Style" panose="02050604050505020204" pitchFamily="18" charset="0"/>
              </a:rPr>
              <a:t>&gt;</a:t>
            </a:r>
            <a:br>
              <a:rPr lang="en-US" sz="2000" dirty="0">
                <a:latin typeface="Bookman Old Style" panose="02050604050505020204" pitchFamily="18" charset="0"/>
              </a:rPr>
            </a:br>
            <a:r>
              <a:rPr lang="en-US" sz="2000" dirty="0">
                <a:latin typeface="Bookman Old Style" panose="02050604050505020204" pitchFamily="18" charset="0"/>
              </a:rPr>
              <a:t>#include &lt;</a:t>
            </a:r>
            <a:r>
              <a:rPr lang="en-US" sz="2000" dirty="0" err="1">
                <a:latin typeface="Bookman Old Style" panose="02050604050505020204" pitchFamily="18" charset="0"/>
              </a:rPr>
              <a:t>stdlib.h</a:t>
            </a:r>
            <a:r>
              <a:rPr lang="en-US" sz="2000" dirty="0">
                <a:latin typeface="Bookman Old Style" panose="02050604050505020204" pitchFamily="18" charset="0"/>
              </a:rPr>
              <a:t>&gt;</a:t>
            </a:r>
            <a:br>
              <a:rPr lang="en-US" sz="2000" dirty="0">
                <a:latin typeface="Bookman Old Style" panose="02050604050505020204" pitchFamily="18" charset="0"/>
              </a:rPr>
            </a:br>
            <a:r>
              <a:rPr lang="en-IN" sz="2000" dirty="0">
                <a:latin typeface="Bookman Old Style" panose="02050604050505020204" pitchFamily="18" charset="0"/>
              </a:rPr>
              <a:t>int main(int </a:t>
            </a:r>
            <a:r>
              <a:rPr lang="en-IN" sz="2000" dirty="0" err="1">
                <a:latin typeface="Bookman Old Style" panose="02050604050505020204" pitchFamily="18" charset="0"/>
              </a:rPr>
              <a:t>argc</a:t>
            </a:r>
            <a:r>
              <a:rPr lang="en-IN" sz="2000" dirty="0">
                <a:latin typeface="Bookman Old Style" panose="02050604050505020204" pitchFamily="18" charset="0"/>
              </a:rPr>
              <a:t>, char *</a:t>
            </a:r>
            <a:r>
              <a:rPr lang="en-IN" sz="2000" dirty="0" err="1">
                <a:latin typeface="Bookman Old Style" panose="02050604050505020204" pitchFamily="18" charset="0"/>
              </a:rPr>
              <a:t>argv</a:t>
            </a:r>
            <a:r>
              <a:rPr lang="en-IN" sz="2000" dirty="0">
                <a:latin typeface="Bookman Old Style" panose="02050604050505020204" pitchFamily="18" charset="0"/>
              </a:rPr>
              <a:t>[])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char *str=</a:t>
            </a:r>
            <a:r>
              <a:rPr lang="en-IN" sz="2000" dirty="0" err="1">
                <a:latin typeface="Bookman Old Style" panose="02050604050505020204" pitchFamily="18" charset="0"/>
              </a:rPr>
              <a:t>argv</a:t>
            </a:r>
            <a:r>
              <a:rPr lang="en-IN" sz="2000" dirty="0">
                <a:latin typeface="Bookman Old Style" panose="02050604050505020204" pitchFamily="18" charset="0"/>
              </a:rPr>
              <a:t>[1];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while(1)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  		sleep(1);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  		</a:t>
            </a:r>
            <a:r>
              <a:rPr lang="en-IN" sz="2000" dirty="0" err="1">
                <a:latin typeface="Bookman Old Style" panose="02050604050505020204" pitchFamily="18" charset="0"/>
              </a:rPr>
              <a:t>printf</a:t>
            </a:r>
            <a:r>
              <a:rPr lang="en-IN" sz="2000" dirty="0">
                <a:latin typeface="Bookman Old Style" panose="02050604050505020204" pitchFamily="18" charset="0"/>
              </a:rPr>
              <a:t>(“%s\n”, str);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}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	return 0;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Save as os1.c</a:t>
            </a: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3932903" y="835742"/>
            <a:ext cx="5211097" cy="56043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Compile: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latin typeface="Bookman Old Style" panose="02050604050505020204" pitchFamily="18" charset="0"/>
              </a:rPr>
              <a:t>gcc</a:t>
            </a:r>
            <a:r>
              <a:rPr lang="en-US" sz="2400" dirty="0">
                <a:latin typeface="Bookman Old Style" panose="02050604050505020204" pitchFamily="18" charset="0"/>
              </a:rPr>
              <a:t> os1.c –o os1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Run:</a:t>
            </a:r>
            <a:r>
              <a:rPr lang="en-US" sz="2800" dirty="0">
                <a:latin typeface="Bookman Old Style" panose="02050604050505020204" pitchFamily="18" charset="0"/>
              </a:rPr>
              <a:t> ./os1 A &amp; ./os1 B&amp; ./os1 C&amp;</a:t>
            </a:r>
          </a:p>
          <a:p>
            <a:pPr marL="0" indent="0">
              <a:buFont typeface="Arial" panose="020B0604020202020204"/>
              <a:buNone/>
            </a:pPr>
            <a:r>
              <a:rPr lang="en-US" sz="2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Output</a:t>
            </a:r>
            <a:endParaRPr lang="en-IN" sz="2800" dirty="0">
              <a:latin typeface="Bookman Old Style" panose="02050604050505020204" pitchFamily="18" charset="0"/>
            </a:endParaRP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[1] 7873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[2] 7874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[3] 7875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C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B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B 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C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C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B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A</a:t>
            </a:r>
          </a:p>
          <a:p>
            <a:pPr marL="0" indent="0">
              <a:buFont typeface="Arial" panose="020B0604020202020204"/>
              <a:buNone/>
            </a:pPr>
            <a:r>
              <a:rPr lang="en-IN" sz="2800" dirty="0">
                <a:latin typeface="Bookman Old Style" panose="02050604050505020204" pitchFamily="18" charset="0"/>
              </a:rPr>
              <a:t>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135" y="1022556"/>
            <a:ext cx="8401665" cy="510360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Operating system, with some help from the hardware, is in charge of this </a:t>
            </a:r>
            <a:r>
              <a:rPr lang="en-US" sz="2800" b="1" dirty="0">
                <a:latin typeface="Bookman Old Style" panose="02050604050505020204" pitchFamily="18" charset="0"/>
              </a:rPr>
              <a:t>illusion</a:t>
            </a:r>
            <a:endParaRPr lang="en-US" sz="28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Illusion that the system has a very large number of virtual CPUs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Policy of OS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Turning a single CPU into a seemingly infinite number of CPUs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Allowing many programs to seemingly run at once is what we call </a:t>
            </a:r>
            <a:r>
              <a:rPr lang="en-US" sz="2800" b="1" dirty="0">
                <a:latin typeface="Bookman Old Style" panose="02050604050505020204" pitchFamily="18" charset="0"/>
              </a:rPr>
              <a:t>virtualizing the CPU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  <a:br>
              <a:rPr lang="en-US" sz="2800" dirty="0">
                <a:latin typeface="Bookman Old Style" panose="02050604050505020204" pitchFamily="18" charset="0"/>
              </a:rPr>
            </a:b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7917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Virtualizing the CPU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638"/>
            <a:ext cx="7864525" cy="57525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15" y="782661"/>
            <a:ext cx="8504569" cy="534350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069"/>
            <a:ext cx="8229600" cy="580768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Virtualizing the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835742"/>
            <a:ext cx="8544232" cy="6022258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#include &lt;</a:t>
            </a:r>
            <a:r>
              <a:rPr lang="en-IN" sz="2400" dirty="0" err="1"/>
              <a:t>unistd.h</a:t>
            </a:r>
            <a:r>
              <a:rPr lang="en-IN" sz="2400" dirty="0"/>
              <a:t>&gt;</a:t>
            </a:r>
            <a:br>
              <a:rPr lang="en-IN" sz="2000" dirty="0"/>
            </a:br>
            <a:r>
              <a:rPr lang="en-IN" sz="2400" dirty="0"/>
              <a:t>#include &lt;</a:t>
            </a:r>
            <a:r>
              <a:rPr lang="en-IN" sz="2400" dirty="0" err="1"/>
              <a:t>stdio.h</a:t>
            </a:r>
            <a:r>
              <a:rPr lang="en-IN" sz="2400" dirty="0"/>
              <a:t>&gt;</a:t>
            </a:r>
            <a:br>
              <a:rPr lang="en-IN" sz="2000" dirty="0"/>
            </a:br>
            <a:r>
              <a:rPr lang="en-IN" sz="2400" dirty="0"/>
              <a:t>#include &lt;</a:t>
            </a:r>
            <a:r>
              <a:rPr lang="en-IN" sz="2400" dirty="0" err="1"/>
              <a:t>stdlib.h</a:t>
            </a:r>
            <a:r>
              <a:rPr lang="en-IN" sz="2400" dirty="0"/>
              <a:t>&gt;</a:t>
            </a:r>
            <a:br>
              <a:rPr lang="en-IN" sz="2000" dirty="0"/>
            </a:br>
            <a:r>
              <a:rPr lang="en-IN" sz="2400" dirty="0"/>
              <a:t>int main(int </a:t>
            </a:r>
            <a:r>
              <a:rPr lang="en-IN" sz="2400" dirty="0" err="1"/>
              <a:t>argc</a:t>
            </a:r>
            <a:r>
              <a:rPr lang="en-IN" sz="2400" dirty="0"/>
              <a:t>, char *</a:t>
            </a:r>
            <a:r>
              <a:rPr lang="en-IN" sz="2400" dirty="0" err="1"/>
              <a:t>argv</a:t>
            </a:r>
            <a:r>
              <a:rPr lang="en-IN" sz="2400" dirty="0"/>
              <a:t>[])</a:t>
            </a:r>
            <a:br>
              <a:rPr lang="en-IN" sz="2000" dirty="0"/>
            </a:br>
            <a:r>
              <a:rPr lang="en-IN" sz="2400" dirty="0"/>
              <a:t>{</a:t>
            </a:r>
            <a:br>
              <a:rPr lang="en-IN" sz="2000" dirty="0"/>
            </a:br>
            <a:r>
              <a:rPr lang="en-IN" sz="2000" dirty="0"/>
              <a:t>	</a:t>
            </a:r>
            <a:r>
              <a:rPr lang="en-IN" sz="2400" dirty="0"/>
              <a:t>int *p = malloc(</a:t>
            </a:r>
            <a:r>
              <a:rPr lang="en-IN" sz="2400" dirty="0" err="1"/>
              <a:t>sizeof</a:t>
            </a:r>
            <a:r>
              <a:rPr lang="en-IN" sz="2400" dirty="0"/>
              <a:t>(int));</a:t>
            </a:r>
            <a:br>
              <a:rPr lang="en-IN" sz="2000" dirty="0"/>
            </a:br>
            <a:r>
              <a:rPr lang="en-IN" sz="2000" dirty="0"/>
              <a:t>	</a:t>
            </a:r>
            <a:r>
              <a:rPr lang="en-IN" sz="2400" dirty="0" err="1"/>
              <a:t>printf</a:t>
            </a:r>
            <a:r>
              <a:rPr lang="en-IN" sz="2400" dirty="0"/>
              <a:t>("(%d) address of p: %x\n",</a:t>
            </a:r>
            <a:r>
              <a:rPr lang="en-IN" sz="2400" dirty="0" err="1">
                <a:highlight>
                  <a:srgbClr val="FFFF00"/>
                </a:highlight>
              </a:rPr>
              <a:t>getpid</a:t>
            </a:r>
            <a:r>
              <a:rPr lang="en-IN" sz="2400" dirty="0">
                <a:highlight>
                  <a:srgbClr val="FFFF00"/>
                </a:highlight>
              </a:rPr>
              <a:t>(), </a:t>
            </a:r>
            <a:r>
              <a:rPr lang="en-IN" sz="2400" dirty="0"/>
              <a:t>(unsigned) p);</a:t>
            </a:r>
            <a:br>
              <a:rPr lang="en-IN" sz="2000" dirty="0"/>
            </a:br>
            <a:r>
              <a:rPr lang="en-IN" sz="2000" dirty="0"/>
              <a:t>	</a:t>
            </a:r>
            <a:r>
              <a:rPr lang="en-IN" sz="2400" dirty="0"/>
              <a:t>*p = 0;</a:t>
            </a:r>
            <a:br>
              <a:rPr lang="en-IN" sz="2000" dirty="0"/>
            </a:br>
            <a:r>
              <a:rPr lang="en-IN" sz="2000" dirty="0"/>
              <a:t>	</a:t>
            </a:r>
            <a:r>
              <a:rPr lang="en-IN" sz="2400" dirty="0"/>
              <a:t>int </a:t>
            </a:r>
            <a:r>
              <a:rPr lang="en-IN" sz="2400" dirty="0" err="1"/>
              <a:t>i</a:t>
            </a:r>
            <a:r>
              <a:rPr lang="en-IN" sz="2400" dirty="0"/>
              <a:t>=0;</a:t>
            </a:r>
            <a:br>
              <a:rPr lang="en-IN" sz="2000" dirty="0"/>
            </a:br>
            <a:r>
              <a:rPr lang="en-IN" sz="2000" dirty="0"/>
              <a:t>	</a:t>
            </a:r>
            <a:r>
              <a:rPr lang="en-IN" sz="2400" dirty="0"/>
              <a:t>while (1) {</a:t>
            </a:r>
            <a:br>
              <a:rPr lang="en-IN" sz="2000" dirty="0"/>
            </a:br>
            <a:r>
              <a:rPr lang="en-IN" sz="2000" dirty="0"/>
              <a:t>		</a:t>
            </a:r>
            <a:r>
              <a:rPr lang="en-IN" sz="2400" dirty="0"/>
              <a:t>sleep(1);</a:t>
            </a:r>
            <a:br>
              <a:rPr lang="en-IN" sz="2000" dirty="0"/>
            </a:br>
            <a:r>
              <a:rPr lang="en-IN" sz="2000" dirty="0"/>
              <a:t>		</a:t>
            </a:r>
            <a:r>
              <a:rPr lang="en-IN" sz="2400" dirty="0"/>
              <a:t>*p = *p + 1;</a:t>
            </a:r>
            <a:br>
              <a:rPr lang="en-IN" sz="2000" dirty="0"/>
            </a:br>
            <a:r>
              <a:rPr lang="en-IN" sz="2000" dirty="0"/>
              <a:t>		</a:t>
            </a:r>
            <a:r>
              <a:rPr lang="en-IN" sz="2400" dirty="0" err="1"/>
              <a:t>printf</a:t>
            </a:r>
            <a:r>
              <a:rPr lang="en-IN" sz="2400" dirty="0"/>
              <a:t>("(%d) p: %d\n", </a:t>
            </a:r>
            <a:r>
              <a:rPr lang="en-IN" sz="2400" dirty="0" err="1"/>
              <a:t>getpid</a:t>
            </a:r>
            <a:r>
              <a:rPr lang="en-IN" sz="2400" dirty="0"/>
              <a:t>(), *p);</a:t>
            </a:r>
            <a:br>
              <a:rPr lang="en-IN" sz="2000" dirty="0"/>
            </a:br>
            <a:r>
              <a:rPr lang="en-IN" sz="2400" dirty="0"/>
              <a:t>}</a:t>
            </a:r>
            <a:br>
              <a:rPr lang="en-IN" sz="2000" dirty="0"/>
            </a:br>
            <a:r>
              <a:rPr lang="en-IN" sz="2400" dirty="0"/>
              <a:t>return 0;</a:t>
            </a:r>
            <a:br>
              <a:rPr lang="en-IN" sz="2000" dirty="0"/>
            </a:br>
            <a:r>
              <a:rPr lang="en-IN" sz="2400" dirty="0"/>
              <a:t>}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069"/>
            <a:ext cx="8229600" cy="580768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Virtualizing the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835742"/>
            <a:ext cx="8544232" cy="6022258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Save</a:t>
            </a:r>
            <a:r>
              <a:rPr lang="en-IN" sz="2800" dirty="0">
                <a:latin typeface="Bookman Old Style" panose="02050604050505020204" pitchFamily="18" charset="0"/>
              </a:rPr>
              <a:t> as os2.c</a:t>
            </a:r>
          </a:p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Compile</a:t>
            </a:r>
            <a:r>
              <a:rPr lang="en-IN" sz="2800" dirty="0">
                <a:latin typeface="Bookman Old Style" panose="02050604050505020204" pitchFamily="18" charset="0"/>
              </a:rPr>
              <a:t> it: </a:t>
            </a:r>
            <a:r>
              <a:rPr lang="en-IN" sz="2800" dirty="0" err="1">
                <a:latin typeface="Bookman Old Style" panose="02050604050505020204" pitchFamily="18" charset="0"/>
              </a:rPr>
              <a:t>gcc</a:t>
            </a:r>
            <a:r>
              <a:rPr lang="en-IN" sz="2800" dirty="0">
                <a:latin typeface="Bookman Old Style" panose="02050604050505020204" pitchFamily="18" charset="0"/>
              </a:rPr>
              <a:t> os2.c –o os2</a:t>
            </a:r>
          </a:p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Run</a:t>
            </a:r>
            <a:r>
              <a:rPr lang="en-IN" sz="2800" dirty="0">
                <a:latin typeface="Bookman Old Style" panose="02050604050505020204" pitchFamily="18" charset="0"/>
              </a:rPr>
              <a:t>: ./os2</a:t>
            </a:r>
          </a:p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(10344) address of p: cf8962a0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(10344) p:1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(10344) p:2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(10344) p:3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(10344) p:4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(10344) p:5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IN" sz="28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8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8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069"/>
            <a:ext cx="8229600" cy="580768"/>
          </a:xfrm>
        </p:spPr>
        <p:txBody>
          <a:bodyPr>
            <a:normAutofit fontScale="90000"/>
          </a:bodyPr>
          <a:lstStyle/>
          <a:p>
            <a:r>
              <a:rPr lang="en-IN" dirty="0"/>
              <a:t>Virtualizing the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835742"/>
            <a:ext cx="8544232" cy="6022258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Save</a:t>
            </a:r>
            <a:r>
              <a:rPr lang="en-IN" sz="2800" dirty="0">
                <a:latin typeface="Bookman Old Style" panose="02050604050505020204" pitchFamily="18" charset="0"/>
              </a:rPr>
              <a:t> as os2.c</a:t>
            </a:r>
          </a:p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Compile</a:t>
            </a:r>
            <a:r>
              <a:rPr lang="en-IN" sz="2800" dirty="0">
                <a:latin typeface="Bookman Old Style" panose="02050604050505020204" pitchFamily="18" charset="0"/>
              </a:rPr>
              <a:t> it: </a:t>
            </a:r>
            <a:r>
              <a:rPr lang="en-IN" sz="2800" dirty="0" err="1">
                <a:latin typeface="Bookman Old Style" panose="02050604050505020204" pitchFamily="18" charset="0"/>
              </a:rPr>
              <a:t>gcc</a:t>
            </a:r>
            <a:r>
              <a:rPr lang="en-IN" sz="2800" dirty="0">
                <a:latin typeface="Bookman Old Style" panose="02050604050505020204" pitchFamily="18" charset="0"/>
              </a:rPr>
              <a:t> os2.c –o os2</a:t>
            </a:r>
          </a:p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Run</a:t>
            </a:r>
            <a:r>
              <a:rPr lang="en-IN" sz="2800" dirty="0">
                <a:latin typeface="Bookman Old Style" panose="02050604050505020204" pitchFamily="18" charset="0"/>
              </a:rPr>
              <a:t>: ./os2 &amp; ./os2 &amp;</a:t>
            </a:r>
          </a:p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(10828) address of p: 43be52a0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(10829) address of p: 161882a0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(10828) p:1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(10829) p:1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(10829) p:2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(10828) p:2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(10828) p:3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(10829) p:3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800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IN" sz="28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8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8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38" y="846138"/>
            <a:ext cx="7453329" cy="408765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1568"/>
            <a:ext cx="8229600" cy="649594"/>
          </a:xfrm>
        </p:spPr>
        <p:txBody>
          <a:bodyPr>
            <a:normAutofit fontScale="90000"/>
          </a:bodyPr>
          <a:lstStyle/>
          <a:p>
            <a:r>
              <a:rPr lang="en-IN" dirty="0"/>
              <a:t>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805" y="924232"/>
            <a:ext cx="8632723" cy="5761703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Concurrency is the </a:t>
            </a:r>
            <a:r>
              <a:rPr lang="en-US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execution of the multiple instruction sequences </a:t>
            </a:r>
            <a:r>
              <a:rPr lang="en-US" sz="2800" dirty="0">
                <a:latin typeface="Bookman Old Style" panose="02050604050505020204" pitchFamily="18" charset="0"/>
              </a:rPr>
              <a:t>at the same time.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Capability of an OS to </a:t>
            </a:r>
            <a:r>
              <a:rPr lang="en-US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handle more than one task or process at the same time</a:t>
            </a:r>
            <a:r>
              <a:rPr lang="en-US" sz="2800" dirty="0">
                <a:latin typeface="Bookman Old Style" panose="02050604050505020204" pitchFamily="18" charset="0"/>
              </a:rPr>
              <a:t>, thereby enhancing efficiency and responsiveness.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Allows several tasks to be in progress at the same time, either by running on </a:t>
            </a:r>
            <a:r>
              <a:rPr lang="en-US" sz="28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separate processors or through context switching on a single processor </a:t>
            </a:r>
          </a:p>
          <a:p>
            <a:pPr algn="just">
              <a:lnSpc>
                <a:spcPct val="150000"/>
              </a:lnSpc>
            </a:pPr>
            <a:endParaRPr lang="en-IN" sz="28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1568"/>
            <a:ext cx="8229600" cy="649594"/>
          </a:xfrm>
        </p:spPr>
        <p:txBody>
          <a:bodyPr>
            <a:normAutofit fontScale="90000"/>
          </a:bodyPr>
          <a:lstStyle/>
          <a:p>
            <a:r>
              <a:rPr lang="en-IN" dirty="0"/>
              <a:t>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805" y="924232"/>
            <a:ext cx="8632723" cy="5761703"/>
          </a:xfrm>
        </p:spPr>
        <p:txBody>
          <a:bodyPr>
            <a:normAutofit fontScale="92500" lnSpcReduction="10000"/>
          </a:bodyPr>
          <a:lstStyle/>
          <a:p>
            <a:pPr algn="just" fontAlgn="base">
              <a:lnSpc>
                <a:spcPct val="150000"/>
              </a:lnSpc>
            </a:pPr>
            <a:r>
              <a:rPr lang="en-IN" b="1" dirty="0">
                <a:latin typeface="Bookman Old Style" panose="02050604050505020204" pitchFamily="18" charset="0"/>
              </a:rPr>
              <a:t>Physical resource Sharing: </a:t>
            </a:r>
            <a:r>
              <a:rPr lang="en-IN" dirty="0">
                <a:latin typeface="Bookman Old Style" panose="02050604050505020204" pitchFamily="18" charset="0"/>
              </a:rPr>
              <a:t>Multiuser environment since hardware resources are limited</a:t>
            </a:r>
          </a:p>
          <a:p>
            <a:pPr algn="just" fontAlgn="base">
              <a:lnSpc>
                <a:spcPct val="150000"/>
              </a:lnSpc>
            </a:pPr>
            <a:r>
              <a:rPr lang="en-IN" b="1" dirty="0">
                <a:latin typeface="Bookman Old Style" panose="02050604050505020204" pitchFamily="18" charset="0"/>
              </a:rPr>
              <a:t>Logical resource Sharing: </a:t>
            </a:r>
            <a:r>
              <a:rPr lang="en-IN" dirty="0">
                <a:latin typeface="Bookman Old Style" panose="02050604050505020204" pitchFamily="18" charset="0"/>
              </a:rPr>
              <a:t>Shared file (same piece of information)</a:t>
            </a:r>
          </a:p>
          <a:p>
            <a:pPr algn="just" fontAlgn="base">
              <a:lnSpc>
                <a:spcPct val="150000"/>
              </a:lnSpc>
            </a:pPr>
            <a:r>
              <a:rPr lang="en-IN" b="1" dirty="0">
                <a:latin typeface="Bookman Old Style" panose="02050604050505020204" pitchFamily="18" charset="0"/>
              </a:rPr>
              <a:t>Computation Speedup: </a:t>
            </a:r>
            <a:r>
              <a:rPr lang="en-IN" dirty="0">
                <a:latin typeface="Bookman Old Style" panose="02050604050505020204" pitchFamily="18" charset="0"/>
              </a:rPr>
              <a:t>Parallel execution</a:t>
            </a:r>
          </a:p>
          <a:p>
            <a:pPr algn="just" fontAlgn="base">
              <a:lnSpc>
                <a:spcPct val="150000"/>
              </a:lnSpc>
            </a:pPr>
            <a:r>
              <a:rPr lang="en-IN" b="1" dirty="0">
                <a:latin typeface="Bookman Old Style" panose="02050604050505020204" pitchFamily="18" charset="0"/>
              </a:rPr>
              <a:t>Modularity: </a:t>
            </a:r>
            <a:r>
              <a:rPr lang="en-IN" dirty="0">
                <a:latin typeface="Bookman Old Style" panose="02050604050505020204" pitchFamily="18" charset="0"/>
              </a:rPr>
              <a:t>Divide system functions into separation processes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724566"/>
          </a:xfrm>
        </p:spPr>
        <p:txBody>
          <a:bodyPr>
            <a:normAutofit fontScale="90000"/>
          </a:bodyPr>
          <a:lstStyle/>
          <a:p>
            <a:r>
              <a:rPr lang="en-IN" dirty="0"/>
              <a:t>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904"/>
            <a:ext cx="8229600" cy="567321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Bookman Old Style" panose="02050604050505020204" pitchFamily="18" charset="0"/>
              </a:rPr>
              <a:t>Any data that the user wants to survive a system power-off needs to be written to </a:t>
            </a:r>
            <a:r>
              <a:rPr lang="en-US" sz="2400" b="1" dirty="0">
                <a:latin typeface="Bookman Old Style" panose="02050604050505020204" pitchFamily="18" charset="0"/>
              </a:rPr>
              <a:t>persistent storage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dirty="0">
                <a:latin typeface="Bookman Old Style" panose="02050604050505020204" pitchFamily="18" charset="0"/>
              </a:rPr>
              <a:t>Usually persistent storage, either mechanical or SSD, forms the bottom tier of the memory hierarchy. </a:t>
            </a:r>
          </a:p>
          <a:p>
            <a:pPr algn="just"/>
            <a:r>
              <a:rPr lang="en-US" sz="2400" dirty="0">
                <a:latin typeface="Bookman Old Style" panose="02050604050505020204" pitchFamily="18" charset="0"/>
              </a:rPr>
              <a:t>It is up to the OS to impose structure.</a:t>
            </a:r>
          </a:p>
          <a:p>
            <a:pPr algn="just"/>
            <a:r>
              <a:rPr lang="en-US" sz="2400" dirty="0">
                <a:latin typeface="Bookman Old Style" panose="02050604050505020204" pitchFamily="18" charset="0"/>
              </a:rPr>
              <a:t>The OS subsystem responsible for </a:t>
            </a:r>
            <a:r>
              <a:rPr lang="en-US" sz="2400" dirty="0" err="1">
                <a:latin typeface="Bookman Old Style" panose="02050604050505020204" pitchFamily="18" charset="0"/>
              </a:rPr>
              <a:t>organising</a:t>
            </a:r>
            <a:r>
              <a:rPr lang="en-US" sz="2400" dirty="0">
                <a:latin typeface="Bookman Old Style" panose="02050604050505020204" pitchFamily="18" charset="0"/>
              </a:rPr>
              <a:t> persistent storage is known as the </a:t>
            </a:r>
            <a:r>
              <a:rPr lang="en-US" sz="2400" b="1" dirty="0">
                <a:latin typeface="Bookman Old Style" panose="02050604050505020204" pitchFamily="18" charset="0"/>
              </a:rPr>
              <a:t>file system</a:t>
            </a:r>
            <a:r>
              <a:rPr lang="en-US" sz="2400" dirty="0">
                <a:latin typeface="Bookman Old Style" panose="02050604050505020204" pitchFamily="18" charset="0"/>
              </a:rPr>
              <a:t>. </a:t>
            </a:r>
          </a:p>
          <a:p>
            <a:pPr algn="just"/>
            <a:r>
              <a:rPr lang="en-US" sz="2400" dirty="0">
                <a:latin typeface="Bookman Old Style" panose="02050604050505020204" pitchFamily="18" charset="0"/>
              </a:rPr>
              <a:t>A file system groups related data into a single unit known as a </a:t>
            </a:r>
            <a:r>
              <a:rPr lang="en-US" sz="2400" b="1" dirty="0">
                <a:latin typeface="Bookman Old Style" panose="02050604050505020204" pitchFamily="18" charset="0"/>
              </a:rPr>
              <a:t>file</a:t>
            </a:r>
            <a:r>
              <a:rPr lang="en-US" sz="2400" dirty="0">
                <a:latin typeface="Bookman Old Style" panose="02050604050505020204" pitchFamily="18" charset="0"/>
              </a:rPr>
              <a:t>. </a:t>
            </a:r>
          </a:p>
          <a:p>
            <a:pPr algn="just"/>
            <a:r>
              <a:rPr lang="en-US" sz="2400" dirty="0">
                <a:latin typeface="Bookman Old Style" panose="02050604050505020204" pitchFamily="18" charset="0"/>
              </a:rPr>
              <a:t>The file system will provide some way of structuring files and expressing their relations to one another. </a:t>
            </a:r>
          </a:p>
          <a:p>
            <a:pPr algn="just"/>
            <a:endParaRPr lang="en-IN" sz="24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What an OS does: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Takes physical </a:t>
            </a:r>
            <a:r>
              <a:rPr lang="en-US" b="1" dirty="0"/>
              <a:t>resources</a:t>
            </a:r>
            <a:r>
              <a:rPr lang="en-US" dirty="0"/>
              <a:t>, such as a CPU, memory, or disk, and </a:t>
            </a:r>
            <a:r>
              <a:rPr lang="en-US" b="1" dirty="0"/>
              <a:t>virtualizes </a:t>
            </a:r>
            <a:r>
              <a:rPr lang="en-US" dirty="0"/>
              <a:t>them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Handles tough and tricky issues related to </a:t>
            </a:r>
            <a:r>
              <a:rPr lang="en-US" b="1" dirty="0"/>
              <a:t>concurrency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Stores files </a:t>
            </a:r>
            <a:r>
              <a:rPr lang="en-US" b="1" dirty="0"/>
              <a:t>persistently</a:t>
            </a:r>
            <a:r>
              <a:rPr lang="en-US" dirty="0"/>
              <a:t>, thus making them safe over the long-term.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Design Goal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858" y="503238"/>
            <a:ext cx="8229600" cy="47816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Build up some </a:t>
            </a:r>
            <a:r>
              <a:rPr lang="en-US" sz="2400" b="1" dirty="0">
                <a:latin typeface="Bookman Old Style" panose="02050604050505020204" pitchFamily="18" charset="0"/>
              </a:rPr>
              <a:t>abstractions </a:t>
            </a:r>
            <a:r>
              <a:rPr lang="en-US" sz="2400" dirty="0">
                <a:latin typeface="Bookman Old Style" panose="02050604050505020204" pitchFamily="18" charset="0"/>
              </a:rPr>
              <a:t>in order to make the system convenient and easy to use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Abstraction makes it possible to write a large program by 	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dividing it into small and understandable pieces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Write such a program in a high-level language like C  without thinking about assembly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Write code in assembly without thinking about logic gates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Build a processor out of gates without thinking too much about transistors. 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n-US" sz="2400" dirty="0">
                <a:latin typeface="Bookman Old Style" panose="02050604050505020204" pitchFamily="18" charset="0"/>
              </a:rPr>
            </a:br>
            <a:endParaRPr lang="en-IN" sz="24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7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Design Goal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858" y="1112838"/>
            <a:ext cx="8229600" cy="47816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Design and implementing an operating system to provide high </a:t>
            </a:r>
            <a:r>
              <a:rPr lang="en-US" b="1" dirty="0"/>
              <a:t>performance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Another way to say this is our goal is to </a:t>
            </a:r>
            <a:r>
              <a:rPr lang="en-US" b="1" dirty="0"/>
              <a:t>minimize the overheads </a:t>
            </a:r>
            <a:r>
              <a:rPr lang="en-US" dirty="0"/>
              <a:t>of the OS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404"/>
            <a:ext cx="8229600" cy="600433"/>
          </a:xfrm>
        </p:spPr>
        <p:txBody>
          <a:bodyPr>
            <a:normAutofit fontScale="90000"/>
          </a:bodyPr>
          <a:lstStyle/>
          <a:p>
            <a:r>
              <a:rPr lang="en-IN" dirty="0"/>
              <a:t>Design Goal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5574"/>
            <a:ext cx="8229600" cy="5810865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sz="2800" dirty="0"/>
              <a:t>Provide </a:t>
            </a:r>
            <a:r>
              <a:rPr lang="en-US" sz="2800" b="1" dirty="0"/>
              <a:t>protection </a:t>
            </a:r>
            <a:r>
              <a:rPr lang="en-US" sz="2800" dirty="0"/>
              <a:t>between applications, as well as between the OS and applications. </a:t>
            </a:r>
          </a:p>
          <a:p>
            <a:pPr algn="just">
              <a:lnSpc>
                <a:spcPct val="170000"/>
              </a:lnSpc>
            </a:pPr>
            <a:r>
              <a:rPr lang="en-US" sz="2800" dirty="0"/>
              <a:t>Make sure that the malicious or accidental bad behavior of one does not harm others</a:t>
            </a:r>
          </a:p>
          <a:p>
            <a:pPr algn="just">
              <a:lnSpc>
                <a:spcPct val="170000"/>
              </a:lnSpc>
            </a:pPr>
            <a:r>
              <a:rPr lang="en-US" sz="2800" dirty="0"/>
              <a:t>Don’t want an application to be able to harm the OS itself </a:t>
            </a:r>
          </a:p>
          <a:p>
            <a:pPr algn="just">
              <a:lnSpc>
                <a:spcPct val="170000"/>
              </a:lnSpc>
            </a:pPr>
            <a:r>
              <a:rPr lang="en-US" sz="2800" dirty="0"/>
              <a:t>Protection is at the heart of one of the main principles underlying an operating system: I</a:t>
            </a:r>
            <a:r>
              <a:rPr lang="en-US" sz="2800" b="1" dirty="0"/>
              <a:t>solation</a:t>
            </a:r>
          </a:p>
          <a:p>
            <a:pPr algn="just">
              <a:lnSpc>
                <a:spcPct val="170000"/>
              </a:lnSpc>
            </a:pPr>
            <a:r>
              <a:rPr lang="en-US" sz="2800" b="1" dirty="0"/>
              <a:t>I</a:t>
            </a:r>
            <a:r>
              <a:rPr lang="en-US" sz="2800" dirty="0"/>
              <a:t>solating processes from one another is the key</a:t>
            </a:r>
            <a:br>
              <a:rPr lang="en-US" sz="2800" dirty="0"/>
            </a:br>
            <a:r>
              <a:rPr lang="en-US" sz="2800" dirty="0"/>
              <a:t>to protection and thus underlies much of what an OS must do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Goal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Operating system must run non-stop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When it fails, all applications running on the system fail as well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Bookman Old Style" panose="02050604050505020204" pitchFamily="18" charset="0"/>
              </a:rPr>
              <a:t>Operating systems often strive to provide a high degree of </a:t>
            </a:r>
            <a:r>
              <a:rPr lang="en-US" sz="2800" b="1" dirty="0">
                <a:latin typeface="Bookman Old Style" panose="02050604050505020204" pitchFamily="18" charset="0"/>
              </a:rPr>
              <a:t>reliability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536"/>
            <a:ext cx="8229600" cy="53838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Bookman Old Style" panose="02050604050505020204" pitchFamily="18" charset="0"/>
              </a:rPr>
              <a:t>Energy-efficiency </a:t>
            </a:r>
            <a:r>
              <a:rPr lang="en-US" sz="2800" dirty="0">
                <a:latin typeface="Bookman Old Style" panose="02050604050505020204" pitchFamily="18" charset="0"/>
              </a:rPr>
              <a:t>is important in our increasingly green world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Bookman Old Style" panose="02050604050505020204" pitchFamily="18" charset="0"/>
              </a:rPr>
              <a:t>Security </a:t>
            </a:r>
            <a:r>
              <a:rPr lang="en-US" sz="2800" dirty="0">
                <a:latin typeface="Bookman Old Style" panose="02050604050505020204" pitchFamily="18" charset="0"/>
              </a:rPr>
              <a:t>(an extension of protection, really) against malicious applications is critical, especially in these highly-networked times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Bookman Old Style" panose="02050604050505020204" pitchFamily="18" charset="0"/>
              </a:rPr>
              <a:t>Mobility </a:t>
            </a:r>
            <a:r>
              <a:rPr lang="en-US" sz="2800" dirty="0">
                <a:latin typeface="Bookman Old Style" panose="02050604050505020204" pitchFamily="18" charset="0"/>
              </a:rPr>
              <a:t>is increasingly important as OS are run on smaller and smaller devices</a:t>
            </a:r>
            <a:br>
              <a:rPr lang="en-US" sz="2800" dirty="0">
                <a:latin typeface="Bookman Old Style" panose="02050604050505020204" pitchFamily="18" charset="0"/>
              </a:rPr>
            </a:br>
            <a:endParaRPr lang="en-IN" sz="28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2208</Words>
  <Application>Microsoft Office PowerPoint</Application>
  <PresentationFormat>On-screen Show (4:3)</PresentationFormat>
  <Paragraphs>312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Bookman Old Style</vt:lpstr>
      <vt:lpstr>Calibri</vt:lpstr>
      <vt:lpstr>Courier New</vt:lpstr>
      <vt:lpstr>Office Theme</vt:lpstr>
      <vt:lpstr>Operating Systems</vt:lpstr>
      <vt:lpstr>Icebreaker Question</vt:lpstr>
      <vt:lpstr>What are these processes?</vt:lpstr>
      <vt:lpstr>OS = Manager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happens if no OS is present?</vt:lpstr>
      <vt:lpstr>Without an OS, EVERYTHING is Your Responsibility</vt:lpstr>
      <vt:lpstr>Sample Scenario</vt:lpstr>
      <vt:lpstr>PowerPoint Presentation</vt:lpstr>
      <vt:lpstr>PowerPoint Presentation</vt:lpstr>
      <vt:lpstr>Operating Systems: Abstraction </vt:lpstr>
      <vt:lpstr>Why study operating systems ?</vt:lpstr>
      <vt:lpstr>What is a program?</vt:lpstr>
      <vt:lpstr>Running a C program</vt:lpstr>
      <vt:lpstr>Virtualizing the CPU</vt:lpstr>
      <vt:lpstr>Virtualizing the CPU</vt:lpstr>
      <vt:lpstr>Virtualizing the CPU</vt:lpstr>
      <vt:lpstr>Virtualizing the CPU</vt:lpstr>
      <vt:lpstr>Virtualizing the CPU</vt:lpstr>
      <vt:lpstr>PowerPoint Presentation</vt:lpstr>
      <vt:lpstr>PowerPoint Presentation</vt:lpstr>
      <vt:lpstr>Virtualizing the Memory</vt:lpstr>
      <vt:lpstr>Virtualizing the Memory</vt:lpstr>
      <vt:lpstr>Virtualizing the Memory</vt:lpstr>
      <vt:lpstr>PowerPoint Presentation</vt:lpstr>
      <vt:lpstr>Concurrency</vt:lpstr>
      <vt:lpstr>Concurrency</vt:lpstr>
      <vt:lpstr>Persistence</vt:lpstr>
      <vt:lpstr>Design Goals</vt:lpstr>
      <vt:lpstr>Design Goal 1</vt:lpstr>
      <vt:lpstr>Design Goal 2</vt:lpstr>
      <vt:lpstr>Design Goal 3</vt:lpstr>
      <vt:lpstr>Design Goal 4</vt:lpstr>
      <vt:lpstr>Other Design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JINI RAJU</dc:creator>
  <dc:description>generated using python-pptx</dc:description>
  <cp:lastModifiedBy>REENA GEORGE</cp:lastModifiedBy>
  <cp:revision>107</cp:revision>
  <dcterms:created xsi:type="dcterms:W3CDTF">2013-01-27T09:14:00Z</dcterms:created>
  <dcterms:modified xsi:type="dcterms:W3CDTF">2025-12-29T01:02:08Z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C30E20DCFA384931892B4C337CB02E5C_12</vt:lpwstr>
  </property>
  <property fmtid="{D5CDD505-2E9C-101B-9397-08002B2CF9AE}" pid="3" name="KSOProductBuildVer">
    <vt:lpwstr>1033-12.2.0.23196</vt:lpwstr>
  </property>
</Properties>
</file>