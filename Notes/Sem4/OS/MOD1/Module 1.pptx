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8" r:id="rId9"/>
    <p:sldId id="267" r:id="rId10"/>
    <p:sldId id="266" r:id="rId11"/>
    <p:sldId id="265" r:id="rId12"/>
    <p:sldId id="263" r:id="rId13"/>
    <p:sldId id="269" r:id="rId14"/>
    <p:sldId id="270" r:id="rId15"/>
    <p:sldId id="272" r:id="rId16"/>
    <p:sldId id="273" r:id="rId17"/>
    <p:sldId id="271" r:id="rId18"/>
    <p:sldId id="274" r:id="rId19"/>
    <p:sldId id="275" r:id="rId20"/>
    <p:sldId id="276" r:id="rId21"/>
    <p:sldId id="277" r:id="rId22"/>
    <p:sldId id="278" r:id="rId23"/>
    <p:sldId id="285" r:id="rId24"/>
    <p:sldId id="286" r:id="rId25"/>
    <p:sldId id="279" r:id="rId26"/>
    <p:sldId id="280" r:id="rId27"/>
    <p:sldId id="281" r:id="rId28"/>
    <p:sldId id="282" r:id="rId29"/>
    <p:sldId id="283" r:id="rId30"/>
    <p:sldId id="284"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0" d="100"/>
          <a:sy n="80" d="100"/>
        </p:scale>
        <p:origin x="78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BB15A-E9F3-4F44-E3E1-986FA672C50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2CD252B-0EA9-3AEA-031D-764FB3728B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66205D9-D4D8-F8DB-31EE-346B440AE847}"/>
              </a:ext>
            </a:extLst>
          </p:cNvPr>
          <p:cNvSpPr>
            <a:spLocks noGrp="1"/>
          </p:cNvSpPr>
          <p:nvPr>
            <p:ph type="dt" sz="half" idx="10"/>
          </p:nvPr>
        </p:nvSpPr>
        <p:spPr/>
        <p:txBody>
          <a:bodyPr/>
          <a:lstStyle/>
          <a:p>
            <a:fld id="{B3F66063-8BFD-4A2D-873D-BB914ED865B4}" type="datetimeFigureOut">
              <a:rPr lang="en-IN" smtClean="0"/>
              <a:t>17-12-2025</a:t>
            </a:fld>
            <a:endParaRPr lang="en-IN"/>
          </a:p>
        </p:txBody>
      </p:sp>
      <p:sp>
        <p:nvSpPr>
          <p:cNvPr id="5" name="Footer Placeholder 4">
            <a:extLst>
              <a:ext uri="{FF2B5EF4-FFF2-40B4-BE49-F238E27FC236}">
                <a16:creationId xmlns:a16="http://schemas.microsoft.com/office/drawing/2014/main" id="{C6B1AE6F-25F9-E784-CD6D-CD95B2ACD5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7B28D6-7723-082F-4B3D-CF4FCD39F84B}"/>
              </a:ext>
            </a:extLst>
          </p:cNvPr>
          <p:cNvSpPr>
            <a:spLocks noGrp="1"/>
          </p:cNvSpPr>
          <p:nvPr>
            <p:ph type="sldNum" sz="quarter" idx="12"/>
          </p:nvPr>
        </p:nvSpPr>
        <p:spPr/>
        <p:txBody>
          <a:bodyPr/>
          <a:lstStyle/>
          <a:p>
            <a:fld id="{68EC6851-32F2-476C-BD77-D4290A613A21}" type="slidenum">
              <a:rPr lang="en-IN" smtClean="0"/>
              <a:t>‹#›</a:t>
            </a:fld>
            <a:endParaRPr lang="en-IN"/>
          </a:p>
        </p:txBody>
      </p:sp>
    </p:spTree>
    <p:extLst>
      <p:ext uri="{BB962C8B-B14F-4D97-AF65-F5344CB8AC3E}">
        <p14:creationId xmlns:p14="http://schemas.microsoft.com/office/powerpoint/2010/main" val="504123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E6E6C-0F58-DA2C-A227-1385F23FE79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E8B5DF9-89B3-84D4-5F84-F1115FA4DF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AA1584-6B98-E98E-F989-AF8BA26FB296}"/>
              </a:ext>
            </a:extLst>
          </p:cNvPr>
          <p:cNvSpPr>
            <a:spLocks noGrp="1"/>
          </p:cNvSpPr>
          <p:nvPr>
            <p:ph type="dt" sz="half" idx="10"/>
          </p:nvPr>
        </p:nvSpPr>
        <p:spPr/>
        <p:txBody>
          <a:bodyPr/>
          <a:lstStyle/>
          <a:p>
            <a:fld id="{B3F66063-8BFD-4A2D-873D-BB914ED865B4}" type="datetimeFigureOut">
              <a:rPr lang="en-IN" smtClean="0"/>
              <a:t>17-12-2025</a:t>
            </a:fld>
            <a:endParaRPr lang="en-IN"/>
          </a:p>
        </p:txBody>
      </p:sp>
      <p:sp>
        <p:nvSpPr>
          <p:cNvPr id="5" name="Footer Placeholder 4">
            <a:extLst>
              <a:ext uri="{FF2B5EF4-FFF2-40B4-BE49-F238E27FC236}">
                <a16:creationId xmlns:a16="http://schemas.microsoft.com/office/drawing/2014/main" id="{66178809-D9FC-2130-C32E-6E2E1EDE41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45EB05-964A-4E6E-92DA-2C92F867A625}"/>
              </a:ext>
            </a:extLst>
          </p:cNvPr>
          <p:cNvSpPr>
            <a:spLocks noGrp="1"/>
          </p:cNvSpPr>
          <p:nvPr>
            <p:ph type="sldNum" sz="quarter" idx="12"/>
          </p:nvPr>
        </p:nvSpPr>
        <p:spPr/>
        <p:txBody>
          <a:bodyPr/>
          <a:lstStyle/>
          <a:p>
            <a:fld id="{68EC6851-32F2-476C-BD77-D4290A613A21}" type="slidenum">
              <a:rPr lang="en-IN" smtClean="0"/>
              <a:t>‹#›</a:t>
            </a:fld>
            <a:endParaRPr lang="en-IN"/>
          </a:p>
        </p:txBody>
      </p:sp>
    </p:spTree>
    <p:extLst>
      <p:ext uri="{BB962C8B-B14F-4D97-AF65-F5344CB8AC3E}">
        <p14:creationId xmlns:p14="http://schemas.microsoft.com/office/powerpoint/2010/main" val="3794469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B3385-B891-8CF1-8A60-DBB845BEA5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20E4B5-7B90-2FEC-1CD6-BA823A4F6C9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F800B1-4D25-C7CA-55DE-F99146064B5A}"/>
              </a:ext>
            </a:extLst>
          </p:cNvPr>
          <p:cNvSpPr>
            <a:spLocks noGrp="1"/>
          </p:cNvSpPr>
          <p:nvPr>
            <p:ph type="dt" sz="half" idx="10"/>
          </p:nvPr>
        </p:nvSpPr>
        <p:spPr/>
        <p:txBody>
          <a:bodyPr/>
          <a:lstStyle/>
          <a:p>
            <a:fld id="{B3F66063-8BFD-4A2D-873D-BB914ED865B4}" type="datetimeFigureOut">
              <a:rPr lang="en-IN" smtClean="0"/>
              <a:t>17-12-2025</a:t>
            </a:fld>
            <a:endParaRPr lang="en-IN"/>
          </a:p>
        </p:txBody>
      </p:sp>
      <p:sp>
        <p:nvSpPr>
          <p:cNvPr id="5" name="Footer Placeholder 4">
            <a:extLst>
              <a:ext uri="{FF2B5EF4-FFF2-40B4-BE49-F238E27FC236}">
                <a16:creationId xmlns:a16="http://schemas.microsoft.com/office/drawing/2014/main" id="{BE829481-2885-5218-2332-5E0F25AB2D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F6BD1A-3D48-7B40-87A1-C827B7203303}"/>
              </a:ext>
            </a:extLst>
          </p:cNvPr>
          <p:cNvSpPr>
            <a:spLocks noGrp="1"/>
          </p:cNvSpPr>
          <p:nvPr>
            <p:ph type="sldNum" sz="quarter" idx="12"/>
          </p:nvPr>
        </p:nvSpPr>
        <p:spPr/>
        <p:txBody>
          <a:bodyPr/>
          <a:lstStyle/>
          <a:p>
            <a:fld id="{68EC6851-32F2-476C-BD77-D4290A613A21}" type="slidenum">
              <a:rPr lang="en-IN" smtClean="0"/>
              <a:t>‹#›</a:t>
            </a:fld>
            <a:endParaRPr lang="en-IN"/>
          </a:p>
        </p:txBody>
      </p:sp>
    </p:spTree>
    <p:extLst>
      <p:ext uri="{BB962C8B-B14F-4D97-AF65-F5344CB8AC3E}">
        <p14:creationId xmlns:p14="http://schemas.microsoft.com/office/powerpoint/2010/main" val="6458890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09F81-57CD-9855-8FFD-F11A33EFD78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B39A367-3F3D-6BAC-22F0-0234998BBA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ABEFC1B-3678-CEE6-5C18-8BA66D3213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73EBF73-C297-1734-02E4-90A66E2227EC}"/>
              </a:ext>
            </a:extLst>
          </p:cNvPr>
          <p:cNvSpPr>
            <a:spLocks noGrp="1"/>
          </p:cNvSpPr>
          <p:nvPr>
            <p:ph type="dt" sz="half" idx="10"/>
          </p:nvPr>
        </p:nvSpPr>
        <p:spPr/>
        <p:txBody>
          <a:bodyPr/>
          <a:lstStyle/>
          <a:p>
            <a:fld id="{B3F66063-8BFD-4A2D-873D-BB914ED865B4}" type="datetimeFigureOut">
              <a:rPr lang="en-IN" smtClean="0"/>
              <a:t>17-12-2025</a:t>
            </a:fld>
            <a:endParaRPr lang="en-IN"/>
          </a:p>
        </p:txBody>
      </p:sp>
      <p:sp>
        <p:nvSpPr>
          <p:cNvPr id="6" name="Footer Placeholder 5">
            <a:extLst>
              <a:ext uri="{FF2B5EF4-FFF2-40B4-BE49-F238E27FC236}">
                <a16:creationId xmlns:a16="http://schemas.microsoft.com/office/drawing/2014/main" id="{CEA31D7D-DE6E-4C4C-0AB1-D2122D60B2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713B22-BBD2-65AF-7FC6-B20B9EB499C1}"/>
              </a:ext>
            </a:extLst>
          </p:cNvPr>
          <p:cNvSpPr>
            <a:spLocks noGrp="1"/>
          </p:cNvSpPr>
          <p:nvPr>
            <p:ph type="sldNum" sz="quarter" idx="12"/>
          </p:nvPr>
        </p:nvSpPr>
        <p:spPr/>
        <p:txBody>
          <a:bodyPr/>
          <a:lstStyle/>
          <a:p>
            <a:fld id="{68EC6851-32F2-476C-BD77-D4290A613A21}" type="slidenum">
              <a:rPr lang="en-IN" smtClean="0"/>
              <a:t>‹#›</a:t>
            </a:fld>
            <a:endParaRPr lang="en-IN"/>
          </a:p>
        </p:txBody>
      </p:sp>
    </p:spTree>
    <p:extLst>
      <p:ext uri="{BB962C8B-B14F-4D97-AF65-F5344CB8AC3E}">
        <p14:creationId xmlns:p14="http://schemas.microsoft.com/office/powerpoint/2010/main" val="2048791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4C40A-447C-7FFD-8C76-DE59107E0EC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C60564F-20F1-318F-03CF-32D387D860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CD0A45-098F-DD31-3B70-2F638EF54A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EF9B260-EC44-3DC3-09BD-C63F752332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7EEDDF-808D-A747-F411-476504E94A2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2C86EDC-223C-563D-3BC1-C28B01DF4010}"/>
              </a:ext>
            </a:extLst>
          </p:cNvPr>
          <p:cNvSpPr>
            <a:spLocks noGrp="1"/>
          </p:cNvSpPr>
          <p:nvPr>
            <p:ph type="dt" sz="half" idx="10"/>
          </p:nvPr>
        </p:nvSpPr>
        <p:spPr/>
        <p:txBody>
          <a:bodyPr/>
          <a:lstStyle/>
          <a:p>
            <a:fld id="{B3F66063-8BFD-4A2D-873D-BB914ED865B4}" type="datetimeFigureOut">
              <a:rPr lang="en-IN" smtClean="0"/>
              <a:t>17-12-2025</a:t>
            </a:fld>
            <a:endParaRPr lang="en-IN"/>
          </a:p>
        </p:txBody>
      </p:sp>
      <p:sp>
        <p:nvSpPr>
          <p:cNvPr id="8" name="Footer Placeholder 7">
            <a:extLst>
              <a:ext uri="{FF2B5EF4-FFF2-40B4-BE49-F238E27FC236}">
                <a16:creationId xmlns:a16="http://schemas.microsoft.com/office/drawing/2014/main" id="{5D0A9B24-2C02-7A0D-9D24-A59E8F62687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3557253-4732-5619-4DBD-29A76A422342}"/>
              </a:ext>
            </a:extLst>
          </p:cNvPr>
          <p:cNvSpPr>
            <a:spLocks noGrp="1"/>
          </p:cNvSpPr>
          <p:nvPr>
            <p:ph type="sldNum" sz="quarter" idx="12"/>
          </p:nvPr>
        </p:nvSpPr>
        <p:spPr/>
        <p:txBody>
          <a:bodyPr/>
          <a:lstStyle/>
          <a:p>
            <a:fld id="{68EC6851-32F2-476C-BD77-D4290A613A21}" type="slidenum">
              <a:rPr lang="en-IN" smtClean="0"/>
              <a:t>‹#›</a:t>
            </a:fld>
            <a:endParaRPr lang="en-IN"/>
          </a:p>
        </p:txBody>
      </p:sp>
    </p:spTree>
    <p:extLst>
      <p:ext uri="{BB962C8B-B14F-4D97-AF65-F5344CB8AC3E}">
        <p14:creationId xmlns:p14="http://schemas.microsoft.com/office/powerpoint/2010/main" val="52443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0A7A3-F34E-9192-ADE9-919DA8E0CE7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1CF0FE7-9712-C69B-5556-E0CE274E2A7D}"/>
              </a:ext>
            </a:extLst>
          </p:cNvPr>
          <p:cNvSpPr>
            <a:spLocks noGrp="1"/>
          </p:cNvSpPr>
          <p:nvPr>
            <p:ph type="dt" sz="half" idx="10"/>
          </p:nvPr>
        </p:nvSpPr>
        <p:spPr/>
        <p:txBody>
          <a:bodyPr/>
          <a:lstStyle/>
          <a:p>
            <a:fld id="{B3F66063-8BFD-4A2D-873D-BB914ED865B4}" type="datetimeFigureOut">
              <a:rPr lang="en-IN" smtClean="0"/>
              <a:t>17-12-2025</a:t>
            </a:fld>
            <a:endParaRPr lang="en-IN"/>
          </a:p>
        </p:txBody>
      </p:sp>
      <p:sp>
        <p:nvSpPr>
          <p:cNvPr id="4" name="Footer Placeholder 3">
            <a:extLst>
              <a:ext uri="{FF2B5EF4-FFF2-40B4-BE49-F238E27FC236}">
                <a16:creationId xmlns:a16="http://schemas.microsoft.com/office/drawing/2014/main" id="{911D35A9-6FB4-A75D-A864-916E0D6ECC3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937C610-403C-6503-E331-87DF34783996}"/>
              </a:ext>
            </a:extLst>
          </p:cNvPr>
          <p:cNvSpPr>
            <a:spLocks noGrp="1"/>
          </p:cNvSpPr>
          <p:nvPr>
            <p:ph type="sldNum" sz="quarter" idx="12"/>
          </p:nvPr>
        </p:nvSpPr>
        <p:spPr/>
        <p:txBody>
          <a:bodyPr/>
          <a:lstStyle/>
          <a:p>
            <a:fld id="{68EC6851-32F2-476C-BD77-D4290A613A21}" type="slidenum">
              <a:rPr lang="en-IN" smtClean="0"/>
              <a:t>‹#›</a:t>
            </a:fld>
            <a:endParaRPr lang="en-IN"/>
          </a:p>
        </p:txBody>
      </p:sp>
    </p:spTree>
    <p:extLst>
      <p:ext uri="{BB962C8B-B14F-4D97-AF65-F5344CB8AC3E}">
        <p14:creationId xmlns:p14="http://schemas.microsoft.com/office/powerpoint/2010/main" val="3141571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B46848-843F-18FD-D192-7DDA695A3DF4}"/>
              </a:ext>
            </a:extLst>
          </p:cNvPr>
          <p:cNvSpPr>
            <a:spLocks noGrp="1"/>
          </p:cNvSpPr>
          <p:nvPr>
            <p:ph type="dt" sz="half" idx="10"/>
          </p:nvPr>
        </p:nvSpPr>
        <p:spPr/>
        <p:txBody>
          <a:bodyPr/>
          <a:lstStyle/>
          <a:p>
            <a:fld id="{B3F66063-8BFD-4A2D-873D-BB914ED865B4}" type="datetimeFigureOut">
              <a:rPr lang="en-IN" smtClean="0"/>
              <a:t>17-12-2025</a:t>
            </a:fld>
            <a:endParaRPr lang="en-IN"/>
          </a:p>
        </p:txBody>
      </p:sp>
      <p:sp>
        <p:nvSpPr>
          <p:cNvPr id="3" name="Footer Placeholder 2">
            <a:extLst>
              <a:ext uri="{FF2B5EF4-FFF2-40B4-BE49-F238E27FC236}">
                <a16:creationId xmlns:a16="http://schemas.microsoft.com/office/drawing/2014/main" id="{94245601-D57E-49EF-4286-BB2927ED42C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509666-13E0-5F69-C00A-C8CA3049074A}"/>
              </a:ext>
            </a:extLst>
          </p:cNvPr>
          <p:cNvSpPr>
            <a:spLocks noGrp="1"/>
          </p:cNvSpPr>
          <p:nvPr>
            <p:ph type="sldNum" sz="quarter" idx="12"/>
          </p:nvPr>
        </p:nvSpPr>
        <p:spPr/>
        <p:txBody>
          <a:bodyPr/>
          <a:lstStyle/>
          <a:p>
            <a:fld id="{68EC6851-32F2-476C-BD77-D4290A613A21}" type="slidenum">
              <a:rPr lang="en-IN" smtClean="0"/>
              <a:t>‹#›</a:t>
            </a:fld>
            <a:endParaRPr lang="en-IN"/>
          </a:p>
        </p:txBody>
      </p:sp>
    </p:spTree>
    <p:extLst>
      <p:ext uri="{BB962C8B-B14F-4D97-AF65-F5344CB8AC3E}">
        <p14:creationId xmlns:p14="http://schemas.microsoft.com/office/powerpoint/2010/main" val="2954669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6B269-CB66-E21A-079A-721EFC09BA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2D065DD-4648-34FD-E3AA-0D7858B27B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658F7C8-B044-2D7E-6CFB-0B1C20CA65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9E01EC-A0CD-D70B-484B-A1BC7D781EBE}"/>
              </a:ext>
            </a:extLst>
          </p:cNvPr>
          <p:cNvSpPr>
            <a:spLocks noGrp="1"/>
          </p:cNvSpPr>
          <p:nvPr>
            <p:ph type="dt" sz="half" idx="10"/>
          </p:nvPr>
        </p:nvSpPr>
        <p:spPr/>
        <p:txBody>
          <a:bodyPr/>
          <a:lstStyle/>
          <a:p>
            <a:fld id="{B3F66063-8BFD-4A2D-873D-BB914ED865B4}" type="datetimeFigureOut">
              <a:rPr lang="en-IN" smtClean="0"/>
              <a:t>17-12-2025</a:t>
            </a:fld>
            <a:endParaRPr lang="en-IN"/>
          </a:p>
        </p:txBody>
      </p:sp>
      <p:sp>
        <p:nvSpPr>
          <p:cNvPr id="6" name="Footer Placeholder 5">
            <a:extLst>
              <a:ext uri="{FF2B5EF4-FFF2-40B4-BE49-F238E27FC236}">
                <a16:creationId xmlns:a16="http://schemas.microsoft.com/office/drawing/2014/main" id="{3EFBFA5A-6B92-43D1-D4B7-2BEE2C4B1E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78D30F-7B32-C196-E32B-C18DE8B99559}"/>
              </a:ext>
            </a:extLst>
          </p:cNvPr>
          <p:cNvSpPr>
            <a:spLocks noGrp="1"/>
          </p:cNvSpPr>
          <p:nvPr>
            <p:ph type="sldNum" sz="quarter" idx="12"/>
          </p:nvPr>
        </p:nvSpPr>
        <p:spPr/>
        <p:txBody>
          <a:bodyPr/>
          <a:lstStyle/>
          <a:p>
            <a:fld id="{68EC6851-32F2-476C-BD77-D4290A613A21}" type="slidenum">
              <a:rPr lang="en-IN" smtClean="0"/>
              <a:t>‹#›</a:t>
            </a:fld>
            <a:endParaRPr lang="en-IN"/>
          </a:p>
        </p:txBody>
      </p:sp>
    </p:spTree>
    <p:extLst>
      <p:ext uri="{BB962C8B-B14F-4D97-AF65-F5344CB8AC3E}">
        <p14:creationId xmlns:p14="http://schemas.microsoft.com/office/powerpoint/2010/main" val="34116627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2EC7D-7F26-0A76-6D69-11A4DEFC03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961B1F3-4104-9834-306E-3FF2B96501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ECAAE57-3DE4-FEDB-7782-CDF6A5FA0E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7E46D7-58E2-A4D5-38EB-32DD9E88D081}"/>
              </a:ext>
            </a:extLst>
          </p:cNvPr>
          <p:cNvSpPr>
            <a:spLocks noGrp="1"/>
          </p:cNvSpPr>
          <p:nvPr>
            <p:ph type="dt" sz="half" idx="10"/>
          </p:nvPr>
        </p:nvSpPr>
        <p:spPr/>
        <p:txBody>
          <a:bodyPr/>
          <a:lstStyle/>
          <a:p>
            <a:fld id="{B3F66063-8BFD-4A2D-873D-BB914ED865B4}" type="datetimeFigureOut">
              <a:rPr lang="en-IN" smtClean="0"/>
              <a:t>17-12-2025</a:t>
            </a:fld>
            <a:endParaRPr lang="en-IN"/>
          </a:p>
        </p:txBody>
      </p:sp>
      <p:sp>
        <p:nvSpPr>
          <p:cNvPr id="6" name="Footer Placeholder 5">
            <a:extLst>
              <a:ext uri="{FF2B5EF4-FFF2-40B4-BE49-F238E27FC236}">
                <a16:creationId xmlns:a16="http://schemas.microsoft.com/office/drawing/2014/main" id="{907A5CE5-C939-32E6-8A51-375E752034B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A7AA0B-9436-DCE4-1829-503B37BC0C84}"/>
              </a:ext>
            </a:extLst>
          </p:cNvPr>
          <p:cNvSpPr>
            <a:spLocks noGrp="1"/>
          </p:cNvSpPr>
          <p:nvPr>
            <p:ph type="sldNum" sz="quarter" idx="12"/>
          </p:nvPr>
        </p:nvSpPr>
        <p:spPr/>
        <p:txBody>
          <a:bodyPr/>
          <a:lstStyle/>
          <a:p>
            <a:fld id="{68EC6851-32F2-476C-BD77-D4290A613A21}" type="slidenum">
              <a:rPr lang="en-IN" smtClean="0"/>
              <a:t>‹#›</a:t>
            </a:fld>
            <a:endParaRPr lang="en-IN"/>
          </a:p>
        </p:txBody>
      </p:sp>
    </p:spTree>
    <p:extLst>
      <p:ext uri="{BB962C8B-B14F-4D97-AF65-F5344CB8AC3E}">
        <p14:creationId xmlns:p14="http://schemas.microsoft.com/office/powerpoint/2010/main" val="154908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52A69-866A-993B-C3F8-A05C485512D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616EFF7-95DC-1299-D139-8B60C51F9CE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A88158-80DD-168B-4D1C-3841FE7F09F0}"/>
              </a:ext>
            </a:extLst>
          </p:cNvPr>
          <p:cNvSpPr>
            <a:spLocks noGrp="1"/>
          </p:cNvSpPr>
          <p:nvPr>
            <p:ph type="dt" sz="half" idx="10"/>
          </p:nvPr>
        </p:nvSpPr>
        <p:spPr/>
        <p:txBody>
          <a:bodyPr/>
          <a:lstStyle/>
          <a:p>
            <a:fld id="{B3F66063-8BFD-4A2D-873D-BB914ED865B4}" type="datetimeFigureOut">
              <a:rPr lang="en-IN" smtClean="0"/>
              <a:t>17-12-2025</a:t>
            </a:fld>
            <a:endParaRPr lang="en-IN"/>
          </a:p>
        </p:txBody>
      </p:sp>
      <p:sp>
        <p:nvSpPr>
          <p:cNvPr id="5" name="Footer Placeholder 4">
            <a:extLst>
              <a:ext uri="{FF2B5EF4-FFF2-40B4-BE49-F238E27FC236}">
                <a16:creationId xmlns:a16="http://schemas.microsoft.com/office/drawing/2014/main" id="{051F1D6A-8570-3BD1-C21F-2D30EE1D3A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6D93C5-314C-DB60-577F-1DE0AF294E7C}"/>
              </a:ext>
            </a:extLst>
          </p:cNvPr>
          <p:cNvSpPr>
            <a:spLocks noGrp="1"/>
          </p:cNvSpPr>
          <p:nvPr>
            <p:ph type="sldNum" sz="quarter" idx="12"/>
          </p:nvPr>
        </p:nvSpPr>
        <p:spPr/>
        <p:txBody>
          <a:bodyPr/>
          <a:lstStyle/>
          <a:p>
            <a:fld id="{68EC6851-32F2-476C-BD77-D4290A613A21}" type="slidenum">
              <a:rPr lang="en-IN" smtClean="0"/>
              <a:t>‹#›</a:t>
            </a:fld>
            <a:endParaRPr lang="en-IN"/>
          </a:p>
        </p:txBody>
      </p:sp>
    </p:spTree>
    <p:extLst>
      <p:ext uri="{BB962C8B-B14F-4D97-AF65-F5344CB8AC3E}">
        <p14:creationId xmlns:p14="http://schemas.microsoft.com/office/powerpoint/2010/main" val="768750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587BA9-1B47-0830-2663-0EC8FA1FC9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FC66AFA-7EDF-8892-4D05-3BC691D2B6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A2E4F8-DD9F-720E-401E-AB97F8D29D1A}"/>
              </a:ext>
            </a:extLst>
          </p:cNvPr>
          <p:cNvSpPr>
            <a:spLocks noGrp="1"/>
          </p:cNvSpPr>
          <p:nvPr>
            <p:ph type="dt" sz="half" idx="10"/>
          </p:nvPr>
        </p:nvSpPr>
        <p:spPr/>
        <p:txBody>
          <a:bodyPr/>
          <a:lstStyle/>
          <a:p>
            <a:fld id="{B3F66063-8BFD-4A2D-873D-BB914ED865B4}" type="datetimeFigureOut">
              <a:rPr lang="en-IN" smtClean="0"/>
              <a:t>17-12-2025</a:t>
            </a:fld>
            <a:endParaRPr lang="en-IN"/>
          </a:p>
        </p:txBody>
      </p:sp>
      <p:sp>
        <p:nvSpPr>
          <p:cNvPr id="5" name="Footer Placeholder 4">
            <a:extLst>
              <a:ext uri="{FF2B5EF4-FFF2-40B4-BE49-F238E27FC236}">
                <a16:creationId xmlns:a16="http://schemas.microsoft.com/office/drawing/2014/main" id="{CA5768E0-1F62-47FD-BACC-EF7E08E8F3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E9F181-07F9-B0D8-32C6-FC5351D0D9F0}"/>
              </a:ext>
            </a:extLst>
          </p:cNvPr>
          <p:cNvSpPr>
            <a:spLocks noGrp="1"/>
          </p:cNvSpPr>
          <p:nvPr>
            <p:ph type="sldNum" sz="quarter" idx="12"/>
          </p:nvPr>
        </p:nvSpPr>
        <p:spPr/>
        <p:txBody>
          <a:bodyPr/>
          <a:lstStyle/>
          <a:p>
            <a:fld id="{68EC6851-32F2-476C-BD77-D4290A613A21}" type="slidenum">
              <a:rPr lang="en-IN" smtClean="0"/>
              <a:t>‹#›</a:t>
            </a:fld>
            <a:endParaRPr lang="en-IN"/>
          </a:p>
        </p:txBody>
      </p:sp>
    </p:spTree>
    <p:extLst>
      <p:ext uri="{BB962C8B-B14F-4D97-AF65-F5344CB8AC3E}">
        <p14:creationId xmlns:p14="http://schemas.microsoft.com/office/powerpoint/2010/main" val="40573247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44E940-10EB-F043-6BFB-C95BA2A20B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82FD09B-38D2-04C1-4608-DDAC818D41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198342-EE97-19A2-2A3C-6F4AF5207A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F66063-8BFD-4A2D-873D-BB914ED865B4}" type="datetimeFigureOut">
              <a:rPr lang="en-IN" smtClean="0"/>
              <a:t>17-12-2025</a:t>
            </a:fld>
            <a:endParaRPr lang="en-IN"/>
          </a:p>
        </p:txBody>
      </p:sp>
      <p:sp>
        <p:nvSpPr>
          <p:cNvPr id="5" name="Footer Placeholder 4">
            <a:extLst>
              <a:ext uri="{FF2B5EF4-FFF2-40B4-BE49-F238E27FC236}">
                <a16:creationId xmlns:a16="http://schemas.microsoft.com/office/drawing/2014/main" id="{71D45E7B-1909-4518-6A3D-AADAE0CAF3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94A0672-EF8E-4FE3-6BD2-A3C5B3233B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EC6851-32F2-476C-BD77-D4290A613A21}" type="slidenum">
              <a:rPr lang="en-IN" smtClean="0"/>
              <a:t>‹#›</a:t>
            </a:fld>
            <a:endParaRPr lang="en-IN"/>
          </a:p>
        </p:txBody>
      </p:sp>
    </p:spTree>
    <p:extLst>
      <p:ext uri="{BB962C8B-B14F-4D97-AF65-F5344CB8AC3E}">
        <p14:creationId xmlns:p14="http://schemas.microsoft.com/office/powerpoint/2010/main" val="10088916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6E72A-1FDC-1A05-2C23-88A13C84A385}"/>
              </a:ext>
            </a:extLst>
          </p:cNvPr>
          <p:cNvSpPr>
            <a:spLocks noGrp="1"/>
          </p:cNvSpPr>
          <p:nvPr>
            <p:ph type="ctrTitle"/>
          </p:nvPr>
        </p:nvSpPr>
        <p:spPr/>
        <p:txBody>
          <a:bodyPr>
            <a:normAutofit/>
          </a:bodyPr>
          <a:lstStyle/>
          <a:p>
            <a:r>
              <a:rPr lang="en-US" altLang="en-US" sz="5400" dirty="0"/>
              <a:t>Module 1:  Introduction to OS</a:t>
            </a:r>
            <a:endParaRPr lang="en-IN" sz="5400" dirty="0"/>
          </a:p>
        </p:txBody>
      </p:sp>
      <p:sp>
        <p:nvSpPr>
          <p:cNvPr id="3" name="Subtitle 2">
            <a:extLst>
              <a:ext uri="{FF2B5EF4-FFF2-40B4-BE49-F238E27FC236}">
                <a16:creationId xmlns:a16="http://schemas.microsoft.com/office/drawing/2014/main" id="{E0ADB9FE-267D-5F5D-55BE-9F4F6D5BFFD4}"/>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844675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0CE92-01CF-AB2E-E311-9A3F9962F9F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8479687-0547-86B2-C2E5-1CA4A082892D}"/>
              </a:ext>
            </a:extLst>
          </p:cNvPr>
          <p:cNvSpPr>
            <a:spLocks noGrp="1"/>
          </p:cNvSpPr>
          <p:nvPr>
            <p:ph idx="1"/>
          </p:nvPr>
        </p:nvSpPr>
        <p:spPr/>
        <p:txBody>
          <a:bodyPr/>
          <a:lstStyle/>
          <a:p>
            <a:r>
              <a:rPr lang="en-US" dirty="0"/>
              <a:t>Introduction to Operating Systems: Virtualizing the CPU, Virtualizing the memory, Concurrency, Persistence, Design Goals. Components of an OS, Types of OS, Operating System structure - Simple structure, Layered approach, Microkernel, Modules, Generalized view of System Calls, System boot process. </a:t>
            </a:r>
            <a:endParaRPr lang="en-IN" dirty="0"/>
          </a:p>
        </p:txBody>
      </p:sp>
    </p:spTree>
    <p:extLst>
      <p:ext uri="{BB962C8B-B14F-4D97-AF65-F5344CB8AC3E}">
        <p14:creationId xmlns:p14="http://schemas.microsoft.com/office/powerpoint/2010/main" val="20070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83B97-F926-B83E-93E4-00478A0C7C5F}"/>
              </a:ext>
            </a:extLst>
          </p:cNvPr>
          <p:cNvSpPr>
            <a:spLocks noGrp="1"/>
          </p:cNvSpPr>
          <p:nvPr>
            <p:ph type="title"/>
          </p:nvPr>
        </p:nvSpPr>
        <p:spPr/>
        <p:txBody>
          <a:bodyPr/>
          <a:lstStyle/>
          <a:p>
            <a:r>
              <a:rPr lang="en-US" altLang="en-US" dirty="0"/>
              <a:t>What is an Operating System?</a:t>
            </a:r>
            <a:endParaRPr lang="en-IN" dirty="0"/>
          </a:p>
        </p:txBody>
      </p:sp>
      <p:sp>
        <p:nvSpPr>
          <p:cNvPr id="3" name="Content Placeholder 2">
            <a:extLst>
              <a:ext uri="{FF2B5EF4-FFF2-40B4-BE49-F238E27FC236}">
                <a16:creationId xmlns:a16="http://schemas.microsoft.com/office/drawing/2014/main" id="{2B9ABFE4-D3A7-EA9A-5C1B-ACAE57F404F8}"/>
              </a:ext>
            </a:extLst>
          </p:cNvPr>
          <p:cNvSpPr>
            <a:spLocks noGrp="1"/>
          </p:cNvSpPr>
          <p:nvPr>
            <p:ph idx="1"/>
          </p:nvPr>
        </p:nvSpPr>
        <p:spPr/>
        <p:txBody>
          <a:bodyPr/>
          <a:lstStyle/>
          <a:p>
            <a:r>
              <a:rPr lang="en-US" altLang="en-US" b="1" dirty="0"/>
              <a:t>An operating system</a:t>
            </a:r>
            <a:r>
              <a:rPr lang="en-US" altLang="en-US" dirty="0"/>
              <a:t> is a software that </a:t>
            </a:r>
            <a:r>
              <a:rPr lang="en-US" altLang="en-US" u="sng" dirty="0"/>
              <a:t>manages a computer’s hardware</a:t>
            </a:r>
            <a:r>
              <a:rPr lang="en-US" altLang="en-US" dirty="0"/>
              <a:t>.</a:t>
            </a:r>
          </a:p>
          <a:p>
            <a:pPr marL="0" indent="0">
              <a:buNone/>
            </a:pPr>
            <a:endParaRPr lang="en-US" altLang="en-US" dirty="0"/>
          </a:p>
          <a:p>
            <a:r>
              <a:rPr lang="en-US" altLang="en-US" dirty="0"/>
              <a:t> It also provides a </a:t>
            </a:r>
            <a:r>
              <a:rPr lang="en-US" altLang="en-US" u="sng" dirty="0"/>
              <a:t>basis for application programs</a:t>
            </a:r>
            <a:r>
              <a:rPr lang="en-US" altLang="en-US" dirty="0"/>
              <a:t> and acts as an </a:t>
            </a:r>
            <a:r>
              <a:rPr lang="en-US" altLang="en-US" u="sng" dirty="0"/>
              <a:t>intermediary</a:t>
            </a:r>
            <a:r>
              <a:rPr lang="en-US" altLang="en-US" dirty="0"/>
              <a:t> between the</a:t>
            </a:r>
            <a:r>
              <a:rPr lang="en-US" altLang="en-US" dirty="0">
                <a:solidFill>
                  <a:srgbClr val="C00000"/>
                </a:solidFill>
              </a:rPr>
              <a:t> computer user</a:t>
            </a:r>
            <a:r>
              <a:rPr lang="en-US" altLang="en-US" dirty="0"/>
              <a:t> and the </a:t>
            </a:r>
            <a:r>
              <a:rPr lang="en-US" altLang="en-US" dirty="0">
                <a:solidFill>
                  <a:srgbClr val="C00000"/>
                </a:solidFill>
              </a:rPr>
              <a:t>computer hardware.</a:t>
            </a:r>
          </a:p>
          <a:p>
            <a:pPr marL="0" indent="0">
              <a:buNone/>
            </a:pPr>
            <a:endParaRPr lang="en-IN" dirty="0"/>
          </a:p>
        </p:txBody>
      </p:sp>
    </p:spTree>
    <p:extLst>
      <p:ext uri="{BB962C8B-B14F-4D97-AF65-F5344CB8AC3E}">
        <p14:creationId xmlns:p14="http://schemas.microsoft.com/office/powerpoint/2010/main" val="992294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FEFFE-B9EC-B5E0-D147-1D0DA98A6CF3}"/>
              </a:ext>
            </a:extLst>
          </p:cNvPr>
          <p:cNvSpPr>
            <a:spLocks noGrp="1"/>
          </p:cNvSpPr>
          <p:nvPr>
            <p:ph type="title"/>
          </p:nvPr>
        </p:nvSpPr>
        <p:spPr/>
        <p:txBody>
          <a:bodyPr/>
          <a:lstStyle/>
          <a:p>
            <a:r>
              <a:rPr lang="en-US" altLang="en-US" dirty="0"/>
              <a:t>Operating system goals</a:t>
            </a:r>
            <a:br>
              <a:rPr lang="en-US" altLang="en-US" dirty="0"/>
            </a:br>
            <a:endParaRPr lang="en-IN" dirty="0"/>
          </a:p>
        </p:txBody>
      </p:sp>
      <p:sp>
        <p:nvSpPr>
          <p:cNvPr id="3" name="Content Placeholder 2">
            <a:extLst>
              <a:ext uri="{FF2B5EF4-FFF2-40B4-BE49-F238E27FC236}">
                <a16:creationId xmlns:a16="http://schemas.microsoft.com/office/drawing/2014/main" id="{C75AEFF5-D374-3C00-0F9A-276D84F68AFE}"/>
              </a:ext>
            </a:extLst>
          </p:cNvPr>
          <p:cNvSpPr>
            <a:spLocks noGrp="1"/>
          </p:cNvSpPr>
          <p:nvPr>
            <p:ph idx="1"/>
          </p:nvPr>
        </p:nvSpPr>
        <p:spPr/>
        <p:txBody>
          <a:bodyPr/>
          <a:lstStyle/>
          <a:p>
            <a:pPr lvl="1"/>
            <a:r>
              <a:rPr lang="en-US" altLang="en-US" sz="2800" dirty="0"/>
              <a:t>Execute user programs and make solving user problems easier</a:t>
            </a:r>
          </a:p>
          <a:p>
            <a:pPr marL="457200" lvl="1" indent="0">
              <a:buNone/>
            </a:pPr>
            <a:endParaRPr lang="en-US" altLang="en-US" sz="2800" dirty="0"/>
          </a:p>
          <a:p>
            <a:pPr lvl="1"/>
            <a:r>
              <a:rPr lang="en-US" altLang="en-US" sz="2800" dirty="0"/>
              <a:t>Make the computer system convenient to use</a:t>
            </a:r>
          </a:p>
          <a:p>
            <a:pPr marL="457200" lvl="1" indent="0">
              <a:buNone/>
            </a:pPr>
            <a:endParaRPr lang="en-US" altLang="en-US" sz="2800" dirty="0"/>
          </a:p>
          <a:p>
            <a:pPr lvl="1"/>
            <a:r>
              <a:rPr lang="en-US" altLang="en-US" sz="2800" dirty="0"/>
              <a:t>Use the computer hardware in an efficient manner</a:t>
            </a:r>
          </a:p>
          <a:p>
            <a:endParaRPr lang="en-IN" dirty="0"/>
          </a:p>
        </p:txBody>
      </p:sp>
    </p:spTree>
    <p:extLst>
      <p:ext uri="{BB962C8B-B14F-4D97-AF65-F5344CB8AC3E}">
        <p14:creationId xmlns:p14="http://schemas.microsoft.com/office/powerpoint/2010/main" val="2785423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0DCA0-0CAE-A058-9A2F-1516B541338B}"/>
              </a:ext>
            </a:extLst>
          </p:cNvPr>
          <p:cNvSpPr>
            <a:spLocks noGrp="1"/>
          </p:cNvSpPr>
          <p:nvPr>
            <p:ph type="title"/>
          </p:nvPr>
        </p:nvSpPr>
        <p:spPr/>
        <p:txBody>
          <a:bodyPr/>
          <a:lstStyle/>
          <a:p>
            <a:r>
              <a:rPr lang="en-US" altLang="en-US" sz="4400" dirty="0"/>
              <a:t>Abstract View of Components of Computer</a:t>
            </a:r>
            <a:endParaRPr lang="en-IN" dirty="0"/>
          </a:p>
        </p:txBody>
      </p:sp>
      <p:pic>
        <p:nvPicPr>
          <p:cNvPr id="4" name="Picture 4">
            <a:extLst>
              <a:ext uri="{FF2B5EF4-FFF2-40B4-BE49-F238E27FC236}">
                <a16:creationId xmlns:a16="http://schemas.microsoft.com/office/drawing/2014/main" id="{83656837-8F15-894E-CB1B-71961EBA8F4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132326" y="2610263"/>
            <a:ext cx="3927348" cy="278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59524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05E76-0D49-9FC9-F3BE-AE669C03CC2B}"/>
              </a:ext>
            </a:extLst>
          </p:cNvPr>
          <p:cNvSpPr>
            <a:spLocks noGrp="1"/>
          </p:cNvSpPr>
          <p:nvPr>
            <p:ph type="title"/>
          </p:nvPr>
        </p:nvSpPr>
        <p:spPr/>
        <p:txBody>
          <a:bodyPr/>
          <a:lstStyle/>
          <a:p>
            <a:r>
              <a:rPr lang="en-US" altLang="en-US" dirty="0"/>
              <a:t>Components of an operating system</a:t>
            </a:r>
            <a:br>
              <a:rPr lang="en-US" altLang="en-US" sz="4400" b="1" dirty="0">
                <a:solidFill>
                  <a:schemeClr val="accent2"/>
                </a:solidFill>
              </a:rPr>
            </a:br>
            <a:endParaRPr lang="en-IN" dirty="0"/>
          </a:p>
        </p:txBody>
      </p:sp>
      <p:pic>
        <p:nvPicPr>
          <p:cNvPr id="4" name="Picture 7">
            <a:extLst>
              <a:ext uri="{FF2B5EF4-FFF2-40B4-BE49-F238E27FC236}">
                <a16:creationId xmlns:a16="http://schemas.microsoft.com/office/drawing/2014/main" id="{2E38E0F5-9C75-4284-2AF2-A248A7B2C68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48017" y="2540934"/>
            <a:ext cx="8095966" cy="2920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0703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97E74-41BF-1F89-AF90-05DF0106531E}"/>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2437A2B3-014F-8BAC-20AD-67EAEF155C0D}"/>
              </a:ext>
            </a:extLst>
          </p:cNvPr>
          <p:cNvSpPr>
            <a:spLocks noGrp="1"/>
          </p:cNvSpPr>
          <p:nvPr>
            <p:ph idx="1"/>
          </p:nvPr>
        </p:nvSpPr>
        <p:spPr/>
        <p:txBody>
          <a:bodyPr/>
          <a:lstStyle/>
          <a:p>
            <a:r>
              <a:rPr lang="en-US" altLang="en-US" sz="2800" dirty="0"/>
              <a:t>Process Management </a:t>
            </a:r>
          </a:p>
          <a:p>
            <a:r>
              <a:rPr lang="en-US" altLang="en-US" sz="2800" dirty="0"/>
              <a:t>Main Memory Management</a:t>
            </a:r>
          </a:p>
          <a:p>
            <a:r>
              <a:rPr lang="en-US" altLang="en-US" sz="2800" dirty="0"/>
              <a:t>File Management</a:t>
            </a:r>
          </a:p>
          <a:p>
            <a:r>
              <a:rPr lang="en-US" altLang="en-US" sz="2800" dirty="0"/>
              <a:t>I/O System Management</a:t>
            </a:r>
          </a:p>
          <a:p>
            <a:r>
              <a:rPr lang="en-US" altLang="en-US" sz="2800" dirty="0"/>
              <a:t>Networking</a:t>
            </a:r>
          </a:p>
          <a:p>
            <a:r>
              <a:rPr lang="en-US" altLang="en-US" sz="2800" dirty="0"/>
              <a:t>Protection System</a:t>
            </a:r>
          </a:p>
          <a:p>
            <a:r>
              <a:rPr lang="en-US" altLang="en-US" sz="2800" dirty="0"/>
              <a:t>Command-Interpreter System</a:t>
            </a:r>
            <a:endParaRPr lang="en-IN" dirty="0"/>
          </a:p>
        </p:txBody>
      </p:sp>
    </p:spTree>
    <p:extLst>
      <p:ext uri="{BB962C8B-B14F-4D97-AF65-F5344CB8AC3E}">
        <p14:creationId xmlns:p14="http://schemas.microsoft.com/office/powerpoint/2010/main" val="38229057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43B94-7BA1-C93B-DD1C-7DF75DCBF0B0}"/>
              </a:ext>
            </a:extLst>
          </p:cNvPr>
          <p:cNvSpPr>
            <a:spLocks noGrp="1"/>
          </p:cNvSpPr>
          <p:nvPr>
            <p:ph type="title"/>
          </p:nvPr>
        </p:nvSpPr>
        <p:spPr/>
        <p:txBody>
          <a:bodyPr/>
          <a:lstStyle/>
          <a:p>
            <a:r>
              <a:rPr lang="en-US" altLang="en-US" sz="4400" dirty="0"/>
              <a:t>Process Management </a:t>
            </a:r>
            <a:br>
              <a:rPr lang="en-US" altLang="en-US" sz="4400" dirty="0"/>
            </a:br>
            <a:endParaRPr lang="en-IN" dirty="0"/>
          </a:p>
        </p:txBody>
      </p:sp>
      <p:sp>
        <p:nvSpPr>
          <p:cNvPr id="3" name="Content Placeholder 2">
            <a:extLst>
              <a:ext uri="{FF2B5EF4-FFF2-40B4-BE49-F238E27FC236}">
                <a16:creationId xmlns:a16="http://schemas.microsoft.com/office/drawing/2014/main" id="{38D620C9-35BD-D6B1-E071-079C2FBC6E0C}"/>
              </a:ext>
            </a:extLst>
          </p:cNvPr>
          <p:cNvSpPr>
            <a:spLocks noGrp="1"/>
          </p:cNvSpPr>
          <p:nvPr>
            <p:ph idx="1"/>
          </p:nvPr>
        </p:nvSpPr>
        <p:spPr/>
        <p:txBody>
          <a:bodyPr/>
          <a:lstStyle/>
          <a:p>
            <a:r>
              <a:rPr lang="en-US" dirty="0"/>
              <a:t>Manage the multiple processes running simultaneously on the OS</a:t>
            </a:r>
          </a:p>
          <a:p>
            <a:pPr algn="l" fontAlgn="base">
              <a:spcAft>
                <a:spcPts val="1125"/>
              </a:spcAft>
              <a:buFont typeface="Arial" panose="020B0604020202020204" pitchFamily="34" charset="0"/>
              <a:buChar char="•"/>
            </a:pPr>
            <a:r>
              <a:rPr lang="en-US" dirty="0"/>
              <a:t>Ensures that all running processes (tasks) are executed efficiently, resources are shared fairly, and everything happens without chaos.</a:t>
            </a:r>
          </a:p>
          <a:p>
            <a:pPr marL="0" indent="0">
              <a:buNone/>
            </a:pPr>
            <a:endParaRPr lang="en-US" b="0" i="0" dirty="0">
              <a:solidFill>
                <a:srgbClr val="444444"/>
              </a:solidFill>
              <a:effectLst/>
              <a:latin typeface="Georgia" panose="02040502050405020303" pitchFamily="18" charset="0"/>
            </a:endParaRPr>
          </a:p>
          <a:p>
            <a:pPr marL="0" indent="0">
              <a:buNone/>
            </a:pPr>
            <a:endParaRPr lang="en-IN" dirty="0"/>
          </a:p>
        </p:txBody>
      </p:sp>
    </p:spTree>
    <p:extLst>
      <p:ext uri="{BB962C8B-B14F-4D97-AF65-F5344CB8AC3E}">
        <p14:creationId xmlns:p14="http://schemas.microsoft.com/office/powerpoint/2010/main" val="3799290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895B5-CD23-7853-1332-E2F6789C9F6C}"/>
              </a:ext>
            </a:extLst>
          </p:cNvPr>
          <p:cNvSpPr>
            <a:spLocks noGrp="1"/>
          </p:cNvSpPr>
          <p:nvPr>
            <p:ph type="title"/>
          </p:nvPr>
        </p:nvSpPr>
        <p:spPr/>
        <p:txBody>
          <a:bodyPr/>
          <a:lstStyle/>
          <a:p>
            <a:r>
              <a:rPr lang="en-US" altLang="en-US" sz="4400" dirty="0"/>
              <a:t>Main Memory Management</a:t>
            </a:r>
            <a:br>
              <a:rPr lang="en-US" altLang="en-US" sz="4400" dirty="0"/>
            </a:br>
            <a:endParaRPr lang="en-IN" dirty="0"/>
          </a:p>
        </p:txBody>
      </p:sp>
      <p:sp>
        <p:nvSpPr>
          <p:cNvPr id="3" name="Content Placeholder 2">
            <a:extLst>
              <a:ext uri="{FF2B5EF4-FFF2-40B4-BE49-F238E27FC236}">
                <a16:creationId xmlns:a16="http://schemas.microsoft.com/office/drawing/2014/main" id="{90ACB72C-AFE2-32C3-736B-E6072AD8C2F6}"/>
              </a:ext>
            </a:extLst>
          </p:cNvPr>
          <p:cNvSpPr>
            <a:spLocks noGrp="1"/>
          </p:cNvSpPr>
          <p:nvPr>
            <p:ph idx="1"/>
          </p:nvPr>
        </p:nvSpPr>
        <p:spPr/>
        <p:txBody>
          <a:bodyPr/>
          <a:lstStyle/>
          <a:p>
            <a:pPr marL="228600" lvl="1" fontAlgn="base">
              <a:spcBef>
                <a:spcPts val="1000"/>
              </a:spcBef>
              <a:spcAft>
                <a:spcPts val="1125"/>
              </a:spcAft>
            </a:pPr>
            <a:r>
              <a:rPr lang="en-US" altLang="en-US" sz="2800" dirty="0"/>
              <a:t>Allocation/de-allocation for processes, files, I/O.</a:t>
            </a:r>
          </a:p>
          <a:p>
            <a:pPr marL="228600" lvl="1" fontAlgn="base">
              <a:spcBef>
                <a:spcPts val="1000"/>
              </a:spcBef>
              <a:spcAft>
                <a:spcPts val="1125"/>
              </a:spcAft>
            </a:pPr>
            <a:r>
              <a:rPr lang="en-US" altLang="en-US" sz="2800" dirty="0"/>
              <a:t>Maintenance of several processes at a time</a:t>
            </a:r>
          </a:p>
          <a:p>
            <a:pPr marL="228600" lvl="1" fontAlgn="base">
              <a:spcBef>
                <a:spcPts val="1000"/>
              </a:spcBef>
              <a:spcAft>
                <a:spcPts val="1125"/>
              </a:spcAft>
            </a:pPr>
            <a:r>
              <a:rPr lang="en-US" altLang="en-US" sz="2800" dirty="0"/>
              <a:t>Keep track of who's using what memory</a:t>
            </a:r>
          </a:p>
          <a:p>
            <a:pPr marL="228600" lvl="1" fontAlgn="base">
              <a:spcBef>
                <a:spcPts val="1000"/>
              </a:spcBef>
              <a:spcAft>
                <a:spcPts val="1125"/>
              </a:spcAft>
            </a:pPr>
            <a:r>
              <a:rPr lang="en-US" altLang="en-US" sz="2800" dirty="0"/>
              <a:t>Movement of process memory to/from secondary storage.</a:t>
            </a:r>
          </a:p>
          <a:p>
            <a:pPr marL="228600" lvl="1" fontAlgn="base">
              <a:spcBef>
                <a:spcPts val="1000"/>
              </a:spcBef>
              <a:spcAft>
                <a:spcPts val="1125"/>
              </a:spcAft>
            </a:pPr>
            <a:r>
              <a:rPr lang="en-US" altLang="en-US" sz="2800" dirty="0"/>
              <a:t>Analogous to manager in a hotel.</a:t>
            </a:r>
          </a:p>
          <a:p>
            <a:endParaRPr lang="en-IN" dirty="0"/>
          </a:p>
        </p:txBody>
      </p:sp>
    </p:spTree>
    <p:extLst>
      <p:ext uri="{BB962C8B-B14F-4D97-AF65-F5344CB8AC3E}">
        <p14:creationId xmlns:p14="http://schemas.microsoft.com/office/powerpoint/2010/main" val="1362691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683D6-007E-71B7-350E-BA8AE264CB90}"/>
              </a:ext>
            </a:extLst>
          </p:cNvPr>
          <p:cNvSpPr>
            <a:spLocks noGrp="1"/>
          </p:cNvSpPr>
          <p:nvPr>
            <p:ph type="title"/>
          </p:nvPr>
        </p:nvSpPr>
        <p:spPr/>
        <p:txBody>
          <a:bodyPr/>
          <a:lstStyle/>
          <a:p>
            <a:r>
              <a:rPr lang="en-US" altLang="en-US" sz="4400" dirty="0"/>
              <a:t>File Management</a:t>
            </a:r>
            <a:br>
              <a:rPr lang="en-US" altLang="en-US" sz="4400" dirty="0"/>
            </a:br>
            <a:endParaRPr lang="en-IN" dirty="0"/>
          </a:p>
        </p:txBody>
      </p:sp>
      <p:sp>
        <p:nvSpPr>
          <p:cNvPr id="3" name="Content Placeholder 2">
            <a:extLst>
              <a:ext uri="{FF2B5EF4-FFF2-40B4-BE49-F238E27FC236}">
                <a16:creationId xmlns:a16="http://schemas.microsoft.com/office/drawing/2014/main" id="{7C6B65D1-AF76-8200-3C70-2AE187D44581}"/>
              </a:ext>
            </a:extLst>
          </p:cNvPr>
          <p:cNvSpPr>
            <a:spLocks noGrp="1"/>
          </p:cNvSpPr>
          <p:nvPr>
            <p:ph idx="1"/>
          </p:nvPr>
        </p:nvSpPr>
        <p:spPr/>
        <p:txBody>
          <a:bodyPr/>
          <a:lstStyle/>
          <a:p>
            <a:pPr marL="228600" lvl="1" fontAlgn="base">
              <a:spcBef>
                <a:spcPts val="1000"/>
              </a:spcBef>
              <a:spcAft>
                <a:spcPts val="1125"/>
              </a:spcAft>
            </a:pPr>
            <a:r>
              <a:rPr lang="en-US" altLang="en-US" sz="2800" dirty="0"/>
              <a:t>Collection of related information defined by its creator.  Commonly, files represent programs (both source and object forms) and data.</a:t>
            </a:r>
            <a:endParaRPr lang="en-US" sz="2800" dirty="0"/>
          </a:p>
          <a:p>
            <a:pPr marL="228600" lvl="1" fontAlgn="base">
              <a:spcBef>
                <a:spcPts val="1000"/>
              </a:spcBef>
              <a:spcAft>
                <a:spcPts val="1125"/>
              </a:spcAft>
            </a:pPr>
            <a:r>
              <a:rPr lang="en-US" sz="2800" dirty="0"/>
              <a:t>Creation and deletion of files and directories.</a:t>
            </a:r>
          </a:p>
          <a:p>
            <a:pPr marL="228600" lvl="1" fontAlgn="base">
              <a:spcBef>
                <a:spcPts val="1000"/>
              </a:spcBef>
              <a:spcAft>
                <a:spcPts val="1125"/>
              </a:spcAft>
            </a:pPr>
            <a:r>
              <a:rPr lang="en-US" sz="2800" dirty="0"/>
              <a:t>Manipulation of files and directories.</a:t>
            </a:r>
          </a:p>
          <a:p>
            <a:pPr marL="228600" lvl="1" fontAlgn="base">
              <a:spcBef>
                <a:spcPts val="1000"/>
              </a:spcBef>
              <a:spcAft>
                <a:spcPts val="1125"/>
              </a:spcAft>
            </a:pPr>
            <a:r>
              <a:rPr lang="en-US" sz="2800" dirty="0"/>
              <a:t>Maps files onto secondary storage.</a:t>
            </a:r>
          </a:p>
          <a:p>
            <a:pPr marL="228600" lvl="1" fontAlgn="base">
              <a:spcBef>
                <a:spcPts val="1000"/>
              </a:spcBef>
              <a:spcAft>
                <a:spcPts val="1125"/>
              </a:spcAft>
            </a:pPr>
            <a:r>
              <a:rPr lang="en-US" sz="2800" dirty="0"/>
              <a:t>File backup on a stable storage media.</a:t>
            </a:r>
          </a:p>
          <a:p>
            <a:pPr marL="0" indent="0">
              <a:buNone/>
            </a:pPr>
            <a:endParaRPr lang="en-IN" dirty="0"/>
          </a:p>
        </p:txBody>
      </p:sp>
    </p:spTree>
    <p:extLst>
      <p:ext uri="{BB962C8B-B14F-4D97-AF65-F5344CB8AC3E}">
        <p14:creationId xmlns:p14="http://schemas.microsoft.com/office/powerpoint/2010/main" val="2343127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B992E-B54C-8A16-15A4-81752A9FA08E}"/>
              </a:ext>
            </a:extLst>
          </p:cNvPr>
          <p:cNvSpPr>
            <a:spLocks noGrp="1"/>
          </p:cNvSpPr>
          <p:nvPr>
            <p:ph type="title"/>
          </p:nvPr>
        </p:nvSpPr>
        <p:spPr/>
        <p:txBody>
          <a:bodyPr/>
          <a:lstStyle/>
          <a:p>
            <a:r>
              <a:rPr lang="en-US" altLang="en-US" sz="4400" dirty="0"/>
              <a:t>I/O System Management</a:t>
            </a:r>
            <a:br>
              <a:rPr lang="en-US" altLang="en-US" sz="4400" dirty="0"/>
            </a:br>
            <a:endParaRPr lang="en-IN" dirty="0"/>
          </a:p>
        </p:txBody>
      </p:sp>
      <p:sp>
        <p:nvSpPr>
          <p:cNvPr id="3" name="Content Placeholder 2">
            <a:extLst>
              <a:ext uri="{FF2B5EF4-FFF2-40B4-BE49-F238E27FC236}">
                <a16:creationId xmlns:a16="http://schemas.microsoft.com/office/drawing/2014/main" id="{29136498-4B7D-0D4B-64D4-184A7E27C58B}"/>
              </a:ext>
            </a:extLst>
          </p:cNvPr>
          <p:cNvSpPr>
            <a:spLocks noGrp="1"/>
          </p:cNvSpPr>
          <p:nvPr>
            <p:ph idx="1"/>
          </p:nvPr>
        </p:nvSpPr>
        <p:spPr/>
        <p:txBody>
          <a:bodyPr/>
          <a:lstStyle/>
          <a:p>
            <a:pPr marL="228600" lvl="1" fontAlgn="base">
              <a:spcBef>
                <a:spcPts val="1000"/>
              </a:spcBef>
              <a:spcAft>
                <a:spcPts val="1125"/>
              </a:spcAft>
            </a:pPr>
            <a:r>
              <a:rPr lang="en-US" sz="2800" dirty="0"/>
              <a:t>I/O device management hides the variations of some hardware devices from the user</a:t>
            </a:r>
          </a:p>
          <a:p>
            <a:pPr marL="228600" lvl="1" fontAlgn="base">
              <a:spcBef>
                <a:spcPts val="1000"/>
              </a:spcBef>
              <a:spcAft>
                <a:spcPts val="1125"/>
              </a:spcAft>
            </a:pPr>
            <a:r>
              <a:rPr lang="en-US" sz="2800" dirty="0"/>
              <a:t>Buffers caching system</a:t>
            </a:r>
          </a:p>
          <a:p>
            <a:pPr marL="228600" lvl="1" fontAlgn="base">
              <a:spcBef>
                <a:spcPts val="1000"/>
              </a:spcBef>
              <a:spcAft>
                <a:spcPts val="1125"/>
              </a:spcAft>
            </a:pPr>
            <a:r>
              <a:rPr lang="en-US" sz="2800" dirty="0"/>
              <a:t>Provides general device driver code</a:t>
            </a:r>
          </a:p>
          <a:p>
            <a:pPr marL="228600" lvl="1" fontAlgn="base">
              <a:spcBef>
                <a:spcPts val="1000"/>
              </a:spcBef>
              <a:spcAft>
                <a:spcPts val="1125"/>
              </a:spcAft>
            </a:pPr>
            <a:r>
              <a:rPr lang="en-US" sz="2800" dirty="0"/>
              <a:t>Provides drivers for particular hardware devices.</a:t>
            </a:r>
          </a:p>
          <a:p>
            <a:pPr marL="228600" lvl="1" fontAlgn="base">
              <a:spcBef>
                <a:spcPts val="1000"/>
              </a:spcBef>
              <a:spcAft>
                <a:spcPts val="1125"/>
              </a:spcAft>
            </a:pPr>
            <a:r>
              <a:rPr lang="en-US" sz="2800" dirty="0"/>
              <a:t>Helps know the individualities of a device.</a:t>
            </a:r>
          </a:p>
          <a:p>
            <a:endParaRPr lang="en-IN" dirty="0"/>
          </a:p>
        </p:txBody>
      </p:sp>
    </p:spTree>
    <p:extLst>
      <p:ext uri="{BB962C8B-B14F-4D97-AF65-F5344CB8AC3E}">
        <p14:creationId xmlns:p14="http://schemas.microsoft.com/office/powerpoint/2010/main" val="9328591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3A2CE-E4EB-256B-754D-99BE7E609493}"/>
              </a:ext>
            </a:extLst>
          </p:cNvPr>
          <p:cNvSpPr>
            <a:spLocks noGrp="1"/>
          </p:cNvSpPr>
          <p:nvPr>
            <p:ph type="title"/>
          </p:nvPr>
        </p:nvSpPr>
        <p:spPr/>
        <p:txBody>
          <a:bodyPr/>
          <a:lstStyle/>
          <a:p>
            <a:r>
              <a:rPr lang="en-US" altLang="en-US" sz="4400" dirty="0"/>
              <a:t>Networking</a:t>
            </a:r>
            <a:br>
              <a:rPr lang="en-US" altLang="en-US" sz="4400" dirty="0"/>
            </a:br>
            <a:endParaRPr lang="en-IN" dirty="0"/>
          </a:p>
        </p:txBody>
      </p:sp>
      <p:sp>
        <p:nvSpPr>
          <p:cNvPr id="3" name="Content Placeholder 2">
            <a:extLst>
              <a:ext uri="{FF2B5EF4-FFF2-40B4-BE49-F238E27FC236}">
                <a16:creationId xmlns:a16="http://schemas.microsoft.com/office/drawing/2014/main" id="{DFC41D63-10EB-A5D4-5930-1A7ECDDEF09A}"/>
              </a:ext>
            </a:extLst>
          </p:cNvPr>
          <p:cNvSpPr>
            <a:spLocks noGrp="1"/>
          </p:cNvSpPr>
          <p:nvPr>
            <p:ph idx="1"/>
          </p:nvPr>
        </p:nvSpPr>
        <p:spPr/>
        <p:txBody>
          <a:bodyPr>
            <a:normAutofit lnSpcReduction="10000"/>
          </a:bodyPr>
          <a:lstStyle/>
          <a:p>
            <a:pPr marL="228600" lvl="1" fontAlgn="base">
              <a:lnSpc>
                <a:spcPct val="100000"/>
              </a:lnSpc>
              <a:spcBef>
                <a:spcPts val="1000"/>
              </a:spcBef>
              <a:spcAft>
                <a:spcPts val="1125"/>
              </a:spcAft>
            </a:pPr>
            <a:r>
              <a:rPr lang="en-US" sz="2800" dirty="0"/>
              <a:t>Network management helps connect the network fully or partially so that users can design routing and connection strategies with no connection and security issues</a:t>
            </a:r>
          </a:p>
          <a:p>
            <a:pPr marL="228600" lvl="1" fontAlgn="base">
              <a:lnSpc>
                <a:spcPct val="100000"/>
              </a:lnSpc>
              <a:spcBef>
                <a:spcPts val="1000"/>
              </a:spcBef>
              <a:spcAft>
                <a:spcPts val="1125"/>
              </a:spcAft>
            </a:pPr>
            <a:r>
              <a:rPr lang="en-US" sz="2800" dirty="0"/>
              <a:t>It offers user access to the various resources that the network shares.</a:t>
            </a:r>
          </a:p>
          <a:p>
            <a:pPr marL="228600" lvl="1" fontAlgn="base">
              <a:lnSpc>
                <a:spcPct val="100000"/>
              </a:lnSpc>
              <a:spcBef>
                <a:spcPts val="1000"/>
              </a:spcBef>
              <a:spcAft>
                <a:spcPts val="1125"/>
              </a:spcAft>
            </a:pPr>
            <a:r>
              <a:rPr lang="en-US" sz="2800" dirty="0"/>
              <a:t>We can access shared resources. These help speed-up computation and offer data availability and reliability.</a:t>
            </a:r>
          </a:p>
          <a:p>
            <a:pPr marL="228600" lvl="1" fontAlgn="base">
              <a:lnSpc>
                <a:spcPct val="100000"/>
              </a:lnSpc>
              <a:spcBef>
                <a:spcPts val="1000"/>
              </a:spcBef>
              <a:spcAft>
                <a:spcPts val="1125"/>
              </a:spcAft>
            </a:pPr>
            <a:r>
              <a:rPr lang="en-US" sz="2800" dirty="0"/>
              <a:t>We can access different computing resources that vary in size and function like microprocessors, minicomputers, and many general-purpose computer systems.</a:t>
            </a:r>
            <a:endParaRPr lang="en-IN" sz="2800" dirty="0"/>
          </a:p>
        </p:txBody>
      </p:sp>
    </p:spTree>
    <p:extLst>
      <p:ext uri="{BB962C8B-B14F-4D97-AF65-F5344CB8AC3E}">
        <p14:creationId xmlns:p14="http://schemas.microsoft.com/office/powerpoint/2010/main" val="19997523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6545D-92F3-0A43-42C0-0DF066268B56}"/>
              </a:ext>
            </a:extLst>
          </p:cNvPr>
          <p:cNvSpPr>
            <a:spLocks noGrp="1"/>
          </p:cNvSpPr>
          <p:nvPr>
            <p:ph type="title"/>
          </p:nvPr>
        </p:nvSpPr>
        <p:spPr/>
        <p:txBody>
          <a:bodyPr/>
          <a:lstStyle/>
          <a:p>
            <a:r>
              <a:rPr lang="en-US" altLang="en-US" sz="4400" dirty="0"/>
              <a:t>Protection System</a:t>
            </a:r>
            <a:endParaRPr lang="en-IN" dirty="0"/>
          </a:p>
        </p:txBody>
      </p:sp>
      <p:sp>
        <p:nvSpPr>
          <p:cNvPr id="3" name="Content Placeholder 2">
            <a:extLst>
              <a:ext uri="{FF2B5EF4-FFF2-40B4-BE49-F238E27FC236}">
                <a16:creationId xmlns:a16="http://schemas.microsoft.com/office/drawing/2014/main" id="{59F9635B-22CF-58A3-8C37-8E7C85FC3F12}"/>
              </a:ext>
            </a:extLst>
          </p:cNvPr>
          <p:cNvSpPr>
            <a:spLocks noGrp="1"/>
          </p:cNvSpPr>
          <p:nvPr>
            <p:ph idx="1"/>
          </p:nvPr>
        </p:nvSpPr>
        <p:spPr/>
        <p:txBody>
          <a:bodyPr/>
          <a:lstStyle/>
          <a:p>
            <a:pPr marL="228600" lvl="1" fontAlgn="base">
              <a:spcBef>
                <a:spcPts val="1000"/>
              </a:spcBef>
              <a:spcAft>
                <a:spcPts val="1125"/>
              </a:spcAft>
            </a:pPr>
            <a:r>
              <a:rPr lang="en-US" sz="2800" dirty="0"/>
              <a:t>Ensures the system is protected from unauthorized access and threats.</a:t>
            </a:r>
          </a:p>
          <a:p>
            <a:pPr marL="228600" marR="0" lvl="1" fontAlgn="base">
              <a:spcBef>
                <a:spcPts val="1000"/>
              </a:spcBef>
              <a:spcAft>
                <a:spcPts val="1125"/>
              </a:spcAft>
              <a:buClrTx/>
              <a:buSzTx/>
              <a:tabLst/>
            </a:pPr>
            <a:r>
              <a:rPr lang="en-US" altLang="en-US" sz="2800" dirty="0"/>
              <a:t>User authentication (e.g., passwords, biometrics).</a:t>
            </a:r>
          </a:p>
          <a:p>
            <a:pPr marL="228600" marR="0" lvl="1" fontAlgn="base">
              <a:spcBef>
                <a:spcPts val="1000"/>
              </a:spcBef>
              <a:spcAft>
                <a:spcPts val="1125"/>
              </a:spcAft>
              <a:buClrTx/>
              <a:buSzTx/>
              <a:tabLst/>
            </a:pPr>
            <a:r>
              <a:rPr lang="en-US" altLang="en-US" sz="2800" dirty="0"/>
              <a:t>File permissions and encryption. </a:t>
            </a:r>
          </a:p>
          <a:p>
            <a:pPr marL="0" indent="0">
              <a:buNone/>
            </a:pPr>
            <a:endParaRPr lang="en-US" dirty="0"/>
          </a:p>
          <a:p>
            <a:endParaRPr lang="en-IN" dirty="0"/>
          </a:p>
        </p:txBody>
      </p:sp>
    </p:spTree>
    <p:extLst>
      <p:ext uri="{BB962C8B-B14F-4D97-AF65-F5344CB8AC3E}">
        <p14:creationId xmlns:p14="http://schemas.microsoft.com/office/powerpoint/2010/main" val="3704083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65C50-964A-B1A0-4134-3EA2F7C8B76E}"/>
              </a:ext>
            </a:extLst>
          </p:cNvPr>
          <p:cNvSpPr>
            <a:spLocks noGrp="1"/>
          </p:cNvSpPr>
          <p:nvPr>
            <p:ph type="title"/>
          </p:nvPr>
        </p:nvSpPr>
        <p:spPr/>
        <p:txBody>
          <a:bodyPr/>
          <a:lstStyle/>
          <a:p>
            <a:r>
              <a:rPr lang="en-US" altLang="en-US" sz="4400" dirty="0"/>
              <a:t>Command-Interpreter System</a:t>
            </a:r>
            <a:br>
              <a:rPr lang="en-IN" dirty="0"/>
            </a:br>
            <a:endParaRPr lang="en-IN" dirty="0"/>
          </a:p>
        </p:txBody>
      </p:sp>
      <p:sp>
        <p:nvSpPr>
          <p:cNvPr id="3" name="Content Placeholder 2">
            <a:extLst>
              <a:ext uri="{FF2B5EF4-FFF2-40B4-BE49-F238E27FC236}">
                <a16:creationId xmlns:a16="http://schemas.microsoft.com/office/drawing/2014/main" id="{F2FC2F54-4BB7-2782-8E6E-FF9798156F87}"/>
              </a:ext>
            </a:extLst>
          </p:cNvPr>
          <p:cNvSpPr>
            <a:spLocks noGrp="1"/>
          </p:cNvSpPr>
          <p:nvPr>
            <p:ph idx="1"/>
          </p:nvPr>
        </p:nvSpPr>
        <p:spPr/>
        <p:txBody>
          <a:bodyPr/>
          <a:lstStyle/>
          <a:p>
            <a:pPr lvl="1" algn="just">
              <a:lnSpc>
                <a:spcPct val="110000"/>
              </a:lnSpc>
              <a:buFont typeface="Symbol" panose="05050102010706020507" pitchFamily="18" charset="2"/>
              <a:buChar char="·"/>
            </a:pPr>
            <a:r>
              <a:rPr lang="en-US" altLang="en-US" sz="2800" dirty="0"/>
              <a:t>Command Interpreters  -- Program that accepts control statements (shell, GUI interface, etc.)</a:t>
            </a:r>
          </a:p>
          <a:p>
            <a:pPr lvl="1" algn="just">
              <a:lnSpc>
                <a:spcPct val="110000"/>
              </a:lnSpc>
              <a:buFont typeface="Symbol" panose="05050102010706020507" pitchFamily="18" charset="2"/>
              <a:buChar char="·"/>
            </a:pPr>
            <a:r>
              <a:rPr lang="en-US" altLang="en-US" sz="2800" dirty="0"/>
              <a:t>Compilers/linkers</a:t>
            </a:r>
          </a:p>
          <a:p>
            <a:pPr lvl="1" algn="just">
              <a:lnSpc>
                <a:spcPct val="110000"/>
              </a:lnSpc>
              <a:buFont typeface="Symbol" panose="05050102010706020507" pitchFamily="18" charset="2"/>
              <a:buChar char="·"/>
            </a:pPr>
            <a:r>
              <a:rPr lang="en-US" altLang="en-US" sz="2800" dirty="0"/>
              <a:t>Communications (ftp, telnet, etc.)</a:t>
            </a:r>
          </a:p>
          <a:p>
            <a:endParaRPr lang="en-IN" dirty="0"/>
          </a:p>
        </p:txBody>
      </p:sp>
    </p:spTree>
    <p:extLst>
      <p:ext uri="{BB962C8B-B14F-4D97-AF65-F5344CB8AC3E}">
        <p14:creationId xmlns:p14="http://schemas.microsoft.com/office/powerpoint/2010/main" val="3317360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0A6B2-8479-0BE1-7230-694C5ECA5736}"/>
              </a:ext>
            </a:extLst>
          </p:cNvPr>
          <p:cNvSpPr>
            <a:spLocks noGrp="1"/>
          </p:cNvSpPr>
          <p:nvPr>
            <p:ph type="title"/>
          </p:nvPr>
        </p:nvSpPr>
        <p:spPr/>
        <p:txBody>
          <a:bodyPr/>
          <a:lstStyle/>
          <a:p>
            <a:r>
              <a:rPr lang="en-IN" dirty="0"/>
              <a:t>Types of Operating System</a:t>
            </a:r>
          </a:p>
        </p:txBody>
      </p:sp>
      <p:sp>
        <p:nvSpPr>
          <p:cNvPr id="3" name="Content Placeholder 2">
            <a:extLst>
              <a:ext uri="{FF2B5EF4-FFF2-40B4-BE49-F238E27FC236}">
                <a16:creationId xmlns:a16="http://schemas.microsoft.com/office/drawing/2014/main" id="{26F8637D-B9EF-3F47-3163-ACE30F96638E}"/>
              </a:ext>
            </a:extLst>
          </p:cNvPr>
          <p:cNvSpPr>
            <a:spLocks noGrp="1"/>
          </p:cNvSpPr>
          <p:nvPr>
            <p:ph idx="1"/>
          </p:nvPr>
        </p:nvSpPr>
        <p:spPr/>
        <p:txBody>
          <a:bodyPr/>
          <a:lstStyle/>
          <a:p>
            <a:r>
              <a:rPr lang="en-IN" dirty="0"/>
              <a:t>Batch OS</a:t>
            </a:r>
          </a:p>
          <a:p>
            <a:r>
              <a:rPr lang="en-IN" dirty="0"/>
              <a:t>Multiprogramming OS</a:t>
            </a:r>
          </a:p>
          <a:p>
            <a:r>
              <a:rPr lang="en-IN" dirty="0"/>
              <a:t>Multitasking OS</a:t>
            </a:r>
          </a:p>
          <a:p>
            <a:r>
              <a:rPr lang="en-IN" dirty="0"/>
              <a:t>Multiprocessing OS</a:t>
            </a:r>
          </a:p>
          <a:p>
            <a:r>
              <a:rPr lang="en-IN" dirty="0"/>
              <a:t>Realtime OS</a:t>
            </a:r>
          </a:p>
          <a:p>
            <a:r>
              <a:rPr lang="en-IN" dirty="0"/>
              <a:t>Networking OS</a:t>
            </a:r>
          </a:p>
          <a:p>
            <a:r>
              <a:rPr lang="en-IN" dirty="0"/>
              <a:t>Distributed OS</a:t>
            </a:r>
          </a:p>
          <a:p>
            <a:r>
              <a:rPr lang="en-IN" dirty="0"/>
              <a:t>Embedded OS</a:t>
            </a:r>
          </a:p>
        </p:txBody>
      </p:sp>
    </p:spTree>
    <p:extLst>
      <p:ext uri="{BB962C8B-B14F-4D97-AF65-F5344CB8AC3E}">
        <p14:creationId xmlns:p14="http://schemas.microsoft.com/office/powerpoint/2010/main" val="410645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59835-E2C4-A228-81EC-EFFDE436B9D2}"/>
              </a:ext>
            </a:extLst>
          </p:cNvPr>
          <p:cNvSpPr>
            <a:spLocks noGrp="1"/>
          </p:cNvSpPr>
          <p:nvPr>
            <p:ph type="title"/>
          </p:nvPr>
        </p:nvSpPr>
        <p:spPr/>
        <p:txBody>
          <a:bodyPr/>
          <a:lstStyle/>
          <a:p>
            <a:r>
              <a:rPr lang="en-IN" dirty="0"/>
              <a:t>Batch OS</a:t>
            </a:r>
          </a:p>
        </p:txBody>
      </p:sp>
      <p:pic>
        <p:nvPicPr>
          <p:cNvPr id="5" name="Content Placeholder 4">
            <a:extLst>
              <a:ext uri="{FF2B5EF4-FFF2-40B4-BE49-F238E27FC236}">
                <a16:creationId xmlns:a16="http://schemas.microsoft.com/office/drawing/2014/main" id="{D6234F22-6652-C15B-D64F-E227DD009DD2}"/>
              </a:ext>
            </a:extLst>
          </p:cNvPr>
          <p:cNvPicPr>
            <a:picLocks noGrp="1" noChangeAspect="1"/>
          </p:cNvPicPr>
          <p:nvPr>
            <p:ph idx="1"/>
          </p:nvPr>
        </p:nvPicPr>
        <p:blipFill>
          <a:blip r:embed="rId2"/>
          <a:stretch>
            <a:fillRect/>
          </a:stretch>
        </p:blipFill>
        <p:spPr>
          <a:xfrm>
            <a:off x="2095500" y="2463006"/>
            <a:ext cx="8001000" cy="3076575"/>
          </a:xfrm>
          <a:prstGeom prst="rect">
            <a:avLst/>
          </a:prstGeom>
        </p:spPr>
      </p:pic>
    </p:spTree>
    <p:extLst>
      <p:ext uri="{BB962C8B-B14F-4D97-AF65-F5344CB8AC3E}">
        <p14:creationId xmlns:p14="http://schemas.microsoft.com/office/powerpoint/2010/main" val="13459787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AE83A-80D9-0408-64FF-410E23A85EAA}"/>
              </a:ext>
            </a:extLst>
          </p:cNvPr>
          <p:cNvSpPr>
            <a:spLocks noGrp="1"/>
          </p:cNvSpPr>
          <p:nvPr>
            <p:ph type="title"/>
          </p:nvPr>
        </p:nvSpPr>
        <p:spPr>
          <a:xfrm>
            <a:off x="838200" y="365126"/>
            <a:ext cx="10515600" cy="863600"/>
          </a:xfrm>
        </p:spPr>
        <p:txBody>
          <a:bodyPr>
            <a:normAutofit fontScale="90000"/>
          </a:bodyPr>
          <a:lstStyle/>
          <a:p>
            <a:r>
              <a:rPr lang="en-IN" dirty="0"/>
              <a:t>Multiprogramming and Multitasking OS</a:t>
            </a:r>
            <a:br>
              <a:rPr lang="en-IN" dirty="0"/>
            </a:br>
            <a:endParaRPr lang="en-IN" dirty="0"/>
          </a:p>
        </p:txBody>
      </p:sp>
      <p:pic>
        <p:nvPicPr>
          <p:cNvPr id="2050" name="Picture 2" descr="Difference between Multiprogramming and Multitasking - Naukri Code 360">
            <a:extLst>
              <a:ext uri="{FF2B5EF4-FFF2-40B4-BE49-F238E27FC236}">
                <a16:creationId xmlns:a16="http://schemas.microsoft.com/office/drawing/2014/main" id="{AACF4488-DA45-35DA-ECE1-0862DD669E4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47801" y="2416175"/>
            <a:ext cx="7968342" cy="435133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EBB8B43-6534-B18A-8AB2-25A3A8D1966B}"/>
              </a:ext>
            </a:extLst>
          </p:cNvPr>
          <p:cNvSpPr txBox="1"/>
          <p:nvPr/>
        </p:nvSpPr>
        <p:spPr>
          <a:xfrm>
            <a:off x="1057275" y="1228726"/>
            <a:ext cx="8448675" cy="461665"/>
          </a:xfrm>
          <a:prstGeom prst="rect">
            <a:avLst/>
          </a:prstGeom>
          <a:noFill/>
        </p:spPr>
        <p:txBody>
          <a:bodyPr wrap="square" rtlCol="0">
            <a:spAutoFit/>
          </a:bodyPr>
          <a:lstStyle/>
          <a:p>
            <a:pPr marL="285750" indent="-285750">
              <a:buFont typeface="Arial" panose="020B0604020202020204" pitchFamily="34" charset="0"/>
              <a:buChar char="•"/>
            </a:pPr>
            <a:r>
              <a:rPr lang="en-IN" sz="2400" dirty="0"/>
              <a:t>Increase CPU utilization                Increase response time     </a:t>
            </a:r>
          </a:p>
        </p:txBody>
      </p:sp>
    </p:spTree>
    <p:extLst>
      <p:ext uri="{BB962C8B-B14F-4D97-AF65-F5344CB8AC3E}">
        <p14:creationId xmlns:p14="http://schemas.microsoft.com/office/powerpoint/2010/main" val="4214088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87992-547F-420C-1CCB-039C5BE273FE}"/>
              </a:ext>
            </a:extLst>
          </p:cNvPr>
          <p:cNvSpPr>
            <a:spLocks noGrp="1"/>
          </p:cNvSpPr>
          <p:nvPr>
            <p:ph type="title"/>
          </p:nvPr>
        </p:nvSpPr>
        <p:spPr/>
        <p:txBody>
          <a:bodyPr/>
          <a:lstStyle/>
          <a:p>
            <a:r>
              <a:rPr lang="en-IN" dirty="0"/>
              <a:t>Multiprocessing OS</a:t>
            </a:r>
          </a:p>
        </p:txBody>
      </p:sp>
      <p:pic>
        <p:nvPicPr>
          <p:cNvPr id="3074" name="Picture 2" descr="Multi-processing OS | MyCareerwise">
            <a:extLst>
              <a:ext uri="{FF2B5EF4-FFF2-40B4-BE49-F238E27FC236}">
                <a16:creationId xmlns:a16="http://schemas.microsoft.com/office/drawing/2014/main" id="{65BC1B99-3038-6945-E082-32F65AB425F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47875" y="1962349"/>
            <a:ext cx="6638925" cy="33438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26333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4E53E-81B2-601A-DEC9-4FB1628516DF}"/>
              </a:ext>
            </a:extLst>
          </p:cNvPr>
          <p:cNvSpPr>
            <a:spLocks noGrp="1"/>
          </p:cNvSpPr>
          <p:nvPr>
            <p:ph type="title"/>
          </p:nvPr>
        </p:nvSpPr>
        <p:spPr/>
        <p:txBody>
          <a:bodyPr/>
          <a:lstStyle/>
          <a:p>
            <a:r>
              <a:rPr lang="en-IN" dirty="0"/>
              <a:t>Realtime OS</a:t>
            </a:r>
          </a:p>
        </p:txBody>
      </p:sp>
      <p:sp>
        <p:nvSpPr>
          <p:cNvPr id="3" name="Content Placeholder 2">
            <a:extLst>
              <a:ext uri="{FF2B5EF4-FFF2-40B4-BE49-F238E27FC236}">
                <a16:creationId xmlns:a16="http://schemas.microsoft.com/office/drawing/2014/main" id="{2A5A75EC-EC2E-D84B-D8EB-F0E1A2D9C2E2}"/>
              </a:ext>
            </a:extLst>
          </p:cNvPr>
          <p:cNvSpPr>
            <a:spLocks noGrp="1"/>
          </p:cNvSpPr>
          <p:nvPr>
            <p:ph idx="1"/>
          </p:nvPr>
        </p:nvSpPr>
        <p:spPr/>
        <p:txBody>
          <a:bodyPr/>
          <a:lstStyle/>
          <a:p>
            <a:r>
              <a:rPr lang="en-IN" dirty="0"/>
              <a:t>OS that guarantees a response within a fixed time limit.</a:t>
            </a:r>
          </a:p>
          <a:p>
            <a:r>
              <a:rPr lang="en-IN" dirty="0"/>
              <a:t>Hard Realtime</a:t>
            </a:r>
          </a:p>
          <a:p>
            <a:r>
              <a:rPr lang="en-IN" dirty="0"/>
              <a:t>Soft Realtime</a:t>
            </a:r>
          </a:p>
        </p:txBody>
      </p:sp>
    </p:spTree>
    <p:extLst>
      <p:ext uri="{BB962C8B-B14F-4D97-AF65-F5344CB8AC3E}">
        <p14:creationId xmlns:p14="http://schemas.microsoft.com/office/powerpoint/2010/main" val="20072652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1B400-D025-1427-BFD7-36FC6FC6607C}"/>
              </a:ext>
            </a:extLst>
          </p:cNvPr>
          <p:cNvSpPr>
            <a:spLocks noGrp="1"/>
          </p:cNvSpPr>
          <p:nvPr>
            <p:ph type="title"/>
          </p:nvPr>
        </p:nvSpPr>
        <p:spPr/>
        <p:txBody>
          <a:bodyPr/>
          <a:lstStyle/>
          <a:p>
            <a:r>
              <a:rPr lang="en-IN" dirty="0"/>
              <a:t>Network OS</a:t>
            </a:r>
          </a:p>
        </p:txBody>
      </p:sp>
      <p:sp>
        <p:nvSpPr>
          <p:cNvPr id="3" name="Content Placeholder 2">
            <a:extLst>
              <a:ext uri="{FF2B5EF4-FFF2-40B4-BE49-F238E27FC236}">
                <a16:creationId xmlns:a16="http://schemas.microsoft.com/office/drawing/2014/main" id="{5993EC7A-55FF-35A5-91B8-23DB20AF3455}"/>
              </a:ext>
            </a:extLst>
          </p:cNvPr>
          <p:cNvSpPr>
            <a:spLocks noGrp="1"/>
          </p:cNvSpPr>
          <p:nvPr>
            <p:ph idx="1"/>
          </p:nvPr>
        </p:nvSpPr>
        <p:spPr/>
        <p:txBody>
          <a:bodyPr/>
          <a:lstStyle/>
          <a:p>
            <a:r>
              <a:rPr lang="en-US" dirty="0"/>
              <a:t>The operating system is installed on a central server computer that controls and serves other devices. </a:t>
            </a:r>
          </a:p>
          <a:p>
            <a:r>
              <a:rPr lang="en-US" dirty="0"/>
              <a:t>NOS is used in a network environment </a:t>
            </a:r>
          </a:p>
          <a:p>
            <a:r>
              <a:rPr lang="en-US" dirty="0"/>
              <a:t>it manages the applications, users’ accounts, and system security, provides services and manages network resources for organizations. </a:t>
            </a:r>
          </a:p>
          <a:p>
            <a:r>
              <a:rPr lang="en-US" dirty="0"/>
              <a:t>Windows Server 2022 .</a:t>
            </a:r>
            <a:endParaRPr lang="en-IN" dirty="0"/>
          </a:p>
        </p:txBody>
      </p:sp>
      <p:pic>
        <p:nvPicPr>
          <p:cNvPr id="4" name="Picture 3">
            <a:extLst>
              <a:ext uri="{FF2B5EF4-FFF2-40B4-BE49-F238E27FC236}">
                <a16:creationId xmlns:a16="http://schemas.microsoft.com/office/drawing/2014/main" id="{C818301E-285B-C037-EB4B-35D3E26C1A2D}"/>
              </a:ext>
            </a:extLst>
          </p:cNvPr>
          <p:cNvPicPr>
            <a:picLocks noChangeAspect="1"/>
          </p:cNvPicPr>
          <p:nvPr/>
        </p:nvPicPr>
        <p:blipFill>
          <a:blip r:embed="rId2"/>
          <a:stretch>
            <a:fillRect/>
          </a:stretch>
        </p:blipFill>
        <p:spPr>
          <a:xfrm>
            <a:off x="6219824" y="4077080"/>
            <a:ext cx="4981575" cy="2590419"/>
          </a:xfrm>
          <a:prstGeom prst="rect">
            <a:avLst/>
          </a:prstGeom>
        </p:spPr>
      </p:pic>
    </p:spTree>
    <p:extLst>
      <p:ext uri="{BB962C8B-B14F-4D97-AF65-F5344CB8AC3E}">
        <p14:creationId xmlns:p14="http://schemas.microsoft.com/office/powerpoint/2010/main" val="15851387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9B1C8-51B9-88EF-A884-DC32C937B758}"/>
              </a:ext>
            </a:extLst>
          </p:cNvPr>
          <p:cNvSpPr>
            <a:spLocks noGrp="1"/>
          </p:cNvSpPr>
          <p:nvPr>
            <p:ph type="title"/>
          </p:nvPr>
        </p:nvSpPr>
        <p:spPr/>
        <p:txBody>
          <a:bodyPr/>
          <a:lstStyle/>
          <a:p>
            <a:r>
              <a:rPr lang="en-IN" dirty="0"/>
              <a:t>Distributed OS</a:t>
            </a:r>
          </a:p>
        </p:txBody>
      </p:sp>
      <p:pic>
        <p:nvPicPr>
          <p:cNvPr id="6" name="Content Placeholder 5">
            <a:extLst>
              <a:ext uri="{FF2B5EF4-FFF2-40B4-BE49-F238E27FC236}">
                <a16:creationId xmlns:a16="http://schemas.microsoft.com/office/drawing/2014/main" id="{191BEA21-272B-8823-E3DF-FE2925391DC8}"/>
              </a:ext>
            </a:extLst>
          </p:cNvPr>
          <p:cNvPicPr>
            <a:picLocks noGrp="1" noChangeAspect="1"/>
          </p:cNvPicPr>
          <p:nvPr>
            <p:ph idx="1"/>
          </p:nvPr>
        </p:nvPicPr>
        <p:blipFill>
          <a:blip r:embed="rId2"/>
          <a:stretch>
            <a:fillRect/>
          </a:stretch>
        </p:blipFill>
        <p:spPr>
          <a:xfrm>
            <a:off x="6847096" y="2133599"/>
            <a:ext cx="4852982" cy="3471069"/>
          </a:xfrm>
          <a:prstGeom prst="rect">
            <a:avLst/>
          </a:prstGeom>
        </p:spPr>
      </p:pic>
      <p:sp>
        <p:nvSpPr>
          <p:cNvPr id="7" name="TextBox 6">
            <a:extLst>
              <a:ext uri="{FF2B5EF4-FFF2-40B4-BE49-F238E27FC236}">
                <a16:creationId xmlns:a16="http://schemas.microsoft.com/office/drawing/2014/main" id="{F358BBC2-A915-47AF-24CD-0465051CF604}"/>
              </a:ext>
            </a:extLst>
          </p:cNvPr>
          <p:cNvSpPr txBox="1"/>
          <p:nvPr/>
        </p:nvSpPr>
        <p:spPr>
          <a:xfrm>
            <a:off x="838200" y="1933575"/>
            <a:ext cx="5734050" cy="5012783"/>
          </a:xfrm>
          <a:prstGeom prst="rect">
            <a:avLst/>
          </a:prstGeom>
          <a:noFill/>
        </p:spPr>
        <p:txBody>
          <a:bodyPr wrap="square" rtlCol="0">
            <a:spAutoFit/>
          </a:bodyPr>
          <a:lstStyle/>
          <a:p>
            <a:pPr marL="228600" indent="-228600">
              <a:lnSpc>
                <a:spcPct val="90000"/>
              </a:lnSpc>
              <a:spcBef>
                <a:spcPts val="1000"/>
              </a:spcBef>
              <a:buFont typeface="Arial" panose="020B0604020202020204" pitchFamily="34" charset="0"/>
              <a:buChar char="•"/>
            </a:pPr>
            <a:r>
              <a:rPr lang="en-US" sz="2800" dirty="0"/>
              <a:t>applications run on multiple interconnected computers, offering enhanced communication and integration capabilities.</a:t>
            </a:r>
          </a:p>
          <a:p>
            <a:pPr marL="228600" indent="-228600">
              <a:lnSpc>
                <a:spcPct val="90000"/>
              </a:lnSpc>
              <a:spcBef>
                <a:spcPts val="1000"/>
              </a:spcBef>
              <a:buFont typeface="Arial" panose="020B0604020202020204" pitchFamily="34" charset="0"/>
              <a:buChar char="•"/>
            </a:pPr>
            <a:r>
              <a:rPr lang="en-IN" sz="2800" b="0" i="0" dirty="0">
                <a:effectLst/>
                <a:latin typeface="Nunito" pitchFamily="2" charset="0"/>
              </a:rPr>
              <a:t>cloud computing platforms.</a:t>
            </a:r>
          </a:p>
          <a:p>
            <a:pPr marL="228600" indent="-228600">
              <a:lnSpc>
                <a:spcPct val="90000"/>
              </a:lnSpc>
              <a:spcBef>
                <a:spcPts val="1000"/>
              </a:spcBef>
              <a:buFont typeface="Arial" panose="020B0604020202020204" pitchFamily="34" charset="0"/>
              <a:buChar char="•"/>
            </a:pPr>
            <a:r>
              <a:rPr lang="en-US" sz="2800" b="0" i="0" dirty="0">
                <a:effectLst/>
                <a:latin typeface="Nunito" pitchFamily="2" charset="0"/>
              </a:rPr>
              <a:t> provide scalable, on-demand computing resources distributed across multiple data centers, enabling organizations to deploy and manage applications, storage, and services in a distributed manner.</a:t>
            </a:r>
            <a:endParaRPr lang="en-IN" sz="2800" dirty="0"/>
          </a:p>
        </p:txBody>
      </p:sp>
    </p:spTree>
    <p:extLst>
      <p:ext uri="{BB962C8B-B14F-4D97-AF65-F5344CB8AC3E}">
        <p14:creationId xmlns:p14="http://schemas.microsoft.com/office/powerpoint/2010/main" val="31202118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F59FC-A8A7-A480-CD13-03498AD70518}"/>
              </a:ext>
            </a:extLst>
          </p:cNvPr>
          <p:cNvSpPr>
            <a:spLocks noGrp="1"/>
          </p:cNvSpPr>
          <p:nvPr>
            <p:ph type="title"/>
          </p:nvPr>
        </p:nvSpPr>
        <p:spPr/>
        <p:txBody>
          <a:bodyPr/>
          <a:lstStyle/>
          <a:p>
            <a:r>
              <a:rPr lang="en-IN" dirty="0"/>
              <a:t>Embedded OS</a:t>
            </a:r>
          </a:p>
        </p:txBody>
      </p:sp>
      <p:sp>
        <p:nvSpPr>
          <p:cNvPr id="3" name="Content Placeholder 2">
            <a:extLst>
              <a:ext uri="{FF2B5EF4-FFF2-40B4-BE49-F238E27FC236}">
                <a16:creationId xmlns:a16="http://schemas.microsoft.com/office/drawing/2014/main" id="{939F4957-7BC8-3900-F193-B26E2F0DCCDE}"/>
              </a:ext>
            </a:extLst>
          </p:cNvPr>
          <p:cNvSpPr>
            <a:spLocks noGrp="1"/>
          </p:cNvSpPr>
          <p:nvPr>
            <p:ph idx="1"/>
          </p:nvPr>
        </p:nvSpPr>
        <p:spPr/>
        <p:txBody>
          <a:bodyPr/>
          <a:lstStyle/>
          <a:p>
            <a:r>
              <a:rPr lang="en-US" dirty="0">
                <a:solidFill>
                  <a:srgbClr val="2D3748"/>
                </a:solidFill>
                <a:latin typeface="-apple-system"/>
              </a:rPr>
              <a:t>S</a:t>
            </a:r>
            <a:r>
              <a:rPr lang="en-US" b="0" i="0" dirty="0">
                <a:solidFill>
                  <a:srgbClr val="2D3748"/>
                </a:solidFill>
                <a:effectLst/>
                <a:latin typeface="-apple-system"/>
              </a:rPr>
              <a:t>pecialized type of operating system that is designed for a specific device and function.</a:t>
            </a:r>
          </a:p>
          <a:p>
            <a:r>
              <a:rPr lang="en-US" b="0" i="0" dirty="0">
                <a:solidFill>
                  <a:srgbClr val="2D3748"/>
                </a:solidFill>
                <a:effectLst/>
                <a:latin typeface="-apple-system"/>
              </a:rPr>
              <a:t>smart TVs, car control systems, robot control systems, Internet of Things (IoT) devices, GPS systems.</a:t>
            </a:r>
            <a:endParaRPr lang="en-IN" dirty="0"/>
          </a:p>
        </p:txBody>
      </p:sp>
    </p:spTree>
    <p:extLst>
      <p:ext uri="{BB962C8B-B14F-4D97-AF65-F5344CB8AC3E}">
        <p14:creationId xmlns:p14="http://schemas.microsoft.com/office/powerpoint/2010/main" val="24817594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D185B-CCF0-7139-740C-882C59BA84DD}"/>
              </a:ext>
            </a:extLst>
          </p:cNvPr>
          <p:cNvSpPr>
            <a:spLocks noGrp="1"/>
          </p:cNvSpPr>
          <p:nvPr>
            <p:ph type="title"/>
          </p:nvPr>
        </p:nvSpPr>
        <p:spPr/>
        <p:txBody>
          <a:bodyPr/>
          <a:lstStyle/>
          <a:p>
            <a:r>
              <a:rPr lang="en-IN" dirty="0"/>
              <a:t>Kernel of OS</a:t>
            </a:r>
          </a:p>
        </p:txBody>
      </p:sp>
      <p:sp>
        <p:nvSpPr>
          <p:cNvPr id="3" name="Content Placeholder 2">
            <a:extLst>
              <a:ext uri="{FF2B5EF4-FFF2-40B4-BE49-F238E27FC236}">
                <a16:creationId xmlns:a16="http://schemas.microsoft.com/office/drawing/2014/main" id="{01FCDAE1-72B8-B799-93DB-7E6191B1C6DC}"/>
              </a:ext>
            </a:extLst>
          </p:cNvPr>
          <p:cNvSpPr>
            <a:spLocks noGrp="1"/>
          </p:cNvSpPr>
          <p:nvPr>
            <p:ph idx="1"/>
          </p:nvPr>
        </p:nvSpPr>
        <p:spPr>
          <a:xfrm>
            <a:off x="838200" y="1825625"/>
            <a:ext cx="7324725" cy="4351338"/>
          </a:xfrm>
        </p:spPr>
        <p:txBody>
          <a:bodyPr/>
          <a:lstStyle/>
          <a:p>
            <a:r>
              <a:rPr lang="en-IN" dirty="0"/>
              <a:t>System Software</a:t>
            </a:r>
          </a:p>
          <a:p>
            <a:r>
              <a:rPr lang="en-IN" dirty="0"/>
              <a:t>Heart and core of OS</a:t>
            </a:r>
          </a:p>
          <a:p>
            <a:r>
              <a:rPr lang="en-IN" dirty="0"/>
              <a:t>During booting kernel is loaded from storage device to a protected memory space.</a:t>
            </a:r>
          </a:p>
          <a:p>
            <a:r>
              <a:rPr lang="en-IN" dirty="0"/>
              <a:t>Kernel space</a:t>
            </a:r>
          </a:p>
          <a:p>
            <a:r>
              <a:rPr lang="en-IN" dirty="0"/>
              <a:t>User space</a:t>
            </a:r>
          </a:p>
          <a:p>
            <a:r>
              <a:rPr lang="en-IN" dirty="0" err="1"/>
              <a:t>Systemcalls</a:t>
            </a:r>
            <a:endParaRPr lang="en-IN" dirty="0"/>
          </a:p>
        </p:txBody>
      </p:sp>
      <p:pic>
        <p:nvPicPr>
          <p:cNvPr id="2050" name="Picture 2" descr="What Is an OS Kernel? | Baeldung on Computer Science">
            <a:extLst>
              <a:ext uri="{FF2B5EF4-FFF2-40B4-BE49-F238E27FC236}">
                <a16:creationId xmlns:a16="http://schemas.microsoft.com/office/drawing/2014/main" id="{2B1AE043-C125-E108-BB6E-227F7FB751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62925" y="1909763"/>
            <a:ext cx="4191000" cy="4000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55991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0F507-F1A4-46EA-BD17-C7C65BC2F7F7}"/>
              </a:ext>
            </a:extLst>
          </p:cNvPr>
          <p:cNvSpPr>
            <a:spLocks noGrp="1"/>
          </p:cNvSpPr>
          <p:nvPr>
            <p:ph type="title"/>
          </p:nvPr>
        </p:nvSpPr>
        <p:spPr/>
        <p:txBody>
          <a:bodyPr/>
          <a:lstStyle/>
          <a:p>
            <a:r>
              <a:rPr lang="en-IN" dirty="0"/>
              <a:t>Kernel functions</a:t>
            </a:r>
          </a:p>
        </p:txBody>
      </p:sp>
      <p:pic>
        <p:nvPicPr>
          <p:cNvPr id="4" name="Picture 3">
            <a:extLst>
              <a:ext uri="{FF2B5EF4-FFF2-40B4-BE49-F238E27FC236}">
                <a16:creationId xmlns:a16="http://schemas.microsoft.com/office/drawing/2014/main" id="{A02C2E8F-CF44-5ACC-ACCD-005665B46830}"/>
              </a:ext>
            </a:extLst>
          </p:cNvPr>
          <p:cNvPicPr>
            <a:picLocks noChangeAspect="1"/>
          </p:cNvPicPr>
          <p:nvPr/>
        </p:nvPicPr>
        <p:blipFill>
          <a:blip r:embed="rId2"/>
          <a:stretch>
            <a:fillRect/>
          </a:stretch>
        </p:blipFill>
        <p:spPr>
          <a:xfrm>
            <a:off x="3371850" y="1825625"/>
            <a:ext cx="5943600" cy="4351338"/>
          </a:xfrm>
          <a:prstGeom prst="rect">
            <a:avLst/>
          </a:prstGeom>
        </p:spPr>
      </p:pic>
    </p:spTree>
    <p:extLst>
      <p:ext uri="{BB962C8B-B14F-4D97-AF65-F5344CB8AC3E}">
        <p14:creationId xmlns:p14="http://schemas.microsoft.com/office/powerpoint/2010/main" val="18343879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E3F50-E03B-4EE4-C3B6-98EEBD0ADBEE}"/>
              </a:ext>
            </a:extLst>
          </p:cNvPr>
          <p:cNvSpPr>
            <a:spLocks noGrp="1"/>
          </p:cNvSpPr>
          <p:nvPr>
            <p:ph type="title"/>
          </p:nvPr>
        </p:nvSpPr>
        <p:spPr/>
        <p:txBody>
          <a:bodyPr/>
          <a:lstStyle/>
          <a:p>
            <a:r>
              <a:rPr lang="en-IN" dirty="0"/>
              <a:t>OS Structures</a:t>
            </a:r>
          </a:p>
        </p:txBody>
      </p:sp>
      <p:sp>
        <p:nvSpPr>
          <p:cNvPr id="3" name="Content Placeholder 2">
            <a:extLst>
              <a:ext uri="{FF2B5EF4-FFF2-40B4-BE49-F238E27FC236}">
                <a16:creationId xmlns:a16="http://schemas.microsoft.com/office/drawing/2014/main" id="{DE70DEA8-A0F6-50EB-7591-287E8FC0DD04}"/>
              </a:ext>
            </a:extLst>
          </p:cNvPr>
          <p:cNvSpPr>
            <a:spLocks noGrp="1"/>
          </p:cNvSpPr>
          <p:nvPr>
            <p:ph idx="1"/>
          </p:nvPr>
        </p:nvSpPr>
        <p:spPr/>
        <p:txBody>
          <a:bodyPr/>
          <a:lstStyle/>
          <a:p>
            <a:r>
              <a:rPr lang="en-IN" dirty="0"/>
              <a:t>Simple</a:t>
            </a:r>
          </a:p>
          <a:p>
            <a:r>
              <a:rPr lang="en-IN" dirty="0"/>
              <a:t>Monolithic</a:t>
            </a:r>
          </a:p>
          <a:p>
            <a:r>
              <a:rPr lang="en-IN" dirty="0"/>
              <a:t>Microkernel</a:t>
            </a:r>
          </a:p>
          <a:p>
            <a:r>
              <a:rPr lang="en-IN" dirty="0"/>
              <a:t>Layered</a:t>
            </a:r>
          </a:p>
          <a:p>
            <a:r>
              <a:rPr lang="en-IN" dirty="0"/>
              <a:t>Modular</a:t>
            </a:r>
          </a:p>
        </p:txBody>
      </p:sp>
    </p:spTree>
    <p:extLst>
      <p:ext uri="{BB962C8B-B14F-4D97-AF65-F5344CB8AC3E}">
        <p14:creationId xmlns:p14="http://schemas.microsoft.com/office/powerpoint/2010/main" val="40715886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FA7E7-18F7-39B0-4C8B-EDBB9DAED252}"/>
              </a:ext>
            </a:extLst>
          </p:cNvPr>
          <p:cNvSpPr>
            <a:spLocks noGrp="1"/>
          </p:cNvSpPr>
          <p:nvPr>
            <p:ph type="title"/>
          </p:nvPr>
        </p:nvSpPr>
        <p:spPr/>
        <p:txBody>
          <a:bodyPr/>
          <a:lstStyle/>
          <a:p>
            <a:r>
              <a:rPr lang="en-IN" dirty="0"/>
              <a:t>Simple</a:t>
            </a:r>
          </a:p>
        </p:txBody>
      </p:sp>
      <p:pic>
        <p:nvPicPr>
          <p:cNvPr id="4" name="Content Placeholder 3">
            <a:extLst>
              <a:ext uri="{FF2B5EF4-FFF2-40B4-BE49-F238E27FC236}">
                <a16:creationId xmlns:a16="http://schemas.microsoft.com/office/drawing/2014/main" id="{03A0E525-0DB2-D3EA-EAFA-3995647E1FA8}"/>
              </a:ext>
            </a:extLst>
          </p:cNvPr>
          <p:cNvPicPr>
            <a:picLocks noGrp="1" noChangeAspect="1"/>
          </p:cNvPicPr>
          <p:nvPr>
            <p:ph idx="1"/>
          </p:nvPr>
        </p:nvPicPr>
        <p:blipFill>
          <a:blip r:embed="rId2"/>
          <a:stretch>
            <a:fillRect/>
          </a:stretch>
        </p:blipFill>
        <p:spPr>
          <a:xfrm>
            <a:off x="7181850" y="2134394"/>
            <a:ext cx="3333750" cy="3333750"/>
          </a:xfrm>
          <a:prstGeom prst="rect">
            <a:avLst/>
          </a:prstGeom>
        </p:spPr>
      </p:pic>
      <p:sp>
        <p:nvSpPr>
          <p:cNvPr id="5" name="TextBox 4">
            <a:extLst>
              <a:ext uri="{FF2B5EF4-FFF2-40B4-BE49-F238E27FC236}">
                <a16:creationId xmlns:a16="http://schemas.microsoft.com/office/drawing/2014/main" id="{D40A52CD-CEAE-9840-EE82-7EE543EA25CA}"/>
              </a:ext>
            </a:extLst>
          </p:cNvPr>
          <p:cNvSpPr txBox="1"/>
          <p:nvPr/>
        </p:nvSpPr>
        <p:spPr>
          <a:xfrm>
            <a:off x="990600" y="1534229"/>
            <a:ext cx="6076950" cy="1660968"/>
          </a:xfrm>
          <a:prstGeom prst="rect">
            <a:avLst/>
          </a:prstGeom>
          <a:noFill/>
        </p:spPr>
        <p:txBody>
          <a:bodyPr wrap="square" rtlCol="0">
            <a:spAutoFit/>
          </a:bodyPr>
          <a:lstStyle/>
          <a:p>
            <a:pPr marL="228600" indent="-228600">
              <a:lnSpc>
                <a:spcPct val="90000"/>
              </a:lnSpc>
              <a:spcBef>
                <a:spcPts val="1000"/>
              </a:spcBef>
              <a:buFont typeface="Arial" panose="020B0604020202020204" pitchFamily="34" charset="0"/>
              <a:buChar char="•"/>
            </a:pPr>
            <a:r>
              <a:rPr lang="en-IN" sz="2800" dirty="0"/>
              <a:t>Interfaces and levels of functionality are not well separated.</a:t>
            </a:r>
          </a:p>
          <a:p>
            <a:pPr marL="228600" indent="-228600">
              <a:lnSpc>
                <a:spcPct val="90000"/>
              </a:lnSpc>
              <a:spcBef>
                <a:spcPts val="1000"/>
              </a:spcBef>
              <a:buFont typeface="Arial" panose="020B0604020202020204" pitchFamily="34" charset="0"/>
              <a:buChar char="•"/>
            </a:pPr>
            <a:r>
              <a:rPr lang="en-IN" sz="2800" dirty="0"/>
              <a:t>MS-DOS</a:t>
            </a:r>
          </a:p>
          <a:p>
            <a:endParaRPr lang="en-IN" dirty="0"/>
          </a:p>
        </p:txBody>
      </p:sp>
    </p:spTree>
    <p:extLst>
      <p:ext uri="{BB962C8B-B14F-4D97-AF65-F5344CB8AC3E}">
        <p14:creationId xmlns:p14="http://schemas.microsoft.com/office/powerpoint/2010/main" val="42174696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D86C7-DB29-A2AE-F318-6183CA0D387B}"/>
              </a:ext>
            </a:extLst>
          </p:cNvPr>
          <p:cNvSpPr>
            <a:spLocks noGrp="1"/>
          </p:cNvSpPr>
          <p:nvPr>
            <p:ph type="title"/>
          </p:nvPr>
        </p:nvSpPr>
        <p:spPr/>
        <p:txBody>
          <a:bodyPr/>
          <a:lstStyle/>
          <a:p>
            <a:r>
              <a:rPr lang="en-IN" dirty="0"/>
              <a:t>Monolithic</a:t>
            </a:r>
          </a:p>
        </p:txBody>
      </p:sp>
      <p:sp>
        <p:nvSpPr>
          <p:cNvPr id="3" name="Content Placeholder 2">
            <a:extLst>
              <a:ext uri="{FF2B5EF4-FFF2-40B4-BE49-F238E27FC236}">
                <a16:creationId xmlns:a16="http://schemas.microsoft.com/office/drawing/2014/main" id="{9925F05E-0C74-743D-EB6A-F5E689AD4B68}"/>
              </a:ext>
            </a:extLst>
          </p:cNvPr>
          <p:cNvSpPr>
            <a:spLocks noGrp="1"/>
          </p:cNvSpPr>
          <p:nvPr>
            <p:ph idx="1"/>
          </p:nvPr>
        </p:nvSpPr>
        <p:spPr>
          <a:xfrm>
            <a:off x="838199" y="1438275"/>
            <a:ext cx="7086601" cy="5181600"/>
          </a:xfrm>
        </p:spPr>
        <p:txBody>
          <a:bodyPr/>
          <a:lstStyle/>
          <a:p>
            <a:r>
              <a:rPr lang="en-US" dirty="0"/>
              <a:t>Entire operating system (OS) runs in a single address space, operating in </a:t>
            </a:r>
            <a:r>
              <a:rPr lang="en-US" b="1" dirty="0"/>
              <a:t>kernel mode</a:t>
            </a:r>
            <a:r>
              <a:rPr lang="en-US" dirty="0"/>
              <a:t>. </a:t>
            </a:r>
          </a:p>
          <a:p>
            <a:r>
              <a:rPr lang="en-IN" dirty="0"/>
              <a:t>Single Address Space, Fast Communication, Large Size</a:t>
            </a:r>
          </a:p>
          <a:p>
            <a:r>
              <a:rPr lang="en-IN" dirty="0"/>
              <a:t>Stability Risks, Limited Modularity</a:t>
            </a:r>
          </a:p>
        </p:txBody>
      </p:sp>
      <p:pic>
        <p:nvPicPr>
          <p:cNvPr id="5122" name="Picture 2">
            <a:extLst>
              <a:ext uri="{FF2B5EF4-FFF2-40B4-BE49-F238E27FC236}">
                <a16:creationId xmlns:a16="http://schemas.microsoft.com/office/drawing/2014/main" id="{5B316624-4595-279E-A464-2253A7922C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8600" y="1952624"/>
            <a:ext cx="4181475" cy="3429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68132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743DB-142E-CF8B-0F42-C235B871EF6F}"/>
              </a:ext>
            </a:extLst>
          </p:cNvPr>
          <p:cNvSpPr>
            <a:spLocks noGrp="1"/>
          </p:cNvSpPr>
          <p:nvPr>
            <p:ph type="title"/>
          </p:nvPr>
        </p:nvSpPr>
        <p:spPr>
          <a:xfrm>
            <a:off x="838200" y="365125"/>
            <a:ext cx="10515600" cy="968375"/>
          </a:xfrm>
        </p:spPr>
        <p:txBody>
          <a:bodyPr/>
          <a:lstStyle/>
          <a:p>
            <a:r>
              <a:rPr lang="en-IN" dirty="0"/>
              <a:t>Microkernel</a:t>
            </a:r>
          </a:p>
        </p:txBody>
      </p:sp>
      <p:pic>
        <p:nvPicPr>
          <p:cNvPr id="6146" name="Picture 2" descr="Lightbox">
            <a:extLst>
              <a:ext uri="{FF2B5EF4-FFF2-40B4-BE49-F238E27FC236}">
                <a16:creationId xmlns:a16="http://schemas.microsoft.com/office/drawing/2014/main" id="{FB82C5B1-2FEA-CF4C-068D-B5FABE24ADE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877300" y="1824038"/>
            <a:ext cx="3943350" cy="36290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8D1D4AD-87C7-8630-5697-F7430327B1F6}"/>
              </a:ext>
            </a:extLst>
          </p:cNvPr>
          <p:cNvSpPr txBox="1"/>
          <p:nvPr/>
        </p:nvSpPr>
        <p:spPr>
          <a:xfrm>
            <a:off x="904874" y="1590675"/>
            <a:ext cx="8048625" cy="5355312"/>
          </a:xfrm>
          <a:prstGeom prst="rect">
            <a:avLst/>
          </a:prstGeom>
          <a:noFill/>
        </p:spPr>
        <p:txBody>
          <a:bodyPr wrap="square" rtlCol="0">
            <a:spAutoFit/>
          </a:bodyPr>
          <a:lstStyle/>
          <a:p>
            <a:r>
              <a:rPr lang="en-US" dirty="0"/>
              <a:t>microkernel includes only the most essential services required to run the operating system in the kernel space, delegating other services to user space. This design aims to improve system reliability and flexibility.</a:t>
            </a:r>
          </a:p>
          <a:p>
            <a:endParaRPr lang="en-US" dirty="0"/>
          </a:p>
          <a:p>
            <a:pPr>
              <a:buFont typeface="+mj-lt"/>
              <a:buAutoNum type="arabicPeriod"/>
            </a:pPr>
            <a:r>
              <a:rPr lang="en-US" b="1" dirty="0"/>
              <a:t>Minimal Core Functionality</a:t>
            </a:r>
            <a:r>
              <a:rPr lang="en-US" dirty="0"/>
              <a:t>:</a:t>
            </a:r>
            <a:br>
              <a:rPr lang="en-US" dirty="0"/>
            </a:br>
            <a:r>
              <a:rPr lang="en-US" dirty="0"/>
              <a:t>Only critical services like </a:t>
            </a:r>
            <a:r>
              <a:rPr lang="en-US" b="1" dirty="0"/>
              <a:t>inter-process communication (IPC)</a:t>
            </a:r>
            <a:r>
              <a:rPr lang="en-US" dirty="0"/>
              <a:t>, </a:t>
            </a:r>
            <a:r>
              <a:rPr lang="en-US" b="1" dirty="0"/>
              <a:t>basic memory management</a:t>
            </a:r>
            <a:r>
              <a:rPr lang="en-US" dirty="0"/>
              <a:t>, and </a:t>
            </a:r>
            <a:r>
              <a:rPr lang="en-US" b="1" dirty="0"/>
              <a:t>CPU scheduling</a:t>
            </a:r>
            <a:r>
              <a:rPr lang="en-US" dirty="0"/>
              <a:t> are implemented in the kernel space.</a:t>
            </a:r>
          </a:p>
          <a:p>
            <a:pPr>
              <a:buFont typeface="+mj-lt"/>
              <a:buAutoNum type="arabicPeriod"/>
            </a:pPr>
            <a:r>
              <a:rPr lang="en-US" b="1" dirty="0"/>
              <a:t>User Space Services</a:t>
            </a:r>
            <a:r>
              <a:rPr lang="en-US" dirty="0"/>
              <a:t>:</a:t>
            </a:r>
            <a:br>
              <a:rPr lang="en-US" dirty="0"/>
            </a:br>
            <a:r>
              <a:rPr lang="en-US" dirty="0"/>
              <a:t>Non-essential services like device drivers, file systems, and network protocols are implemented as user-space processes.</a:t>
            </a:r>
          </a:p>
          <a:p>
            <a:pPr>
              <a:buFont typeface="+mj-lt"/>
              <a:buAutoNum type="arabicPeriod"/>
            </a:pPr>
            <a:r>
              <a:rPr lang="en-US" b="1" dirty="0"/>
              <a:t>Modularity</a:t>
            </a:r>
            <a:r>
              <a:rPr lang="en-US" dirty="0"/>
              <a:t>:</a:t>
            </a:r>
            <a:br>
              <a:rPr lang="en-US" dirty="0"/>
            </a:br>
            <a:r>
              <a:rPr lang="en-US" dirty="0"/>
              <a:t>The modular design makes the microkernel easy to maintain, update, and debug.</a:t>
            </a:r>
          </a:p>
          <a:p>
            <a:pPr>
              <a:buFont typeface="+mj-lt"/>
              <a:buAutoNum type="arabicPeriod"/>
            </a:pPr>
            <a:r>
              <a:rPr lang="en-US" b="1" dirty="0"/>
              <a:t>Message Passing</a:t>
            </a:r>
            <a:r>
              <a:rPr lang="en-US" dirty="0"/>
              <a:t>:</a:t>
            </a:r>
            <a:br>
              <a:rPr lang="en-US" dirty="0"/>
            </a:br>
            <a:r>
              <a:rPr lang="en-US" dirty="0"/>
              <a:t>Communication between the kernel and user-space services happens through </a:t>
            </a:r>
            <a:r>
              <a:rPr lang="en-US" b="1" dirty="0"/>
              <a:t>message passing</a:t>
            </a:r>
            <a:r>
              <a:rPr lang="en-US" dirty="0"/>
              <a:t>, which provides a clear separation between components.</a:t>
            </a:r>
          </a:p>
          <a:p>
            <a:pPr>
              <a:buFont typeface="+mj-lt"/>
              <a:buAutoNum type="arabicPeriod"/>
            </a:pPr>
            <a:r>
              <a:rPr lang="en-US" b="1" dirty="0"/>
              <a:t>Fault Isolation</a:t>
            </a:r>
            <a:r>
              <a:rPr lang="en-US" dirty="0"/>
              <a:t>:</a:t>
            </a:r>
            <a:br>
              <a:rPr lang="en-US" dirty="0"/>
            </a:br>
            <a:r>
              <a:rPr lang="en-US" dirty="0"/>
              <a:t>Since most services run in user space, a failure in one service is less likely to crash the entire system.</a:t>
            </a:r>
          </a:p>
          <a:p>
            <a:endParaRPr lang="en-US" dirty="0"/>
          </a:p>
        </p:txBody>
      </p:sp>
    </p:spTree>
    <p:extLst>
      <p:ext uri="{BB962C8B-B14F-4D97-AF65-F5344CB8AC3E}">
        <p14:creationId xmlns:p14="http://schemas.microsoft.com/office/powerpoint/2010/main" val="5180122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638C5-F58A-908D-131F-9020C1593C06}"/>
              </a:ext>
            </a:extLst>
          </p:cNvPr>
          <p:cNvSpPr>
            <a:spLocks noGrp="1"/>
          </p:cNvSpPr>
          <p:nvPr>
            <p:ph type="title"/>
          </p:nvPr>
        </p:nvSpPr>
        <p:spPr/>
        <p:txBody>
          <a:bodyPr/>
          <a:lstStyle/>
          <a:p>
            <a:r>
              <a:rPr lang="en-IN" dirty="0"/>
              <a:t>Layered</a:t>
            </a:r>
          </a:p>
        </p:txBody>
      </p:sp>
      <p:sp>
        <p:nvSpPr>
          <p:cNvPr id="3" name="Content Placeholder 2">
            <a:extLst>
              <a:ext uri="{FF2B5EF4-FFF2-40B4-BE49-F238E27FC236}">
                <a16:creationId xmlns:a16="http://schemas.microsoft.com/office/drawing/2014/main" id="{D213933B-57E1-C1F4-CCB8-336B28E11DF2}"/>
              </a:ext>
            </a:extLst>
          </p:cNvPr>
          <p:cNvSpPr>
            <a:spLocks noGrp="1"/>
          </p:cNvSpPr>
          <p:nvPr>
            <p:ph idx="1"/>
          </p:nvPr>
        </p:nvSpPr>
        <p:spPr>
          <a:xfrm>
            <a:off x="838199" y="1333500"/>
            <a:ext cx="6391275" cy="4843463"/>
          </a:xfrm>
        </p:spPr>
        <p:txBody>
          <a:bodyPr/>
          <a:lstStyle/>
          <a:p>
            <a:r>
              <a:rPr lang="en-US" dirty="0"/>
              <a:t>Organizes the system into a series of hierarchical layers, each built on top of the other. </a:t>
            </a:r>
          </a:p>
          <a:p>
            <a:r>
              <a:rPr lang="en-US" dirty="0"/>
              <a:t>Each layer provides specific functionalities and interacts only with the layer directly above or below it.</a:t>
            </a:r>
          </a:p>
          <a:p>
            <a:endParaRPr lang="en-IN" dirty="0"/>
          </a:p>
        </p:txBody>
      </p:sp>
      <p:pic>
        <p:nvPicPr>
          <p:cNvPr id="1026" name="Picture 2" descr="Layered Structure of Operating System">
            <a:extLst>
              <a:ext uri="{FF2B5EF4-FFF2-40B4-BE49-F238E27FC236}">
                <a16:creationId xmlns:a16="http://schemas.microsoft.com/office/drawing/2014/main" id="{B7A24FC3-DC3E-36BB-11D9-7E0E8DBBCF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8500" y="1204913"/>
            <a:ext cx="5353049" cy="3400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95991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3853F-9F89-F56C-72F8-CBE04DF5607A}"/>
              </a:ext>
            </a:extLst>
          </p:cNvPr>
          <p:cNvSpPr>
            <a:spLocks noGrp="1"/>
          </p:cNvSpPr>
          <p:nvPr>
            <p:ph type="title"/>
          </p:nvPr>
        </p:nvSpPr>
        <p:spPr/>
        <p:txBody>
          <a:bodyPr/>
          <a:lstStyle/>
          <a:p>
            <a:r>
              <a:rPr lang="en-IN" dirty="0"/>
              <a:t>Modular</a:t>
            </a:r>
          </a:p>
        </p:txBody>
      </p:sp>
      <p:sp>
        <p:nvSpPr>
          <p:cNvPr id="3" name="Content Placeholder 2">
            <a:extLst>
              <a:ext uri="{FF2B5EF4-FFF2-40B4-BE49-F238E27FC236}">
                <a16:creationId xmlns:a16="http://schemas.microsoft.com/office/drawing/2014/main" id="{88C41BD6-4F5E-63F4-9AC4-98E3D0112697}"/>
              </a:ext>
            </a:extLst>
          </p:cNvPr>
          <p:cNvSpPr>
            <a:spLocks noGrp="1"/>
          </p:cNvSpPr>
          <p:nvPr>
            <p:ph idx="1"/>
          </p:nvPr>
        </p:nvSpPr>
        <p:spPr>
          <a:xfrm>
            <a:off x="838200" y="1600200"/>
            <a:ext cx="6534150" cy="4576763"/>
          </a:xfrm>
        </p:spPr>
        <p:txBody>
          <a:bodyPr>
            <a:normAutofit fontScale="70000" lnSpcReduction="20000"/>
          </a:bodyPr>
          <a:lstStyle/>
          <a:p>
            <a:pPr algn="l">
              <a:buFont typeface="Arial" panose="020B0604020202020204" pitchFamily="34" charset="0"/>
              <a:buChar char="•"/>
            </a:pPr>
            <a:r>
              <a:rPr lang="en-US" sz="3300" dirty="0"/>
              <a:t>Modern OS development is object-oriented, with a relatively small core kernel and a set of modules which can be linked in dynamically. </a:t>
            </a:r>
          </a:p>
          <a:p>
            <a:pPr algn="l">
              <a:buFont typeface="Arial" panose="020B0604020202020204" pitchFamily="34" charset="0"/>
              <a:buChar char="•"/>
            </a:pPr>
            <a:r>
              <a:rPr lang="en-US" sz="3300" dirty="0"/>
              <a:t> for example, the Solaris structure.</a:t>
            </a:r>
          </a:p>
          <a:p>
            <a:pPr algn="l">
              <a:buFont typeface="Arial" panose="020B0604020202020204" pitchFamily="34" charset="0"/>
              <a:buChar char="•"/>
            </a:pPr>
            <a:r>
              <a:rPr lang="en-US" sz="3300" dirty="0"/>
              <a:t>Modules are similar to layers in that each subsystem has clearly defined tasks and interfaces, but any module is free to contact any other module, eliminating the problems of going through multiple intermediary layers.</a:t>
            </a:r>
          </a:p>
          <a:p>
            <a:pPr algn="l">
              <a:buFont typeface="Arial" panose="020B0604020202020204" pitchFamily="34" charset="0"/>
              <a:buChar char="•"/>
            </a:pPr>
            <a:r>
              <a:rPr lang="en-US" sz="3300" dirty="0"/>
              <a:t>The kernel is relatively small in this architecture, similar to microkernels, but the kernel does not have to implement message passing since modules are free to contact each other directly.</a:t>
            </a:r>
          </a:p>
          <a:p>
            <a:pPr marL="0" indent="0">
              <a:buNone/>
            </a:pPr>
            <a:endParaRPr lang="en-IN" dirty="0"/>
          </a:p>
        </p:txBody>
      </p:sp>
      <p:pic>
        <p:nvPicPr>
          <p:cNvPr id="4098" name="Picture 2">
            <a:extLst>
              <a:ext uri="{FF2B5EF4-FFF2-40B4-BE49-F238E27FC236}">
                <a16:creationId xmlns:a16="http://schemas.microsoft.com/office/drawing/2014/main" id="{808F515D-6C0B-4F85-152A-B454E8E8C1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5700" y="2090737"/>
            <a:ext cx="4857750" cy="30337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89690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991</TotalTime>
  <Words>1046</Words>
  <Application>Microsoft Office PowerPoint</Application>
  <PresentationFormat>Widescreen</PresentationFormat>
  <Paragraphs>121</Paragraphs>
  <Slides>30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-apple-system</vt:lpstr>
      <vt:lpstr>Arial</vt:lpstr>
      <vt:lpstr>Calibri</vt:lpstr>
      <vt:lpstr>Calibri Light</vt:lpstr>
      <vt:lpstr>Georgia</vt:lpstr>
      <vt:lpstr>Nunito</vt:lpstr>
      <vt:lpstr>Symbol</vt:lpstr>
      <vt:lpstr>Office Theme</vt:lpstr>
      <vt:lpstr>Module 1:  Introduction to OS</vt:lpstr>
      <vt:lpstr>PowerPoint Presentation</vt:lpstr>
      <vt:lpstr>What is an Operating System?</vt:lpstr>
      <vt:lpstr>Operating system goals </vt:lpstr>
      <vt:lpstr>Abstract View of Components of Computer</vt:lpstr>
      <vt:lpstr>Components of an operating system </vt:lpstr>
      <vt:lpstr>PowerPoint Presentation</vt:lpstr>
      <vt:lpstr>Process Management  </vt:lpstr>
      <vt:lpstr>Main Memory Management </vt:lpstr>
      <vt:lpstr>File Management </vt:lpstr>
      <vt:lpstr>I/O System Management </vt:lpstr>
      <vt:lpstr>Networking </vt:lpstr>
      <vt:lpstr>Protection System</vt:lpstr>
      <vt:lpstr>Command-Interpreter System </vt:lpstr>
      <vt:lpstr>Types of Operating System</vt:lpstr>
      <vt:lpstr>Batch OS</vt:lpstr>
      <vt:lpstr>Multiprogramming and Multitasking OS </vt:lpstr>
      <vt:lpstr>Multiprocessing OS</vt:lpstr>
      <vt:lpstr>Realtime OS</vt:lpstr>
      <vt:lpstr>Network OS</vt:lpstr>
      <vt:lpstr>Distributed OS</vt:lpstr>
      <vt:lpstr>Embedded OS</vt:lpstr>
      <vt:lpstr>Kernel of OS</vt:lpstr>
      <vt:lpstr>Kernel functions</vt:lpstr>
      <vt:lpstr>OS Structures</vt:lpstr>
      <vt:lpstr>Simple</vt:lpstr>
      <vt:lpstr>Monolithic</vt:lpstr>
      <vt:lpstr>Microkernel</vt:lpstr>
      <vt:lpstr>Layered</vt:lpstr>
      <vt:lpstr>Modular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REENA GEORGE</dc:creator>
  <cp:lastModifiedBy>REENA GEORGE</cp:lastModifiedBy>
  <cp:revision>15</cp:revision>
  <dcterms:created xsi:type="dcterms:W3CDTF">2024-12-31T09:49:25Z</dcterms:created>
  <dcterms:modified xsi:type="dcterms:W3CDTF">2025-12-17T06:40:31Z</dcterms:modified>
</cp:coreProperties>
</file>