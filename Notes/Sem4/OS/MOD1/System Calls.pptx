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08FB3-512F-457B-20D1-53E1C910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814FA-66E7-C332-3325-F3CB5555B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DA73C-9E02-0EB9-B4BA-B07AB2ECE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E4645-3CEE-4496-912E-8E6DDA6FAA5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77DFD-46BB-8CEC-84E1-C9D284CAC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8AB38-A203-A890-AF43-DB893D14B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5153B-DA96-4192-A918-AFE365F20B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315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F0642-4352-92AB-7644-B85DE345E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EC00E-9FD6-1004-5C82-CF56C72AA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72171-FB44-32B5-1AA8-A1BF5A89A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E4645-3CEE-4496-912E-8E6DDA6FAA5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927BF-281A-123A-AD4A-99FAD6998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234A7-0836-4BB1-170C-11DAEBB5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5153B-DA96-4192-A918-AFE365F20B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594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FF5A9-EC94-70BF-A2CD-7B4ACFBC5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DDA8B-8C3C-8737-873B-80E15B837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F5A23-C0A3-B203-6A6A-321C2569D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E4645-3CEE-4496-912E-8E6DDA6FAA5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C7A80-ECD3-E162-672B-D1A7F8619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42893-E163-79BF-4098-0EB5C6F30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5153B-DA96-4192-A918-AFE365F20B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723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D227-CCD1-2640-9C65-459838563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89744-E55C-70E4-4759-61B18B55D0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FEA7B-4281-7DEE-A252-76A243CA1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EA9E7-E0A3-EC26-FC72-C6F94F09D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E4645-3CEE-4496-912E-8E6DDA6FAA5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45486-42E9-CCEA-9919-52F197F34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91032E-EBD7-502D-1A58-58C857D9F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5153B-DA96-4192-A918-AFE365F20B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998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7F1B-0130-9FF3-43D9-31D14A45C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38B1A-E600-2E2A-A9AE-501244DBD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765D3-4EF2-56D6-1FBE-993EFCA66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0ABE32-F6AA-1569-D8FF-14872EC28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C68B58-359C-A25F-1B96-15EA588BE5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7820D1-7D62-1315-CA12-CE2067CBD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E4645-3CEE-4496-912E-8E6DDA6FAA5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5C1320-A0C6-F6DD-467C-D90C487FD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AD12E1-4811-8BA4-36F9-C1457CE1C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5153B-DA96-4192-A918-AFE365F20B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841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48712-4905-B93C-77CE-77F252D63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6EF9B-C3EF-286B-8F6B-3F0718B4C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E4645-3CEE-4496-912E-8E6DDA6FAA5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C535E6-FBCB-2D8D-0AAB-3A87EED20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A28C6A-9001-A49A-34E5-A62DEBED2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5153B-DA96-4192-A918-AFE365F20B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621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AD4DDC-A54F-2455-7F68-2EC8D53B6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E4645-3CEE-4496-912E-8E6DDA6FAA5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C886C1-641C-EE98-9755-26B07B83B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DE339-C778-8D42-793D-4396FB60A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5153B-DA96-4192-A918-AFE365F20B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34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6245F-D350-BEEE-DA3B-6594F5F9C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EE127-E2C5-659F-6131-F41907A0D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927EF-3BBD-265E-1B52-1311229E5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164CE-D20E-2EE8-1564-6BF62CE44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E4645-3CEE-4496-912E-8E6DDA6FAA5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D445C-1B35-6334-9028-1226898D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7BCF3-6707-7F5D-83AB-704F750BA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5153B-DA96-4192-A918-AFE365F20B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730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4171F-660B-6BAA-F58F-971EAE23C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5CA8AF-EBBF-F740-480F-54E9F7274F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8CF8B9-9FEB-5053-0AD2-C83FFBA27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61EB12-5E9B-69FC-2CB5-5B1F57944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E4645-3CEE-4496-912E-8E6DDA6FAA5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7C807-0599-C80E-73A4-50B33B429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BBF61-9740-9937-A549-25217B19E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5153B-DA96-4192-A918-AFE365F20B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333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1CE21-1CAD-A104-59B6-7B59DEC9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D9032C-2977-66C6-C030-A7927351C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4E1D-9874-A6B8-E03C-03EE03D91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E4645-3CEE-4496-912E-8E6DDA6FAA5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512DF-E5A7-5DD6-ABEA-50B90D08B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03C30-EFA1-D8CF-74BB-B3F815D4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5153B-DA96-4192-A918-AFE365F20B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083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C96056-79EB-5114-42BC-E78049DB2E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94642E-1A11-A3A3-4ED1-FB9603F4F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E8277-7D8D-237E-9786-9035276CE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E4645-3CEE-4496-912E-8E6DDA6FAA5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74C2B-3B7E-5D7C-1DD9-C80A27AE8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B49CD-6713-007C-CD5F-FEC6E46B2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5153B-DA96-4192-A918-AFE365F20B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75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0CF349-E8FF-E03A-7641-E7F45FBF2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DF5C8-8C66-C147-1503-6FF578A36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3D05C-681E-19C5-5B07-FF8ADB9EFF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E4645-3CEE-4496-912E-8E6DDA6FAA5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BC7C2-99CC-6A78-EA1F-2B8F7F7CA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B83A0-2BB2-9391-7246-C8F04C297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5153B-DA96-4192-A918-AFE365F20B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87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hoenixnap.com/glossary/operating-system" TargetMode="External"/><Relationship Id="rId2" Type="http://schemas.openxmlformats.org/officeDocument/2006/relationships/hyperlink" Target="https://phoenixnap.com/glossary/what-is-a-progra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757D-47B6-230E-248E-ECFA82696E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System Calls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31875A-2E28-D9EC-4595-54E8F45589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123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1BCD6-55CC-D802-7FF3-A2F63CF8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1E903-5F37-A6FA-590F-6DA771C25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 Interface between a </a:t>
            </a:r>
            <a:r>
              <a:rPr lang="en-US" b="1" i="0" u="none" strike="noStrike" dirty="0">
                <a:solidFill>
                  <a:srgbClr val="0A1D33"/>
                </a:solidFill>
                <a:effectLst/>
                <a:hlinkClick r:id="rId2"/>
              </a:rPr>
              <a:t>program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running in user space and the </a:t>
            </a:r>
            <a:r>
              <a:rPr lang="en-US" b="1" i="0" u="none" strike="noStrike" dirty="0">
                <a:solidFill>
                  <a:srgbClr val="0A1D33"/>
                </a:solidFill>
                <a:effectLst/>
                <a:hlinkClick r:id="rId3"/>
              </a:rPr>
              <a:t>operating system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(OS).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 Acts like a request to the operating system (OS) from a program or software for performing tasks reserved for the OS. 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Tasks can be file operations, process control, to communication services and management of hardware devices.</a:t>
            </a:r>
          </a:p>
          <a:p>
            <a:r>
              <a:rPr lang="en-US" dirty="0">
                <a:solidFill>
                  <a:srgbClr val="000000"/>
                </a:solidFill>
              </a:rPr>
              <a:t>Way in which how program talks to OS.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protective boundaries are set by the OS to ensure that user programs don't directly access sensitive system resources.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9288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912B8-1F13-EC48-92AF-18E56E3A5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8" name="Picture 4" descr="User&lt;-&gt;Kernal">
            <a:extLst>
              <a:ext uri="{FF2B5EF4-FFF2-40B4-BE49-F238E27FC236}">
                <a16:creationId xmlns:a16="http://schemas.microsoft.com/office/drawing/2014/main" id="{AA5CF730-9C4C-5583-D8E5-A632A9C33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063" y="2062163"/>
            <a:ext cx="4010025" cy="258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4311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E038B-509A-D65C-40F8-93BC5A59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of a System call</a:t>
            </a:r>
          </a:p>
        </p:txBody>
      </p:sp>
      <p:pic>
        <p:nvPicPr>
          <p:cNvPr id="2050" name="Picture 2" descr="A diagram explaining how system calls work.">
            <a:extLst>
              <a:ext uri="{FF2B5EF4-FFF2-40B4-BE49-F238E27FC236}">
                <a16:creationId xmlns:a16="http://schemas.microsoft.com/office/drawing/2014/main" id="{71A41892-C9FF-B16B-E606-C1C9D0C70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1476375"/>
            <a:ext cx="7620000" cy="544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9212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57DF1-6DD5-9DA7-D06E-0408C5E8D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000000"/>
                </a:solidFill>
              </a:rPr>
              <a:t>Types of System Calls in OS</a:t>
            </a:r>
            <a:br>
              <a:rPr lang="en-US" sz="4400" dirty="0">
                <a:solidFill>
                  <a:srgbClr val="00000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0781-A015-FC98-5B49-27ED47054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4925"/>
            <a:ext cx="10515600" cy="4872038"/>
          </a:xfrm>
        </p:spPr>
        <p:txBody>
          <a:bodyPr>
            <a:normAutofit fontScale="47500" lnSpcReduction="20000"/>
          </a:bodyPr>
          <a:lstStyle/>
          <a:p>
            <a:pPr marL="0" indent="0" algn="l">
              <a:buNone/>
            </a:pPr>
            <a:r>
              <a:rPr lang="en-US" sz="4000" dirty="0">
                <a:solidFill>
                  <a:srgbClr val="000000"/>
                </a:solidFill>
              </a:rPr>
              <a:t>For any type of access, there are mainly 5 types of system calls in </a:t>
            </a:r>
            <a:r>
              <a:rPr lang="en-US" sz="4000" dirty="0" err="1">
                <a:solidFill>
                  <a:srgbClr val="000000"/>
                </a:solidFill>
              </a:rPr>
              <a:t>os</a:t>
            </a:r>
            <a:r>
              <a:rPr lang="en-US" sz="4000" dirty="0">
                <a:solidFill>
                  <a:srgbClr val="000000"/>
                </a:solidFill>
              </a:rPr>
              <a:t>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0000"/>
                </a:solidFill>
              </a:rPr>
              <a:t>File Management - system call that is used to handle the tasks related to files, such as the creation, deletion, writing, reading, releasing, etc. </a:t>
            </a:r>
          </a:p>
          <a:p>
            <a:pPr algn="l"/>
            <a:r>
              <a:rPr lang="en-IN" sz="2800" b="0" i="0" dirty="0">
                <a:solidFill>
                  <a:srgbClr val="000000"/>
                </a:solidFill>
                <a:effectLst/>
              </a:rPr>
              <a:t>Open(), Read(), Write(), Close()</a:t>
            </a:r>
            <a:endParaRPr lang="en-US" sz="4000" dirty="0">
              <a:solidFill>
                <a:srgbClr val="000000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0000"/>
                </a:solidFill>
              </a:rPr>
              <a:t>Device Management - system call that is used to handle the tasks related to devices such as requesting the device, releasing the device, reading the device, logically attaching, and detaching the device. </a:t>
            </a:r>
          </a:p>
          <a:p>
            <a:pPr algn="l"/>
            <a:r>
              <a:rPr lang="en-IN" sz="2800" b="0" i="0" dirty="0" err="1">
                <a:solidFill>
                  <a:srgbClr val="000000"/>
                </a:solidFill>
                <a:effectLst/>
              </a:rPr>
              <a:t>ioctl</a:t>
            </a:r>
            <a:r>
              <a:rPr lang="en-IN" sz="2800" b="0" i="0" dirty="0">
                <a:solidFill>
                  <a:srgbClr val="000000"/>
                </a:solidFill>
                <a:effectLst/>
              </a:rPr>
              <a:t>(), read(), write()</a:t>
            </a:r>
            <a:endParaRPr lang="en-US" sz="4000" dirty="0">
              <a:solidFill>
                <a:srgbClr val="000000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0000"/>
                </a:solidFill>
              </a:rPr>
              <a:t>Process Control - system call that is used to deal with the processes, such as the creation of process, deletion, execution, abortion of process, the wait signals for the process, etc.</a:t>
            </a:r>
          </a:p>
          <a:p>
            <a:pPr algn="l"/>
            <a:r>
              <a:rPr lang="en-IN" sz="2800" b="0" i="0" dirty="0">
                <a:solidFill>
                  <a:srgbClr val="000000"/>
                </a:solidFill>
                <a:effectLst/>
              </a:rPr>
              <a:t>Fork() ,Exit(), Wait()</a:t>
            </a:r>
            <a:endParaRPr lang="en-US" sz="4000" dirty="0">
              <a:solidFill>
                <a:srgbClr val="000000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0000"/>
                </a:solidFill>
              </a:rPr>
              <a:t>Communications - system call that is used for communicating in between the processes, such as sending or receiving messages, creation and deletion of the communication connections, etc. </a:t>
            </a:r>
          </a:p>
          <a:p>
            <a:pPr algn="l"/>
            <a:r>
              <a:rPr lang="en-IN" sz="2800" b="0" i="0" dirty="0">
                <a:solidFill>
                  <a:srgbClr val="000000"/>
                </a:solidFill>
                <a:effectLst/>
              </a:rPr>
              <a:t>Pipe(), </a:t>
            </a:r>
            <a:r>
              <a:rPr lang="en-IN" sz="2800" b="0" i="0" dirty="0" err="1">
                <a:solidFill>
                  <a:srgbClr val="000000"/>
                </a:solidFill>
                <a:effectLst/>
              </a:rPr>
              <a:t>Shmget</a:t>
            </a:r>
            <a:r>
              <a:rPr lang="en-IN" sz="2800" b="0" i="0" dirty="0">
                <a:solidFill>
                  <a:srgbClr val="000000"/>
                </a:solidFill>
                <a:effectLst/>
              </a:rPr>
              <a:t>(), </a:t>
            </a:r>
            <a:r>
              <a:rPr lang="en-IN" sz="2800" b="0" i="0" dirty="0" err="1">
                <a:solidFill>
                  <a:srgbClr val="000000"/>
                </a:solidFill>
                <a:effectLst/>
              </a:rPr>
              <a:t>Mmap</a:t>
            </a:r>
            <a:r>
              <a:rPr lang="en-IN" sz="2800" b="0" i="0" dirty="0">
                <a:solidFill>
                  <a:srgbClr val="000000"/>
                </a:solidFill>
                <a:effectLst/>
              </a:rPr>
              <a:t>()</a:t>
            </a:r>
            <a:endParaRPr lang="en-US" sz="4000" dirty="0">
              <a:solidFill>
                <a:srgbClr val="000000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0000"/>
                </a:solidFill>
              </a:rPr>
              <a:t>Information Maintenance - Information maintenance is a type of system call that is used for maintaining the information of the system such as setting up the date and time in the system. </a:t>
            </a:r>
          </a:p>
          <a:p>
            <a:pPr algn="l"/>
            <a:r>
              <a:rPr lang="en-IN" sz="2800" b="0" i="0" dirty="0" err="1">
                <a:solidFill>
                  <a:srgbClr val="000000"/>
                </a:solidFill>
                <a:effectLst/>
              </a:rPr>
              <a:t>Getpid</a:t>
            </a:r>
            <a:r>
              <a:rPr lang="en-IN" sz="2800" b="0" i="0" dirty="0">
                <a:solidFill>
                  <a:srgbClr val="000000"/>
                </a:solidFill>
                <a:effectLst/>
              </a:rPr>
              <a:t>(), Alarm(), Sleep()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00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2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EB42-6C21-9E50-C18E-135EF77A9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boot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FE763-0EE5-8E0B-D5A3-BE2F7978D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Process that initializes a computers hardware and loads the OS when the system is powered on.</a:t>
            </a:r>
          </a:p>
          <a:p>
            <a:r>
              <a:rPr lang="en-IN" dirty="0"/>
              <a:t>Power ON</a:t>
            </a:r>
          </a:p>
          <a:p>
            <a:r>
              <a:rPr lang="en-IN" dirty="0"/>
              <a:t>CPU loads </a:t>
            </a:r>
            <a:r>
              <a:rPr lang="en-IN"/>
              <a:t>BIOS / </a:t>
            </a:r>
            <a:r>
              <a:rPr lang="en-IN" dirty="0"/>
              <a:t>UEFI</a:t>
            </a:r>
          </a:p>
          <a:p>
            <a:r>
              <a:rPr lang="en-IN" dirty="0"/>
              <a:t>System Performs POST</a:t>
            </a:r>
          </a:p>
          <a:p>
            <a:r>
              <a:rPr lang="en-IN" dirty="0"/>
              <a:t>BIOS locates and loads the boot loader .</a:t>
            </a:r>
          </a:p>
          <a:p>
            <a:r>
              <a:rPr lang="en-IN" dirty="0"/>
              <a:t>Loads the OS kernel into memory.</a:t>
            </a:r>
          </a:p>
        </p:txBody>
      </p:sp>
    </p:spTree>
    <p:extLst>
      <p:ext uri="{BB962C8B-B14F-4D97-AF65-F5344CB8AC3E}">
        <p14:creationId xmlns:p14="http://schemas.microsoft.com/office/powerpoint/2010/main" val="2344917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368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System Calls</vt:lpstr>
      <vt:lpstr>System calls</vt:lpstr>
      <vt:lpstr>PowerPoint Presentation</vt:lpstr>
      <vt:lpstr>Working of a System call</vt:lpstr>
      <vt:lpstr>Types of System Calls in OS </vt:lpstr>
      <vt:lpstr>System boot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REENA GEORGE</dc:creator>
  <cp:lastModifiedBy>REENA GEORGE</cp:lastModifiedBy>
  <cp:revision>2</cp:revision>
  <dcterms:created xsi:type="dcterms:W3CDTF">2025-01-07T16:24:37Z</dcterms:created>
  <dcterms:modified xsi:type="dcterms:W3CDTF">2025-12-17T18:13:28Z</dcterms:modified>
</cp:coreProperties>
</file>