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375" r:id="rId3"/>
    <p:sldId id="376" r:id="rId4"/>
    <p:sldId id="377" r:id="rId5"/>
    <p:sldId id="378" r:id="rId6"/>
    <p:sldId id="257" r:id="rId7"/>
    <p:sldId id="267" r:id="rId8"/>
    <p:sldId id="379" r:id="rId9"/>
    <p:sldId id="259" r:id="rId10"/>
    <p:sldId id="260" r:id="rId11"/>
    <p:sldId id="258" r:id="rId12"/>
    <p:sldId id="261" r:id="rId13"/>
    <p:sldId id="262" r:id="rId14"/>
    <p:sldId id="263" r:id="rId15"/>
    <p:sldId id="264" r:id="rId16"/>
    <p:sldId id="265" r:id="rId17"/>
    <p:sldId id="266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8"/>
    <p:sldId id="279" r:id="rId29"/>
    <p:sldId id="277" r:id="rId30"/>
    <p:sldId id="362" r:id="rId31"/>
    <p:sldId id="363" r:id="rId32"/>
    <p:sldId id="364" r:id="rId33"/>
    <p:sldId id="365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284" r:id="rId44"/>
    <p:sldId id="285" r:id="rId45"/>
    <p:sldId id="28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368CB-FF7D-4559-8DF7-0A0E92D251D3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42378-256E-4960-834A-F86A8ACECB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36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24AFB16-87E4-F022-D140-57ACD66A3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233C601-A57B-4761-BE03-E8DC759E5E0B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887A6185-CD2C-44BF-9FC3-6248D8521A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3B6E9B6-A948-0284-7C6D-7A2B761DB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A00FDBBE-CEF8-76C4-1B75-FD4A416499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E4E914C-AE1B-4AD1-8AB9-9E7E75C0C86E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16811EC-23AE-8B1D-D5FA-9507E24A35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5F62CD34-366C-9557-5BFF-3B780AC80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32F82A4D-B119-F8DE-E2F6-91564C80D7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F8D7E20-ADED-4F5F-A010-E8DD534554D0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61DA7F2-6FC5-851B-D06E-2BC4DC7038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84F3D2DE-28EA-B578-F1BC-470FF38A76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BFC9BAC6-2AA9-0082-DB42-318DEC3C1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3EB11A-A4BF-4169-98FF-7FC0F6F730E4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632B45E8-B621-ABBC-86FE-AFFDAD9EF2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5920D811-2E63-E498-F36D-E479C36BA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AC7A81FB-F4D9-2E80-7F80-7D8A7E10D3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281A2-1E0F-415F-B94F-39BC0E3885F2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1DCC4C9E-2FD6-859D-B682-335774A07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41EC9265-E8A3-405C-4191-A2C58E345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39E8A7B7-E1DA-279C-4153-E1D4E0191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B00F39-E971-432A-A62F-360471FE01CE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F67A0F00-727C-DECB-6DF3-24364DB1C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1C8CD8F6-3449-B7D2-82F6-39D8307B5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B599E76-28B7-3EFD-0FCB-D22D5FEACE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3193B3-1482-4198-8DB1-E66CBDA45B23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58047305-4036-7511-84C5-F1D780030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76E8F16-9201-664D-621D-C382F9703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1F20CB8-CA51-F1DD-61AE-42EFAE9F7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8321EE0-8E9E-44E1-974E-A6C8E48D8306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9A1714D6-B31F-0835-C5DC-0B67A105B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C1F5B12D-50D7-B2C5-E646-231929096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8DAB9F78-0CB9-2675-4625-D8E04418D2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B40033-05A3-4EE2-A3F4-1A4853C43626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00EE7195-F5D8-0B77-D55C-6C71921F71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9569C068-65A1-75BD-537D-68007C7A9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D3CC72CF-AD33-3EBF-C559-01592F862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C8009DC-F475-4273-AD8F-743454E9553A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30E1067-E300-51C9-E3EC-D96F0FE24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513314BD-92DF-2549-7611-71FB07F0B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B57EF619-9DD6-0C83-D1EE-3F70352161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5C0775-86A3-4AEF-B57C-B8B66E6468E4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3338333-7D27-DDD7-4E80-AD1873358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7559D92-9CCE-83B0-E440-10FC5F99E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EFBC670-332F-6432-154F-9E747E2BD0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8CEF98-372D-458F-BC20-71321FBC0E61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796B8CF-EA3D-8C2D-D253-50DF1F258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F52FD32-66ED-553B-F75B-CEE154B2A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C259C3EA-D26C-8F26-502C-CBE3058292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989327-126C-4AE5-BC27-B3EC06428C74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49DD845C-ED94-06B4-54AA-EED6813A4E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F356EC0-93C8-B914-802B-C94DA7761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D1E0B-FEAD-D60A-790D-2D32BB9C0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6108-B903-6BC8-AAB8-DCB39CC64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A00D4-1A0E-A2D2-762D-474D508C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C2C5B-A61F-5FEC-4CAF-D508D968F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9787-8526-8484-C8F7-1EFF2283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70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FBC9-C2E9-CCBD-A6A8-0A90638B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EA646-1BD0-38C4-74F1-DAADAAF6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DBB00-0C47-43F8-783D-81C5A5DA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DA1E6-E084-5740-50B9-00D020CB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D5056-4D41-1FCE-36EF-2B6AA427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6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A7BF-75DF-F441-4BA1-FB9D6239C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6A656-BF8A-8784-C584-3A11122F7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465AC-CEA6-F14D-A62B-A556D7E8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9BEDC-C1E7-D9CB-9CE0-A45EA88C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B85F-9B3C-A73B-8782-38A37C7B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402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A5CC-8806-3FA0-ED75-7B5BA94B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4DE1-22AB-7D7D-2896-0D70E405EE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9B3CC-144F-33FE-D7D0-D653137AD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8E4F7-2F38-19C8-FB25-70D353D0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AF24D-61AB-F9AF-85C0-A822EB99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B4E5B-B70D-A003-91BF-47DE0B3A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7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5F77-643F-66D7-8694-20712155F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5D096-5DAA-A578-E9E7-3C88E759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AC1D2-F6BC-F0B0-0225-2E45428C5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229E4-AB25-9487-B5EF-E558753E0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9C09F-7123-4FC9-D442-7FFA0E0E9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1C07E-A95A-765F-4A98-0FB44E10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849E1-7F3B-E2B6-733B-E32AA76E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1F663-90D9-FF33-52AE-A0F4F919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95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7E19-F6F8-ED90-64B1-FB353B7B3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D39DE-30A6-9816-E924-D97737827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90CF0-A650-CC50-F371-D4F298A9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B4775-380D-E9C0-B51B-A95854C0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3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82586-86A1-8056-4169-7C830228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1A0FE7-87D0-5664-AD23-1CC8B571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95D1-9D8E-A39E-7E94-664032CA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84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6C92-5DD9-5454-CD90-FE7910B4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FCCE-8B68-C019-D41B-6859CFD79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778AC-D361-AC48-B613-1327BA39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942BB-01A7-7127-D431-ADDF9F35C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C9862-AE7D-65D4-FA74-C75AABF2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37FCAD-67B3-66A7-93C1-8DC11A57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29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23CC-470A-47A9-6E8D-9651CE66B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0C30F-E801-88BE-53E0-088DEB97B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353B7-9BE6-327B-3A2B-614EDF5D8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5EC86-2129-E8E0-BB04-28C64FB5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27C6B-C8C4-5521-1406-75126931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FD542-F716-C196-D823-E9A651A2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72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2370-7512-C1F0-E7C6-ECEA18B0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51FB4-96F4-7713-A3D3-A5EEA0FC8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4D37F-5DD6-7F88-3DBF-5DA5E923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29589-1DBA-1AEE-8790-388ADE90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5229D-27D8-F470-459F-102426B3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16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BF85D-47C3-C620-96C4-8678575E0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3FA05-4AFB-8C4A-9BB5-EDF685E6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0F41-DF5D-AB21-9359-00F47DA2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07B0-C2C7-9392-B8BF-421890D7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E4CFF-2837-37CD-111C-F649372E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40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DDB8C-BE83-1E4D-C417-180F6280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CBFC2-6811-22B0-2139-E3D861090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5BF0-EC12-5084-976B-4F9D37CC7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762B-3986-44CF-930B-7B9B74F0D92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2F37-160D-A12C-AE4B-BAE8A1E94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3C0A-7045-CB49-50AB-B760736A4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97417-7534-4052-A679-66F46EB8F2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10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56DA-AAF1-23A0-9631-C5251F7A2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Deadlocks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EAF9E-F83F-ED9C-1322-FE7B4247B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75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78FA-868C-4B57-AF6B-9236AF111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C0AC9-0120-EDCD-D778-F13951AE7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77" y="1573161"/>
            <a:ext cx="6803923" cy="5065022"/>
          </a:xfrm>
        </p:spPr>
        <p:txBody>
          <a:bodyPr/>
          <a:lstStyle/>
          <a:p>
            <a:r>
              <a:rPr lang="en-US" dirty="0"/>
              <a:t>four cars reaching a four-way intersection at the same time:</a:t>
            </a:r>
          </a:p>
          <a:p>
            <a:r>
              <a:rPr lang="en-US" dirty="0"/>
              <a:t>Each car blocks one part of the road</a:t>
            </a:r>
          </a:p>
          <a:p>
            <a:r>
              <a:rPr lang="en-US" dirty="0"/>
              <a:t>Each car waits for another car to move</a:t>
            </a:r>
          </a:p>
          <a:p>
            <a:r>
              <a:rPr lang="en-US" dirty="0"/>
              <a:t>No one can move</a:t>
            </a:r>
          </a:p>
          <a:p>
            <a:r>
              <a:rPr lang="en-US" dirty="0"/>
              <a:t>Everyone is stuck forever</a:t>
            </a:r>
          </a:p>
          <a:p>
            <a:endParaRPr lang="en-IN" dirty="0"/>
          </a:p>
        </p:txBody>
      </p:sp>
      <p:pic>
        <p:nvPicPr>
          <p:cNvPr id="4" name="Picture 3" descr="Autonomous Cars Hard Time Coping With Anti-Gridlock Laws, It's Dicey  Behavior | by Lance Eliot | Medium">
            <a:extLst>
              <a:ext uri="{FF2B5EF4-FFF2-40B4-BE49-F238E27FC236}">
                <a16:creationId xmlns:a16="http://schemas.microsoft.com/office/drawing/2014/main" id="{46AE67EB-7BA1-8203-0B32-8A574D0E8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31" y="1573161"/>
            <a:ext cx="5056546" cy="506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5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E512F-118D-E359-7AC0-6AFA5129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DC229-6293-8520-0A55-5D0140CB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Cars → Processes</a:t>
            </a:r>
          </a:p>
          <a:p>
            <a:r>
              <a:rPr lang="en-US" dirty="0"/>
              <a:t>Roads → Resources</a:t>
            </a:r>
          </a:p>
          <a:p>
            <a:r>
              <a:rPr lang="en-US" dirty="0"/>
              <a:t>Waiting at intersection → Waiting for resource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68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5FB0-9057-84FD-ED16-C191293F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6141A-0C83-CC52-A730-EE97F1F11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Deadlock</a:t>
            </a:r>
            <a:r>
              <a:rPr lang="en-US" dirty="0"/>
              <a:t> is a situation where:</a:t>
            </a:r>
          </a:p>
          <a:p>
            <a:r>
              <a:rPr lang="en-US" dirty="0"/>
              <a:t>A set of processes are permanently blocked because each process is waiting for a resource held by another process in the set.</a:t>
            </a:r>
          </a:p>
          <a:p>
            <a:r>
              <a:rPr lang="en-US" dirty="0"/>
              <a:t>In simple words:</a:t>
            </a:r>
          </a:p>
          <a:p>
            <a:pPr lvl="1"/>
            <a:r>
              <a:rPr lang="en-US" dirty="0"/>
              <a:t>Every process is waiting</a:t>
            </a:r>
          </a:p>
          <a:p>
            <a:pPr lvl="1"/>
            <a:r>
              <a:rPr lang="en-US" dirty="0"/>
              <a:t>No process can proceed</a:t>
            </a:r>
          </a:p>
          <a:p>
            <a:pPr lvl="1"/>
            <a:r>
              <a:rPr lang="en-US" dirty="0"/>
              <a:t>The system is stuck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104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D655-DC42-988C-B1BD-5FE80B883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910A5-976C-D3F5-D41D-27CDE01C2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Suppose we have:</a:t>
            </a:r>
          </a:p>
          <a:p>
            <a:pPr lvl="1"/>
            <a:r>
              <a:rPr lang="en-IN" dirty="0"/>
              <a:t>Process P1,Process P2</a:t>
            </a:r>
          </a:p>
          <a:p>
            <a:pPr lvl="1"/>
            <a:r>
              <a:rPr lang="en-IN" dirty="0"/>
              <a:t>Resource R1 (Printer),Resource R2 (Scanner)</a:t>
            </a:r>
          </a:p>
          <a:p>
            <a:r>
              <a:rPr lang="en-IN" dirty="0"/>
              <a:t>P1 holds Printer (R1) and requests Scanner (R2)</a:t>
            </a:r>
          </a:p>
          <a:p>
            <a:r>
              <a:rPr lang="en-IN" dirty="0"/>
              <a:t>P2 holds Scanner (R2) and requests Printer (R1)</a:t>
            </a:r>
          </a:p>
          <a:p>
            <a:r>
              <a:rPr lang="en-IN" dirty="0"/>
              <a:t>Now:</a:t>
            </a:r>
          </a:p>
          <a:p>
            <a:r>
              <a:rPr lang="en-IN" dirty="0"/>
              <a:t>P1 waits for P2</a:t>
            </a:r>
          </a:p>
          <a:p>
            <a:r>
              <a:rPr lang="en-IN" dirty="0"/>
              <a:t>P2 waits for P1</a:t>
            </a:r>
          </a:p>
          <a:p>
            <a:r>
              <a:rPr lang="en-IN" dirty="0"/>
              <a:t>Neither releases its resource</a:t>
            </a:r>
          </a:p>
          <a:p>
            <a:r>
              <a:rPr lang="en-IN" dirty="0"/>
              <a:t>System is stuck →  Deadlock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34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D472EBF-A291-893F-50A5-1DA534FAC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System Model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9971D02-D071-C198-A135-8618DE4E9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System consists of resources</a:t>
            </a:r>
          </a:p>
          <a:p>
            <a:r>
              <a:rPr lang="en-US" altLang="en-US" dirty="0"/>
              <a:t>Resource types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. . ., </a:t>
            </a:r>
            <a:r>
              <a:rPr lang="en-US" altLang="en-US" i="1" dirty="0"/>
              <a:t>R</a:t>
            </a:r>
            <a:r>
              <a:rPr lang="en-US" altLang="en-US" baseline="-25000" dirty="0"/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i="1" dirty="0"/>
              <a:t>CPU cycles, memory space, I/O devices</a:t>
            </a:r>
          </a:p>
          <a:p>
            <a:r>
              <a:rPr lang="en-US" altLang="en-US" dirty="0"/>
              <a:t>Each resource type </a:t>
            </a:r>
            <a:r>
              <a:rPr lang="en-US" altLang="en-US" i="1" dirty="0"/>
              <a:t>R</a:t>
            </a:r>
            <a:r>
              <a:rPr lang="en-US" altLang="en-US" baseline="-25000" dirty="0"/>
              <a:t>i</a:t>
            </a:r>
            <a:r>
              <a:rPr lang="en-US" altLang="en-US" dirty="0"/>
              <a:t> has </a:t>
            </a:r>
            <a:r>
              <a:rPr lang="en-US" altLang="en-US" i="1" dirty="0"/>
              <a:t>W</a:t>
            </a:r>
            <a:r>
              <a:rPr lang="en-US" altLang="en-US" baseline="-25000" dirty="0"/>
              <a:t>i</a:t>
            </a:r>
            <a:r>
              <a:rPr lang="en-US" altLang="en-US" dirty="0"/>
              <a:t> instances.</a:t>
            </a:r>
          </a:p>
          <a:p>
            <a:r>
              <a:rPr lang="en-US" altLang="en-US" dirty="0"/>
              <a:t>Each process utilizes a resource as follows:</a:t>
            </a:r>
          </a:p>
          <a:p>
            <a:pPr lvl="1"/>
            <a:r>
              <a:rPr lang="en-US" altLang="en-US" b="1" dirty="0"/>
              <a:t>request </a:t>
            </a:r>
          </a:p>
          <a:p>
            <a:pPr lvl="1"/>
            <a:r>
              <a:rPr lang="en-US" altLang="en-US" b="1" dirty="0"/>
              <a:t>use </a:t>
            </a:r>
          </a:p>
          <a:p>
            <a:pPr lvl="1"/>
            <a:r>
              <a:rPr lang="en-US" altLang="en-US" b="1" dirty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4183088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7E41E-6A2A-4710-9667-7AD022A7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E5B22B1-44C1-21A9-B927-DF05330DE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Deadlock Characterization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9EA84B5-A34F-7A1B-BA29-1B4ED84CAACC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514349" y="1450622"/>
            <a:ext cx="10125076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Deadlock can arise if four conditions hold simultaneously.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641416-A3D7-1597-BB9B-ABDB67AC26E0}"/>
              </a:ext>
            </a:extLst>
          </p:cNvPr>
          <p:cNvSpPr txBox="1">
            <a:spLocks noChangeArrowheads="1"/>
          </p:cNvSpPr>
          <p:nvPr/>
        </p:nvSpPr>
        <p:spPr>
          <a:xfrm>
            <a:off x="1430337" y="2036763"/>
            <a:ext cx="9475787" cy="466883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>
                <a:solidFill>
                  <a:srgbClr val="3366FF"/>
                </a:solidFill>
              </a:rPr>
              <a:t>Mutual exclusion</a:t>
            </a:r>
            <a:r>
              <a:rPr lang="en-US" altLang="en-US" b="1" dirty="0"/>
              <a:t>:</a:t>
            </a:r>
            <a:r>
              <a:rPr lang="en-US" altLang="en-US" dirty="0"/>
              <a:t>  only one process at a time can use a resource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Hold and wait</a:t>
            </a:r>
            <a:r>
              <a:rPr lang="en-US" altLang="en-US" b="1" dirty="0"/>
              <a:t>:</a:t>
            </a:r>
            <a:r>
              <a:rPr lang="en-US" altLang="en-US" dirty="0"/>
              <a:t>  a process holding at least one resource is waiting to acquire additional resources held by other processes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No preemption</a:t>
            </a:r>
            <a:r>
              <a:rPr lang="en-US" altLang="en-US" b="1" dirty="0"/>
              <a:t>:</a:t>
            </a:r>
            <a:r>
              <a:rPr lang="en-US" altLang="en-US" dirty="0"/>
              <a:t>  a resource can be released only voluntarily by the process holding it, after that process has completed its task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Circular wait</a:t>
            </a:r>
            <a:r>
              <a:rPr lang="en-US" altLang="en-US" b="1" dirty="0"/>
              <a:t>:</a:t>
            </a:r>
            <a:r>
              <a:rPr lang="en-US" altLang="en-US" dirty="0"/>
              <a:t>  there exists a set {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} of waiting processes such that </a:t>
            </a:r>
            <a:r>
              <a:rPr lang="en-US" altLang="en-US" i="1" dirty="0"/>
              <a:t>P</a:t>
            </a:r>
            <a:r>
              <a:rPr lang="en-US" altLang="en-US" baseline="-25000" dirty="0"/>
              <a:t>0 </a:t>
            </a:r>
            <a:r>
              <a:rPr lang="en-US" altLang="en-US" dirty="0"/>
              <a:t>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baseline="-25000" dirty="0"/>
              <a:t>–1</a:t>
            </a:r>
            <a:r>
              <a:rPr lang="en-US" altLang="en-US" dirty="0"/>
              <a:t> is waiting for a resource that is held by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, and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n</a:t>
            </a:r>
            <a:r>
              <a:rPr lang="en-US" altLang="en-US" dirty="0"/>
              <a:t> is waiting for a resource that is held by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5217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5364-4BE8-9766-17F5-33B0DE73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ABFCE-93B1-2886-8799-7F105B4D0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			       Meaning</a:t>
            </a:r>
          </a:p>
          <a:p>
            <a:r>
              <a:rPr lang="en-US" dirty="0"/>
              <a:t>Mutual Exclusion	            Only one can use resource</a:t>
            </a:r>
          </a:p>
          <a:p>
            <a:r>
              <a:rPr lang="en-US" dirty="0"/>
              <a:t>Hold &amp; Wait	            Process holds something and demands  </a:t>
            </a:r>
          </a:p>
          <a:p>
            <a:pPr marL="0" indent="0">
              <a:buNone/>
            </a:pPr>
            <a:r>
              <a:rPr lang="en-US" dirty="0"/>
              <a:t>                                              another</a:t>
            </a:r>
          </a:p>
          <a:p>
            <a:r>
              <a:rPr lang="en-US" dirty="0"/>
              <a:t>No Preemption	            Cannot take resource back</a:t>
            </a:r>
          </a:p>
          <a:p>
            <a:r>
              <a:rPr lang="en-US" dirty="0"/>
              <a:t>Circular Wait	             Everyone waiting for someone else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8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9AE1-EFE2-E27D-1092-AA509FBD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99A3731C-2A9B-DF10-21D3-B1DC7D105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1B8219E-1F00-085C-2CF7-AF509689B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sz="2800" dirty="0">
                <a:latin typeface="Helvetica" panose="020B0604020202020204" pitchFamily="34" charset="0"/>
              </a:rPr>
              <a:t>A set of vertices </a:t>
            </a:r>
            <a:r>
              <a:rPr lang="en-US" altLang="en-US" sz="2800" i="1" dirty="0">
                <a:latin typeface="Helvetica" panose="020B0604020202020204" pitchFamily="34" charset="0"/>
              </a:rPr>
              <a:t>V</a:t>
            </a:r>
            <a:r>
              <a:rPr lang="en-US" altLang="en-US" sz="2800" dirty="0">
                <a:latin typeface="Helvetica" panose="020B0604020202020204" pitchFamily="34" charset="0"/>
              </a:rPr>
              <a:t> and a set of edges </a:t>
            </a:r>
            <a:r>
              <a:rPr lang="en-US" altLang="en-US" sz="2800" i="1" dirty="0">
                <a:latin typeface="Helvetica" panose="020B0604020202020204" pitchFamily="34" charset="0"/>
              </a:rPr>
              <a:t>E.</a:t>
            </a:r>
            <a:endParaRPr lang="en-US" altLang="en-US" dirty="0"/>
          </a:p>
          <a:p>
            <a:r>
              <a:rPr lang="en-US" altLang="en-US" dirty="0"/>
              <a:t>V is partitioned into two types: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dirty="0"/>
              <a:t> = {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}, the set consisting of all the processes in the system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, …, </a:t>
            </a:r>
            <a:r>
              <a:rPr lang="en-US" altLang="en-US" i="1" dirty="0"/>
              <a:t>R</a:t>
            </a:r>
            <a:r>
              <a:rPr lang="en-US" altLang="en-US" i="1" baseline="-25000" dirty="0"/>
              <a:t>m</a:t>
            </a:r>
            <a:r>
              <a:rPr lang="en-US" altLang="en-US" dirty="0"/>
              <a:t>}, the set consisting of all resource types in the system</a:t>
            </a:r>
          </a:p>
          <a:p>
            <a:pPr lvl="1"/>
            <a:endParaRPr lang="en-US" altLang="en-US" sz="9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request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endParaRPr lang="en-US" altLang="en-US" i="1" baseline="-25000" dirty="0">
              <a:sym typeface="Symbol" panose="05050102010706020507" pitchFamily="18" charset="2"/>
            </a:endParaRPr>
          </a:p>
          <a:p>
            <a:endParaRPr lang="en-US" altLang="en-US" sz="800" i="1" baseline="-25000" dirty="0">
              <a:sym typeface="Symbol" panose="05050102010706020507" pitchFamily="18" charset="2"/>
            </a:endParaRPr>
          </a:p>
          <a:p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assignment edge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/>
              <a:t>– directed edge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884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EFC03-766C-2AD9-4F32-616C4E37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1196-A492-0697-36EA-8396D825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150B1-AB9E-D282-D9F7-879DBC5724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Process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requests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holding an instance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ECD1608-78DE-D7BC-EF2B-DDFA195BF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202723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1229F508-E626-01CD-5F2F-AE36AB596171}"/>
              </a:ext>
            </a:extLst>
          </p:cNvPr>
          <p:cNvGrpSpPr>
            <a:grpSpLocks/>
          </p:cNvGrpSpPr>
          <p:nvPr/>
        </p:nvGrpSpPr>
        <p:grpSpPr bwMode="auto">
          <a:xfrm>
            <a:off x="5657850" y="3290887"/>
            <a:ext cx="533400" cy="566737"/>
            <a:chOff x="2666" y="1966"/>
            <a:chExt cx="276" cy="264"/>
          </a:xfrm>
          <a:solidFill>
            <a:srgbClr val="CCECFF"/>
          </a:solidFill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72AFAD60-AA2C-DF42-4B36-A2865D883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37EDF78-D64B-D28E-B40A-F344B9B30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DDB31FB5-05E1-0256-B143-BCE15C2C1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26FC243E-2CC2-D315-A1D2-1F19DD541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502BD9FE-C8D9-5A92-72FA-160EEC5CD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2" name="Line 19">
            <a:extLst>
              <a:ext uri="{FF2B5EF4-FFF2-40B4-BE49-F238E27FC236}">
                <a16:creationId xmlns:a16="http://schemas.microsoft.com/office/drawing/2014/main" id="{A2FC9F02-5870-1EAD-2F3E-6FED4CAFD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7350" y="505014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D25CCF-5611-FFD1-D35E-1212AF347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4827588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i="1" dirty="0">
              <a:latin typeface="Helvetica" panose="020B0604020202020204" pitchFamily="34" charset="0"/>
            </a:endParaRPr>
          </a:p>
          <a:p>
            <a:r>
              <a:rPr lang="en-US" altLang="en-US" i="1" dirty="0">
                <a:latin typeface="Helvetica" panose="020B0604020202020204" pitchFamily="34" charset="0"/>
              </a:rPr>
              <a:t>P</a:t>
            </a:r>
            <a:r>
              <a:rPr lang="en-US" altLang="en-US" i="1" baseline="-25000" dirty="0">
                <a:latin typeface="Helvetica" panose="020B0604020202020204" pitchFamily="34" charset="0"/>
              </a:rPr>
              <a:t>i</a:t>
            </a:r>
            <a:endParaRPr lang="en-US" altLang="en-US" i="1" dirty="0">
              <a:latin typeface="Helvetica" panose="020B0604020202020204" pitchFamily="34" charset="0"/>
            </a:endParaRPr>
          </a:p>
          <a:p>
            <a:endParaRPr lang="en-US" altLang="en-US" dirty="0"/>
          </a:p>
        </p:txBody>
      </p:sp>
      <p:grpSp>
        <p:nvGrpSpPr>
          <p:cNvPr id="14" name="Group 12">
            <a:extLst>
              <a:ext uri="{FF2B5EF4-FFF2-40B4-BE49-F238E27FC236}">
                <a16:creationId xmlns:a16="http://schemas.microsoft.com/office/drawing/2014/main" id="{4874253C-320C-E4E4-3A36-24E1CF74397D}"/>
              </a:ext>
            </a:extLst>
          </p:cNvPr>
          <p:cNvGrpSpPr>
            <a:grpSpLocks/>
          </p:cNvGrpSpPr>
          <p:nvPr/>
        </p:nvGrpSpPr>
        <p:grpSpPr bwMode="auto">
          <a:xfrm>
            <a:off x="5778638" y="4827588"/>
            <a:ext cx="533400" cy="566737"/>
            <a:chOff x="2666" y="1966"/>
            <a:chExt cx="276" cy="264"/>
          </a:xfrm>
          <a:solidFill>
            <a:srgbClr val="CCECFF"/>
          </a:solidFill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4B6AA317-618E-FAE0-5085-856F9519C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1F6F4DA6-CA21-99EA-D618-06A68B44C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D9CF3006-4049-9387-1258-BBDE332C4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4422B748-98C5-9D16-91A2-841CB8845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17D6A720-9E70-A1C3-F722-A0DA9C914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B340C93A-36A3-4091-739D-6D5A89C9F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966" y="5368257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 dirty="0" err="1">
                <a:latin typeface="Helvetica" panose="020B0604020202020204" pitchFamily="34" charset="0"/>
              </a:rPr>
              <a:t>R</a:t>
            </a:r>
            <a:r>
              <a:rPr lang="en-US" altLang="en-US" sz="1400" i="1" baseline="-25000" dirty="0" err="1">
                <a:latin typeface="Helvetica" panose="020B0604020202020204" pitchFamily="34" charset="0"/>
              </a:rPr>
              <a:t>j</a:t>
            </a:r>
            <a:endParaRPr lang="en-US" altLang="en-US" sz="1400" i="1" dirty="0">
              <a:latin typeface="Helvetica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877082-5CE6-FDBC-9EF2-497FF0967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833" y="5729585"/>
            <a:ext cx="495300" cy="495300"/>
          </a:xfrm>
          <a:prstGeom prst="ellipse">
            <a:avLst/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i="1" dirty="0">
              <a:latin typeface="Helvetica" panose="020B0604020202020204" pitchFamily="34" charset="0"/>
            </a:endParaRPr>
          </a:p>
          <a:p>
            <a:r>
              <a:rPr lang="en-US" altLang="en-US" i="1" dirty="0">
                <a:latin typeface="Helvetica" panose="020B0604020202020204" pitchFamily="34" charset="0"/>
              </a:rPr>
              <a:t>P</a:t>
            </a:r>
            <a:r>
              <a:rPr lang="en-US" altLang="en-US" i="1" baseline="-25000" dirty="0">
                <a:latin typeface="Helvetica" panose="020B0604020202020204" pitchFamily="34" charset="0"/>
              </a:rPr>
              <a:t>i</a:t>
            </a:r>
            <a:endParaRPr lang="en-US" altLang="en-US" i="1" dirty="0">
              <a:latin typeface="Helvetica" panose="020B0604020202020204" pitchFamily="34" charset="0"/>
            </a:endParaRPr>
          </a:p>
          <a:p>
            <a:endParaRPr lang="en-US" altLang="en-US" dirty="0"/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787AB9E4-9B6C-4830-1E1A-67C65ECD5EEE}"/>
              </a:ext>
            </a:extLst>
          </p:cNvPr>
          <p:cNvGrpSpPr>
            <a:grpSpLocks/>
          </p:cNvGrpSpPr>
          <p:nvPr/>
        </p:nvGrpSpPr>
        <p:grpSpPr bwMode="auto">
          <a:xfrm>
            <a:off x="5999511" y="5705294"/>
            <a:ext cx="533400" cy="566737"/>
            <a:chOff x="2666" y="1966"/>
            <a:chExt cx="276" cy="264"/>
          </a:xfrm>
          <a:solidFill>
            <a:srgbClr val="CCECFF"/>
          </a:solidFill>
        </p:grpSpPr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FD292E5E-385E-9C2C-9A2E-DE96FA500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4" name="Rectangle 8">
              <a:extLst>
                <a:ext uri="{FF2B5EF4-FFF2-40B4-BE49-F238E27FC236}">
                  <a16:creationId xmlns:a16="http://schemas.microsoft.com/office/drawing/2014/main" id="{DE499B2B-6C2D-6929-C6BA-434AD01A2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834CF58B-72F0-FAF8-02AD-8AD59D6EB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BC58E50E-A421-FE69-C4CE-C6E435352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27" name="Rectangle 11">
              <a:extLst>
                <a:ext uri="{FF2B5EF4-FFF2-40B4-BE49-F238E27FC236}">
                  <a16:creationId xmlns:a16="http://schemas.microsoft.com/office/drawing/2014/main" id="{6442226F-0D90-5162-3652-FC754B00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28" name="Line 27">
            <a:extLst>
              <a:ext uri="{FF2B5EF4-FFF2-40B4-BE49-F238E27FC236}">
                <a16:creationId xmlns:a16="http://schemas.microsoft.com/office/drawing/2014/main" id="{108B6AF2-CC87-E835-5DFB-A446336130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5904" y="5906660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" name="Text Box 20">
            <a:extLst>
              <a:ext uri="{FF2B5EF4-FFF2-40B4-BE49-F238E27FC236}">
                <a16:creationId xmlns:a16="http://schemas.microsoft.com/office/drawing/2014/main" id="{03B0C938-B5DC-C087-5E73-8AC33D8F1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496" y="6294929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400" i="1" dirty="0" err="1">
                <a:latin typeface="Helvetica" panose="020B0604020202020204" pitchFamily="34" charset="0"/>
              </a:rPr>
              <a:t>R</a:t>
            </a:r>
            <a:r>
              <a:rPr lang="en-US" altLang="en-US" sz="1400" i="1" baseline="-25000" dirty="0" err="1">
                <a:latin typeface="Helvetica" panose="020B0604020202020204" pitchFamily="34" charset="0"/>
              </a:rPr>
              <a:t>j</a:t>
            </a:r>
            <a:endParaRPr lang="en-US" altLang="en-US" sz="1400" i="1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092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32">
            <a:extLst>
              <a:ext uri="{FF2B5EF4-FFF2-40B4-BE49-F238E27FC236}">
                <a16:creationId xmlns:a16="http://schemas.microsoft.com/office/drawing/2014/main" id="{9A8CCA87-B70A-6A1E-2DAC-76E8887331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4626074" y="1825625"/>
            <a:ext cx="2939851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26">
            <a:extLst>
              <a:ext uri="{FF2B5EF4-FFF2-40B4-BE49-F238E27FC236}">
                <a16:creationId xmlns:a16="http://schemas.microsoft.com/office/drawing/2014/main" id="{D5A55561-5ED6-ED39-1A67-3DB01FADA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/>
              <a:t>Example of a Resource 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1479111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9401-6248-12C7-B42D-26AA57E4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799B2B1-190A-EF76-8CAE-50BB529E0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 Allocation Graph With A Deadlock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0BAA1BAA-FE41-6C1B-1BB9-CB8C6704B8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420" y="1825625"/>
            <a:ext cx="295316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5922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B1AA-A315-0757-F9B1-1070D1E98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FB3054F-60BC-540B-014D-A1046AA8A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Graph With A Cycle But No Deadlock</a:t>
            </a:r>
          </a:p>
        </p:txBody>
      </p:sp>
      <p:pic>
        <p:nvPicPr>
          <p:cNvPr id="5" name="Content Placeholder 4" descr="7">
            <a:extLst>
              <a:ext uri="{FF2B5EF4-FFF2-40B4-BE49-F238E27FC236}">
                <a16:creationId xmlns:a16="http://schemas.microsoft.com/office/drawing/2014/main" id="{BC69C5F8-3661-2A24-DA5E-FA6F239491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499" y="1968659"/>
            <a:ext cx="2798826" cy="3470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4245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37D0-CB25-68E2-0223-CEA48864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A83C70C-84F1-390F-F68D-54266C8B2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Basic Facts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D5802D-4615-17AE-1F21-D4713E11F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If graph contains no cycles </a:t>
            </a:r>
            <a:r>
              <a:rPr lang="en-US" altLang="en-US" dirty="0">
                <a:sym typeface="Symbol" panose="05050102010706020507" pitchFamily="18" charset="2"/>
              </a:rPr>
              <a:t> no deadlock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only one instance per resource type, then deadlock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several instances per resource type, possibility of deadlock</a:t>
            </a:r>
          </a:p>
        </p:txBody>
      </p:sp>
    </p:spTree>
    <p:extLst>
      <p:ext uri="{BB962C8B-B14F-4D97-AF65-F5344CB8AC3E}">
        <p14:creationId xmlns:p14="http://schemas.microsoft.com/office/powerpoint/2010/main" val="1471716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05B4-B36F-E965-E02E-ABDDFDF5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5F53A82-1A30-1BCA-CD46-60AE11F80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Methods for Handling Deadlocks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03A2D7-A8A5-C56B-6DAC-37FE5BBB42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lvl="1"/>
            <a:r>
              <a:rPr lang="en-US" altLang="en-US" dirty="0"/>
              <a:t>Deadlock prevention</a:t>
            </a:r>
          </a:p>
          <a:p>
            <a:pPr lvl="1"/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r>
              <a:rPr lang="en-US" altLang="en-US" dirty="0"/>
              <a:t>Ignore the problem and pretend that deadlocks never occur in the system; used by most operating systems, including UNIX</a:t>
            </a:r>
          </a:p>
        </p:txBody>
      </p:sp>
    </p:spTree>
    <p:extLst>
      <p:ext uri="{BB962C8B-B14F-4D97-AF65-F5344CB8AC3E}">
        <p14:creationId xmlns:p14="http://schemas.microsoft.com/office/powerpoint/2010/main" val="3245545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95C64-A353-AE9A-F3A3-4C5F3415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>
            <a:extLst>
              <a:ext uri="{FF2B5EF4-FFF2-40B4-BE49-F238E27FC236}">
                <a16:creationId xmlns:a16="http://schemas.microsoft.com/office/drawing/2014/main" id="{F99C5A07-9A9E-42BF-A2B1-2997B6D92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Deadlock Prevention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1C4CF66A-3CC7-98A6-55BA-53FD4CF64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>
                <a:latin typeface="Helvetica" panose="020B0604020202020204" pitchFamily="34" charset="0"/>
              </a:rPr>
              <a:t>Restrain the ways request can be made</a:t>
            </a:r>
          </a:p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</p:spTree>
    <p:extLst>
      <p:ext uri="{BB962C8B-B14F-4D97-AF65-F5344CB8AC3E}">
        <p14:creationId xmlns:p14="http://schemas.microsoft.com/office/powerpoint/2010/main" val="2833161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BE44-038E-5105-57BC-469E665A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4F3B-5AF5-C551-6648-B18BBEB9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BEC1AEB4-89DD-4678-A7B1-C2932B7412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b="1" dirty="0"/>
              <a:t>No Preemption</a:t>
            </a:r>
            <a:r>
              <a:rPr lang="en-US" altLang="en-US" dirty="0"/>
              <a:t> –</a:t>
            </a:r>
          </a:p>
          <a:p>
            <a:pPr lvl="1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dirty="0"/>
              <a:t>Preempted resources are added to the list of resources for which the process is waiting</a:t>
            </a:r>
          </a:p>
          <a:p>
            <a:pPr lvl="1"/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r>
              <a:rPr lang="en-US" altLang="en-US" b="1" dirty="0"/>
              <a:t>Circular Wait</a:t>
            </a:r>
            <a:r>
              <a:rPr lang="en-US" altLang="en-US" dirty="0"/>
              <a:t> – impose a total ordering of all resource types, and require that each process requests resources in an increasing order of enumeration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033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BE8F-3537-4DC7-36D2-DFF69534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B61D447-7BF8-5198-AC72-8466BF825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Deadlock Avoidance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20D2B5-3FBC-E798-EBEE-E90B7E62D9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Helvetica" panose="020B0604020202020204" pitchFamily="34" charset="0"/>
              </a:rPr>
              <a:t>Requires that the system has some additional </a:t>
            </a:r>
            <a:r>
              <a:rPr lang="en-US" altLang="en-US" b="1" i="1" dirty="0">
                <a:latin typeface="Helvetica" panose="020B0604020202020204" pitchFamily="34" charset="0"/>
              </a:rPr>
              <a:t>a priori </a:t>
            </a:r>
            <a:r>
              <a:rPr lang="en-US" altLang="en-US" dirty="0">
                <a:latin typeface="Helvetica" panose="020B0604020202020204" pitchFamily="34" charset="0"/>
              </a:rPr>
              <a:t>information available</a:t>
            </a:r>
          </a:p>
          <a:p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the number of available and allocated resources, and the maximum demands of the processes</a:t>
            </a:r>
          </a:p>
        </p:txBody>
      </p:sp>
    </p:spTree>
    <p:extLst>
      <p:ext uri="{BB962C8B-B14F-4D97-AF65-F5344CB8AC3E}">
        <p14:creationId xmlns:p14="http://schemas.microsoft.com/office/powerpoint/2010/main" val="1032027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327DB-ED36-1213-D0D5-AF502154C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A17C492-151A-E19B-1951-E438FCBD9F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CAB35BA-CCDB-03D0-87EB-F41750584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9725"/>
            <a:ext cx="10515600" cy="4567238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exists a sequence 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</p:spTree>
    <p:extLst>
      <p:ext uri="{BB962C8B-B14F-4D97-AF65-F5344CB8AC3E}">
        <p14:creationId xmlns:p14="http://schemas.microsoft.com/office/powerpoint/2010/main" val="3550092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846F-2A4A-EBF5-3666-BC332DD6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7509-E482-DAD0-0718-C518E077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606AD1-5E84-6B42-4CD2-F6570CCD71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no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possibility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</p:spTree>
    <p:extLst>
      <p:ext uri="{BB962C8B-B14F-4D97-AF65-F5344CB8AC3E}">
        <p14:creationId xmlns:p14="http://schemas.microsoft.com/office/powerpoint/2010/main" val="1758619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9CE03-81AF-B05D-D037-6570F2C96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8E94-6FB9-CA89-84E0-4054805F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A836D99-EA16-EA8A-D438-451D6F2F06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3899095" y="1825625"/>
            <a:ext cx="439381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662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7E81-0E01-9239-7E8E-2EDD8EEB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7141DD3-0DCA-6876-C8F9-822396BEA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Avoidance Algorithms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1208AEA-F3E7-FED5-F26A-EE83D586D1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7105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E9CB-6BFB-B499-180F-71B4D00F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AC0615D-7B46-228A-342F-DCACD6254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Resource-Allocation Graph Scheme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87DA5E4-93DA-F3C1-96CE-7BE45A2801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0113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7">
            <a:extLst>
              <a:ext uri="{FF2B5EF4-FFF2-40B4-BE49-F238E27FC236}">
                <a16:creationId xmlns:a16="http://schemas.microsoft.com/office/drawing/2014/main" id="{1ACB1B08-708D-99FC-601B-B407C5CB93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2925" y="1952625"/>
            <a:ext cx="34290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A716E9C-BB16-E773-EC96-17C2BA6E2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1476829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7D1A756-3FE1-E319-0B96-F96E55D13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Unsafe State In Resource-Allocation Graph</a:t>
            </a:r>
          </a:p>
        </p:txBody>
      </p:sp>
      <p:pic>
        <p:nvPicPr>
          <p:cNvPr id="5" name="Content Placeholder 4" descr="7">
            <a:extLst>
              <a:ext uri="{FF2B5EF4-FFF2-40B4-BE49-F238E27FC236}">
                <a16:creationId xmlns:a16="http://schemas.microsoft.com/office/drawing/2014/main" id="{77DE44B7-1252-F974-6E62-79130DFDF0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2028825"/>
            <a:ext cx="352425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999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4E01F5C-9EA9-6243-E64F-D12CDC791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Banker’s Algorithm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DC67034-7A45-C3C0-7629-12FF17B09D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Multiple instances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process must a priori claim maximum use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gets all its resources it must return them in a finite amount of time</a:t>
            </a:r>
          </a:p>
        </p:txBody>
      </p:sp>
    </p:spTree>
    <p:extLst>
      <p:ext uri="{BB962C8B-B14F-4D97-AF65-F5344CB8AC3E}">
        <p14:creationId xmlns:p14="http://schemas.microsoft.com/office/powerpoint/2010/main" val="1888504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CCC419C-2EA8-50F7-FB8C-9E8EE4CDE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90CF48-DB18-9CCA-0135-A96C2654E7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endParaRPr lang="en-US" altLang="en-US" b="1" dirty="0"/>
          </a:p>
          <a:p>
            <a:pPr marL="0" indent="0">
              <a:buNone/>
            </a:pPr>
            <a:endParaRPr lang="en-US" altLang="en-US" b="1" dirty="0"/>
          </a:p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1C71902-79DA-20B3-D265-E0E2A8735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1825625"/>
            <a:ext cx="693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Let </a:t>
            </a:r>
            <a:r>
              <a:rPr lang="en-US" altLang="en-US" i="1">
                <a:latin typeface="Helvetica" panose="020B0604020202020204" pitchFamily="34" charset="0"/>
              </a:rPr>
              <a:t>n</a:t>
            </a:r>
            <a:r>
              <a:rPr lang="en-US" altLang="en-US">
                <a:latin typeface="Helvetica" panose="020B0604020202020204" pitchFamily="34" charset="0"/>
              </a:rPr>
              <a:t> = number of processes, and </a:t>
            </a:r>
            <a:r>
              <a:rPr lang="en-US" altLang="en-US" i="1">
                <a:latin typeface="Helvetica" panose="020B0604020202020204" pitchFamily="34" charset="0"/>
              </a:rPr>
              <a:t>m </a:t>
            </a:r>
            <a:r>
              <a:rPr lang="en-US" altLang="en-US">
                <a:latin typeface="Helvetica" panose="020B0604020202020204" pitchFamily="34" charset="0"/>
              </a:rPr>
              <a:t>= number of resources types. </a:t>
            </a:r>
          </a:p>
        </p:txBody>
      </p:sp>
    </p:spTree>
    <p:extLst>
      <p:ext uri="{BB962C8B-B14F-4D97-AF65-F5344CB8AC3E}">
        <p14:creationId xmlns:p14="http://schemas.microsoft.com/office/powerpoint/2010/main" val="3094582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EB91612-2A59-E5B4-5080-7632F0A1B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Safety Algorithm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2C18286-4E83-AEF4-987A-9BDEE0E52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	Find an </a:t>
            </a:r>
            <a:r>
              <a:rPr lang="en-US" altLang="en-US" b="1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3. 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	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 err="1"/>
              <a:t>i</a:t>
            </a:r>
            <a:r>
              <a:rPr lang="en-US" altLang="en-US" dirty="0"/>
              <a:t>, then the system is in a safe state</a:t>
            </a:r>
          </a:p>
        </p:txBody>
      </p:sp>
    </p:spTree>
    <p:extLst>
      <p:ext uri="{BB962C8B-B14F-4D97-AF65-F5344CB8AC3E}">
        <p14:creationId xmlns:p14="http://schemas.microsoft.com/office/powerpoint/2010/main" val="2324363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D750890-8553-BAEC-DCE4-5713352F0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Resource-Request Algorithm for Process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i</a:t>
            </a:r>
            <a:endParaRPr lang="en-US" altLang="en-US" sz="28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7765332-E37D-5444-14BF-943FF7B6FC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76375"/>
            <a:ext cx="10515600" cy="47005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   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2.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3.	Pretend to allocate requested resources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</p:spTree>
    <p:extLst>
      <p:ext uri="{BB962C8B-B14F-4D97-AF65-F5344CB8AC3E}">
        <p14:creationId xmlns:p14="http://schemas.microsoft.com/office/powerpoint/2010/main" val="39190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3904000-0BF3-9E7E-C7C4-3310EB90A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F90993C-1BB3-03B5-128D-B8436A79C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450" y="1524000"/>
            <a:ext cx="9247189" cy="4252914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E5B97CE-D804-9F4A-DCCF-8608D786CF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70FB5F4-BD51-A94E-5E7B-29891046F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0938" y="1103313"/>
            <a:ext cx="7766050" cy="5103812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Example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Max</a:t>
            </a:r>
            <a:r>
              <a:rPr lang="en-US" altLang="en-US" i="1" dirty="0"/>
              <a:t>	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A B C	A B C	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0 1 0 	7 5 3 	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	      3 0 2          3 2 2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9 0 2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3        </a:t>
            </a:r>
            <a:r>
              <a:rPr lang="en-US" altLang="en-US" dirty="0"/>
              <a:t>	2 1 1           2 2 2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 	 4 3 3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(3,3,0)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Can request for (0,2,0) by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be granted?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8029CDB-5B3F-E106-A119-3C06C74D5D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5413" y="198438"/>
            <a:ext cx="74215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Deadlock Detection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929F4F2-1473-0B63-AB8D-B9E7C93DA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5700" y="1233489"/>
            <a:ext cx="7391400" cy="4530725"/>
          </a:xfrm>
        </p:spPr>
        <p:txBody>
          <a:bodyPr/>
          <a:lstStyle/>
          <a:p>
            <a:r>
              <a:rPr lang="en-US" altLang="en-US"/>
              <a:t>Allow system to enter deadlock state 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Detection algorithm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Recovery scheme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37F878F-A822-BDBA-ACD2-9084D09CA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-141288"/>
            <a:ext cx="7772400" cy="844551"/>
          </a:xfrm>
        </p:spPr>
        <p:txBody>
          <a:bodyPr/>
          <a:lstStyle/>
          <a:p>
            <a:pPr eaLnBrk="1" hangingPunct="1"/>
            <a:r>
              <a:rPr lang="en-US" altLang="en-US" sz="2800"/>
              <a:t>Single Instance of Each Resource Type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6F54503-F499-F8E6-DBB8-3855744E1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51089" y="1173164"/>
            <a:ext cx="7585075" cy="4511675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Maintain </a:t>
            </a:r>
            <a:r>
              <a:rPr lang="en-US" altLang="en-US" b="1">
                <a:solidFill>
                  <a:srgbClr val="3366FF"/>
                </a:solidFill>
              </a:rPr>
              <a:t>wait-for </a:t>
            </a:r>
            <a:r>
              <a:rPr lang="en-US" altLang="en-US"/>
              <a:t>graph</a:t>
            </a:r>
          </a:p>
          <a:p>
            <a:pPr lvl="1"/>
            <a:r>
              <a:rPr lang="en-US" altLang="en-US"/>
              <a:t>Nodes are processes</a:t>
            </a:r>
          </a:p>
          <a:p>
            <a:pPr lvl="1"/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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j   </a:t>
            </a:r>
            <a:r>
              <a:rPr lang="en-US" altLang="en-US">
                <a:sym typeface="Symbol" panose="05050102010706020507" pitchFamily="18" charset="2"/>
              </a:rPr>
              <a:t>if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is waiting for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j</a:t>
            </a:r>
            <a:br>
              <a:rPr lang="en-US" altLang="en-US" b="1" i="1">
                <a:sym typeface="Symbol" panose="05050102010706020507" pitchFamily="18" charset="2"/>
              </a:rPr>
            </a:br>
            <a:endParaRPr lang="en-US" altLang="en-US" b="1" i="1">
              <a:sym typeface="Symbol" panose="05050102010706020507" pitchFamily="18" charset="2"/>
            </a:endParaRPr>
          </a:p>
          <a:p>
            <a:r>
              <a:rPr lang="en-US" altLang="en-US"/>
              <a:t>Periodically invoke an algorithm that searches for a cycle in the graph. If there is a cycle, there exists a deadlock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r>
              <a:rPr lang="en-US" altLang="en-US"/>
              <a:t>An algorithm to detect a cycle in a graph requires an order of</a:t>
            </a:r>
            <a:r>
              <a:rPr lang="en-US" altLang="en-US" i="1"/>
              <a:t> </a:t>
            </a:r>
            <a:r>
              <a:rPr lang="en-US" altLang="en-US" b="1" i="1"/>
              <a:t>n</a:t>
            </a:r>
            <a:r>
              <a:rPr lang="en-US" altLang="en-US" b="1" baseline="30000"/>
              <a:t>2</a:t>
            </a:r>
            <a:r>
              <a:rPr lang="en-US" altLang="en-US" b="1"/>
              <a:t> </a:t>
            </a:r>
            <a:r>
              <a:rPr lang="en-US" altLang="en-US"/>
              <a:t>operations, where </a:t>
            </a:r>
            <a:r>
              <a:rPr lang="en-US" altLang="en-US" b="1" i="1"/>
              <a:t>n</a:t>
            </a:r>
            <a:r>
              <a:rPr lang="en-US" altLang="en-US"/>
              <a:t> is the number of vertices in the graph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10ECA24-429B-CC4A-119E-F6DD8285D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0663" y="266700"/>
            <a:ext cx="7751762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Resource-Allocation Graph and  Wait-for Graph</a:t>
            </a:r>
          </a:p>
        </p:txBody>
      </p:sp>
      <p:sp>
        <p:nvSpPr>
          <p:cNvPr id="38915" name="Text Box 5">
            <a:extLst>
              <a:ext uri="{FF2B5EF4-FFF2-40B4-BE49-F238E27FC236}">
                <a16:creationId xmlns:a16="http://schemas.microsoft.com/office/drawing/2014/main" id="{30368CD9-8907-EC5A-B19B-F07CE03C4A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Resource-Allocation Graph</a:t>
            </a:r>
          </a:p>
        </p:txBody>
      </p:sp>
      <p:sp>
        <p:nvSpPr>
          <p:cNvPr id="38916" name="Text Box 6">
            <a:extLst>
              <a:ext uri="{FF2B5EF4-FFF2-40B4-BE49-F238E27FC236}">
                <a16:creationId xmlns:a16="http://schemas.microsoft.com/office/drawing/2014/main" id="{89C0ECA5-56A1-EEAF-90BD-C89A0A3E8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Corresponding wait-for graph</a:t>
            </a:r>
          </a:p>
        </p:txBody>
      </p:sp>
      <p:pic>
        <p:nvPicPr>
          <p:cNvPr id="38917" name="Picture 6" descr="7">
            <a:extLst>
              <a:ext uri="{FF2B5EF4-FFF2-40B4-BE49-F238E27FC236}">
                <a16:creationId xmlns:a16="http://schemas.microsoft.com/office/drawing/2014/main" id="{46FE62E2-FD79-568F-D618-2CCD0364B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257300"/>
            <a:ext cx="5937250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B37383B-921D-18DE-A5A7-88EBA38CF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50" y="161925"/>
            <a:ext cx="7772400" cy="6286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Several Instances of a Resource Type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25EEC7C-41E4-155C-D47D-D1147EE66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06651" y="1187451"/>
            <a:ext cx="7015163" cy="3851275"/>
          </a:xfrm>
        </p:spPr>
        <p:txBody>
          <a:bodyPr/>
          <a:lstStyle/>
          <a:p>
            <a:r>
              <a:rPr lang="en-US" altLang="en-US" b="1">
                <a:solidFill>
                  <a:srgbClr val="000000"/>
                </a:solidFill>
              </a:rPr>
              <a:t>Available</a:t>
            </a:r>
            <a:r>
              <a:rPr lang="en-US" altLang="en-US" i="1"/>
              <a:t>:</a:t>
            </a:r>
            <a:r>
              <a:rPr lang="en-US" altLang="en-US"/>
              <a:t>  A vector of length </a:t>
            </a:r>
            <a:r>
              <a:rPr lang="en-US" altLang="en-US" b="1" i="1"/>
              <a:t>m</a:t>
            </a:r>
            <a:r>
              <a:rPr lang="en-US" altLang="en-US"/>
              <a:t> indicates the number of available resources of each type</a:t>
            </a:r>
          </a:p>
          <a:p>
            <a:r>
              <a:rPr lang="en-US" altLang="en-US" b="1">
                <a:solidFill>
                  <a:srgbClr val="000000"/>
                </a:solidFill>
              </a:rPr>
              <a:t>Allocation</a:t>
            </a:r>
            <a:r>
              <a:rPr lang="en-US" altLang="en-US" i="1"/>
              <a:t>:</a:t>
            </a:r>
            <a:r>
              <a:rPr lang="en-US" altLang="en-US"/>
              <a:t>  An </a:t>
            </a:r>
            <a:r>
              <a:rPr lang="en-US" altLang="en-US" b="1" i="1"/>
              <a:t>n </a:t>
            </a:r>
            <a:r>
              <a:rPr lang="en-US" altLang="en-US" b="1"/>
              <a:t>x</a:t>
            </a:r>
            <a:r>
              <a:rPr lang="en-US" altLang="en-US" b="1" i="1"/>
              <a:t> m</a:t>
            </a:r>
            <a:r>
              <a:rPr lang="en-US" altLang="en-US" b="1"/>
              <a:t> </a:t>
            </a:r>
            <a:r>
              <a:rPr lang="en-US" altLang="en-US"/>
              <a:t>matrix defines the number of resources of each type currently allocated to each process</a:t>
            </a:r>
          </a:p>
          <a:p>
            <a:r>
              <a:rPr lang="en-US" altLang="en-US" b="1">
                <a:solidFill>
                  <a:srgbClr val="000000"/>
                </a:solidFill>
              </a:rPr>
              <a:t>Request</a:t>
            </a:r>
            <a:r>
              <a:rPr lang="en-US" altLang="en-US" i="1"/>
              <a:t>:</a:t>
            </a:r>
            <a:r>
              <a:rPr lang="en-US" altLang="en-US"/>
              <a:t>  An </a:t>
            </a:r>
            <a:r>
              <a:rPr lang="en-US" altLang="en-US" b="1" i="1"/>
              <a:t>n </a:t>
            </a:r>
            <a:r>
              <a:rPr lang="en-US" altLang="en-US" b="1"/>
              <a:t>x</a:t>
            </a:r>
            <a:r>
              <a:rPr lang="en-US" altLang="en-US" b="1" i="1"/>
              <a:t> m</a:t>
            </a:r>
            <a:r>
              <a:rPr lang="en-US" altLang="en-US" b="1"/>
              <a:t> </a:t>
            </a:r>
            <a:r>
              <a:rPr lang="en-US" altLang="en-US"/>
              <a:t>matrix indicates the current request  of each process.  If </a:t>
            </a:r>
            <a:r>
              <a:rPr lang="en-US" altLang="en-US" b="1" i="1"/>
              <a:t>Request 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][</a:t>
            </a:r>
            <a:r>
              <a:rPr lang="en-US" altLang="en-US" b="1" i="1"/>
              <a:t>j</a:t>
            </a:r>
            <a:r>
              <a:rPr lang="en-US" altLang="en-US" b="1"/>
              <a:t>] = </a:t>
            </a:r>
            <a:r>
              <a:rPr lang="en-US" altLang="en-US" b="1" i="1"/>
              <a:t>k</a:t>
            </a:r>
            <a:r>
              <a:rPr lang="en-US" altLang="en-US"/>
              <a:t>, then process</a:t>
            </a:r>
            <a:r>
              <a:rPr lang="en-US" altLang="en-US" i="1"/>
              <a:t> </a:t>
            </a:r>
            <a:r>
              <a:rPr lang="en-US" altLang="en-US" b="1" i="1"/>
              <a:t>P</a:t>
            </a:r>
            <a:r>
              <a:rPr lang="en-US" altLang="en-US" b="1" i="1" baseline="-25000"/>
              <a:t>i</a:t>
            </a:r>
            <a:r>
              <a:rPr lang="en-US" altLang="en-US"/>
              <a:t> is requesting</a:t>
            </a:r>
            <a:r>
              <a:rPr lang="en-US" altLang="en-US" i="1"/>
              <a:t> </a:t>
            </a:r>
            <a:r>
              <a:rPr lang="en-US" altLang="en-US" b="1" i="1"/>
              <a:t>k</a:t>
            </a:r>
            <a:r>
              <a:rPr lang="en-US" altLang="en-US"/>
              <a:t> more instances of resource type </a:t>
            </a:r>
            <a:r>
              <a:rPr lang="en-US" altLang="en-US" b="1" i="1"/>
              <a:t>R</a:t>
            </a:r>
            <a:r>
              <a:rPr lang="en-US" altLang="en-US" b="1" i="1" baseline="-25000"/>
              <a:t>j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19AFD28-C09E-F3B8-D972-7B5BEDD72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11400" y="152401"/>
            <a:ext cx="7899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Detection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D4FE0BD-C412-9693-7021-EB8C5AE42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9363" y="1233489"/>
            <a:ext cx="7753350" cy="45307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1.	Let </a:t>
            </a:r>
            <a:r>
              <a:rPr lang="en-US" altLang="en-US" b="1" i="1"/>
              <a:t>Work</a:t>
            </a:r>
            <a:r>
              <a:rPr lang="en-US" altLang="en-US"/>
              <a:t> and </a:t>
            </a:r>
            <a:r>
              <a:rPr lang="en-US" altLang="en-US" b="1" i="1"/>
              <a:t>Finish</a:t>
            </a:r>
            <a:r>
              <a:rPr lang="en-US" altLang="en-US"/>
              <a:t> be vectors of length </a:t>
            </a:r>
            <a:r>
              <a:rPr lang="en-US" altLang="en-US" b="1" i="1"/>
              <a:t>m</a:t>
            </a:r>
            <a:r>
              <a:rPr lang="en-US" altLang="en-US"/>
              <a:t> and </a:t>
            </a:r>
            <a:r>
              <a:rPr lang="en-US" altLang="en-US" b="1" i="1"/>
              <a:t>n</a:t>
            </a:r>
            <a:r>
              <a:rPr lang="en-US" altLang="en-US"/>
              <a:t>, respectively Initialize:</a:t>
            </a:r>
          </a:p>
          <a:p>
            <a:pPr marL="850900" lvl="1" indent="-393700">
              <a:buNone/>
            </a:pPr>
            <a:r>
              <a:rPr lang="en-US" altLang="en-US"/>
              <a:t>(a) </a:t>
            </a:r>
            <a:r>
              <a:rPr lang="en-US" altLang="en-US" b="1" i="1"/>
              <a:t>Work</a:t>
            </a:r>
            <a:r>
              <a:rPr lang="en-US" altLang="en-US" b="1"/>
              <a:t> = </a:t>
            </a:r>
            <a:r>
              <a:rPr lang="en-US" altLang="en-US" b="1" i="1"/>
              <a:t>Available</a:t>
            </a:r>
            <a:endParaRPr lang="en-US" altLang="en-US" b="1"/>
          </a:p>
          <a:p>
            <a:pPr marL="850900" lvl="1" indent="-393700">
              <a:buNone/>
            </a:pPr>
            <a:r>
              <a:rPr lang="en-US" altLang="en-US"/>
              <a:t>(b)	For </a:t>
            </a:r>
            <a:r>
              <a:rPr lang="en-US" altLang="en-US" b="1" i="1"/>
              <a:t>i</a:t>
            </a:r>
            <a:r>
              <a:rPr lang="en-US" altLang="en-US" b="1"/>
              <a:t> = 1,2, …,</a:t>
            </a:r>
            <a:r>
              <a:rPr lang="en-US" altLang="en-US" b="1" i="1"/>
              <a:t> n</a:t>
            </a:r>
            <a:r>
              <a:rPr lang="en-US" altLang="en-US"/>
              <a:t>, if </a:t>
            </a:r>
            <a:r>
              <a:rPr lang="en-US" altLang="en-US" b="1" i="1"/>
              <a:t>Allocation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 0</a:t>
            </a:r>
            <a:r>
              <a:rPr lang="en-US" altLang="en-US">
                <a:sym typeface="Symbol" panose="05050102010706020507" pitchFamily="18" charset="2"/>
              </a:rPr>
              <a:t>, then 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[i] </a:t>
            </a:r>
            <a:r>
              <a:rPr lang="en-US" altLang="en-US" b="1" i="1">
                <a:sym typeface="Symbol" panose="05050102010706020507" pitchFamily="18" charset="2"/>
              </a:rPr>
              <a:t>= false</a:t>
            </a:r>
            <a:r>
              <a:rPr lang="en-US" altLang="en-US">
                <a:sym typeface="Symbol" panose="05050102010706020507" pitchFamily="18" charset="2"/>
              </a:rPr>
              <a:t>; otherwise, </a:t>
            </a: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[i] = </a:t>
            </a:r>
            <a:r>
              <a:rPr lang="en-US" altLang="en-US" b="1" i="1">
                <a:sym typeface="Symbol" panose="05050102010706020507" pitchFamily="18" charset="2"/>
              </a:rPr>
              <a:t>true</a:t>
            </a:r>
          </a:p>
          <a:p>
            <a:pPr marL="850900" lvl="1" indent="-39370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/>
              <a:t>2.	Find an index </a:t>
            </a:r>
            <a:r>
              <a:rPr lang="en-US" altLang="en-US" b="1" i="1"/>
              <a:t>i</a:t>
            </a:r>
            <a:r>
              <a:rPr lang="en-US" altLang="en-US" i="1"/>
              <a:t> </a:t>
            </a:r>
            <a:r>
              <a:rPr lang="en-US" altLang="en-US"/>
              <a:t>such that both:</a:t>
            </a:r>
          </a:p>
          <a:p>
            <a:pPr marL="850900" lvl="1" indent="-393700">
              <a:buNone/>
            </a:pPr>
            <a:r>
              <a:rPr lang="en-US" altLang="en-US"/>
              <a:t>(a)	</a:t>
            </a:r>
            <a:r>
              <a:rPr lang="en-US" altLang="en-US" b="1" i="1"/>
              <a:t>Finish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== </a:t>
            </a:r>
            <a:r>
              <a:rPr lang="en-US" altLang="en-US" b="1" i="1"/>
              <a:t>false</a:t>
            </a:r>
            <a:endParaRPr lang="en-US" altLang="en-US" b="1"/>
          </a:p>
          <a:p>
            <a:pPr marL="850900" lvl="1" indent="-393700">
              <a:buNone/>
            </a:pPr>
            <a:r>
              <a:rPr lang="en-US" altLang="en-US"/>
              <a:t>(b)	</a:t>
            </a:r>
            <a:r>
              <a:rPr lang="en-US" altLang="en-US" b="1" i="1"/>
              <a:t>Request</a:t>
            </a:r>
            <a:r>
              <a:rPr lang="en-US" altLang="en-US" b="1" i="1" baseline="-25000"/>
              <a:t>i</a:t>
            </a:r>
            <a:r>
              <a:rPr lang="en-US" altLang="en-US" b="1"/>
              <a:t> </a:t>
            </a:r>
            <a:r>
              <a:rPr lang="en-US" altLang="en-US" b="1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Work</a:t>
            </a:r>
            <a:br>
              <a:rPr lang="en-US" altLang="en-US" b="1" i="1">
                <a:sym typeface="Symbol" panose="05050102010706020507" pitchFamily="18" charset="2"/>
              </a:rPr>
            </a:br>
            <a:endParaRPr lang="en-US" altLang="en-US" b="1">
              <a:sym typeface="Symbol" panose="05050102010706020507" pitchFamily="18" charset="2"/>
            </a:endParaRPr>
          </a:p>
          <a:p>
            <a:pPr marL="850900" lvl="1" indent="-393700">
              <a:buNone/>
            </a:pPr>
            <a:r>
              <a:rPr lang="en-US" altLang="en-US">
                <a:sym typeface="Symbol" panose="05050102010706020507" pitchFamily="18" charset="2"/>
              </a:rPr>
              <a:t>If no such 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exists, go to step 4</a:t>
            </a:r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65FEB8E-3E75-5FD6-F961-4078086EF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2714" y="214313"/>
            <a:ext cx="75580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Detection Algorithm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03F4904-1C06-1D69-94B1-784BCE85C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71738" y="1171576"/>
            <a:ext cx="7218362" cy="22971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3.	</a:t>
            </a:r>
            <a:r>
              <a:rPr lang="en-US" altLang="en-US" b="1" i="1"/>
              <a:t>Work</a:t>
            </a:r>
            <a:r>
              <a:rPr lang="en-US" altLang="en-US" b="1"/>
              <a:t> = </a:t>
            </a:r>
            <a:r>
              <a:rPr lang="en-US" altLang="en-US" b="1" i="1"/>
              <a:t>Work</a:t>
            </a:r>
            <a:r>
              <a:rPr lang="en-US" altLang="en-US" b="1"/>
              <a:t> + </a:t>
            </a:r>
            <a:r>
              <a:rPr lang="en-US" altLang="en-US" b="1" i="1"/>
              <a:t>Allocation</a:t>
            </a:r>
            <a:r>
              <a:rPr lang="en-US" altLang="en-US" b="1" i="1" baseline="-25000"/>
              <a:t>i</a:t>
            </a:r>
            <a:br>
              <a:rPr lang="en-US" altLang="en-US" b="1"/>
            </a:br>
            <a:r>
              <a:rPr lang="en-US" altLang="en-US" b="1" i="1"/>
              <a:t>Finish</a:t>
            </a:r>
            <a:r>
              <a:rPr lang="en-US" altLang="en-US" b="1"/>
              <a:t>[</a:t>
            </a:r>
            <a:r>
              <a:rPr lang="en-US" altLang="en-US" b="1" i="1"/>
              <a:t>i</a:t>
            </a:r>
            <a:r>
              <a:rPr lang="en-US" altLang="en-US" b="1"/>
              <a:t>] = </a:t>
            </a:r>
            <a:r>
              <a:rPr lang="en-US" altLang="en-US" b="1" i="1"/>
              <a:t>true</a:t>
            </a:r>
            <a:br>
              <a:rPr lang="en-US" altLang="en-US" b="1"/>
            </a:br>
            <a:r>
              <a:rPr lang="en-US" altLang="en-US"/>
              <a:t>go to step 2</a:t>
            </a:r>
            <a:br>
              <a:rPr lang="en-US" altLang="en-US"/>
            </a:br>
            <a:endParaRPr lang="en-US" altLang="en-US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/>
              <a:t>4.	If </a:t>
            </a:r>
            <a:r>
              <a:rPr lang="en-US" altLang="en-US" b="1" i="1"/>
              <a:t>Finish[i] == false</a:t>
            </a:r>
            <a:r>
              <a:rPr lang="en-US" altLang="en-US"/>
              <a:t>, for some </a:t>
            </a:r>
            <a:r>
              <a:rPr lang="en-US" altLang="en-US" b="1" i="1"/>
              <a:t>i</a:t>
            </a:r>
            <a:r>
              <a:rPr lang="en-US" altLang="en-US"/>
              <a:t>, 1 </a:t>
            </a:r>
            <a:r>
              <a:rPr lang="en-US" altLang="en-US">
                <a:sym typeface="Symbol" panose="05050102010706020507" pitchFamily="18" charset="2"/>
              </a:rPr>
              <a:t> 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  </a:t>
            </a:r>
            <a:r>
              <a:rPr lang="en-US" altLang="en-US" b="1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, then the system is in deadlock state. Moreover, if </a:t>
            </a:r>
            <a:r>
              <a:rPr lang="en-US" altLang="en-US" b="1" i="1">
                <a:sym typeface="Symbol" panose="05050102010706020507" pitchFamily="18" charset="2"/>
              </a:rPr>
              <a:t>Finish</a:t>
            </a:r>
            <a:r>
              <a:rPr lang="en-US" altLang="en-US" b="1">
                <a:sym typeface="Symbol" panose="05050102010706020507" pitchFamily="18" charset="2"/>
              </a:rPr>
              <a:t>[</a:t>
            </a:r>
            <a:r>
              <a:rPr lang="en-US" altLang="en-US" b="1" i="1">
                <a:sym typeface="Symbol" panose="05050102010706020507" pitchFamily="18" charset="2"/>
              </a:rPr>
              <a:t>i</a:t>
            </a:r>
            <a:r>
              <a:rPr lang="en-US" altLang="en-US" b="1">
                <a:sym typeface="Symbol" panose="05050102010706020507" pitchFamily="18" charset="2"/>
              </a:rPr>
              <a:t>] == </a:t>
            </a:r>
            <a:r>
              <a:rPr lang="en-US" altLang="en-US" b="1" i="1">
                <a:sym typeface="Symbol" panose="05050102010706020507" pitchFamily="18" charset="2"/>
              </a:rPr>
              <a:t>false</a:t>
            </a:r>
            <a:r>
              <a:rPr lang="en-US" altLang="en-US">
                <a:sym typeface="Symbol" panose="05050102010706020507" pitchFamily="18" charset="2"/>
              </a:rPr>
              <a:t>, then </a:t>
            </a:r>
            <a:r>
              <a:rPr lang="en-US" altLang="en-US" b="1" i="1">
                <a:sym typeface="Symbol" panose="05050102010706020507" pitchFamily="18" charset="2"/>
              </a:rPr>
              <a:t>P</a:t>
            </a:r>
            <a:r>
              <a:rPr lang="en-US" altLang="en-US" b="1" i="1" baseline="-25000">
                <a:sym typeface="Symbol" panose="05050102010706020507" pitchFamily="18" charset="2"/>
              </a:rPr>
              <a:t>i</a:t>
            </a:r>
            <a:r>
              <a:rPr lang="en-US" altLang="en-US">
                <a:sym typeface="Symbol" panose="05050102010706020507" pitchFamily="18" charset="2"/>
              </a:rPr>
              <a:t> is deadlocked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>
                <a:sym typeface="Symbol" panose="05050102010706020507" pitchFamily="18" charset="2"/>
              </a:rPr>
              <a:t>	</a:t>
            </a:r>
            <a:endParaRPr lang="en-US" altLang="en-US"/>
          </a:p>
        </p:txBody>
      </p:sp>
      <p:sp>
        <p:nvSpPr>
          <p:cNvPr id="41988" name="Text Box 4">
            <a:extLst>
              <a:ext uri="{FF2B5EF4-FFF2-40B4-BE49-F238E27FC236}">
                <a16:creationId xmlns:a16="http://schemas.microsoft.com/office/drawing/2014/main" id="{66FA4A8C-1C49-074C-1F89-153FE612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1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Algorithm requires an order of O(</a:t>
            </a:r>
            <a:r>
              <a:rPr lang="en-US" altLang="en-US" b="1" i="1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m </a:t>
            </a:r>
            <a:r>
              <a:rPr lang="en-US" altLang="en-US" b="1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b="1" i="1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en-US" altLang="en-US" b="1" baseline="30000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="1">
                <a:solidFill>
                  <a:srgbClr val="FF0066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) operations to detect whether the system is in deadlocked state</a:t>
            </a:r>
            <a:endParaRPr lang="en-US" altLang="en-US">
              <a:solidFill>
                <a:srgbClr val="FF0066"/>
              </a:solidFill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>
              <a:solidFill>
                <a:srgbClr val="FF006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5AE2B01-94AE-A1F0-8E2F-E9E28372D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2143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Detection Algorithm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C5C276F-F5CD-D3C8-BEC7-F1EE1C278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5701" y="1108076"/>
            <a:ext cx="8037513" cy="5121275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Five processes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dirty="0"/>
              <a:t> through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dirty="0"/>
              <a:t>;</a:t>
            </a:r>
            <a:r>
              <a:rPr lang="en-US" altLang="en-US" baseline="-25000" dirty="0"/>
              <a:t> </a:t>
            </a:r>
            <a:r>
              <a:rPr lang="en-US" altLang="en-US" dirty="0"/>
              <a:t>three resource types </a:t>
            </a:r>
            <a:br>
              <a:rPr lang="en-US" altLang="en-US" dirty="0"/>
            </a:br>
            <a:r>
              <a:rPr lang="en-US" altLang="en-US" dirty="0"/>
              <a:t>A (7 instances), </a:t>
            </a:r>
            <a:r>
              <a:rPr lang="en-US" altLang="en-US" i="1" dirty="0"/>
              <a:t>B </a:t>
            </a:r>
            <a:r>
              <a:rPr lang="en-US" altLang="en-US" dirty="0"/>
              <a:t>(2 instances), and </a:t>
            </a:r>
            <a:r>
              <a:rPr lang="en-US" altLang="en-US" i="1" dirty="0"/>
              <a:t>C</a:t>
            </a:r>
            <a:r>
              <a:rPr lang="en-US" altLang="en-US" dirty="0"/>
              <a:t> (6 instances)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Snapshot at time </a:t>
            </a:r>
            <a:r>
              <a:rPr lang="en-US" altLang="en-US" b="1" i="1" dirty="0"/>
              <a:t>T</a:t>
            </a:r>
            <a:r>
              <a:rPr lang="en-US" altLang="en-US" b="1" baseline="-25000" dirty="0"/>
              <a:t>0</a:t>
            </a:r>
            <a:r>
              <a:rPr lang="en-US" altLang="en-US" dirty="0"/>
              <a:t>: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</a:t>
            </a:r>
            <a:r>
              <a:rPr lang="en-US" altLang="en-US" i="1" u="sng" dirty="0"/>
              <a:t>Request</a:t>
            </a:r>
            <a:r>
              <a:rPr lang="en-US" altLang="en-US" i="1" dirty="0"/>
              <a:t>	</a:t>
            </a:r>
            <a:r>
              <a:rPr lang="en-US" altLang="en-US" i="1" u="sng" dirty="0"/>
              <a:t>Available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 	  A B C 	A B C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	         0 1 0           0 0 0 	0 0 0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1</a:t>
            </a:r>
            <a:r>
              <a:rPr lang="en-US" altLang="en-US" dirty="0"/>
              <a:t>	          2 0 0 	  2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2</a:t>
            </a:r>
            <a:r>
              <a:rPr lang="en-US" altLang="en-US" dirty="0"/>
              <a:t>		          3 0 3          0 0 0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i="1" dirty="0"/>
              <a:t>           P</a:t>
            </a:r>
            <a:r>
              <a:rPr lang="en-US" altLang="en-US" baseline="-25000" dirty="0"/>
              <a:t>3</a:t>
            </a:r>
            <a:r>
              <a:rPr lang="en-US" altLang="en-US" dirty="0"/>
              <a:t>		  2 1 1 	   1 0 0 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	       </a:t>
            </a:r>
            <a:r>
              <a:rPr lang="en-US" altLang="en-US" i="1" dirty="0"/>
              <a:t>P</a:t>
            </a:r>
            <a:r>
              <a:rPr lang="en-US" altLang="en-US" baseline="-25000" dirty="0"/>
              <a:t>4	</a:t>
            </a:r>
            <a:r>
              <a:rPr lang="en-US" altLang="en-US" dirty="0"/>
              <a:t>	 0 0 2 	   0 0 2</a:t>
            </a:r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  <a:p>
            <a:pPr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>
              <a:rPr lang="en-US" altLang="en-US" dirty="0"/>
              <a:t>Sequence &lt;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0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2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3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1</a:t>
            </a:r>
            <a:r>
              <a:rPr lang="en-US" altLang="en-US" b="1" i="1" dirty="0"/>
              <a:t>, P</a:t>
            </a:r>
            <a:r>
              <a:rPr lang="en-US" altLang="en-US" b="1" i="1" baseline="-25000" dirty="0"/>
              <a:t>4</a:t>
            </a:r>
            <a:r>
              <a:rPr lang="en-US" altLang="en-US" dirty="0"/>
              <a:t>&gt; will result in </a:t>
            </a:r>
            <a:r>
              <a:rPr lang="en-US" altLang="en-US" b="1" i="1" dirty="0"/>
              <a:t>Finish[</a:t>
            </a:r>
            <a:r>
              <a:rPr lang="en-US" altLang="en-US" b="1" i="1" dirty="0" err="1"/>
              <a:t>i</a:t>
            </a:r>
            <a:r>
              <a:rPr lang="en-US" altLang="en-US" b="1" i="1" dirty="0"/>
              <a:t>] = true </a:t>
            </a:r>
            <a:r>
              <a:rPr lang="en-US" altLang="en-US" dirty="0"/>
              <a:t>for all </a:t>
            </a:r>
            <a:r>
              <a:rPr lang="en-US" altLang="en-US" b="1" i="1" dirty="0" err="1"/>
              <a:t>i</a:t>
            </a:r>
            <a:endParaRPr lang="en-US" altLang="en-US" b="1" dirty="0"/>
          </a:p>
          <a:p>
            <a:pPr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B7EE42E5-DDA0-9129-D195-704660219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143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AC7154E-10C4-ABAB-B36D-3EF199DE8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30451" y="1233489"/>
            <a:ext cx="7781925" cy="5037137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2800350" algn="l"/>
                <a:tab pos="3708400" algn="ctr"/>
              </a:tabLst>
            </a:pPr>
            <a:r>
              <a:rPr lang="en-US" altLang="en-US" b="1" i="1"/>
              <a:t>P</a:t>
            </a:r>
            <a:r>
              <a:rPr lang="en-US" altLang="en-US" b="1" baseline="-25000"/>
              <a:t>2</a:t>
            </a:r>
            <a:r>
              <a:rPr lang="en-US" altLang="en-US"/>
              <a:t> requests an additional instance of type</a:t>
            </a:r>
            <a:r>
              <a:rPr lang="en-US" altLang="en-US" i="1"/>
              <a:t> </a:t>
            </a:r>
            <a:r>
              <a:rPr lang="en-US" altLang="en-US" b="1" i="1"/>
              <a:t>C</a:t>
            </a:r>
            <a:endParaRPr lang="en-US" altLang="en-US" b="1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	</a:t>
            </a:r>
            <a:r>
              <a:rPr lang="en-US" altLang="en-US" i="1" u="sng"/>
              <a:t>Request</a:t>
            </a:r>
            <a:endParaRPr lang="en-US" altLang="en-US" i="1"/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 i="1"/>
              <a:t>			A B C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0</a:t>
            </a:r>
            <a:r>
              <a:rPr lang="en-US" altLang="en-US"/>
              <a:t>	0 0 0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	2 0 2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2</a:t>
            </a:r>
            <a:r>
              <a:rPr lang="en-US" altLang="en-US"/>
              <a:t>	0 0 1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3</a:t>
            </a:r>
            <a:r>
              <a:rPr lang="en-US" altLang="en-US"/>
              <a:t>	1 0 0 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baseline="-25000"/>
              <a:t>4</a:t>
            </a:r>
            <a:r>
              <a:rPr lang="en-US" altLang="en-US"/>
              <a:t>	0 0 2</a:t>
            </a:r>
          </a:p>
          <a:p>
            <a:pPr>
              <a:buNone/>
              <a:tabLst>
                <a:tab pos="2800350" algn="l"/>
                <a:tab pos="3708400" algn="ctr"/>
              </a:tabLst>
            </a:pPr>
            <a:endParaRPr lang="en-US" altLang="en-US" sz="800"/>
          </a:p>
          <a:p>
            <a:pPr>
              <a:tabLst>
                <a:tab pos="2800350" algn="l"/>
                <a:tab pos="3708400" algn="ctr"/>
              </a:tabLst>
            </a:pPr>
            <a:r>
              <a:rPr lang="en-US" altLang="en-US"/>
              <a:t>State of system?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/>
              <a:t>Can reclaim resources held by process </a:t>
            </a:r>
            <a:r>
              <a:rPr lang="en-US" altLang="en-US" b="1" i="1"/>
              <a:t>P</a:t>
            </a:r>
            <a:r>
              <a:rPr lang="en-US" altLang="en-US" b="1" baseline="-25000"/>
              <a:t>0</a:t>
            </a:r>
            <a:r>
              <a:rPr lang="en-US" altLang="en-US"/>
              <a:t>, but insufficient resources to fulfill other processes; requests</a:t>
            </a:r>
          </a:p>
          <a:p>
            <a:pPr lvl="1">
              <a:tabLst>
                <a:tab pos="2800350" algn="l"/>
                <a:tab pos="3708400" algn="ctr"/>
              </a:tabLst>
            </a:pPr>
            <a:r>
              <a:rPr lang="en-US" altLang="en-US"/>
              <a:t>Deadlock exists, consisting of processes </a:t>
            </a:r>
            <a:r>
              <a:rPr lang="en-US" altLang="en-US" b="1" i="1"/>
              <a:t>P</a:t>
            </a:r>
            <a:r>
              <a:rPr lang="en-US" altLang="en-US" b="1" baseline="-25000"/>
              <a:t>1</a:t>
            </a:r>
            <a:r>
              <a:rPr lang="en-US" altLang="en-US" b="1"/>
              <a:t>, </a:t>
            </a:r>
            <a:r>
              <a:rPr lang="en-US" altLang="en-US" b="1" baseline="-25000"/>
              <a:t> </a:t>
            </a:r>
            <a:r>
              <a:rPr lang="en-US" altLang="en-US" b="1" i="1"/>
              <a:t>P</a:t>
            </a:r>
            <a:r>
              <a:rPr lang="en-US" altLang="en-US" b="1" baseline="-25000"/>
              <a:t>2</a:t>
            </a:r>
            <a:r>
              <a:rPr lang="en-US" altLang="en-US" b="1"/>
              <a:t>, </a:t>
            </a:r>
            <a:r>
              <a:rPr lang="en-US" altLang="en-US" b="1" i="1"/>
              <a:t>P</a:t>
            </a:r>
            <a:r>
              <a:rPr lang="en-US" altLang="en-US" b="1" baseline="-25000"/>
              <a:t>3</a:t>
            </a:r>
            <a:r>
              <a:rPr lang="en-US" altLang="en-US"/>
              <a:t>, and </a:t>
            </a:r>
            <a:r>
              <a:rPr lang="en-US" altLang="en-US" b="1" i="1"/>
              <a:t>P</a:t>
            </a:r>
            <a:r>
              <a:rPr lang="en-US" altLang="en-US" b="1" baseline="-25000"/>
              <a:t>4</a:t>
            </a:r>
            <a:endParaRPr lang="en-US" altLang="en-US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85E0A94-D40E-2B68-01B7-9F1E5E607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4138" y="230188"/>
            <a:ext cx="7586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Detection-Algorithm Usage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C505A62-3A13-8B30-4179-77CE2B910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3950" y="1122364"/>
            <a:ext cx="7107238" cy="4530725"/>
          </a:xfrm>
        </p:spPr>
        <p:txBody>
          <a:bodyPr/>
          <a:lstStyle/>
          <a:p>
            <a:r>
              <a:rPr lang="en-US" altLang="en-US"/>
              <a:t>When, and how often, to invoke depends on:</a:t>
            </a:r>
          </a:p>
          <a:p>
            <a:pPr lvl="1"/>
            <a:r>
              <a:rPr lang="en-US" altLang="en-US"/>
              <a:t>How often a deadlock is likely to occur?</a:t>
            </a:r>
          </a:p>
          <a:p>
            <a:pPr lvl="1"/>
            <a:r>
              <a:rPr lang="en-US" altLang="en-US"/>
              <a:t>How many processes will need to be rolled back?</a:t>
            </a:r>
          </a:p>
          <a:p>
            <a:pPr lvl="2"/>
            <a:r>
              <a:rPr lang="en-US" altLang="en-US"/>
              <a:t>one for each disjoint cycle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If detection algorithm is invoked arbitrarily, there may be many cycles in the resource graph and so we would not be able to tell which of the many deadlocked processes </a:t>
            </a:r>
            <a:r>
              <a:rPr lang="ja-JP" altLang="en-US"/>
              <a:t>“</a:t>
            </a:r>
            <a:r>
              <a:rPr lang="en-US" altLang="ja-JP"/>
              <a:t>caused</a:t>
            </a:r>
            <a:r>
              <a:rPr lang="ja-JP" altLang="en-US"/>
              <a:t>”</a:t>
            </a:r>
            <a:r>
              <a:rPr lang="en-US" altLang="ja-JP"/>
              <a:t> the deadlock.</a:t>
            </a:r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E7B9B96-0CD1-C935-A6AE-FA14740D5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7914" y="228600"/>
            <a:ext cx="8588375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Recovery from Deadlock:  Process Termination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10A42E8-D9C9-5527-A4EE-A0985CD55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87613" y="1108076"/>
            <a:ext cx="7694612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Abort all deadlocked processes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Abort one process at a time until the deadlock cycle is eliminated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In which order should we choose to abort?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/>
              <a:t>Priority of the process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long process has computed, and how much longer to completion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the process has used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Resources process needs to complete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How many processes will need to be terminated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dirty="0"/>
              <a:t>Is process interactive or batch?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33BE0A5-7EF8-DD23-FAD7-7B53A87EB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71763" y="255588"/>
            <a:ext cx="8020050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Recovery from Deadlock:  Resource Preemption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3F8C3BE-F8EF-0C5D-1F5E-D89D9F9CA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2839" y="1150938"/>
            <a:ext cx="6802437" cy="4483100"/>
          </a:xfrm>
        </p:spPr>
        <p:txBody>
          <a:bodyPr/>
          <a:lstStyle/>
          <a:p>
            <a:r>
              <a:rPr lang="en-US" altLang="en-US" b="1"/>
              <a:t>Selecting a victim </a:t>
            </a:r>
            <a:r>
              <a:rPr lang="en-US" altLang="en-US"/>
              <a:t>– minimize cost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Rollback</a:t>
            </a:r>
            <a:r>
              <a:rPr lang="en-US" altLang="en-US"/>
              <a:t> – return to some safe state, restart process for that state</a:t>
            </a:r>
            <a:br>
              <a:rPr lang="en-US" altLang="en-US"/>
            </a:br>
            <a:endParaRPr lang="en-US" altLang="en-US"/>
          </a:p>
          <a:p>
            <a:r>
              <a:rPr lang="en-US" altLang="en-US" b="1"/>
              <a:t>Starvation</a:t>
            </a:r>
            <a:r>
              <a:rPr lang="en-US" altLang="en-US"/>
              <a:t> –  same process may always be picked as victim, include number of rollback in cost factor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091C-CE60-419A-9A3F-19D99190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AF191-B0E2-996D-F35F-FFA3425EC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168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520B-14B7-85A1-78E2-AE550C069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A1C5-DE6E-BE7B-A613-03F460ED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5D44-372A-E9DE-D33B-7AAE2CC77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21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3354-8044-8572-CB47-3309E091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EA96-B404-033B-F10F-1B1488AF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3ACE-0A39-F623-E958-2FB660E19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82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2628</Words>
  <Application>Microsoft Office PowerPoint</Application>
  <PresentationFormat>Widescreen</PresentationFormat>
  <Paragraphs>283</Paragraphs>
  <Slides>45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Calibri Light</vt:lpstr>
      <vt:lpstr>Helvetica</vt:lpstr>
      <vt:lpstr>Monotype Sorts</vt:lpstr>
      <vt:lpstr>Symbol</vt:lpstr>
      <vt:lpstr>Times New Roman</vt:lpstr>
      <vt:lpstr>Webdings</vt:lpstr>
      <vt:lpstr>Office Theme</vt:lpstr>
      <vt:lpstr>Deadlocks</vt:lpstr>
      <vt:lpstr>Deadlock</vt:lpstr>
      <vt:lpstr>PowerPoint Presentation</vt:lpstr>
      <vt:lpstr>Definition</vt:lpstr>
      <vt:lpstr>PowerPoint Presentation</vt:lpstr>
      <vt:lpstr>System Model</vt:lpstr>
      <vt:lpstr>Deadlock Characterization</vt:lpstr>
      <vt:lpstr>PowerPoint Presentation</vt:lpstr>
      <vt:lpstr>Resource-Allocation Graph</vt:lpstr>
      <vt:lpstr>PowerPoint Presentation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Contd…</vt:lpstr>
      <vt:lpstr>Deadlock Avoidance</vt:lpstr>
      <vt:lpstr>Safe State</vt:lpstr>
      <vt:lpstr>PowerPoint Presentation</vt:lpstr>
      <vt:lpstr>PowerPoint Presentation</vt:lpstr>
      <vt:lpstr>Avoidance Algorithms</vt:lpstr>
      <vt:lpstr>Resource-Allocation Graph Scheme</vt:lpstr>
      <vt:lpstr>Resource-Allocation Graph</vt:lpstr>
      <vt:lpstr>Unsafe State In Resource-Allocation Graph</vt:lpstr>
      <vt:lpstr>Banker’s Algorithm</vt:lpstr>
      <vt:lpstr>Data Structures for the Banker’s Algorithm </vt:lpstr>
      <vt:lpstr>Safety Algorithm</vt:lpstr>
      <vt:lpstr>Resource-Request Algorithm for Process Pi</vt:lpstr>
      <vt:lpstr>Example (Cont.)</vt:lpstr>
      <vt:lpstr>Example:  P1 Request (1,0,2)</vt:lpstr>
      <vt:lpstr>Deadlock Detection</vt:lpstr>
      <vt:lpstr>Single Instance of Each Resource Type</vt:lpstr>
      <vt:lpstr>Resource-Allocation Graph and 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Process Termination</vt:lpstr>
      <vt:lpstr>Recovery from Deadlock:  Resource Preemption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GEORGE</dc:creator>
  <cp:lastModifiedBy>REENA GEORGE</cp:lastModifiedBy>
  <cp:revision>6</cp:revision>
  <dcterms:created xsi:type="dcterms:W3CDTF">2025-03-05T13:01:35Z</dcterms:created>
  <dcterms:modified xsi:type="dcterms:W3CDTF">2026-03-03T02:05:24Z</dcterms:modified>
</cp:coreProperties>
</file>