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75" r:id="rId13"/>
    <p:sldId id="268" r:id="rId14"/>
    <p:sldId id="276" r:id="rId15"/>
    <p:sldId id="269" r:id="rId16"/>
    <p:sldId id="270" r:id="rId17"/>
    <p:sldId id="273" r:id="rId18"/>
    <p:sldId id="274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71" r:id="rId31"/>
    <p:sldId id="272" r:id="rId32"/>
    <p:sldId id="2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1900-15E3-B38D-4421-BE93EC5A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9CE4D-8784-7D1A-2204-0E603A504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CE185-23C5-26CA-D0CA-CCEE8C74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AACD9-BEC0-C4EF-FB16-DCE76C8B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187FB-A5F5-81C4-0EE8-97D7DF6B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43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A53A-5402-E438-2587-D8DA94A3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EEA5-3F08-8095-FA5D-8F60F352B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1CF7E-37CD-0F37-7572-C58A1B6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A6EB-78DF-D949-B684-54BA8BD5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3A41E-3645-9EFE-F2A9-D299FB1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42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8F82-117C-4E2F-C1E4-01E44DD6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C41C0-6CA2-F48B-731F-6EE14276C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D2672-309B-8141-56F5-57BF7CB8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2DB6-72A4-9872-7DA8-B4987590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0DFB7-7273-F73C-8BAA-CB00C081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67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AEE5-CAEC-E48C-4EAE-97599F9F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8EC9-5AF1-2273-014A-91174286D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D1829-6320-D610-6B47-9C0D9D68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D04A5-9877-A3D6-38E2-E6E26CAF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E571C-0485-3284-5B25-FC2E6516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0C413-DBF0-0317-21E6-E1B990D1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6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45B9-ACEF-4C70-1DBD-DEE4EFAC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B5D29-D75C-98A2-9B31-BE1BF058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50E28-AF58-0154-01EC-42DCA5239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8BAAF-6BDC-113C-45FE-E1CDCA38D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5344C-4F03-3010-4460-4A79665B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F28BA3-C784-5B51-14EB-0268C4EF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C0D69-7D8F-6676-D0C3-EF873D66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78B67-53F2-0B2F-1D23-9732156A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2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AE0B-567D-1D88-9E60-85A256D2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520A6-3859-4DCF-E149-678D8183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1540B-E3CB-43F6-9608-16E6243C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7E9E1-A855-FAD7-94E9-621BB670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4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97A2A-8B5D-8569-8ADA-A2521487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9E2E2-E52F-91E1-4152-D56C80D1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DA5B5-8197-4BD0-BDE4-120E0E7E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78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6B63-DF34-36B0-9009-DBCD007B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95E0-D52B-9AC0-F22B-2D18790D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EAE26-7444-7023-CCDC-409D1170F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D34F4-A41E-1E4D-293B-B85FD956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8CA7F-3949-F5BA-4163-21FE88B0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EFAC1-EB7C-3A0E-056C-1B7CFC59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09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A8F8-2601-8618-2DE3-25585AC6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96944-54C9-7D71-0CDB-4083496AF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A8E63-6EA0-B91F-BFC6-3E7DEC517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33917-B6B8-5A4A-297B-F67567E4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9CBFC-36CE-439C-D132-F7EBF1A4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8F65-B0EA-0C4F-6026-99456AE8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0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477B-26A7-95FB-20A7-48337492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8E2ED-78C7-B63B-DB5C-28E814DEB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E2B8B-A666-58E4-09BD-7899F699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AEEE8-F288-1DCE-BB1A-EA7CA015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345A-C6D8-4F6C-0F7E-888AC04E2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61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7CC23-510F-1754-F937-61FD947C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3F379-0A83-8D52-2FE3-F07F950D5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A62B-2972-1694-E224-80D4A355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66342-6384-4587-47F7-78328F6C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4099-9DD9-E790-77E6-CA67AB0A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2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48731-916F-B5D7-3608-F80B9793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938A9-FF98-B259-A64F-D50E7DCB0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4A715-626F-5E2A-B752-9C8BC48BE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2D65A-26DE-47C0-B4C0-0DC63AEB2F8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1D1C-48DE-ED6B-3092-6039581F4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C71CD-9AE6-7826-BC0E-A6BE88B86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2342-14E1-45E0-916B-862AD67B6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A29B-EC21-63E3-5076-AA5EC1C39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Synchronization Hardware, Semaphores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C7D11-0866-C337-D89A-7FA78D4112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92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ECDF-9E79-3ADB-2EC1-C2F3E27A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Test-and-Set (TAS) instruction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AD9B-DEBF-4A9F-7982-00758A4EA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run many programs at once.</a:t>
            </a:r>
          </a:p>
          <a:p>
            <a:r>
              <a:rPr lang="en-US" b="1" dirty="0"/>
              <a:t>Two programs</a:t>
            </a:r>
            <a:r>
              <a:rPr lang="en-US" dirty="0"/>
              <a:t> (or threads) may try to access </a:t>
            </a:r>
            <a:r>
              <a:rPr lang="en-US" b="1" dirty="0"/>
              <a:t>the same resource (e.g., a file, memory, or printer) at the same time</a:t>
            </a:r>
            <a:r>
              <a:rPr lang="en-US" dirty="0"/>
              <a:t>.</a:t>
            </a:r>
          </a:p>
          <a:p>
            <a:r>
              <a:rPr lang="en-US" dirty="0"/>
              <a:t>If there's </a:t>
            </a:r>
            <a:r>
              <a:rPr lang="en-US" b="1" dirty="0"/>
              <a:t>no proper coordination</a:t>
            </a:r>
            <a:r>
              <a:rPr lang="en-US" dirty="0"/>
              <a:t>, they could </a:t>
            </a:r>
            <a:r>
              <a:rPr lang="en-US" b="1" dirty="0"/>
              <a:t>overwrite each other’s data</a:t>
            </a:r>
            <a:r>
              <a:rPr lang="en-US" dirty="0"/>
              <a:t> or </a:t>
            </a:r>
            <a:r>
              <a:rPr lang="en-US" b="1" dirty="0"/>
              <a:t>cause errors</a:t>
            </a:r>
            <a:r>
              <a:rPr lang="en-US" dirty="0"/>
              <a:t>.</a:t>
            </a:r>
          </a:p>
          <a:p>
            <a:r>
              <a:rPr lang="en-US" dirty="0"/>
              <a:t>In software based solution there is no guarantee that there is interruption between steps</a:t>
            </a:r>
          </a:p>
          <a:p>
            <a:r>
              <a:rPr lang="en-US" dirty="0"/>
              <a:t>To </a:t>
            </a:r>
            <a:r>
              <a:rPr lang="en-US" b="1" dirty="0"/>
              <a:t>prevent such conflicts</a:t>
            </a:r>
            <a:r>
              <a:rPr lang="en-US" dirty="0"/>
              <a:t>, modern processors have a </a:t>
            </a:r>
            <a:r>
              <a:rPr lang="en-US" b="1" dirty="0"/>
              <a:t>special instruction called Test-and-Set</a:t>
            </a:r>
            <a:r>
              <a:rPr lang="en-US" dirty="0"/>
              <a:t> that is done </a:t>
            </a:r>
            <a:r>
              <a:rPr lang="en-US" b="1" dirty="0"/>
              <a:t>directly in hardware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05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8155-83D4-4D04-CE09-1A31FB22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8D46-25D7-4E92-AB92-1F44C847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hardware solution to the synchronization problem.</a:t>
            </a:r>
          </a:p>
          <a:p>
            <a:r>
              <a:rPr lang="en-IN" dirty="0"/>
              <a:t>Shared lock variable that can take either 0 or 1 values.</a:t>
            </a:r>
          </a:p>
          <a:p>
            <a:r>
              <a:rPr lang="en-IN" dirty="0"/>
              <a:t>A process should acquire the lock before entering into the critical section.</a:t>
            </a:r>
          </a:p>
          <a:p>
            <a:r>
              <a:rPr lang="en-IN" dirty="0"/>
              <a:t>Already locked, process waits till it becomes free.</a:t>
            </a:r>
          </a:p>
          <a:p>
            <a:r>
              <a:rPr lang="en-IN" dirty="0"/>
              <a:t>Else, process takes the lock and executes the critical section.</a:t>
            </a:r>
          </a:p>
        </p:txBody>
      </p:sp>
    </p:spTree>
    <p:extLst>
      <p:ext uri="{BB962C8B-B14F-4D97-AF65-F5344CB8AC3E}">
        <p14:creationId xmlns:p14="http://schemas.microsoft.com/office/powerpoint/2010/main" val="406293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46F6-8031-20E5-B9DF-D2FCE1C6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D148-F4EF-9BB9-64F2-E5CB9C313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Definition:</a:t>
            </a:r>
          </a:p>
          <a:p>
            <a:pPr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       </a:t>
            </a:r>
            <a:r>
              <a:rPr lang="en-US" altLang="en-US" dirty="0" err="1">
                <a:solidFill>
                  <a:srgbClr val="0000FF"/>
                </a:solidFill>
              </a:rPr>
              <a:t>boolean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TestAndSet</a:t>
            </a:r>
            <a:r>
              <a:rPr lang="en-US" altLang="en-US" dirty="0">
                <a:solidFill>
                  <a:srgbClr val="0000FF"/>
                </a:solidFill>
              </a:rPr>
              <a:t> (</a:t>
            </a:r>
            <a:r>
              <a:rPr lang="en-US" altLang="en-US" dirty="0" err="1">
                <a:solidFill>
                  <a:srgbClr val="0000FF"/>
                </a:solidFill>
              </a:rPr>
              <a:t>boolean</a:t>
            </a:r>
            <a:r>
              <a:rPr lang="en-US" altLang="en-US" dirty="0">
                <a:solidFill>
                  <a:srgbClr val="0000FF"/>
                </a:solidFill>
              </a:rPr>
              <a:t> *target)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	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		</a:t>
            </a:r>
            <a:r>
              <a:rPr lang="en-US" altLang="en-US" dirty="0" err="1">
                <a:solidFill>
                  <a:srgbClr val="0000FF"/>
                </a:solidFill>
              </a:rPr>
              <a:t>boolean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rv</a:t>
            </a:r>
            <a:r>
              <a:rPr lang="en-US" altLang="en-US" dirty="0">
                <a:solidFill>
                  <a:srgbClr val="0000FF"/>
                </a:solidFill>
              </a:rPr>
              <a:t> = *target;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	*target = TRUE;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	return </a:t>
            </a:r>
            <a:r>
              <a:rPr lang="en-US" altLang="en-US" dirty="0" err="1">
                <a:solidFill>
                  <a:srgbClr val="0000FF"/>
                </a:solidFill>
              </a:rPr>
              <a:t>rv</a:t>
            </a:r>
            <a:r>
              <a:rPr lang="en-US" altLang="en-US" dirty="0">
                <a:solidFill>
                  <a:srgbClr val="0000FF"/>
                </a:solidFill>
              </a:rPr>
              <a:t>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	}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C36C4-38AE-3723-D456-39C0DC1BAF7F}"/>
              </a:ext>
            </a:extLst>
          </p:cNvPr>
          <p:cNvSpPr txBox="1"/>
          <p:nvPr/>
        </p:nvSpPr>
        <p:spPr>
          <a:xfrm>
            <a:off x="4572000" y="2095500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Atomic Operation</a:t>
            </a:r>
          </a:p>
        </p:txBody>
      </p:sp>
    </p:spTree>
    <p:extLst>
      <p:ext uri="{BB962C8B-B14F-4D97-AF65-F5344CB8AC3E}">
        <p14:creationId xmlns:p14="http://schemas.microsoft.com/office/powerpoint/2010/main" val="86666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5A98-28E1-0848-0AC3-CD098A31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25EC-C2E1-D403-90FF-A749411D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4E0E0-FAF3-827B-45DB-A9E123F79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38250"/>
            <a:ext cx="5257800" cy="52546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Shared </a:t>
            </a:r>
            <a:r>
              <a:rPr lang="en-US" altLang="en-US" dirty="0" err="1"/>
              <a:t>boolean</a:t>
            </a:r>
            <a:r>
              <a:rPr lang="en-US" altLang="en-US" dirty="0"/>
              <a:t> variable lock., initialized to false.</a:t>
            </a:r>
          </a:p>
          <a:p>
            <a:pPr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Solution:</a:t>
            </a:r>
          </a:p>
          <a:p>
            <a:pPr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Process1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           </a:t>
            </a:r>
            <a:r>
              <a:rPr lang="en-US" altLang="en-US" dirty="0">
                <a:solidFill>
                  <a:srgbClr val="0000FF"/>
                </a:solidFill>
              </a:rPr>
              <a:t>while (true)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	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while ( </a:t>
            </a:r>
            <a:r>
              <a:rPr lang="en-US" altLang="en-US" dirty="0" err="1">
                <a:solidFill>
                  <a:srgbClr val="0000FF"/>
                </a:solidFill>
              </a:rPr>
              <a:t>TestAndSet</a:t>
            </a:r>
            <a:r>
              <a:rPr lang="en-US" altLang="en-US" dirty="0">
                <a:solidFill>
                  <a:srgbClr val="0000FF"/>
                </a:solidFill>
              </a:rPr>
              <a:t> (&amp;lock ));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            /* do nothing */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 /* CRITICAL SECTION */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lock = FALSE;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/* REMAINDER SECTION */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             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A85BDF-EB3B-E64F-C532-3217E21EDACD}"/>
              </a:ext>
            </a:extLst>
          </p:cNvPr>
          <p:cNvSpPr txBox="1">
            <a:spLocks noChangeArrowheads="1"/>
          </p:cNvSpPr>
          <p:nvPr/>
        </p:nvSpPr>
        <p:spPr>
          <a:xfrm>
            <a:off x="5572125" y="1238249"/>
            <a:ext cx="5257800" cy="52546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/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/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/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Process2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           </a:t>
            </a:r>
            <a:r>
              <a:rPr lang="en-US" altLang="en-US" dirty="0">
                <a:solidFill>
                  <a:srgbClr val="0000FF"/>
                </a:solidFill>
              </a:rPr>
              <a:t>while (true) 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	{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while ( </a:t>
            </a:r>
            <a:r>
              <a:rPr lang="en-US" altLang="en-US" dirty="0" err="1">
                <a:solidFill>
                  <a:srgbClr val="0000FF"/>
                </a:solidFill>
              </a:rPr>
              <a:t>TestAndSet</a:t>
            </a:r>
            <a:r>
              <a:rPr lang="en-US" altLang="en-US" dirty="0">
                <a:solidFill>
                  <a:srgbClr val="0000FF"/>
                </a:solidFill>
              </a:rPr>
              <a:t> (&amp;lock ));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            /* do nothing */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 /* CRITICAL SECTION */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lock = FALSE;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    /* REMAINDER SECTION */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}</a:t>
            </a: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en-US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440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47D9-32B3-5B02-F44F-81C757AF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6803D-5C7E-AF1E-4FE9-1832B940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Disadv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1A9B-A720-E22A-F11E-034C702E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Satisfies mutual exclusion</a:t>
            </a:r>
          </a:p>
          <a:p>
            <a:r>
              <a:rPr lang="en-IN" dirty="0"/>
              <a:t>Does not satisfy bounded waiting.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33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82AE-EACA-CF73-562E-85FFA6E7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98CE-1A48-4B90-BD72-C253C5A7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Semaphores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2ABFA-902D-5DD5-9159-72439DBB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5"/>
            <a:ext cx="10515600" cy="45862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Synchronization tool that does not require busy waiting </a:t>
            </a:r>
            <a:endParaRPr lang="en-US" altLang="en-US" sz="16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Semaphore </a:t>
            </a:r>
            <a:r>
              <a:rPr lang="en-US" altLang="en-US" sz="1600" i="1" dirty="0"/>
              <a:t>S</a:t>
            </a:r>
            <a:r>
              <a:rPr lang="en-US" altLang="en-US" sz="1600" dirty="0"/>
              <a:t> – integer variable (technique to manage concurrent processes)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Two standard operations modify </a:t>
            </a:r>
            <a:r>
              <a:rPr lang="en-US" altLang="en-US" sz="1600" dirty="0">
                <a:solidFill>
                  <a:srgbClr val="0000FF"/>
                </a:solidFill>
              </a:rPr>
              <a:t>S: wait()</a:t>
            </a:r>
            <a:r>
              <a:rPr lang="en-US" altLang="en-US" sz="1600" dirty="0"/>
              <a:t> and </a:t>
            </a:r>
            <a:r>
              <a:rPr lang="en-US" altLang="en-US" sz="1600" dirty="0">
                <a:solidFill>
                  <a:srgbClr val="0000FF"/>
                </a:solidFill>
              </a:rPr>
              <a:t>signal()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Originally called </a:t>
            </a:r>
            <a:r>
              <a:rPr lang="en-US" altLang="en-US" dirty="0">
                <a:solidFill>
                  <a:srgbClr val="0000FF"/>
                </a:solidFill>
              </a:rPr>
              <a:t>P()</a:t>
            </a:r>
            <a:r>
              <a:rPr lang="en-US" altLang="en-US" dirty="0"/>
              <a:t> and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00FF"/>
                </a:solidFill>
              </a:rPr>
              <a:t>V()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Less complicated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Can only be accessed via two indivisible (atomic)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wait (S) {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      while S &lt;= 0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		          ; // no-op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         S--;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 }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signal (S) {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   S++;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95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216D-5981-190F-78A9-4C9960BF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B053-70F3-6FE4-76AD-D0678068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and Counting Semaphores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E6FFE-9F05-0619-15B9-91B6AD93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Binary Semaphore can have only values 0 and 1.</a:t>
            </a:r>
          </a:p>
          <a:p>
            <a:r>
              <a:rPr lang="en-IN" dirty="0"/>
              <a:t>Also called mutex locks, as they are locks that provide mutual exclusion.</a:t>
            </a:r>
          </a:p>
          <a:p>
            <a:r>
              <a:rPr lang="en-IN" dirty="0"/>
              <a:t>Counting semaphore’s value can range over an unrestricted domain.</a:t>
            </a:r>
          </a:p>
          <a:p>
            <a:r>
              <a:rPr lang="en-IN" dirty="0"/>
              <a:t>Used to access control to a resource that has multiple instances.</a:t>
            </a:r>
          </a:p>
        </p:txBody>
      </p:sp>
    </p:spTree>
    <p:extLst>
      <p:ext uri="{BB962C8B-B14F-4D97-AF65-F5344CB8AC3E}">
        <p14:creationId xmlns:p14="http://schemas.microsoft.com/office/powerpoint/2010/main" val="175060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CD31-B7C9-DE82-EB52-761B23DA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2815-1792-0718-30A7-906C7F60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B1E40-D479-E271-004E-71E6F4171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tabLst>
                <a:tab pos="1887538" algn="ctr"/>
                <a:tab pos="4572000" algn="ctr"/>
              </a:tabLst>
            </a:pPr>
            <a:r>
              <a:rPr lang="en-US" altLang="en-US" dirty="0">
                <a:solidFill>
                  <a:schemeClr val="tx2"/>
                </a:solidFill>
              </a:rPr>
              <a:t>Deadlock </a:t>
            </a:r>
            <a:r>
              <a:rPr lang="en-US" altLang="en-US" dirty="0"/>
              <a:t>– two or more processes are waiting indefinitely for an event that can be caused by only one of the waiting processes</a:t>
            </a:r>
          </a:p>
          <a:p>
            <a:pPr>
              <a:lnSpc>
                <a:spcPct val="90000"/>
              </a:lnSpc>
              <a:tabLst>
                <a:tab pos="1887538" algn="ctr"/>
                <a:tab pos="4572000" algn="ctr"/>
              </a:tabLst>
            </a:pPr>
            <a:r>
              <a:rPr lang="en-US" altLang="en-US" dirty="0"/>
              <a:t>Let </a:t>
            </a:r>
            <a:r>
              <a:rPr lang="en-US" altLang="en-US" sz="1600" dirty="0">
                <a:solidFill>
                  <a:srgbClr val="0000FF"/>
                </a:solidFill>
              </a:rPr>
              <a:t>S</a:t>
            </a:r>
            <a:r>
              <a:rPr lang="en-US" altLang="en-US" dirty="0"/>
              <a:t> and </a:t>
            </a:r>
            <a:r>
              <a:rPr lang="en-US" altLang="en-US" sz="1600" dirty="0">
                <a:solidFill>
                  <a:srgbClr val="0000FF"/>
                </a:solidFill>
              </a:rPr>
              <a:t>Q</a:t>
            </a:r>
            <a:r>
              <a:rPr lang="en-US" altLang="en-US" dirty="0"/>
              <a:t> be two semaphores initialized to 1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i="1" dirty="0"/>
              <a:t>		</a:t>
            </a:r>
            <a:r>
              <a:rPr lang="en-US" altLang="en-US" i="1" dirty="0">
                <a:solidFill>
                  <a:srgbClr val="0000FF"/>
                </a:solidFill>
              </a:rPr>
              <a:t>P</a:t>
            </a:r>
            <a:r>
              <a:rPr lang="en-US" altLang="en-US" baseline="-25000" dirty="0">
                <a:solidFill>
                  <a:srgbClr val="0000FF"/>
                </a:solidFill>
              </a:rPr>
              <a:t>0</a:t>
            </a:r>
            <a:r>
              <a:rPr lang="en-US" altLang="en-US" dirty="0">
                <a:solidFill>
                  <a:srgbClr val="0000FF"/>
                </a:solidFill>
              </a:rPr>
              <a:t>		</a:t>
            </a:r>
            <a:r>
              <a:rPr lang="en-US" altLang="en-US" i="1" dirty="0">
                <a:solidFill>
                  <a:srgbClr val="0000FF"/>
                </a:solidFill>
              </a:rPr>
              <a:t>P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dirty="0">
                <a:solidFill>
                  <a:srgbClr val="0000FF"/>
                </a:solidFill>
              </a:rPr>
              <a:t>		    </a:t>
            </a:r>
            <a:r>
              <a:rPr lang="en-US" altLang="en-US" sz="1600" dirty="0">
                <a:solidFill>
                  <a:srgbClr val="0000FF"/>
                </a:solidFill>
              </a:rPr>
              <a:t>wait (S); 	                                     wait (Q);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      wait (Q); 	                                     wait (S);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. 		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. 		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. 		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        signal  (S); 	                                       signal (Q);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1887538" algn="ctr"/>
                <a:tab pos="4572000" algn="ctr"/>
              </a:tabLst>
            </a:pPr>
            <a:r>
              <a:rPr lang="en-US" altLang="en-US" sz="1600" dirty="0">
                <a:solidFill>
                  <a:srgbClr val="0000FF"/>
                </a:solidFill>
              </a:rPr>
              <a:t>		        signal (Q); 	                                       signal (S);</a:t>
            </a:r>
          </a:p>
          <a:p>
            <a:pPr>
              <a:lnSpc>
                <a:spcPct val="90000"/>
              </a:lnSpc>
              <a:tabLst>
                <a:tab pos="1887538" algn="ctr"/>
                <a:tab pos="4572000" algn="ctr"/>
              </a:tabLst>
            </a:pPr>
            <a:r>
              <a:rPr lang="en-US" altLang="en-US" dirty="0">
                <a:solidFill>
                  <a:schemeClr val="tx2"/>
                </a:solidFill>
                <a:sym typeface="MT Extra" panose="05050102010205020202" pitchFamily="18" charset="2"/>
              </a:rPr>
              <a:t>Starvation</a:t>
            </a:r>
            <a:r>
              <a:rPr lang="en-US" altLang="en-US" dirty="0">
                <a:sym typeface="MT Extra" panose="05050102010205020202" pitchFamily="18" charset="2"/>
              </a:rPr>
              <a:t> </a:t>
            </a:r>
            <a:r>
              <a:rPr lang="en-US" altLang="en-US" dirty="0"/>
              <a:t> – indefinite blocking.  A process may never be removed from the semaphore queue in which it is suspended.</a:t>
            </a:r>
          </a:p>
        </p:txBody>
      </p:sp>
    </p:spTree>
    <p:extLst>
      <p:ext uri="{BB962C8B-B14F-4D97-AF65-F5344CB8AC3E}">
        <p14:creationId xmlns:p14="http://schemas.microsoft.com/office/powerpoint/2010/main" val="227970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27FA-460E-7608-77CE-235930C8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8E8A-5BF8-0174-F3ED-C72D2E3B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Classical Problems of Synchronization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674CF-6AB1-A6A4-B672-2545158EE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Bounded-Buffer (Producer Consumer) Problem</a:t>
            </a:r>
          </a:p>
          <a:p>
            <a:r>
              <a:rPr lang="en-US" altLang="en-US" dirty="0"/>
              <a:t>Readers and Writers Problem</a:t>
            </a:r>
          </a:p>
          <a:p>
            <a:r>
              <a:rPr lang="en-US" altLang="en-US" dirty="0"/>
              <a:t>Dining-Philosophers Problem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46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A01C-BA62-B044-48DE-C2F028A04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Bounded-Buffer (Producer Consumer) Problem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73A0E7-4A91-343E-AAF2-D6B9D2ABA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Producer</a:t>
            </a:r>
            <a:r>
              <a:rPr lang="en-US" dirty="0"/>
              <a:t> process produces data (items).</a:t>
            </a:r>
          </a:p>
          <a:p>
            <a:r>
              <a:rPr lang="en-US" dirty="0"/>
              <a:t>A </a:t>
            </a:r>
            <a:r>
              <a:rPr lang="en-US" b="1" dirty="0"/>
              <a:t>Consumer</a:t>
            </a:r>
            <a:r>
              <a:rPr lang="en-US" dirty="0"/>
              <a:t> process consumes that data.</a:t>
            </a:r>
          </a:p>
          <a:p>
            <a:r>
              <a:rPr lang="en-US" dirty="0"/>
              <a:t>Both share a </a:t>
            </a:r>
            <a:r>
              <a:rPr lang="en-US" b="1" dirty="0"/>
              <a:t>buffer</a:t>
            </a:r>
            <a:r>
              <a:rPr lang="en-US" dirty="0"/>
              <a:t> of limited size.</a:t>
            </a:r>
          </a:p>
          <a:p>
            <a:r>
              <a:rPr lang="en-US" dirty="0"/>
              <a:t>The challenge is to ensure:</a:t>
            </a:r>
          </a:p>
          <a:p>
            <a:r>
              <a:rPr lang="en-US" dirty="0"/>
              <a:t>The </a:t>
            </a:r>
            <a:r>
              <a:rPr lang="en-US" b="1" dirty="0"/>
              <a:t>producer does not add data when the buffer is full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consumer does not remove data when the buffer is empty</a:t>
            </a:r>
            <a:r>
              <a:rPr lang="en-US" dirty="0"/>
              <a:t>.</a:t>
            </a:r>
          </a:p>
          <a:p>
            <a:r>
              <a:rPr lang="en-US" b="1" dirty="0"/>
              <a:t>Only one process accesses the buffer at a time</a:t>
            </a:r>
            <a:r>
              <a:rPr lang="en-US" dirty="0"/>
              <a:t> (mutual exclusion).</a:t>
            </a:r>
          </a:p>
          <a:p>
            <a:r>
              <a:rPr lang="en-US" dirty="0"/>
              <a:t>To solve this, we use </a:t>
            </a:r>
            <a:r>
              <a:rPr lang="en-US" b="1" dirty="0"/>
              <a:t>semaphores</a:t>
            </a:r>
            <a:r>
              <a:rPr lang="en-US" dirty="0"/>
              <a:t>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6123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43CB-E863-9629-C2EE-1180E6CE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B24FB-3841-05E6-1F8D-570B34AF00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FF0000"/>
                </a:solidFill>
              </a:rPr>
              <a:t>mutex</a:t>
            </a:r>
            <a:r>
              <a:rPr lang="en-US" altLang="en-US" dirty="0"/>
              <a:t> initialized to the value 1</a:t>
            </a:r>
          </a:p>
          <a:p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FF0000"/>
                </a:solidFill>
              </a:rPr>
              <a:t>full </a:t>
            </a:r>
            <a:r>
              <a:rPr lang="en-US" altLang="en-US" dirty="0"/>
              <a:t>initialized to the value 0</a:t>
            </a:r>
          </a:p>
          <a:p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FF0000"/>
                </a:solidFill>
              </a:rPr>
              <a:t>empty</a:t>
            </a:r>
            <a:r>
              <a:rPr lang="en-US" altLang="en-US" dirty="0"/>
              <a:t> initialized to the value N.</a:t>
            </a:r>
          </a:p>
          <a:p>
            <a:r>
              <a:rPr lang="en-US" altLang="en-US" dirty="0"/>
              <a:t>Need of three semaphores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02FFEC-A800-D4BA-4435-B609085BE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88154"/>
              </p:ext>
            </p:extLst>
          </p:nvPr>
        </p:nvGraphicFramePr>
        <p:xfrm>
          <a:off x="981075" y="4454525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828562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95197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8901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Semaphore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10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mutex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 critical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922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empty slots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01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Track filled slots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26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361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5622-D070-44E9-3848-903D917B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FBF4-EC1E-2EAF-AF57-CBDB736B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A9122F-6E8A-0574-6F85-D00FAD4CBC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3867150" cy="4351338"/>
          </a:xfrm>
        </p:spPr>
        <p:txBody>
          <a:bodyPr>
            <a:normAutofit lnSpcReduction="10000"/>
          </a:bodyPr>
          <a:lstStyle/>
          <a:p>
            <a:r>
              <a:rPr lang="en-US" altLang="en-US" sz="1600" dirty="0"/>
              <a:t>The structure of the producer process</a:t>
            </a:r>
          </a:p>
          <a:p>
            <a:pPr>
              <a:buFont typeface="Monotype Sorts" pitchFamily="2" charset="2"/>
              <a:buNone/>
            </a:pPr>
            <a:endParaRPr lang="en-US" altLang="en-US" sz="1600" dirty="0"/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while (true)  {</a:t>
            </a:r>
            <a:br>
              <a:rPr lang="en-US" altLang="en-US" sz="1600" dirty="0">
                <a:solidFill>
                  <a:srgbClr val="0000FF"/>
                </a:solidFill>
              </a:rPr>
            </a:b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 //   produce an item</a:t>
            </a:r>
          </a:p>
          <a:p>
            <a:pPr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wait (empty);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wait (mutex);</a:t>
            </a:r>
          </a:p>
          <a:p>
            <a:pPr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 //  add the item to the  buffer</a:t>
            </a:r>
          </a:p>
          <a:p>
            <a:pPr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signal (mutex);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signal (full);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B85D1B0-5CD4-9FA0-98EE-4A8804B12A35}"/>
              </a:ext>
            </a:extLst>
          </p:cNvPr>
          <p:cNvSpPr txBox="1">
            <a:spLocks noChangeArrowheads="1"/>
          </p:cNvSpPr>
          <p:nvPr/>
        </p:nvSpPr>
        <p:spPr>
          <a:xfrm>
            <a:off x="6353174" y="1825625"/>
            <a:ext cx="6018213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/>
              <a:t>The structure of the consumer process</a:t>
            </a:r>
          </a:p>
          <a:p>
            <a:pPr>
              <a:buFont typeface="Monotype Sorts" pitchFamily="2" charset="2"/>
              <a:buNone/>
            </a:pPr>
            <a:endParaRPr lang="en-US" altLang="en-US" sz="1600"/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while (true)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wait (full);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wait (mutex);</a:t>
            </a:r>
          </a:p>
          <a:p>
            <a:pPr>
              <a:buFont typeface="Monotype Sorts" pitchFamily="2" charset="2"/>
              <a:buNone/>
            </a:pPr>
            <a:endParaRPr lang="en-US" altLang="en-US" sz="160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         //  remove an item from  buffer</a:t>
            </a:r>
          </a:p>
          <a:p>
            <a:pPr>
              <a:buFont typeface="Monotype Sorts" pitchFamily="2" charset="2"/>
              <a:buNone/>
            </a:pPr>
            <a:endParaRPr lang="en-US" altLang="en-US" sz="160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signal (mutex);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signal (empty);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                 //  consume the removed item</a:t>
            </a:r>
          </a:p>
          <a:p>
            <a:pPr>
              <a:buFont typeface="Monotype Sorts" pitchFamily="2" charset="2"/>
              <a:buNone/>
            </a:pPr>
            <a:endParaRPr lang="en-US" altLang="en-US" sz="160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   }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6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DD86-ED0C-E5BB-75BC-C716EFC0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C2CE-FA68-5D1E-8420-2A746F39D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 waits when </a:t>
            </a:r>
            <a:r>
              <a:rPr lang="en-US" b="1" dirty="0">
                <a:solidFill>
                  <a:srgbClr val="EE0000"/>
                </a:solidFill>
              </a:rPr>
              <a:t>buffer full</a:t>
            </a:r>
            <a:br>
              <a:rPr lang="en-US" dirty="0"/>
            </a:br>
            <a:r>
              <a:rPr lang="en-US" dirty="0"/>
              <a:t>Consumer waits when </a:t>
            </a:r>
            <a:r>
              <a:rPr lang="en-US" b="1" dirty="0">
                <a:solidFill>
                  <a:srgbClr val="EE0000"/>
                </a:solidFill>
              </a:rPr>
              <a:t>buffer empty</a:t>
            </a:r>
            <a:endParaRPr lang="en-US" dirty="0">
              <a:solidFill>
                <a:srgbClr val="EE0000"/>
              </a:solidFill>
            </a:endParaRPr>
          </a:p>
          <a:p>
            <a:r>
              <a:rPr lang="en-US" dirty="0"/>
              <a:t>Semaphores guarantee:</a:t>
            </a:r>
          </a:p>
          <a:p>
            <a:pPr lvl="1"/>
            <a:r>
              <a:rPr lang="en-US" b="1" dirty="0"/>
              <a:t>Mutual exclusion</a:t>
            </a:r>
            <a:endParaRPr lang="en-US" dirty="0"/>
          </a:p>
          <a:p>
            <a:pPr lvl="1"/>
            <a:r>
              <a:rPr lang="en-US" b="1" dirty="0"/>
              <a:t>Synchronization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010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2C59-7BE8-2CB3-CA2C-E6F2DD15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5E2D05F-595D-73E0-DA05-2DB689BC6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Readers-Writers Problem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F617F75-08B6-9C77-6571-51484AD22A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dirty="0"/>
              <a:t>Readers – only read the data set; they do </a:t>
            </a:r>
            <a:r>
              <a:rPr lang="en-US" altLang="en-US" dirty="0">
                <a:solidFill>
                  <a:srgbClr val="0033CC"/>
                </a:solidFill>
              </a:rPr>
              <a:t>not</a:t>
            </a:r>
            <a:r>
              <a:rPr lang="en-US" altLang="en-US" dirty="0"/>
              <a:t> perform any updates</a:t>
            </a:r>
          </a:p>
          <a:p>
            <a:pPr lvl="1"/>
            <a:r>
              <a:rPr lang="en-US" altLang="en-US" dirty="0"/>
              <a:t>Writers   – can both read and write.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Problem – allow multiple readers to read at the same time.  Only one single writer can access the shared data at the same time.</a:t>
            </a:r>
          </a:p>
          <a:p>
            <a:r>
              <a:rPr lang="en-US" dirty="0"/>
              <a:t>The Readers–Writers problem allows multiple readers to access shared data simultaneously, but writers require exclusive access to prevent inconsistency.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FF0000"/>
                </a:solidFill>
              </a:rPr>
              <a:t>mutex</a:t>
            </a:r>
            <a:r>
              <a:rPr lang="en-US" altLang="en-US" dirty="0"/>
              <a:t> initialized to 1.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dirty="0" err="1">
                <a:solidFill>
                  <a:srgbClr val="FF0000"/>
                </a:solidFill>
              </a:rPr>
              <a:t>wrt</a:t>
            </a:r>
            <a:r>
              <a:rPr lang="en-US" altLang="en-US" dirty="0"/>
              <a:t> initialized to 1.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dirty="0" err="1">
                <a:solidFill>
                  <a:srgbClr val="FF0000"/>
                </a:solidFill>
              </a:rPr>
              <a:t>readcount</a:t>
            </a:r>
            <a:r>
              <a:rPr lang="en-US" altLang="en-US" dirty="0"/>
              <a:t> initialized to 0.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855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11EE-CAE8-8397-CCE9-B0CD9B1F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B9B2B-D4B1-BB3C-8975-5875C0C9F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while (true) {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wait (</a:t>
            </a:r>
            <a:r>
              <a:rPr lang="en-US" altLang="en-US" dirty="0" err="1">
                <a:solidFill>
                  <a:srgbClr val="0000FF"/>
                </a:solidFill>
              </a:rPr>
              <a:t>wrt</a:t>
            </a:r>
            <a:r>
              <a:rPr lang="en-US" altLang="en-US" dirty="0">
                <a:solidFill>
                  <a:srgbClr val="0000FF"/>
                </a:solidFill>
              </a:rPr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     //    writing is performed</a:t>
            </a:r>
          </a:p>
          <a:p>
            <a:pPr>
              <a:buFont typeface="Monotype Sorts" pitchFamily="2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signal (</a:t>
            </a:r>
            <a:r>
              <a:rPr lang="en-US" altLang="en-US" dirty="0" err="1">
                <a:solidFill>
                  <a:srgbClr val="0000FF"/>
                </a:solidFill>
              </a:rPr>
              <a:t>wrt</a:t>
            </a:r>
            <a:r>
              <a:rPr lang="en-US" altLang="en-US" dirty="0">
                <a:solidFill>
                  <a:srgbClr val="0000FF"/>
                </a:solidFill>
              </a:rPr>
              <a:t>) ;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}</a:t>
            </a:r>
          </a:p>
          <a:p>
            <a:pPr>
              <a:buFont typeface="Monotype Sorts" pitchFamily="2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F1AE3B-8E39-7533-15D0-153F383E61D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1690688"/>
            <a:ext cx="5257800" cy="50657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600" dirty="0"/>
              <a:t>The structure of a reader process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while (true) {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wait (mutex)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</a:t>
            </a:r>
            <a:r>
              <a:rPr lang="en-US" altLang="en-US" sz="1600" dirty="0" err="1">
                <a:solidFill>
                  <a:srgbClr val="0000FF"/>
                </a:solidFill>
              </a:rPr>
              <a:t>readcount</a:t>
            </a:r>
            <a:r>
              <a:rPr lang="en-US" altLang="en-US" sz="1600" dirty="0">
                <a:solidFill>
                  <a:srgbClr val="0000FF"/>
                </a:solidFill>
              </a:rPr>
              <a:t> ++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if (</a:t>
            </a:r>
            <a:r>
              <a:rPr lang="en-US" altLang="en-US" sz="1600" dirty="0" err="1">
                <a:solidFill>
                  <a:srgbClr val="0000FF"/>
                </a:solidFill>
              </a:rPr>
              <a:t>readercount</a:t>
            </a:r>
            <a:r>
              <a:rPr lang="en-US" altLang="en-US" sz="1600" dirty="0">
                <a:solidFill>
                  <a:srgbClr val="0000FF"/>
                </a:solidFill>
              </a:rPr>
              <a:t> == 1)  wait (</a:t>
            </a:r>
            <a:r>
              <a:rPr lang="en-US" altLang="en-US" sz="1600" dirty="0" err="1">
                <a:solidFill>
                  <a:srgbClr val="0000FF"/>
                </a:solidFill>
              </a:rPr>
              <a:t>wrt</a:t>
            </a:r>
            <a:r>
              <a:rPr lang="en-US" altLang="en-US" sz="1600" dirty="0">
                <a:solidFill>
                  <a:srgbClr val="0000FF"/>
                </a:solidFill>
              </a:rPr>
              <a:t>)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signal (mutex)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       // reading is performed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wait (mutex)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</a:t>
            </a:r>
            <a:r>
              <a:rPr lang="en-US" altLang="en-US" sz="1600" dirty="0" err="1">
                <a:solidFill>
                  <a:srgbClr val="0000FF"/>
                </a:solidFill>
              </a:rPr>
              <a:t>readcount</a:t>
            </a:r>
            <a:r>
              <a:rPr lang="en-US" altLang="en-US" sz="1600" dirty="0">
                <a:solidFill>
                  <a:srgbClr val="0000FF"/>
                </a:solidFill>
              </a:rPr>
              <a:t>  - -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if (</a:t>
            </a:r>
            <a:r>
              <a:rPr lang="en-US" altLang="en-US" sz="1600" dirty="0" err="1">
                <a:solidFill>
                  <a:srgbClr val="0000FF"/>
                </a:solidFill>
              </a:rPr>
              <a:t>readcount</a:t>
            </a:r>
            <a:r>
              <a:rPr lang="en-US" altLang="en-US" sz="1600" dirty="0">
                <a:solidFill>
                  <a:srgbClr val="0000FF"/>
                </a:solidFill>
              </a:rPr>
              <a:t>  == 0)  signal (</a:t>
            </a:r>
            <a:r>
              <a:rPr lang="en-US" altLang="en-US" sz="1600" dirty="0" err="1">
                <a:solidFill>
                  <a:srgbClr val="0000FF"/>
                </a:solidFill>
              </a:rPr>
              <a:t>wrt</a:t>
            </a:r>
            <a:r>
              <a:rPr lang="en-US" altLang="en-US" sz="1600" dirty="0">
                <a:solidFill>
                  <a:srgbClr val="0000FF"/>
                </a:solidFill>
              </a:rPr>
              <a:t>)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          signal (mutex) 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      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762820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1C38-1186-222A-D739-E3D7B0C6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9D6A1-17D8-25F9-511F-2A477EB15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7225"/>
            <a:ext cx="10401300" cy="1709738"/>
          </a:xfrm>
        </p:spPr>
        <p:txBody>
          <a:bodyPr/>
          <a:lstStyle/>
          <a:p>
            <a:r>
              <a:rPr lang="en-US" dirty="0"/>
              <a:t>The Dining Philosophers problem shows how improper resource allocation can cause </a:t>
            </a:r>
            <a:r>
              <a:rPr lang="en-US" b="1" dirty="0"/>
              <a:t>deadlock when multiple processes compete for limited resources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09D194-7AB6-6404-A289-D827EA63C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Dining-Philosophers Problem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6ABF1CC-0027-399B-50CF-741B0A85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1" t="522" r="11351" b="522"/>
          <a:stretch>
            <a:fillRect/>
          </a:stretch>
        </p:blipFill>
        <p:spPr bwMode="auto">
          <a:xfrm>
            <a:off x="3611563" y="1690688"/>
            <a:ext cx="2693987" cy="25860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2154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A7E2-135E-C733-FB03-F411C55A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0F8E-2909-95C0-B77E-EBCC7758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4EFA9-7700-ADC0-8378-2F1867A8E9AE}"/>
              </a:ext>
            </a:extLst>
          </p:cNvPr>
          <p:cNvSpPr txBox="1">
            <a:spLocks noChangeArrowheads="1"/>
          </p:cNvSpPr>
          <p:nvPr/>
        </p:nvSpPr>
        <p:spPr>
          <a:xfrm>
            <a:off x="827088" y="1809750"/>
            <a:ext cx="7107237" cy="4254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indent="-381000"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i</a:t>
            </a:r>
            <a:r>
              <a:rPr lang="en-US" altLang="en-US" dirty="0"/>
              <a:t>:</a:t>
            </a:r>
          </a:p>
          <a:p>
            <a:pPr marL="381000" indent="-381000">
              <a:buFont typeface="Monotype Sorts" pitchFamily="2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altLang="en-US" dirty="0"/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While (true)  { 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wait ( chopstick[</a:t>
            </a:r>
            <a:r>
              <a:rPr lang="en-US" altLang="en-US" dirty="0" err="1">
                <a:solidFill>
                  <a:srgbClr val="0000FF"/>
                </a:solidFill>
              </a:rPr>
              <a:t>i</a:t>
            </a:r>
            <a:r>
              <a:rPr lang="en-US" altLang="en-US" dirty="0">
                <a:solidFill>
                  <a:srgbClr val="0000FF"/>
                </a:solidFill>
              </a:rPr>
              <a:t>] );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     wait ( </a:t>
            </a:r>
            <a:r>
              <a:rPr lang="en-US" altLang="en-US" dirty="0" err="1">
                <a:solidFill>
                  <a:srgbClr val="0000FF"/>
                </a:solidFill>
              </a:rPr>
              <a:t>chopStick</a:t>
            </a:r>
            <a:r>
              <a:rPr lang="en-US" altLang="en-US" dirty="0">
                <a:solidFill>
                  <a:srgbClr val="0000FF"/>
                </a:solidFill>
              </a:rPr>
              <a:t>[ (</a:t>
            </a:r>
            <a:r>
              <a:rPr lang="en-US" altLang="en-US" dirty="0" err="1">
                <a:solidFill>
                  <a:srgbClr val="0000FF"/>
                </a:solidFill>
              </a:rPr>
              <a:t>i</a:t>
            </a:r>
            <a:r>
              <a:rPr lang="en-US" altLang="en-US" dirty="0">
                <a:solidFill>
                  <a:srgbClr val="0000FF"/>
                </a:solidFill>
              </a:rPr>
              <a:t> + 1) % 5] );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             //  eat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     signal ( chopstick[</a:t>
            </a:r>
            <a:r>
              <a:rPr lang="en-US" altLang="en-US" dirty="0" err="1">
                <a:solidFill>
                  <a:srgbClr val="0000FF"/>
                </a:solidFill>
              </a:rPr>
              <a:t>i</a:t>
            </a:r>
            <a:r>
              <a:rPr lang="en-US" altLang="en-US" dirty="0">
                <a:solidFill>
                  <a:srgbClr val="0000FF"/>
                </a:solidFill>
              </a:rPr>
              <a:t>] );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     signal (chopstick[ (</a:t>
            </a:r>
            <a:r>
              <a:rPr lang="en-US" altLang="en-US" dirty="0" err="1">
                <a:solidFill>
                  <a:srgbClr val="0000FF"/>
                </a:solidFill>
              </a:rPr>
              <a:t>i</a:t>
            </a:r>
            <a:r>
              <a:rPr lang="en-US" altLang="en-US" dirty="0">
                <a:solidFill>
                  <a:srgbClr val="0000FF"/>
                </a:solidFill>
              </a:rPr>
              <a:t> + 1) % 5] );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	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                 //  think</a:t>
            </a: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 marL="1200150" lvl="2" indent="-342900">
              <a:buFont typeface="Webdings" panose="05030102010509060703" pitchFamily="18" charset="2"/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altLang="en-US" dirty="0">
                <a:solidFill>
                  <a:srgbClr val="0000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966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5E2F-4D79-CABA-2370-E56F398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with Semaphores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ABE88-720D-AB0B-82E6-366A31BE6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Incorrect use of semaphore operations:</a:t>
            </a:r>
          </a:p>
          <a:p>
            <a:r>
              <a:rPr lang="en-IN" dirty="0"/>
              <a:t>signal (mutex) …. wait (mutex) </a:t>
            </a:r>
          </a:p>
          <a:p>
            <a:r>
              <a:rPr lang="en-IN" dirty="0"/>
              <a:t>wait (mutex) … wait (mutex)</a:t>
            </a:r>
          </a:p>
          <a:p>
            <a:r>
              <a:rPr lang="en-IN" dirty="0"/>
              <a:t> Omitting of wait (mutex) or signal (mutex) (or both</a:t>
            </a:r>
          </a:p>
        </p:txBody>
      </p:sp>
    </p:spTree>
    <p:extLst>
      <p:ext uri="{BB962C8B-B14F-4D97-AF65-F5344CB8AC3E}">
        <p14:creationId xmlns:p14="http://schemas.microsoft.com/office/powerpoint/2010/main" val="2986618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5A4D-0B42-94A1-02E3-EAFF24E8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7BBA-27FC-923F-D861-D594ABBF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Language (OO) Solutions Monitors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F75E-BC9B-0D53-4F99-117622D5C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high-level abstraction that provides a convenient and effective mechanism for process synchronization</a:t>
            </a:r>
          </a:p>
          <a:p>
            <a:r>
              <a:rPr lang="en-US" dirty="0"/>
              <a:t>Abstract data type, internal variables only accessible by code within the procedure</a:t>
            </a:r>
          </a:p>
          <a:p>
            <a:r>
              <a:rPr lang="en-US" dirty="0"/>
              <a:t>Only one process may be active within the monitor at a time</a:t>
            </a:r>
          </a:p>
          <a:p>
            <a:r>
              <a:rPr lang="en-US" dirty="0"/>
              <a:t>But not powerful enough to model some synchronization schemes </a:t>
            </a:r>
          </a:p>
          <a:p>
            <a:r>
              <a:rPr lang="en-US" dirty="0"/>
              <a:t>monitor monitor-name { </a:t>
            </a:r>
          </a:p>
          <a:p>
            <a:pPr marL="0" indent="0">
              <a:buNone/>
            </a:pPr>
            <a:r>
              <a:rPr lang="en-US" dirty="0"/>
              <a:t>// shared variable declarations </a:t>
            </a:r>
          </a:p>
          <a:p>
            <a:pPr marL="0" indent="0">
              <a:buNone/>
            </a:pPr>
            <a:r>
              <a:rPr lang="en-US" dirty="0"/>
              <a:t>procedure P1 (…) { …. } </a:t>
            </a:r>
          </a:p>
          <a:p>
            <a:pPr marL="0" indent="0">
              <a:buNone/>
            </a:pPr>
            <a:r>
              <a:rPr lang="en-US" dirty="0"/>
              <a:t>procedure </a:t>
            </a:r>
            <a:r>
              <a:rPr lang="en-US" dirty="0" err="1"/>
              <a:t>Pn</a:t>
            </a:r>
            <a:r>
              <a:rPr lang="en-US" dirty="0"/>
              <a:t> (…) {……} </a:t>
            </a:r>
          </a:p>
          <a:p>
            <a:pPr marL="0" indent="0">
              <a:buNone/>
            </a:pPr>
            <a:r>
              <a:rPr lang="en-US" dirty="0"/>
              <a:t>Initialization code (…) { … } </a:t>
            </a:r>
          </a:p>
          <a:p>
            <a:pPr marL="0" indent="0">
              <a:buNone/>
            </a:pPr>
            <a:r>
              <a:rPr lang="en-US" dirty="0"/>
              <a:t>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920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CFF4-2691-9FF5-CEA0-AD5AFC62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33DA-37A6-A9EE-6AEA-6DDB8F6D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of a Monitor</a:t>
            </a:r>
            <a:endParaRPr lang="en-IN" dirty="0"/>
          </a:p>
        </p:txBody>
      </p:sp>
      <p:pic>
        <p:nvPicPr>
          <p:cNvPr id="6" name="Picture 5" descr="Operating Systems: Process Synchronization">
            <a:extLst>
              <a:ext uri="{FF2B5EF4-FFF2-40B4-BE49-F238E27FC236}">
                <a16:creationId xmlns:a16="http://schemas.microsoft.com/office/drawing/2014/main" id="{AA717E05-B2A0-D7D3-5C84-CB1E112C2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2161031"/>
            <a:ext cx="5838825" cy="388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83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07B4-B949-1A9E-8C9A-8F42367E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0330-8CC3-7F15-7B4D-4F2AF740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5FC7-A1A9-9387-8E79-432DA7156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 x, y;</a:t>
            </a:r>
          </a:p>
          <a:p>
            <a:r>
              <a:rPr lang="en-US" dirty="0"/>
              <a:t>Two operations on a condition variable:</a:t>
            </a:r>
          </a:p>
          <a:p>
            <a:r>
              <a:rPr lang="en-US" dirty="0" err="1"/>
              <a:t>x.wait</a:t>
            </a:r>
            <a:r>
              <a:rPr lang="en-US" dirty="0"/>
              <a:t> () – a process that invokes the operation is suspended until </a:t>
            </a:r>
            <a:r>
              <a:rPr lang="en-US" dirty="0" err="1"/>
              <a:t>x.signal</a:t>
            </a:r>
            <a:r>
              <a:rPr lang="en-US" dirty="0"/>
              <a:t> () </a:t>
            </a:r>
          </a:p>
          <a:p>
            <a:r>
              <a:rPr lang="en-US" dirty="0" err="1"/>
              <a:t>x.signal</a:t>
            </a:r>
            <a:r>
              <a:rPr lang="en-US" dirty="0"/>
              <a:t> () – resumes one of processes (if any) that invoked </a:t>
            </a:r>
            <a:r>
              <a:rPr lang="en-US" dirty="0" err="1"/>
              <a:t>x.wait</a:t>
            </a:r>
            <a:r>
              <a:rPr lang="en-US" dirty="0"/>
              <a:t> ()</a:t>
            </a:r>
          </a:p>
          <a:p>
            <a:r>
              <a:rPr lang="en-US" dirty="0"/>
              <a:t>If no </a:t>
            </a:r>
            <a:r>
              <a:rPr lang="en-US" dirty="0" err="1"/>
              <a:t>x.wait</a:t>
            </a:r>
            <a:r>
              <a:rPr lang="en-US" dirty="0"/>
              <a:t> () on the variable, then it has no effect on the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94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91D4-D4B4-0E62-886D-05AD0088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848A-80E2-CD52-00B5-7C3F96A4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 with Condition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33C6-E691-F206-9246-709AD8203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Lecture Notes by Michael K: MONITORS">
            <a:extLst>
              <a:ext uri="{FF2B5EF4-FFF2-40B4-BE49-F238E27FC236}">
                <a16:creationId xmlns:a16="http://schemas.microsoft.com/office/drawing/2014/main" id="{EC403041-29DC-45E9-293A-57AB736D8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1939131"/>
            <a:ext cx="59721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8547-5D5D-9CCF-218D-13F0BC63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D081-286E-958A-5BD3-0D94BDB4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BA7F-FF63-0D8B-B07C-6A46380D8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process P invokes </a:t>
            </a:r>
            <a:r>
              <a:rPr lang="en-US" dirty="0" err="1"/>
              <a:t>x.signal</a:t>
            </a:r>
            <a:r>
              <a:rPr lang="en-US" dirty="0"/>
              <a:t> (), with Q in </a:t>
            </a:r>
            <a:r>
              <a:rPr lang="en-US" dirty="0" err="1"/>
              <a:t>x.wait</a:t>
            </a:r>
            <a:r>
              <a:rPr lang="en-US" dirty="0"/>
              <a:t> () state, what should happen next? </a:t>
            </a:r>
          </a:p>
          <a:p>
            <a:r>
              <a:rPr lang="en-US" dirty="0"/>
              <a:t>If Q is resumed, then P must wait </a:t>
            </a:r>
          </a:p>
          <a:p>
            <a:r>
              <a:rPr lang="en-US" dirty="0"/>
              <a:t>Options include </a:t>
            </a:r>
          </a:p>
          <a:p>
            <a:r>
              <a:rPr lang="en-US" dirty="0"/>
              <a:t>Signal and wait – P waits until Q leaves monitor or waits for another condition</a:t>
            </a:r>
          </a:p>
          <a:p>
            <a:r>
              <a:rPr lang="en-US" dirty="0"/>
              <a:t>Signal and continue – Q waits until P leaves the monitor or waits for another condition </a:t>
            </a:r>
          </a:p>
          <a:p>
            <a:r>
              <a:rPr lang="en-US" dirty="0"/>
              <a:t>Both have pros and cons – language implementer can decide </a:t>
            </a:r>
          </a:p>
          <a:p>
            <a:r>
              <a:rPr lang="en-US" dirty="0"/>
              <a:t>Monitors implemented in Concurrent Pascal compromise</a:t>
            </a:r>
          </a:p>
          <a:p>
            <a:r>
              <a:rPr lang="en-US" dirty="0"/>
              <a:t>P executing signal immediately leaves the monitor, Q is resume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90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ED31-1A38-811A-1106-052C7F51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FFF8-D766-28C9-DC42-ADC154A3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C2E3-DDA0-D233-FCCE-4F5C5DED1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thread is the smallest unit of execution inside a process.</a:t>
            </a:r>
          </a:p>
          <a:p>
            <a:r>
              <a:rPr lang="en-US" dirty="0"/>
              <a:t>A process = a program in execution </a:t>
            </a:r>
          </a:p>
          <a:p>
            <a:r>
              <a:rPr lang="en-US" dirty="0"/>
              <a:t>A thread = a part of that program that runs independently</a:t>
            </a:r>
          </a:p>
          <a:p>
            <a:r>
              <a:rPr lang="en-US" dirty="0"/>
              <a:t>Threads allow a program to do multiple tasks at the same time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069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2BB0-25E6-C96C-123F-2626207B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FB40-7273-9C46-F7C6-750206F6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Characteristics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9B86-070E-DFD7-45C3-DBDBE5D2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Threads share resources</a:t>
            </a:r>
          </a:p>
          <a:p>
            <a:r>
              <a:rPr lang="en-US" dirty="0"/>
              <a:t>Same memory (code, data, files) </a:t>
            </a:r>
          </a:p>
          <a:p>
            <a:pPr marL="0" indent="0">
              <a:buNone/>
            </a:pPr>
            <a:r>
              <a:rPr lang="en-US" b="1" dirty="0"/>
              <a:t>2. Each thread has its own:</a:t>
            </a:r>
          </a:p>
          <a:p>
            <a:r>
              <a:rPr lang="en-US" dirty="0"/>
              <a:t>Program counter (what to execute next) </a:t>
            </a:r>
          </a:p>
          <a:p>
            <a:r>
              <a:rPr lang="en-US" dirty="0"/>
              <a:t>Registers </a:t>
            </a:r>
          </a:p>
          <a:p>
            <a:r>
              <a:rPr lang="en-US" dirty="0"/>
              <a:t>Stack (function calls)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0652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B21F-2627-72F6-1CF5-D7C6E1E4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CA0A-E6A0-206C-B959-37DFA1D20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create concurrency, not always true parallelism</a:t>
            </a:r>
          </a:p>
          <a:p>
            <a:r>
              <a:rPr lang="en-US" dirty="0"/>
              <a:t>On single CPU: </a:t>
            </a:r>
          </a:p>
          <a:p>
            <a:pPr lvl="1"/>
            <a:r>
              <a:rPr lang="en-US" dirty="0"/>
              <a:t>Threads take turns (fast switching) </a:t>
            </a:r>
          </a:p>
          <a:p>
            <a:r>
              <a:rPr lang="en-US" dirty="0"/>
              <a:t>On multi-core CPU: </a:t>
            </a:r>
          </a:p>
          <a:p>
            <a:pPr lvl="1"/>
            <a:r>
              <a:rPr lang="en-US" dirty="0"/>
              <a:t>Threads can run truly in parallel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770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6A66-2B43-78B0-7996-B85B1FD4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Threads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7217E-1567-4C61-908D-C8DF13C9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User-level threads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Managed by user program </a:t>
            </a:r>
          </a:p>
          <a:p>
            <a:r>
              <a:rPr lang="en-US" b="1" dirty="0"/>
              <a:t>Kernel-level threads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Managed by operating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340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53A2-B762-B2AE-B1C7-A6EB1842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1F10-D05B-B761-19C6-04110E8ED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4805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pthread.h</a:t>
            </a:r>
            <a:r>
              <a:rPr lang="en-IN" dirty="0"/>
              <a:t>&gt;</a:t>
            </a:r>
          </a:p>
          <a:p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[] = {1, 2, 3, 4, 5, 6, 7, 8, 9, 10};</a:t>
            </a:r>
          </a:p>
          <a:p>
            <a:r>
              <a:rPr lang="en-IN" dirty="0"/>
              <a:t>int </a:t>
            </a:r>
            <a:r>
              <a:rPr lang="en-IN" dirty="0" err="1"/>
              <a:t>even_sum</a:t>
            </a:r>
            <a:r>
              <a:rPr lang="en-IN" dirty="0"/>
              <a:t> = 0, </a:t>
            </a:r>
            <a:r>
              <a:rPr lang="en-IN" dirty="0" err="1"/>
              <a:t>odd_sum</a:t>
            </a:r>
            <a:r>
              <a:rPr lang="en-IN" dirty="0"/>
              <a:t> = 0;</a:t>
            </a:r>
          </a:p>
          <a:p>
            <a:r>
              <a:rPr lang="en-IN" dirty="0"/>
              <a:t>// Thread to calculate even sum</a:t>
            </a:r>
          </a:p>
          <a:p>
            <a:r>
              <a:rPr lang="en-IN" dirty="0"/>
              <a:t>void* </a:t>
            </a:r>
            <a:r>
              <a:rPr lang="en-IN" dirty="0" err="1"/>
              <a:t>evenSum</a:t>
            </a:r>
            <a:r>
              <a:rPr lang="en-IN" dirty="0"/>
              <a:t>(void* </a:t>
            </a:r>
            <a:r>
              <a:rPr lang="en-IN" dirty="0" err="1"/>
              <a:t>arg</a:t>
            </a:r>
            <a:r>
              <a:rPr lang="en-IN" dirty="0"/>
              <a:t>) {</a:t>
            </a:r>
          </a:p>
          <a:p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10;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if(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% 2 == 0) {</a:t>
            </a:r>
          </a:p>
          <a:p>
            <a:r>
              <a:rPr lang="en-IN" dirty="0"/>
              <a:t>            </a:t>
            </a:r>
            <a:r>
              <a:rPr lang="en-IN" dirty="0" err="1"/>
              <a:t>even_sum</a:t>
            </a:r>
            <a:r>
              <a:rPr lang="en-IN" dirty="0"/>
              <a:t> +=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("Even sum = %d\n", </a:t>
            </a:r>
            <a:r>
              <a:rPr lang="en-IN" dirty="0" err="1"/>
              <a:t>even_sum</a:t>
            </a:r>
            <a:r>
              <a:rPr lang="en-IN" dirty="0"/>
              <a:t>);</a:t>
            </a:r>
          </a:p>
          <a:p>
            <a:r>
              <a:rPr lang="en-IN" dirty="0"/>
              <a:t>    return NULL;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8382B-B956-B031-9BB5-FDCCDF6B7B39}"/>
              </a:ext>
            </a:extLst>
          </p:cNvPr>
          <p:cNvSpPr txBox="1"/>
          <p:nvPr/>
        </p:nvSpPr>
        <p:spPr>
          <a:xfrm>
            <a:off x="6429375" y="1690688"/>
            <a:ext cx="49244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</a:t>
            </a:r>
            <a:r>
              <a:rPr lang="en-IN" sz="1400" dirty="0"/>
              <a:t>Thread to calculate odd sum</a:t>
            </a:r>
          </a:p>
          <a:p>
            <a:r>
              <a:rPr lang="en-IN" sz="1400" dirty="0"/>
              <a:t>void* </a:t>
            </a:r>
            <a:r>
              <a:rPr lang="en-IN" sz="1400" dirty="0" err="1"/>
              <a:t>oddSum</a:t>
            </a:r>
            <a:r>
              <a:rPr lang="en-IN" sz="1400" dirty="0"/>
              <a:t>(void* </a:t>
            </a:r>
            <a:r>
              <a:rPr lang="en-IN" sz="1400" dirty="0" err="1"/>
              <a:t>arg</a:t>
            </a:r>
            <a:r>
              <a:rPr lang="en-IN" sz="1400" dirty="0"/>
              <a:t>) {</a:t>
            </a:r>
          </a:p>
          <a:p>
            <a:r>
              <a:rPr lang="en-IN" sz="1400" dirty="0"/>
              <a:t>    for(int </a:t>
            </a:r>
            <a:r>
              <a:rPr lang="en-IN" sz="1400" dirty="0" err="1"/>
              <a:t>i</a:t>
            </a:r>
            <a:r>
              <a:rPr lang="en-IN" sz="1400" dirty="0"/>
              <a:t> = 0; </a:t>
            </a:r>
            <a:r>
              <a:rPr lang="en-IN" sz="1400" dirty="0" err="1"/>
              <a:t>i</a:t>
            </a:r>
            <a:r>
              <a:rPr lang="en-IN" sz="1400" dirty="0"/>
              <a:t> &lt; 10; </a:t>
            </a:r>
            <a:r>
              <a:rPr lang="en-IN" sz="1400" dirty="0" err="1"/>
              <a:t>i</a:t>
            </a:r>
            <a:r>
              <a:rPr lang="en-IN" sz="1400" dirty="0"/>
              <a:t>++) {</a:t>
            </a:r>
          </a:p>
          <a:p>
            <a:r>
              <a:rPr lang="en-IN" sz="1400" dirty="0"/>
              <a:t>        if(</a:t>
            </a:r>
            <a:r>
              <a:rPr lang="en-IN" sz="1400" dirty="0" err="1"/>
              <a:t>arr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 % 2 != 0) {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odd_sum</a:t>
            </a:r>
            <a:r>
              <a:rPr lang="en-IN" sz="1400" dirty="0"/>
              <a:t> += </a:t>
            </a:r>
            <a:r>
              <a:rPr lang="en-IN" sz="1400" dirty="0" err="1"/>
              <a:t>arr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];</a:t>
            </a:r>
          </a:p>
          <a:p>
            <a:r>
              <a:rPr lang="en-IN" sz="1400" dirty="0"/>
              <a:t>        }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printf</a:t>
            </a:r>
            <a:r>
              <a:rPr lang="en-IN" sz="1400" dirty="0"/>
              <a:t>("Odd sum = %d\n", </a:t>
            </a:r>
            <a:r>
              <a:rPr lang="en-IN" sz="1400" dirty="0" err="1"/>
              <a:t>odd_sum</a:t>
            </a:r>
            <a:r>
              <a:rPr lang="en-IN" sz="1400" dirty="0"/>
              <a:t>);</a:t>
            </a:r>
          </a:p>
          <a:p>
            <a:r>
              <a:rPr lang="en-IN" sz="1400" dirty="0"/>
              <a:t>    return NULL;}</a:t>
            </a:r>
          </a:p>
          <a:p>
            <a:endParaRPr lang="en-IN" sz="1400" dirty="0"/>
          </a:p>
          <a:p>
            <a:r>
              <a:rPr lang="en-IN" sz="1400" dirty="0"/>
              <a:t>int main() {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pthread_t</a:t>
            </a:r>
            <a:r>
              <a:rPr lang="en-IN" sz="1400" dirty="0"/>
              <a:t> t1, t2;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pthread_create</a:t>
            </a:r>
            <a:r>
              <a:rPr lang="en-IN" sz="1400" dirty="0"/>
              <a:t>(&amp;t1, NULL, </a:t>
            </a:r>
            <a:r>
              <a:rPr lang="en-IN" sz="1400" dirty="0" err="1"/>
              <a:t>evenSum</a:t>
            </a:r>
            <a:r>
              <a:rPr lang="en-IN" sz="1400" dirty="0"/>
              <a:t>, NULL);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pthread_create</a:t>
            </a:r>
            <a:r>
              <a:rPr lang="en-IN" sz="1400" dirty="0"/>
              <a:t>(&amp;t2, NULL, </a:t>
            </a:r>
            <a:r>
              <a:rPr lang="en-IN" sz="1400" dirty="0" err="1"/>
              <a:t>oddSum</a:t>
            </a:r>
            <a:r>
              <a:rPr lang="en-IN" sz="1400" dirty="0"/>
              <a:t>, NULL);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pthread_join</a:t>
            </a:r>
            <a:r>
              <a:rPr lang="en-IN" sz="1400" dirty="0"/>
              <a:t>(t1, NULL);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pthread_join</a:t>
            </a:r>
            <a:r>
              <a:rPr lang="en-IN" sz="1400" dirty="0"/>
              <a:t>(t2, NULL);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printf</a:t>
            </a:r>
            <a:r>
              <a:rPr lang="en-IN" sz="1400" dirty="0"/>
              <a:t>("Main thread finished\n");</a:t>
            </a:r>
          </a:p>
          <a:p>
            <a:r>
              <a:rPr lang="en-IN" sz="1400" dirty="0"/>
              <a:t>    return 0;</a:t>
            </a:r>
          </a:p>
          <a:p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3974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85E8-0FCF-998E-D9F3-44664F44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207E-BBC6-3842-4E09-641896AA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Producer–Consumer problem, the producer and consumer work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  <a:p>
            <a:r>
              <a:rPr lang="en-US" dirty="0"/>
              <a:t>To make two tasks run simultaneously inside one program, we use </a:t>
            </a:r>
            <a:r>
              <a:rPr lang="en-US" b="1" dirty="0"/>
              <a:t>threads</a:t>
            </a:r>
            <a:r>
              <a:rPr lang="en-US" dirty="0"/>
              <a:t>.</a:t>
            </a:r>
          </a:p>
          <a:p>
            <a:r>
              <a:rPr lang="en-US" dirty="0"/>
              <a:t>A thread is a lightweight unit of execution that allows multiple tasks to run concurrently inside the same program.</a:t>
            </a:r>
          </a:p>
          <a:p>
            <a:r>
              <a:rPr lang="en-US" dirty="0" err="1"/>
              <a:t>pthread_t</a:t>
            </a:r>
            <a:r>
              <a:rPr lang="en-US" dirty="0"/>
              <a:t> p, c;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pthread_create</a:t>
            </a:r>
            <a:r>
              <a:rPr lang="en-US" dirty="0"/>
              <a:t>(&amp;p, NULL, producer, NULL);</a:t>
            </a:r>
            <a:br>
              <a:rPr lang="en-US" dirty="0"/>
            </a:br>
            <a:r>
              <a:rPr lang="en-US" dirty="0" err="1"/>
              <a:t>pthread_create</a:t>
            </a:r>
            <a:r>
              <a:rPr lang="en-US" dirty="0"/>
              <a:t>(&amp;c, NULL, consumer, NULL);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363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7595-31C7-A16E-E354-02F2DF67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E785A-8363-F8C0-F901-2A644A34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allow the producer and consumer to run simultaneously inside the same program, which is necessary to correctly model the Producer–Consumer problem.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290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092D-08B0-17D8-650F-1860B7C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B8FE-05EA-71F5-04A7-B73C003A9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06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1930</Words>
  <Application>Microsoft Office PowerPoint</Application>
  <PresentationFormat>Widescreen</PresentationFormat>
  <Paragraphs>305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Monotype Sorts</vt:lpstr>
      <vt:lpstr>MT Extra</vt:lpstr>
      <vt:lpstr>Symbol</vt:lpstr>
      <vt:lpstr>Webdings</vt:lpstr>
      <vt:lpstr>Office Theme</vt:lpstr>
      <vt:lpstr>Synchronization Hardware, Semaphores</vt:lpstr>
      <vt:lpstr>Test-and-Set (TAS) instruction </vt:lpstr>
      <vt:lpstr>Contd…</vt:lpstr>
      <vt:lpstr>Contd…</vt:lpstr>
      <vt:lpstr>Contd…</vt:lpstr>
      <vt:lpstr>Disadv</vt:lpstr>
      <vt:lpstr>Semaphores</vt:lpstr>
      <vt:lpstr>Binary and Counting Semaphores</vt:lpstr>
      <vt:lpstr>Drawback</vt:lpstr>
      <vt:lpstr>Classical Problems of Synchronization</vt:lpstr>
      <vt:lpstr>Bounded-Buffer (Producer Consumer) Problem</vt:lpstr>
      <vt:lpstr>PowerPoint Presentation</vt:lpstr>
      <vt:lpstr>PowerPoint Presentation</vt:lpstr>
      <vt:lpstr>PowerPoint Presentation</vt:lpstr>
      <vt:lpstr>Readers-Writers Problem</vt:lpstr>
      <vt:lpstr>Contd…</vt:lpstr>
      <vt:lpstr>Dining-Philosophers Problem</vt:lpstr>
      <vt:lpstr>Contd…</vt:lpstr>
      <vt:lpstr>Problems with Semaphores</vt:lpstr>
      <vt:lpstr>Programming Language (OO) Solutions Monitors</vt:lpstr>
      <vt:lpstr>View of a Monitor</vt:lpstr>
      <vt:lpstr>Condition Variables</vt:lpstr>
      <vt:lpstr>Monitor with Condition Variables</vt:lpstr>
      <vt:lpstr>PowerPoint Presentation</vt:lpstr>
      <vt:lpstr>Threads</vt:lpstr>
      <vt:lpstr>Key Characteristics </vt:lpstr>
      <vt:lpstr>PowerPoint Presentation</vt:lpstr>
      <vt:lpstr>Types of Threads </vt:lpstr>
      <vt:lpstr>PowerPoint Presentation</vt:lpstr>
      <vt:lpstr>Threads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GEORGE</dc:creator>
  <cp:lastModifiedBy>REENA GEORGE</cp:lastModifiedBy>
  <cp:revision>8</cp:revision>
  <dcterms:created xsi:type="dcterms:W3CDTF">2025-02-26T12:17:57Z</dcterms:created>
  <dcterms:modified xsi:type="dcterms:W3CDTF">2026-03-29T18:29:05Z</dcterms:modified>
</cp:coreProperties>
</file>