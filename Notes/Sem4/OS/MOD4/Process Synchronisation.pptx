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68" r:id="rId5"/>
    <p:sldId id="258" r:id="rId6"/>
    <p:sldId id="259" r:id="rId7"/>
    <p:sldId id="260" r:id="rId8"/>
    <p:sldId id="261" r:id="rId9"/>
    <p:sldId id="265" r:id="rId10"/>
    <p:sldId id="266" r:id="rId11"/>
    <p:sldId id="262" r:id="rId12"/>
    <p:sldId id="263"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FC909-A4A7-B8CA-1992-EEADEC3ACA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17C56E-0D01-C9BF-69AD-86CBF9D5E9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5EB081-A337-82DB-73B1-EAE7EA02B2C4}"/>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5" name="Footer Placeholder 4">
            <a:extLst>
              <a:ext uri="{FF2B5EF4-FFF2-40B4-BE49-F238E27FC236}">
                <a16:creationId xmlns:a16="http://schemas.microsoft.com/office/drawing/2014/main" id="{05688939-57D4-738E-79C0-A15F6A0C89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34A35D-465D-D6A4-D885-98B77624779A}"/>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3472624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B8BCD-B546-009F-24BB-8C8B629FD3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D06E85-105C-8389-56EF-BF940F703F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FC190E-3AE5-5FF3-74F6-A94EAED7F1A1}"/>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5" name="Footer Placeholder 4">
            <a:extLst>
              <a:ext uri="{FF2B5EF4-FFF2-40B4-BE49-F238E27FC236}">
                <a16:creationId xmlns:a16="http://schemas.microsoft.com/office/drawing/2014/main" id="{BA074F5F-D33A-DC90-631A-46A4F45EA6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8AB9F0-C55D-ED90-F36F-03AC782D28A6}"/>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1468776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3170C-8EBC-437A-D8FD-5A9EBE3F8B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8AE887-ADC6-527A-9C53-3FEBC354AE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CE59B7-E208-EBAF-9A87-0A4EC66044C9}"/>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5" name="Footer Placeholder 4">
            <a:extLst>
              <a:ext uri="{FF2B5EF4-FFF2-40B4-BE49-F238E27FC236}">
                <a16:creationId xmlns:a16="http://schemas.microsoft.com/office/drawing/2014/main" id="{C87B88C2-34E1-7040-489C-19946939D6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45F4E6-CB91-FFE1-E7EC-E0C1B06A21E8}"/>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422300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8308B-50ED-BE31-6E24-A5E762EAE6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A07E34-DF1F-C3E2-6BBF-0243EB22FD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C42ABE-0FFD-BF16-87B9-D3155762BE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1BF9B6-6D1E-65C1-99FA-128EF833C77D}"/>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6" name="Footer Placeholder 5">
            <a:extLst>
              <a:ext uri="{FF2B5EF4-FFF2-40B4-BE49-F238E27FC236}">
                <a16:creationId xmlns:a16="http://schemas.microsoft.com/office/drawing/2014/main" id="{DD79C79A-3C52-F314-349D-77DDD97A0B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5B13FC-4DDC-927C-7A7E-AEAF3341F370}"/>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717814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C05C-E539-55FE-A4A5-EE51E4D94DA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D40B77-75DA-86A9-9B2F-631280D7C4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C4A2-3D42-69D2-E458-2B0204EB9A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C78D10-29FB-B550-BA18-9B8F895750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548A7D-FFF5-0306-86DC-BD1D14E63C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43B02A-A352-0B18-8B58-C0ACB871932A}"/>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8" name="Footer Placeholder 7">
            <a:extLst>
              <a:ext uri="{FF2B5EF4-FFF2-40B4-BE49-F238E27FC236}">
                <a16:creationId xmlns:a16="http://schemas.microsoft.com/office/drawing/2014/main" id="{6E8AAC65-5F27-62F0-F7AD-082808C77E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4045A3-E6A3-A148-3C10-F566D9111F8F}"/>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769977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5E176-0A9B-0E78-492C-F3E7D7813D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AABD252-ED31-8045-ADCB-A881A1066098}"/>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4" name="Footer Placeholder 3">
            <a:extLst>
              <a:ext uri="{FF2B5EF4-FFF2-40B4-BE49-F238E27FC236}">
                <a16:creationId xmlns:a16="http://schemas.microsoft.com/office/drawing/2014/main" id="{7EED110F-B8CF-BCE5-9F20-ED1108286F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66A230-76EE-3B23-6456-472DDE81F920}"/>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166937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CA56F4-EB75-13C3-0EF2-92EF6ED289F3}"/>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3" name="Footer Placeholder 2">
            <a:extLst>
              <a:ext uri="{FF2B5EF4-FFF2-40B4-BE49-F238E27FC236}">
                <a16:creationId xmlns:a16="http://schemas.microsoft.com/office/drawing/2014/main" id="{A1401BE8-F445-C2EA-FF8D-9CC32B6EB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6E11C8-6799-C783-D912-95E235153FFA}"/>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802333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83AC1-EEA3-7522-D8EA-FB68C14C6A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E277B2-8DA3-C8F4-4DDD-BDE93283EA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61B3D3-0B80-519B-8911-36BB06DD9B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DD51EC-5792-9216-2F92-673B088403FE}"/>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6" name="Footer Placeholder 5">
            <a:extLst>
              <a:ext uri="{FF2B5EF4-FFF2-40B4-BE49-F238E27FC236}">
                <a16:creationId xmlns:a16="http://schemas.microsoft.com/office/drawing/2014/main" id="{EC2354B4-F3BC-E64E-49A2-312403FD6E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D3E4AA-DD3D-BC96-30B1-4F369547EA2B}"/>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202038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E0530-231F-C39C-8BFB-AB40BDE89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9E11E9-D209-CDE7-0EED-41EC401AD6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E6C9D42-1914-BC02-ED6E-79222AE52B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3C65BD-BDAF-1C6E-F72F-FF213CEF3FA7}"/>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6" name="Footer Placeholder 5">
            <a:extLst>
              <a:ext uri="{FF2B5EF4-FFF2-40B4-BE49-F238E27FC236}">
                <a16:creationId xmlns:a16="http://schemas.microsoft.com/office/drawing/2014/main" id="{97D27527-A6CE-11E3-81FB-C181A4F307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37CFFE-B531-15B0-3B51-91D8065014F7}"/>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1304563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EBAC4-40A1-F982-BB9F-A9FF5330376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D67E6F-7B8D-28C5-6E7B-CDCEB6E9D9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1D76D6-A395-BE9A-0AAC-2093840BA49B}"/>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5" name="Footer Placeholder 4">
            <a:extLst>
              <a:ext uri="{FF2B5EF4-FFF2-40B4-BE49-F238E27FC236}">
                <a16:creationId xmlns:a16="http://schemas.microsoft.com/office/drawing/2014/main" id="{047C02AF-93D1-E2CA-163E-2913607677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A601A8-D0C3-09CC-ADCB-C93936BD6B6C}"/>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982387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472A4A-5FA6-2B26-AFD0-0C5D90607A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A081B7-E361-6F9F-9449-2E35C088FF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44A3E3-56DE-5BE1-72E2-B6B9B09398D3}"/>
              </a:ext>
            </a:extLst>
          </p:cNvPr>
          <p:cNvSpPr>
            <a:spLocks noGrp="1"/>
          </p:cNvSpPr>
          <p:nvPr>
            <p:ph type="dt" sz="half" idx="10"/>
          </p:nvPr>
        </p:nvSpPr>
        <p:spPr/>
        <p:txBody>
          <a:bodyPr/>
          <a:lstStyle/>
          <a:p>
            <a:fld id="{C444101D-F103-4383-A287-8930EBF70104}" type="datetimeFigureOut">
              <a:rPr lang="en-IN" smtClean="0"/>
              <a:t>25-02-2025</a:t>
            </a:fld>
            <a:endParaRPr lang="en-IN"/>
          </a:p>
        </p:txBody>
      </p:sp>
      <p:sp>
        <p:nvSpPr>
          <p:cNvPr id="5" name="Footer Placeholder 4">
            <a:extLst>
              <a:ext uri="{FF2B5EF4-FFF2-40B4-BE49-F238E27FC236}">
                <a16:creationId xmlns:a16="http://schemas.microsoft.com/office/drawing/2014/main" id="{7D9ACEBF-79EB-17BC-4EC0-425148163D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AC481B-7C1B-82DB-30E6-2CA1C33A1F35}"/>
              </a:ext>
            </a:extLst>
          </p:cNvPr>
          <p:cNvSpPr>
            <a:spLocks noGrp="1"/>
          </p:cNvSpPr>
          <p:nvPr>
            <p:ph type="sldNum" sz="quarter" idx="12"/>
          </p:nvPr>
        </p:nvSpPr>
        <p:spPr/>
        <p:txBody>
          <a:bodyPr/>
          <a:lstStyle/>
          <a:p>
            <a:fld id="{3FB32364-8EF2-4CBA-A0A6-149F651B0F97}" type="slidenum">
              <a:rPr lang="en-IN" smtClean="0"/>
              <a:t>‹#›</a:t>
            </a:fld>
            <a:endParaRPr lang="en-IN"/>
          </a:p>
        </p:txBody>
      </p:sp>
    </p:spTree>
    <p:extLst>
      <p:ext uri="{BB962C8B-B14F-4D97-AF65-F5344CB8AC3E}">
        <p14:creationId xmlns:p14="http://schemas.microsoft.com/office/powerpoint/2010/main" val="3891474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4512F-94EE-494D-8CBC-B98A23001C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69588C-D54C-CA35-EBE2-87EEA1FA48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2D0966-4A41-2A4D-4401-E56FA7C01B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44101D-F103-4383-A287-8930EBF70104}" type="datetimeFigureOut">
              <a:rPr lang="en-IN" smtClean="0"/>
              <a:t>25-02-2025</a:t>
            </a:fld>
            <a:endParaRPr lang="en-IN"/>
          </a:p>
        </p:txBody>
      </p:sp>
      <p:sp>
        <p:nvSpPr>
          <p:cNvPr id="5" name="Footer Placeholder 4">
            <a:extLst>
              <a:ext uri="{FF2B5EF4-FFF2-40B4-BE49-F238E27FC236}">
                <a16:creationId xmlns:a16="http://schemas.microsoft.com/office/drawing/2014/main" id="{F0EFC489-1B10-CE6A-40FC-50DE6A2383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139C54-E119-AE9C-AEB6-65995AE52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B32364-8EF2-4CBA-A0A6-149F651B0F97}" type="slidenum">
              <a:rPr lang="en-IN" smtClean="0"/>
              <a:t>‹#›</a:t>
            </a:fld>
            <a:endParaRPr lang="en-IN"/>
          </a:p>
        </p:txBody>
      </p:sp>
    </p:spTree>
    <p:extLst>
      <p:ext uri="{BB962C8B-B14F-4D97-AF65-F5344CB8AC3E}">
        <p14:creationId xmlns:p14="http://schemas.microsoft.com/office/powerpoint/2010/main" val="152424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A3648-1407-0A64-9EA5-7315CFE5D544}"/>
              </a:ext>
            </a:extLst>
          </p:cNvPr>
          <p:cNvSpPr>
            <a:spLocks noGrp="1"/>
          </p:cNvSpPr>
          <p:nvPr>
            <p:ph type="ctrTitle"/>
          </p:nvPr>
        </p:nvSpPr>
        <p:spPr/>
        <p:txBody>
          <a:bodyPr/>
          <a:lstStyle/>
          <a:p>
            <a:r>
              <a:rPr lang="en-IN" dirty="0"/>
              <a:t>Process Synchronisation</a:t>
            </a:r>
          </a:p>
        </p:txBody>
      </p:sp>
      <p:sp>
        <p:nvSpPr>
          <p:cNvPr id="3" name="Subtitle 2">
            <a:extLst>
              <a:ext uri="{FF2B5EF4-FFF2-40B4-BE49-F238E27FC236}">
                <a16:creationId xmlns:a16="http://schemas.microsoft.com/office/drawing/2014/main" id="{7AA67C28-7BB1-B934-AE90-A6FAFD92EE59}"/>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555272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CCFA3-3856-F3BF-5508-8D6DFD5D5A76}"/>
              </a:ext>
            </a:extLst>
          </p:cNvPr>
          <p:cNvSpPr>
            <a:spLocks noGrp="1"/>
          </p:cNvSpPr>
          <p:nvPr>
            <p:ph type="title"/>
          </p:nvPr>
        </p:nvSpPr>
        <p:spPr/>
        <p:txBody>
          <a:bodyPr/>
          <a:lstStyle/>
          <a:p>
            <a:r>
              <a:rPr lang="en-IN" dirty="0"/>
              <a:t>Process</a:t>
            </a:r>
          </a:p>
        </p:txBody>
      </p:sp>
      <p:sp>
        <p:nvSpPr>
          <p:cNvPr id="3" name="Content Placeholder 2">
            <a:extLst>
              <a:ext uri="{FF2B5EF4-FFF2-40B4-BE49-F238E27FC236}">
                <a16:creationId xmlns:a16="http://schemas.microsoft.com/office/drawing/2014/main" id="{4892BFF8-D27B-33B5-6187-2F00E6727207}"/>
              </a:ext>
            </a:extLst>
          </p:cNvPr>
          <p:cNvSpPr>
            <a:spLocks noGrp="1"/>
          </p:cNvSpPr>
          <p:nvPr>
            <p:ph idx="1"/>
          </p:nvPr>
        </p:nvSpPr>
        <p:spPr/>
        <p:txBody>
          <a:bodyPr/>
          <a:lstStyle/>
          <a:p>
            <a:endParaRPr lang="en-US" altLang="en-US" dirty="0"/>
          </a:p>
          <a:p>
            <a:r>
              <a:rPr lang="en-US" altLang="en-US" dirty="0"/>
              <a:t>Process</a:t>
            </a:r>
          </a:p>
          <a:p>
            <a:pPr lvl="1"/>
            <a:r>
              <a:rPr lang="en-US" altLang="en-US" dirty="0"/>
              <a:t>Independent Process</a:t>
            </a:r>
          </a:p>
          <a:p>
            <a:pPr lvl="1"/>
            <a:r>
              <a:rPr lang="en-US" altLang="en-US" dirty="0"/>
              <a:t>Cooperating Process</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endParaRPr lang="en-IN" dirty="0"/>
          </a:p>
        </p:txBody>
      </p:sp>
    </p:spTree>
    <p:extLst>
      <p:ext uri="{BB962C8B-B14F-4D97-AF65-F5344CB8AC3E}">
        <p14:creationId xmlns:p14="http://schemas.microsoft.com/office/powerpoint/2010/main" val="1085380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6BB51-6A1F-5736-1925-C71CAF3E8D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3DE9EB-1573-2151-C6BA-AE79EFEA2685}"/>
              </a:ext>
            </a:extLst>
          </p:cNvPr>
          <p:cNvSpPr>
            <a:spLocks noGrp="1"/>
          </p:cNvSpPr>
          <p:nvPr>
            <p:ph idx="1"/>
          </p:nvPr>
        </p:nvSpPr>
        <p:spPr/>
        <p:txBody>
          <a:bodyPr/>
          <a:lstStyle/>
          <a:p>
            <a:pPr algn="just"/>
            <a:r>
              <a:rPr lang="en-US" dirty="0"/>
              <a:t>Process synchronization is a technique used in operating systems to coordinate the execution of multiple processes to ensure they operate correctly when accessing shared resources. </a:t>
            </a:r>
          </a:p>
          <a:p>
            <a:pPr algn="just"/>
            <a:r>
              <a:rPr lang="en-US" dirty="0"/>
              <a:t>It is crucial in concurrent execution to prevent </a:t>
            </a:r>
            <a:r>
              <a:rPr lang="en-US" b="1" dirty="0"/>
              <a:t>race conditions</a:t>
            </a:r>
            <a:r>
              <a:rPr lang="en-US" dirty="0"/>
              <a:t>, </a:t>
            </a:r>
            <a:r>
              <a:rPr lang="en-US" b="1" dirty="0"/>
              <a:t>deadlocks</a:t>
            </a:r>
            <a:r>
              <a:rPr lang="en-US" dirty="0"/>
              <a:t>, and </a:t>
            </a:r>
            <a:r>
              <a:rPr lang="en-US" b="1" dirty="0"/>
              <a:t>inconsistencies</a:t>
            </a:r>
            <a:r>
              <a:rPr lang="en-US" dirty="0"/>
              <a:t> in data.</a:t>
            </a:r>
            <a:endParaRPr lang="en-IN" dirty="0"/>
          </a:p>
        </p:txBody>
      </p:sp>
    </p:spTree>
    <p:extLst>
      <p:ext uri="{BB962C8B-B14F-4D97-AF65-F5344CB8AC3E}">
        <p14:creationId xmlns:p14="http://schemas.microsoft.com/office/powerpoint/2010/main" val="173953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A63BD-F373-9097-42A9-617725722859}"/>
              </a:ext>
            </a:extLst>
          </p:cNvPr>
          <p:cNvSpPr>
            <a:spLocks noGrp="1"/>
          </p:cNvSpPr>
          <p:nvPr>
            <p:ph type="title"/>
          </p:nvPr>
        </p:nvSpPr>
        <p:spPr/>
        <p:txBody>
          <a:bodyPr/>
          <a:lstStyle/>
          <a:p>
            <a:r>
              <a:rPr lang="en-IN" dirty="0"/>
              <a:t>Race Condition</a:t>
            </a:r>
          </a:p>
        </p:txBody>
      </p:sp>
      <p:sp>
        <p:nvSpPr>
          <p:cNvPr id="3" name="Content Placeholder 2">
            <a:extLst>
              <a:ext uri="{FF2B5EF4-FFF2-40B4-BE49-F238E27FC236}">
                <a16:creationId xmlns:a16="http://schemas.microsoft.com/office/drawing/2014/main" id="{DF1D2BB8-AF87-C25C-C9AA-7091A6D2552E}"/>
              </a:ext>
            </a:extLst>
          </p:cNvPr>
          <p:cNvSpPr>
            <a:spLocks noGrp="1"/>
          </p:cNvSpPr>
          <p:nvPr>
            <p:ph idx="1"/>
          </p:nvPr>
        </p:nvSpPr>
        <p:spPr/>
        <p:txBody>
          <a:bodyPr/>
          <a:lstStyle/>
          <a:p>
            <a:r>
              <a:rPr lang="en-US" dirty="0"/>
              <a:t>When multiple processes access shared data simultaneously, unpredictable results may occur if synchronization is not enforced.</a:t>
            </a:r>
          </a:p>
          <a:p>
            <a:r>
              <a:rPr lang="en-US" dirty="0"/>
              <a:t>A </a:t>
            </a:r>
            <a:r>
              <a:rPr lang="en-US" b="1" dirty="0"/>
              <a:t>race condition</a:t>
            </a:r>
            <a:r>
              <a:rPr lang="en-US" dirty="0"/>
              <a:t> occurs when multiple processes or threads access a shared resource simultaneously, and the final outcome depends on the execution order. This can lead to </a:t>
            </a:r>
            <a:r>
              <a:rPr lang="en-US" b="1" dirty="0"/>
              <a:t>unexpected or incorrect behavior</a:t>
            </a:r>
            <a:r>
              <a:rPr lang="en-US" dirty="0"/>
              <a:t> in a program.</a:t>
            </a:r>
          </a:p>
          <a:p>
            <a:r>
              <a:rPr lang="en-US" dirty="0"/>
              <a:t>Example: Race Condition in a Bank Account</a:t>
            </a:r>
          </a:p>
          <a:p>
            <a:endParaRPr lang="en-IN" dirty="0"/>
          </a:p>
        </p:txBody>
      </p:sp>
    </p:spTree>
    <p:extLst>
      <p:ext uri="{BB962C8B-B14F-4D97-AF65-F5344CB8AC3E}">
        <p14:creationId xmlns:p14="http://schemas.microsoft.com/office/powerpoint/2010/main" val="4057027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5A1D0-407A-0281-794C-8ADE87F79284}"/>
              </a:ext>
            </a:extLst>
          </p:cNvPr>
          <p:cNvSpPr>
            <a:spLocks noGrp="1"/>
          </p:cNvSpPr>
          <p:nvPr>
            <p:ph type="title"/>
          </p:nvPr>
        </p:nvSpPr>
        <p:spPr/>
        <p:txBody>
          <a:bodyPr/>
          <a:lstStyle/>
          <a:p>
            <a:r>
              <a:rPr lang="en-IN" dirty="0"/>
              <a:t>Producer Consumer Problem</a:t>
            </a:r>
          </a:p>
        </p:txBody>
      </p:sp>
      <p:sp>
        <p:nvSpPr>
          <p:cNvPr id="3" name="Content Placeholder 2">
            <a:extLst>
              <a:ext uri="{FF2B5EF4-FFF2-40B4-BE49-F238E27FC236}">
                <a16:creationId xmlns:a16="http://schemas.microsoft.com/office/drawing/2014/main" id="{CE9B7E2D-0660-D7ED-B5FB-2172BF45EF68}"/>
              </a:ext>
            </a:extLst>
          </p:cNvPr>
          <p:cNvSpPr>
            <a:spLocks noGrp="1"/>
          </p:cNvSpPr>
          <p:nvPr>
            <p:ph idx="1"/>
          </p:nvPr>
        </p:nvSpPr>
        <p:spPr/>
        <p:txBody>
          <a:bodyPr/>
          <a:lstStyle/>
          <a:p>
            <a:r>
              <a:rPr lang="en-US" altLang="en-US" dirty="0">
                <a:solidFill>
                  <a:srgbClr val="FF0000"/>
                </a:solidFill>
              </a:rPr>
              <a:t>All </a:t>
            </a:r>
            <a:r>
              <a:rPr lang="en-US" altLang="en-US" dirty="0"/>
              <a:t>the buffers get filled. </a:t>
            </a:r>
          </a:p>
          <a:p>
            <a:r>
              <a:rPr lang="en-US" altLang="en-US" dirty="0"/>
              <a:t>Have an integer </a:t>
            </a:r>
            <a:r>
              <a:rPr lang="en-US" altLang="en-US" dirty="0">
                <a:solidFill>
                  <a:srgbClr val="FF0000"/>
                </a:solidFill>
              </a:rPr>
              <a:t>count</a:t>
            </a:r>
            <a:r>
              <a:rPr lang="en-US" altLang="en-US" dirty="0"/>
              <a:t> that keeps track of the number of full buffers.</a:t>
            </a:r>
          </a:p>
          <a:p>
            <a:r>
              <a:rPr lang="en-US" altLang="en-US" dirty="0"/>
              <a:t> Initially, count is set to 0.</a:t>
            </a:r>
          </a:p>
          <a:p>
            <a:r>
              <a:rPr lang="en-US" altLang="en-US" dirty="0"/>
              <a:t> It is incremented by the producer after it produces a new buffer and is decremented by the consumer after it consumes a buffer.</a:t>
            </a:r>
            <a:endParaRPr lang="en-IN" dirty="0"/>
          </a:p>
        </p:txBody>
      </p:sp>
    </p:spTree>
    <p:extLst>
      <p:ext uri="{BB962C8B-B14F-4D97-AF65-F5344CB8AC3E}">
        <p14:creationId xmlns:p14="http://schemas.microsoft.com/office/powerpoint/2010/main" val="2060178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22689-6357-0927-50CA-0D521725D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B03E3-DBBF-5624-243E-F0AD2BE23D38}"/>
              </a:ext>
            </a:extLst>
          </p:cNvPr>
          <p:cNvSpPr>
            <a:spLocks noGrp="1"/>
          </p:cNvSpPr>
          <p:nvPr>
            <p:ph type="title"/>
          </p:nvPr>
        </p:nvSpPr>
        <p:spPr/>
        <p:txBody>
          <a:bodyPr/>
          <a:lstStyle/>
          <a:p>
            <a:r>
              <a:rPr lang="en-IN" dirty="0"/>
              <a:t>Producer</a:t>
            </a:r>
          </a:p>
        </p:txBody>
      </p:sp>
      <p:sp>
        <p:nvSpPr>
          <p:cNvPr id="4" name="Rectangle 3">
            <a:extLst>
              <a:ext uri="{FF2B5EF4-FFF2-40B4-BE49-F238E27FC236}">
                <a16:creationId xmlns:a16="http://schemas.microsoft.com/office/drawing/2014/main" id="{1968C390-EDB7-A56C-009C-92B045D2E8F2}"/>
              </a:ext>
            </a:extLst>
          </p:cNvPr>
          <p:cNvSpPr>
            <a:spLocks noGrp="1" noChangeArrowheads="1"/>
          </p:cNvSpPr>
          <p:nvPr>
            <p:ph idx="1"/>
          </p:nvPr>
        </p:nvSpPr>
        <p:spPr>
          <a:xfrm>
            <a:off x="838200" y="1825625"/>
            <a:ext cx="10515600" cy="4351338"/>
          </a:xfrm>
        </p:spPr>
        <p:txBody>
          <a:bodyPr>
            <a:normAutofit fontScale="92500" lnSpcReduction="20000"/>
          </a:bodyPr>
          <a:lstStyle/>
          <a:p>
            <a:pPr>
              <a:buFont typeface="Monotype Sorts" pitchFamily="2" charset="2"/>
              <a:buNone/>
            </a:pPr>
            <a:r>
              <a:rPr lang="en-US" altLang="en-US" dirty="0">
                <a:solidFill>
                  <a:srgbClr val="0000FF"/>
                </a:solidFill>
                <a:latin typeface="Courier New" panose="02070309020205020404" pitchFamily="49" charset="0"/>
              </a:rPr>
              <a:t>while (true) </a:t>
            </a:r>
          </a:p>
          <a:p>
            <a:pPr>
              <a:buFont typeface="Monotype Sorts" pitchFamily="2" charset="2"/>
              <a:buNone/>
            </a:pPr>
            <a:r>
              <a:rPr lang="en-US" altLang="en-US" dirty="0">
                <a:solidFill>
                  <a:srgbClr val="0000FF"/>
                </a:solidFill>
                <a:latin typeface="Courier New" panose="02070309020205020404" pitchFamily="49" charset="0"/>
              </a:rPr>
              <a:t>{</a:t>
            </a:r>
          </a:p>
          <a:p>
            <a:pPr>
              <a:buFont typeface="Monotype Sorts" pitchFamily="2" charset="2"/>
              <a:buNone/>
            </a:pPr>
            <a:r>
              <a:rPr lang="en-US" altLang="en-US" dirty="0">
                <a:solidFill>
                  <a:srgbClr val="0000FF"/>
                </a:solidFill>
                <a:latin typeface="Courier New" panose="02070309020205020404" pitchFamily="49" charset="0"/>
              </a:rPr>
              <a:t>    /*  produce an item and put in </a:t>
            </a:r>
            <a:r>
              <a:rPr lang="en-US" altLang="en-US" dirty="0" err="1">
                <a:solidFill>
                  <a:srgbClr val="0000FF"/>
                </a:solidFill>
                <a:latin typeface="Courier New" panose="02070309020205020404" pitchFamily="49" charset="0"/>
              </a:rPr>
              <a:t>nextProduced</a:t>
            </a:r>
            <a:r>
              <a:rPr lang="en-US" altLang="en-US" dirty="0">
                <a:solidFill>
                  <a:srgbClr val="0000FF"/>
                </a:solidFill>
                <a:latin typeface="Courier New" panose="02070309020205020404" pitchFamily="49" charset="0"/>
              </a:rPr>
              <a:t>  */</a:t>
            </a:r>
          </a:p>
          <a:p>
            <a:pPr>
              <a:buFont typeface="Monotype Sorts" pitchFamily="2" charset="2"/>
              <a:buNone/>
            </a:pPr>
            <a:r>
              <a:rPr lang="en-US" altLang="en-US" dirty="0">
                <a:solidFill>
                  <a:srgbClr val="0000FF"/>
                </a:solidFill>
                <a:latin typeface="Courier New" panose="02070309020205020404" pitchFamily="49" charset="0"/>
              </a:rPr>
              <a:t>	  while (count == BUFFER_SIZE)</a:t>
            </a:r>
          </a:p>
          <a:p>
            <a:pPr>
              <a:buFont typeface="Monotype Sorts" pitchFamily="2" charset="2"/>
              <a:buNone/>
            </a:pPr>
            <a:r>
              <a:rPr lang="en-US" altLang="en-US" dirty="0">
                <a:solidFill>
                  <a:srgbClr val="0000FF"/>
                </a:solidFill>
                <a:latin typeface="Courier New" panose="02070309020205020404" pitchFamily="49" charset="0"/>
              </a:rPr>
              <a:t>		; // do nothing, buffer is full</a:t>
            </a:r>
          </a:p>
          <a:p>
            <a:pPr>
              <a:buFont typeface="Monotype Sorts" pitchFamily="2" charset="2"/>
              <a:buNone/>
            </a:pPr>
            <a:endParaRPr lang="en-US" altLang="en-US" dirty="0">
              <a:solidFill>
                <a:srgbClr val="0000FF"/>
              </a:solidFill>
              <a:latin typeface="Courier New" panose="02070309020205020404" pitchFamily="49" charset="0"/>
            </a:endParaRPr>
          </a:p>
          <a:p>
            <a:pPr>
              <a:buFont typeface="Monotype Sorts" pitchFamily="2" charset="2"/>
              <a:buNone/>
            </a:pPr>
            <a:r>
              <a:rPr lang="en-US" altLang="en-US" dirty="0">
                <a:solidFill>
                  <a:srgbClr val="0000FF"/>
                </a:solidFill>
                <a:latin typeface="Courier New" panose="02070309020205020404" pitchFamily="49" charset="0"/>
              </a:rPr>
              <a:t>	  buffer [in] = </a:t>
            </a:r>
            <a:r>
              <a:rPr lang="en-US" altLang="en-US" dirty="0" err="1">
                <a:solidFill>
                  <a:srgbClr val="0000FF"/>
                </a:solidFill>
                <a:latin typeface="Courier New" panose="02070309020205020404" pitchFamily="49" charset="0"/>
              </a:rPr>
              <a:t>nextProduced</a:t>
            </a:r>
            <a:r>
              <a:rPr lang="en-US" altLang="en-US" dirty="0">
                <a:solidFill>
                  <a:srgbClr val="0000FF"/>
                </a:solidFill>
                <a:latin typeface="Courier New" panose="02070309020205020404" pitchFamily="49" charset="0"/>
              </a:rPr>
              <a:t>;</a:t>
            </a:r>
          </a:p>
          <a:p>
            <a:pPr>
              <a:buFont typeface="Monotype Sorts" pitchFamily="2" charset="2"/>
              <a:buNone/>
            </a:pPr>
            <a:r>
              <a:rPr lang="en-US" altLang="en-US" dirty="0">
                <a:solidFill>
                  <a:srgbClr val="0000FF"/>
                </a:solidFill>
                <a:latin typeface="Courier New" panose="02070309020205020404" pitchFamily="49" charset="0"/>
              </a:rPr>
              <a:t>	  in = (in + 1) % BUFFER_SIZE;</a:t>
            </a:r>
          </a:p>
          <a:p>
            <a:pPr>
              <a:buFont typeface="Monotype Sorts" pitchFamily="2" charset="2"/>
              <a:buNone/>
            </a:pPr>
            <a:r>
              <a:rPr lang="en-US" altLang="en-US" dirty="0">
                <a:solidFill>
                  <a:srgbClr val="0000FF"/>
                </a:solidFill>
                <a:latin typeface="Courier New" panose="02070309020205020404" pitchFamily="49" charset="0"/>
              </a:rPr>
              <a:t>	  count++;</a:t>
            </a:r>
          </a:p>
          <a:p>
            <a:pPr>
              <a:buFont typeface="Monotype Sorts" pitchFamily="2" charset="2"/>
              <a:buNone/>
            </a:pPr>
            <a:r>
              <a:rPr lang="en-US" altLang="en-US" dirty="0">
                <a:solidFill>
                  <a:srgbClr val="0000FF"/>
                </a:solidFill>
                <a:latin typeface="Courier New" panose="02070309020205020404" pitchFamily="49" charset="0"/>
              </a:rPr>
              <a:t>}   </a:t>
            </a:r>
          </a:p>
        </p:txBody>
      </p:sp>
    </p:spTree>
    <p:extLst>
      <p:ext uri="{BB962C8B-B14F-4D97-AF65-F5344CB8AC3E}">
        <p14:creationId xmlns:p14="http://schemas.microsoft.com/office/powerpoint/2010/main" val="1463601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6DBB5-35A8-6FAF-D059-05E9DC54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1DA30-5E1D-767E-F8FE-5916C871F78C}"/>
              </a:ext>
            </a:extLst>
          </p:cNvPr>
          <p:cNvSpPr>
            <a:spLocks noGrp="1"/>
          </p:cNvSpPr>
          <p:nvPr>
            <p:ph type="title"/>
          </p:nvPr>
        </p:nvSpPr>
        <p:spPr/>
        <p:txBody>
          <a:bodyPr/>
          <a:lstStyle/>
          <a:p>
            <a:r>
              <a:rPr lang="en-IN" dirty="0"/>
              <a:t>Consumer</a:t>
            </a:r>
          </a:p>
        </p:txBody>
      </p:sp>
      <p:sp>
        <p:nvSpPr>
          <p:cNvPr id="4" name="Rectangle 3">
            <a:extLst>
              <a:ext uri="{FF2B5EF4-FFF2-40B4-BE49-F238E27FC236}">
                <a16:creationId xmlns:a16="http://schemas.microsoft.com/office/drawing/2014/main" id="{C2AF3550-7CCF-9009-B079-9C01F7A5F517}"/>
              </a:ext>
            </a:extLst>
          </p:cNvPr>
          <p:cNvSpPr>
            <a:spLocks noGrp="1" noChangeArrowheads="1"/>
          </p:cNvSpPr>
          <p:nvPr>
            <p:ph idx="1"/>
          </p:nvPr>
        </p:nvSpPr>
        <p:spPr>
          <a:xfrm>
            <a:off x="838200" y="1825625"/>
            <a:ext cx="10515600" cy="4351338"/>
          </a:xfrm>
        </p:spPr>
        <p:txBody>
          <a:bodyPr>
            <a:normAutofit fontScale="77500" lnSpcReduction="20000"/>
          </a:bodyPr>
          <a:lstStyle/>
          <a:p>
            <a:pPr>
              <a:buFont typeface="Monotype Sorts" pitchFamily="2" charset="2"/>
              <a:buNone/>
            </a:pPr>
            <a:endParaRPr lang="en-US" altLang="en-US" dirty="0">
              <a:latin typeface="Courier New" panose="02070309020205020404" pitchFamily="49" charset="0"/>
            </a:endParaRPr>
          </a:p>
          <a:p>
            <a:pPr>
              <a:buFont typeface="Monotype Sorts" pitchFamily="2" charset="2"/>
              <a:buNone/>
            </a:pPr>
            <a:r>
              <a:rPr lang="en-US" altLang="en-US" dirty="0">
                <a:solidFill>
                  <a:srgbClr val="0000FF"/>
                </a:solidFill>
                <a:latin typeface="Courier New" panose="02070309020205020404" pitchFamily="49" charset="0"/>
              </a:rPr>
              <a:t>    while (true)  </a:t>
            </a:r>
          </a:p>
          <a:p>
            <a:pPr>
              <a:buFont typeface="Monotype Sorts" pitchFamily="2" charset="2"/>
              <a:buNone/>
            </a:pPr>
            <a:r>
              <a:rPr lang="en-US" altLang="en-US" dirty="0">
                <a:solidFill>
                  <a:srgbClr val="0000FF"/>
                </a:solidFill>
                <a:latin typeface="Courier New" panose="02070309020205020404" pitchFamily="49" charset="0"/>
              </a:rPr>
              <a:t>    {</a:t>
            </a:r>
          </a:p>
          <a:p>
            <a:pPr>
              <a:buFont typeface="Monotype Sorts" pitchFamily="2" charset="2"/>
              <a:buNone/>
            </a:pPr>
            <a:r>
              <a:rPr lang="en-US" altLang="en-US" dirty="0">
                <a:solidFill>
                  <a:srgbClr val="0000FF"/>
                </a:solidFill>
                <a:latin typeface="Courier New" panose="02070309020205020404" pitchFamily="49" charset="0"/>
              </a:rPr>
              <a:t> 		while (count == 0)</a:t>
            </a:r>
          </a:p>
          <a:p>
            <a:pPr>
              <a:buFont typeface="Monotype Sorts" pitchFamily="2" charset="2"/>
              <a:buNone/>
            </a:pPr>
            <a:r>
              <a:rPr lang="en-US" altLang="en-US" dirty="0">
                <a:solidFill>
                  <a:srgbClr val="0000FF"/>
                </a:solidFill>
                <a:latin typeface="Courier New" panose="02070309020205020404" pitchFamily="49" charset="0"/>
              </a:rPr>
              <a:t>		        ; // do nothing – buffer is empty</a:t>
            </a:r>
          </a:p>
          <a:p>
            <a:pPr>
              <a:buFont typeface="Monotype Sorts" pitchFamily="2" charset="2"/>
              <a:buNone/>
            </a:pPr>
            <a:endParaRPr lang="en-US" altLang="en-US" dirty="0">
              <a:solidFill>
                <a:srgbClr val="0000FF"/>
              </a:solidFill>
              <a:latin typeface="Courier New" panose="02070309020205020404" pitchFamily="49" charset="0"/>
            </a:endParaRPr>
          </a:p>
          <a:p>
            <a:pPr>
              <a:buFont typeface="Monotype Sorts" pitchFamily="2" charset="2"/>
              <a:buNone/>
            </a:pPr>
            <a:r>
              <a:rPr lang="en-US" altLang="en-US" dirty="0">
                <a:solidFill>
                  <a:srgbClr val="0000FF"/>
                </a:solidFill>
                <a:latin typeface="Courier New" panose="02070309020205020404" pitchFamily="49" charset="0"/>
              </a:rPr>
              <a:t>		</a:t>
            </a:r>
            <a:r>
              <a:rPr lang="en-US" altLang="en-US" dirty="0" err="1">
                <a:solidFill>
                  <a:srgbClr val="0000FF"/>
                </a:solidFill>
                <a:latin typeface="Courier New" panose="02070309020205020404" pitchFamily="49" charset="0"/>
              </a:rPr>
              <a:t>nextConsumed</a:t>
            </a:r>
            <a:r>
              <a:rPr lang="en-US" altLang="en-US" dirty="0">
                <a:solidFill>
                  <a:srgbClr val="0000FF"/>
                </a:solidFill>
                <a:latin typeface="Courier New" panose="02070309020205020404" pitchFamily="49" charset="0"/>
              </a:rPr>
              <a:t> =  buffer[out];</a:t>
            </a:r>
          </a:p>
          <a:p>
            <a:pPr>
              <a:buFont typeface="Monotype Sorts" pitchFamily="2" charset="2"/>
              <a:buNone/>
            </a:pPr>
            <a:r>
              <a:rPr lang="en-US" altLang="en-US" dirty="0">
                <a:solidFill>
                  <a:srgbClr val="0000FF"/>
                </a:solidFill>
                <a:latin typeface="Courier New" panose="02070309020205020404" pitchFamily="49" charset="0"/>
              </a:rPr>
              <a:t>		out = (out + 1) % BUFFER_SIZE;</a:t>
            </a:r>
          </a:p>
          <a:p>
            <a:pPr>
              <a:buFont typeface="Monotype Sorts" pitchFamily="2" charset="2"/>
              <a:buNone/>
            </a:pPr>
            <a:r>
              <a:rPr lang="en-US" altLang="en-US" dirty="0">
                <a:solidFill>
                  <a:srgbClr val="0000FF"/>
                </a:solidFill>
                <a:latin typeface="Courier New" panose="02070309020205020404" pitchFamily="49" charset="0"/>
              </a:rPr>
              <a:t>	          count--;</a:t>
            </a:r>
          </a:p>
          <a:p>
            <a:pPr>
              <a:buFont typeface="Monotype Sorts" pitchFamily="2" charset="2"/>
              <a:buNone/>
            </a:pPr>
            <a:endParaRPr lang="en-US" altLang="en-US" dirty="0">
              <a:solidFill>
                <a:srgbClr val="0000FF"/>
              </a:solidFill>
              <a:latin typeface="Courier New" panose="02070309020205020404" pitchFamily="49" charset="0"/>
            </a:endParaRPr>
          </a:p>
          <a:p>
            <a:pPr>
              <a:buFont typeface="Monotype Sorts" pitchFamily="2" charset="2"/>
              <a:buNone/>
            </a:pPr>
            <a:r>
              <a:rPr lang="en-US" altLang="en-US" dirty="0">
                <a:solidFill>
                  <a:srgbClr val="0000FF"/>
                </a:solidFill>
                <a:latin typeface="Courier New" panose="02070309020205020404" pitchFamily="49" charset="0"/>
              </a:rPr>
              <a:t>		/*  consume the item in </a:t>
            </a:r>
            <a:r>
              <a:rPr lang="en-US" altLang="en-US" dirty="0" err="1">
                <a:solidFill>
                  <a:srgbClr val="0000FF"/>
                </a:solidFill>
                <a:latin typeface="Courier New" panose="02070309020205020404" pitchFamily="49" charset="0"/>
              </a:rPr>
              <a:t>nextConsumed</a:t>
            </a:r>
            <a:r>
              <a:rPr lang="en-US" altLang="en-US" dirty="0">
                <a:solidFill>
                  <a:srgbClr val="0000FF"/>
                </a:solidFill>
                <a:latin typeface="Courier New" panose="02070309020205020404" pitchFamily="49" charset="0"/>
              </a:rPr>
              <a:t> */</a:t>
            </a:r>
          </a:p>
          <a:p>
            <a:pPr>
              <a:buFont typeface="Monotype Sorts" pitchFamily="2" charset="2"/>
              <a:buNone/>
            </a:pPr>
            <a:r>
              <a:rPr lang="en-US" altLang="en-US" dirty="0">
                <a:solidFill>
                  <a:srgbClr val="0000FF"/>
                </a:solidFill>
                <a:latin typeface="Courier New" panose="02070309020205020404" pitchFamily="49" charset="0"/>
              </a:rPr>
              <a:t>	}</a:t>
            </a:r>
          </a:p>
        </p:txBody>
      </p:sp>
    </p:spTree>
    <p:extLst>
      <p:ext uri="{BB962C8B-B14F-4D97-AF65-F5344CB8AC3E}">
        <p14:creationId xmlns:p14="http://schemas.microsoft.com/office/powerpoint/2010/main" val="1239989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3AA1A-73A9-202E-6A46-59AF31939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AB939-8662-9AC6-FA64-B12403CEBCE7}"/>
              </a:ext>
            </a:extLst>
          </p:cNvPr>
          <p:cNvSpPr>
            <a:spLocks noGrp="1"/>
          </p:cNvSpPr>
          <p:nvPr>
            <p:ph type="title"/>
          </p:nvPr>
        </p:nvSpPr>
        <p:spPr/>
        <p:txBody>
          <a:bodyPr/>
          <a:lstStyle/>
          <a:p>
            <a:r>
              <a:rPr lang="en-IN" dirty="0"/>
              <a:t>Race Condition</a:t>
            </a:r>
          </a:p>
        </p:txBody>
      </p:sp>
      <p:sp>
        <p:nvSpPr>
          <p:cNvPr id="4" name="Rectangle 1027">
            <a:extLst>
              <a:ext uri="{FF2B5EF4-FFF2-40B4-BE49-F238E27FC236}">
                <a16:creationId xmlns:a16="http://schemas.microsoft.com/office/drawing/2014/main" id="{C14B0502-5810-443F-B2A6-6ABBD5CCF9C9}"/>
              </a:ext>
            </a:extLst>
          </p:cNvPr>
          <p:cNvSpPr>
            <a:spLocks noGrp="1" noChangeArrowheads="1"/>
          </p:cNvSpPr>
          <p:nvPr>
            <p:ph idx="1"/>
          </p:nvPr>
        </p:nvSpPr>
        <p:spPr>
          <a:xfrm>
            <a:off x="838200" y="1825625"/>
            <a:ext cx="10515600" cy="4351338"/>
          </a:xfrm>
        </p:spPr>
        <p:txBody>
          <a:bodyPr>
            <a:normAutofit lnSpcReduction="10000"/>
          </a:bodyPr>
          <a:lstStyle/>
          <a:p>
            <a:pPr>
              <a:lnSpc>
                <a:spcPct val="90000"/>
              </a:lnSpc>
            </a:pPr>
            <a:r>
              <a:rPr lang="en-US" altLang="en-US" sz="1600" dirty="0">
                <a:solidFill>
                  <a:srgbClr val="0000FF"/>
                </a:solidFill>
              </a:rPr>
              <a:t>count++</a:t>
            </a:r>
            <a:r>
              <a:rPr lang="en-US" altLang="en-US" sz="1600" dirty="0"/>
              <a:t> could be implemented as</a:t>
            </a:r>
            <a:br>
              <a:rPr lang="en-US" altLang="en-US" sz="1600" dirty="0"/>
            </a:br>
            <a:br>
              <a:rPr lang="en-US" altLang="en-US" sz="1600" dirty="0"/>
            </a:br>
            <a:r>
              <a:rPr lang="en-US" altLang="en-US" sz="1600" dirty="0"/>
              <a:t>     </a:t>
            </a:r>
            <a:r>
              <a:rPr lang="en-US" altLang="en-US" sz="1600" dirty="0">
                <a:solidFill>
                  <a:srgbClr val="0000FF"/>
                </a:solidFill>
              </a:rPr>
              <a:t>register1 = count</a:t>
            </a:r>
            <a:br>
              <a:rPr lang="en-US" altLang="en-US" sz="1600" dirty="0">
                <a:solidFill>
                  <a:srgbClr val="0000FF"/>
                </a:solidFill>
              </a:rPr>
            </a:br>
            <a:r>
              <a:rPr lang="en-US" altLang="en-US" sz="1600" dirty="0">
                <a:solidFill>
                  <a:srgbClr val="0000FF"/>
                </a:solidFill>
              </a:rPr>
              <a:t>     register1 = register1 + 1</a:t>
            </a:r>
            <a:br>
              <a:rPr lang="en-US" altLang="en-US" sz="1600" dirty="0">
                <a:solidFill>
                  <a:srgbClr val="0000FF"/>
                </a:solidFill>
              </a:rPr>
            </a:br>
            <a:r>
              <a:rPr lang="en-US" altLang="en-US" sz="1600" dirty="0">
                <a:solidFill>
                  <a:srgbClr val="0000FF"/>
                </a:solidFill>
              </a:rPr>
              <a:t>     count = register1</a:t>
            </a:r>
          </a:p>
          <a:p>
            <a:pPr>
              <a:lnSpc>
                <a:spcPct val="90000"/>
              </a:lnSpc>
            </a:pPr>
            <a:r>
              <a:rPr lang="en-US" altLang="en-US" sz="1600" dirty="0">
                <a:solidFill>
                  <a:schemeClr val="tx2"/>
                </a:solidFill>
              </a:rPr>
              <a:t>count--</a:t>
            </a:r>
            <a:r>
              <a:rPr lang="en-US" altLang="en-US" sz="1600" dirty="0"/>
              <a:t> could be implemented as</a:t>
            </a:r>
            <a:br>
              <a:rPr lang="en-US" altLang="en-US" sz="1600" dirty="0"/>
            </a:br>
            <a:br>
              <a:rPr lang="en-US" altLang="en-US" sz="1600" dirty="0"/>
            </a:br>
            <a:r>
              <a:rPr lang="en-US" altLang="en-US" sz="1600" dirty="0"/>
              <a:t>     </a:t>
            </a:r>
            <a:r>
              <a:rPr lang="en-US" altLang="en-US" sz="1600" dirty="0">
                <a:solidFill>
                  <a:schemeClr val="tx2"/>
                </a:solidFill>
              </a:rPr>
              <a:t>register2 = count</a:t>
            </a:r>
            <a:br>
              <a:rPr lang="en-US" altLang="en-US" sz="1600" dirty="0">
                <a:solidFill>
                  <a:schemeClr val="tx2"/>
                </a:solidFill>
              </a:rPr>
            </a:br>
            <a:r>
              <a:rPr lang="en-US" altLang="en-US" sz="1600" dirty="0">
                <a:solidFill>
                  <a:schemeClr val="tx2"/>
                </a:solidFill>
              </a:rPr>
              <a:t>     register2 = register2 - 1</a:t>
            </a:r>
            <a:br>
              <a:rPr lang="en-US" altLang="en-US" sz="1600" dirty="0">
                <a:solidFill>
                  <a:schemeClr val="tx2"/>
                </a:solidFill>
              </a:rPr>
            </a:br>
            <a:r>
              <a:rPr lang="en-US" altLang="en-US" sz="1600" dirty="0">
                <a:solidFill>
                  <a:schemeClr val="tx2"/>
                </a:solidFill>
              </a:rPr>
              <a:t>     count = register2</a:t>
            </a:r>
          </a:p>
          <a:p>
            <a:pPr>
              <a:lnSpc>
                <a:spcPct val="90000"/>
              </a:lnSpc>
            </a:pPr>
            <a:r>
              <a:rPr lang="en-US" altLang="en-US" sz="1600" dirty="0"/>
              <a:t>Consider this execution interleaving with “count = 5” initially:</a:t>
            </a:r>
          </a:p>
          <a:p>
            <a:pPr lvl="1">
              <a:lnSpc>
                <a:spcPct val="90000"/>
              </a:lnSpc>
              <a:buFont typeface="Monotype Sorts" pitchFamily="2" charset="2"/>
              <a:buNone/>
            </a:pPr>
            <a:r>
              <a:rPr lang="en-US" altLang="en-US" sz="1600" dirty="0"/>
              <a:t>	</a:t>
            </a:r>
            <a:r>
              <a:rPr lang="en-US" altLang="en-US" dirty="0"/>
              <a:t>S0: producer execute </a:t>
            </a:r>
            <a:r>
              <a:rPr lang="en-US" altLang="en-US" dirty="0">
                <a:solidFill>
                  <a:srgbClr val="0000FF"/>
                </a:solidFill>
              </a:rPr>
              <a:t>register1 = count</a:t>
            </a:r>
            <a:r>
              <a:rPr lang="en-US" altLang="en-US" dirty="0"/>
              <a:t>   {register1 = 5}</a:t>
            </a:r>
            <a:br>
              <a:rPr lang="en-US" altLang="en-US" dirty="0"/>
            </a:br>
            <a:r>
              <a:rPr lang="en-US" altLang="en-US" dirty="0"/>
              <a:t>S1: producer execute </a:t>
            </a:r>
            <a:r>
              <a:rPr lang="en-US" altLang="en-US" dirty="0">
                <a:solidFill>
                  <a:srgbClr val="0000FF"/>
                </a:solidFill>
              </a:rPr>
              <a:t>register1 = register1 + 1  </a:t>
            </a:r>
            <a:r>
              <a:rPr lang="en-US" altLang="en-US" dirty="0"/>
              <a:t> {register1 = 6} </a:t>
            </a:r>
            <a:br>
              <a:rPr lang="en-US" altLang="en-US" dirty="0"/>
            </a:br>
            <a:r>
              <a:rPr lang="en-US" altLang="en-US" dirty="0"/>
              <a:t>S2: consumer execute </a:t>
            </a:r>
            <a:r>
              <a:rPr lang="en-US" altLang="en-US" dirty="0">
                <a:solidFill>
                  <a:schemeClr val="tx2"/>
                </a:solidFill>
              </a:rPr>
              <a:t>register2 = count</a:t>
            </a:r>
            <a:r>
              <a:rPr lang="en-US" altLang="en-US" dirty="0"/>
              <a:t>   {register2 = 5} </a:t>
            </a:r>
            <a:br>
              <a:rPr lang="en-US" altLang="en-US" dirty="0"/>
            </a:br>
            <a:r>
              <a:rPr lang="en-US" altLang="en-US" dirty="0"/>
              <a:t>S3: consumer execute </a:t>
            </a:r>
            <a:r>
              <a:rPr lang="en-US" altLang="en-US" dirty="0">
                <a:solidFill>
                  <a:schemeClr val="tx2"/>
                </a:solidFill>
              </a:rPr>
              <a:t>register2 = register2 - 1</a:t>
            </a:r>
            <a:r>
              <a:rPr lang="en-US" altLang="en-US" dirty="0"/>
              <a:t>   {register2 = 4} </a:t>
            </a:r>
            <a:br>
              <a:rPr lang="en-US" altLang="en-US" dirty="0"/>
            </a:br>
            <a:r>
              <a:rPr lang="en-US" altLang="en-US" dirty="0"/>
              <a:t>S4: producer execute </a:t>
            </a:r>
            <a:r>
              <a:rPr lang="en-US" altLang="en-US" dirty="0">
                <a:solidFill>
                  <a:srgbClr val="0000FF"/>
                </a:solidFill>
              </a:rPr>
              <a:t>count = register1</a:t>
            </a:r>
            <a:r>
              <a:rPr lang="en-US" altLang="en-US" dirty="0"/>
              <a:t>   {count = 6 } </a:t>
            </a:r>
            <a:br>
              <a:rPr lang="en-US" altLang="en-US" dirty="0"/>
            </a:br>
            <a:r>
              <a:rPr lang="en-US" altLang="en-US" dirty="0"/>
              <a:t>S5: consumer execute </a:t>
            </a:r>
            <a:r>
              <a:rPr lang="en-US" altLang="en-US" dirty="0">
                <a:solidFill>
                  <a:schemeClr val="tx2"/>
                </a:solidFill>
              </a:rPr>
              <a:t>count = register2</a:t>
            </a:r>
            <a:r>
              <a:rPr lang="en-US" altLang="en-US" dirty="0"/>
              <a:t>   {count = 4}</a:t>
            </a:r>
          </a:p>
          <a:p>
            <a:pPr lvl="1">
              <a:lnSpc>
                <a:spcPct val="90000"/>
              </a:lnSpc>
              <a:buFont typeface="Monotype Sorts" pitchFamily="2" charset="2"/>
              <a:buNone/>
            </a:pPr>
            <a:endParaRPr lang="en-US" altLang="en-US" dirty="0"/>
          </a:p>
        </p:txBody>
      </p:sp>
    </p:spTree>
    <p:extLst>
      <p:ext uri="{BB962C8B-B14F-4D97-AF65-F5344CB8AC3E}">
        <p14:creationId xmlns:p14="http://schemas.microsoft.com/office/powerpoint/2010/main" val="261525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FE09-96A3-462A-DFDA-F36CFDE1B505}"/>
              </a:ext>
            </a:extLst>
          </p:cNvPr>
          <p:cNvSpPr>
            <a:spLocks noGrp="1"/>
          </p:cNvSpPr>
          <p:nvPr>
            <p:ph type="title"/>
          </p:nvPr>
        </p:nvSpPr>
        <p:spPr/>
        <p:txBody>
          <a:bodyPr/>
          <a:lstStyle/>
          <a:p>
            <a:r>
              <a:rPr lang="en-IN" dirty="0"/>
              <a:t>The Critical-Section Problem</a:t>
            </a:r>
          </a:p>
        </p:txBody>
      </p:sp>
      <p:sp>
        <p:nvSpPr>
          <p:cNvPr id="3" name="Content Placeholder 2">
            <a:extLst>
              <a:ext uri="{FF2B5EF4-FFF2-40B4-BE49-F238E27FC236}">
                <a16:creationId xmlns:a16="http://schemas.microsoft.com/office/drawing/2014/main" id="{4A88A52D-E20D-D193-AAE1-3DB854D3C48D}"/>
              </a:ext>
            </a:extLst>
          </p:cNvPr>
          <p:cNvSpPr>
            <a:spLocks noGrp="1"/>
          </p:cNvSpPr>
          <p:nvPr>
            <p:ph idx="1"/>
          </p:nvPr>
        </p:nvSpPr>
        <p:spPr/>
        <p:txBody>
          <a:bodyPr>
            <a:normAutofit fontScale="92500" lnSpcReduction="20000"/>
          </a:bodyPr>
          <a:lstStyle/>
          <a:p>
            <a:r>
              <a:rPr lang="en-US" dirty="0"/>
              <a:t>Consider a system consisting of n processes {P0, P1,..., Pn−1}. </a:t>
            </a:r>
          </a:p>
          <a:p>
            <a:r>
              <a:rPr lang="en-US" dirty="0"/>
              <a:t>Each process has a segment of code, called a critical section, in which the process may be accessing — and updating — data that is shared with at least one other process.</a:t>
            </a:r>
          </a:p>
          <a:p>
            <a:r>
              <a:rPr lang="en-US" dirty="0"/>
              <a:t>When one process is executing in its critical section, no other process is allowed to execute in its critical section. That is, no two processes are executing in their critical sections at the same time. </a:t>
            </a:r>
          </a:p>
          <a:p>
            <a:r>
              <a:rPr lang="en-US" dirty="0"/>
              <a:t>The </a:t>
            </a:r>
            <a:r>
              <a:rPr lang="en-US" b="1" dirty="0">
                <a:solidFill>
                  <a:schemeClr val="accent1"/>
                </a:solidFill>
              </a:rPr>
              <a:t>critical-section problem </a:t>
            </a:r>
            <a:r>
              <a:rPr lang="en-US" dirty="0"/>
              <a:t>is to design a protocol that the processes can use to synchronize their activity so as to cooperatively share data.</a:t>
            </a:r>
          </a:p>
          <a:p>
            <a:r>
              <a:rPr lang="en-US" dirty="0"/>
              <a:t> Each process must request permission to enter its critical section. The section of code implementing this request is the entry section. The critical section may be followed by an exit section. The remaining code is the remainder section</a:t>
            </a:r>
            <a:endParaRPr lang="en-IN" dirty="0"/>
          </a:p>
        </p:txBody>
      </p:sp>
    </p:spTree>
    <p:extLst>
      <p:ext uri="{BB962C8B-B14F-4D97-AF65-F5344CB8AC3E}">
        <p14:creationId xmlns:p14="http://schemas.microsoft.com/office/powerpoint/2010/main" val="2276473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73DC3-05D1-57C7-E89E-8D305326F3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A3B1F2-498D-EEF5-F48A-5D0D92CB82A7}"/>
              </a:ext>
            </a:extLst>
          </p:cNvPr>
          <p:cNvSpPr>
            <a:spLocks noGrp="1"/>
          </p:cNvSpPr>
          <p:nvPr>
            <p:ph idx="1"/>
          </p:nvPr>
        </p:nvSpPr>
        <p:spPr/>
        <p:txBody>
          <a:bodyPr/>
          <a:lstStyle/>
          <a:p>
            <a:r>
              <a:rPr lang="en-IN" dirty="0"/>
              <a:t>while (true)</a:t>
            </a:r>
          </a:p>
          <a:p>
            <a:pPr marL="0" indent="0">
              <a:buNone/>
            </a:pPr>
            <a:r>
              <a:rPr lang="en-IN" dirty="0"/>
              <a:t> 	{</a:t>
            </a:r>
          </a:p>
          <a:p>
            <a:pPr marL="0" indent="0">
              <a:buNone/>
            </a:pPr>
            <a:r>
              <a:rPr lang="en-IN" dirty="0"/>
              <a:t>		 entry section</a:t>
            </a:r>
          </a:p>
          <a:p>
            <a:pPr marL="0" indent="0">
              <a:buNone/>
            </a:pPr>
            <a:r>
              <a:rPr lang="en-IN" dirty="0"/>
              <a:t>		 	critical section </a:t>
            </a:r>
          </a:p>
          <a:p>
            <a:pPr marL="0" indent="0">
              <a:buNone/>
            </a:pPr>
            <a:r>
              <a:rPr lang="en-IN" dirty="0"/>
              <a:t>		exit section </a:t>
            </a:r>
          </a:p>
          <a:p>
            <a:pPr marL="0" indent="0">
              <a:buNone/>
            </a:pPr>
            <a:r>
              <a:rPr lang="en-IN" dirty="0"/>
              <a:t>			remainder section </a:t>
            </a:r>
          </a:p>
          <a:p>
            <a:pPr marL="0" indent="0">
              <a:buNone/>
            </a:pPr>
            <a:r>
              <a:rPr lang="en-IN" dirty="0"/>
              <a:t>	}</a:t>
            </a:r>
          </a:p>
        </p:txBody>
      </p:sp>
    </p:spTree>
    <p:extLst>
      <p:ext uri="{BB962C8B-B14F-4D97-AF65-F5344CB8AC3E}">
        <p14:creationId xmlns:p14="http://schemas.microsoft.com/office/powerpoint/2010/main" val="891153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709A6-6C58-7CEF-148F-08B614D03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323CB-43C4-14C1-61BF-A07DEEAE520F}"/>
              </a:ext>
            </a:extLst>
          </p:cNvPr>
          <p:cNvSpPr>
            <a:spLocks noGrp="1"/>
          </p:cNvSpPr>
          <p:nvPr>
            <p:ph type="title"/>
          </p:nvPr>
        </p:nvSpPr>
        <p:spPr/>
        <p:txBody>
          <a:bodyPr/>
          <a:lstStyle/>
          <a:p>
            <a:r>
              <a:rPr lang="en-US" altLang="en-US" dirty="0"/>
              <a:t>Solution to Critical-Section Problem</a:t>
            </a:r>
            <a:endParaRPr lang="en-IN" dirty="0"/>
          </a:p>
        </p:txBody>
      </p:sp>
      <p:sp>
        <p:nvSpPr>
          <p:cNvPr id="4" name="Rectangle 3">
            <a:extLst>
              <a:ext uri="{FF2B5EF4-FFF2-40B4-BE49-F238E27FC236}">
                <a16:creationId xmlns:a16="http://schemas.microsoft.com/office/drawing/2014/main" id="{3D3B78DF-7FFB-A639-A27D-4107B46B758D}"/>
              </a:ext>
            </a:extLst>
          </p:cNvPr>
          <p:cNvSpPr>
            <a:spLocks noGrp="1" noChangeArrowheads="1"/>
          </p:cNvSpPr>
          <p:nvPr>
            <p:ph idx="1"/>
          </p:nvPr>
        </p:nvSpPr>
        <p:spPr>
          <a:xfrm>
            <a:off x="838200" y="1825625"/>
            <a:ext cx="10515600" cy="4351338"/>
          </a:xfrm>
        </p:spPr>
        <p:txBody>
          <a:bodyPr>
            <a:normAutofit fontScale="92500" lnSpcReduction="20000"/>
          </a:bodyPr>
          <a:lstStyle/>
          <a:p>
            <a:pPr>
              <a:buFont typeface="Monotype Sorts" pitchFamily="2" charset="2"/>
              <a:buNone/>
            </a:pPr>
            <a:r>
              <a:rPr lang="en-US" altLang="en-US" dirty="0"/>
              <a:t>1.	</a:t>
            </a:r>
            <a:r>
              <a:rPr lang="en-US" altLang="en-US" dirty="0">
                <a:solidFill>
                  <a:schemeClr val="tx2"/>
                </a:solidFill>
              </a:rPr>
              <a:t>Mutual Exclusion</a:t>
            </a:r>
            <a:r>
              <a:rPr lang="en-US" altLang="en-US" dirty="0"/>
              <a:t> - If process </a:t>
            </a:r>
            <a:r>
              <a:rPr lang="en-US" altLang="en-US" dirty="0">
                <a:solidFill>
                  <a:srgbClr val="0000FF"/>
                </a:solidFill>
              </a:rPr>
              <a:t>P</a:t>
            </a:r>
            <a:r>
              <a:rPr lang="en-US" altLang="en-US" baseline="-25000" dirty="0">
                <a:solidFill>
                  <a:srgbClr val="0000FF"/>
                </a:solidFill>
              </a:rPr>
              <a:t>i</a:t>
            </a:r>
            <a:r>
              <a:rPr lang="en-US" altLang="en-US" dirty="0"/>
              <a:t> is executing in its critical section, then no other processes can be executing in their critical sections</a:t>
            </a:r>
          </a:p>
          <a:p>
            <a:pPr>
              <a:buFont typeface="Monotype Sorts" pitchFamily="2" charset="2"/>
              <a:buNone/>
            </a:pPr>
            <a:r>
              <a:rPr lang="en-US" altLang="en-US" dirty="0"/>
              <a:t>2.	</a:t>
            </a:r>
            <a:r>
              <a:rPr lang="en-US" altLang="en-US" dirty="0">
                <a:solidFill>
                  <a:schemeClr val="tx2"/>
                </a:solidFill>
              </a:rPr>
              <a:t>Progress</a:t>
            </a:r>
            <a:r>
              <a:rPr lang="en-US" altLang="en-US" dirty="0"/>
              <a:t> - If no process is executing in its critical section and there exist some processes that wish to enter their critical section, then only those processes that are not executing in their remainder section can participate in the decision on which will enter its critical section </a:t>
            </a:r>
            <a:r>
              <a:rPr lang="en-US" altLang="en-US"/>
              <a:t>next and cannot </a:t>
            </a:r>
            <a:r>
              <a:rPr lang="en-US" altLang="en-US" dirty="0"/>
              <a:t>be postponed indefinitely</a:t>
            </a:r>
          </a:p>
          <a:p>
            <a:pPr>
              <a:buFont typeface="Monotype Sorts" pitchFamily="2" charset="2"/>
              <a:buNone/>
            </a:pPr>
            <a:r>
              <a:rPr lang="en-US" altLang="en-US" dirty="0"/>
              <a:t>3.	</a:t>
            </a:r>
            <a:r>
              <a:rPr lang="en-US" altLang="en-US" dirty="0">
                <a:solidFill>
                  <a:schemeClr val="tx2"/>
                </a:solidFill>
              </a:rPr>
              <a:t>Bounded Waiting</a:t>
            </a:r>
            <a:r>
              <a:rPr lang="en-US" altLang="en-US" dirty="0"/>
              <a:t> -  A bound must exist on the number of times that other processes are allowed to enter their critical sections after a process has made a request to enter its critical section and before that request is granted</a:t>
            </a:r>
          </a:p>
          <a:p>
            <a:pPr lvl="1">
              <a:buSzPct val="125000"/>
              <a:buFont typeface="Wingdings 2" panose="05020102010507070707" pitchFamily="18" charset="2"/>
              <a:buChar char=""/>
            </a:pPr>
            <a:r>
              <a:rPr lang="en-US" altLang="en-US" dirty="0"/>
              <a:t>Assume that each process executes at a nonzero speed </a:t>
            </a:r>
          </a:p>
          <a:p>
            <a:pPr lvl="1">
              <a:buSzPct val="125000"/>
              <a:buFont typeface="Wingdings 2" panose="05020102010507070707" pitchFamily="18" charset="2"/>
              <a:buChar char=""/>
            </a:pPr>
            <a:r>
              <a:rPr lang="en-US" altLang="en-US" dirty="0"/>
              <a:t>No assumption concerning relative speed of the </a:t>
            </a:r>
            <a:r>
              <a:rPr lang="en-US" altLang="en-US" dirty="0">
                <a:solidFill>
                  <a:srgbClr val="0000FF"/>
                </a:solidFill>
              </a:rPr>
              <a:t>N</a:t>
            </a:r>
            <a:r>
              <a:rPr lang="en-US" altLang="en-US" dirty="0"/>
              <a:t> processes</a:t>
            </a:r>
          </a:p>
        </p:txBody>
      </p:sp>
    </p:spTree>
    <p:extLst>
      <p:ext uri="{BB962C8B-B14F-4D97-AF65-F5344CB8AC3E}">
        <p14:creationId xmlns:p14="http://schemas.microsoft.com/office/powerpoint/2010/main" val="2774538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FCE06-E23A-B721-ACB6-C42C51E9F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0F2DF-375C-2528-CD6A-C3C62886C94B}"/>
              </a:ext>
            </a:extLst>
          </p:cNvPr>
          <p:cNvSpPr>
            <a:spLocks noGrp="1"/>
          </p:cNvSpPr>
          <p:nvPr>
            <p:ph type="title"/>
          </p:nvPr>
        </p:nvSpPr>
        <p:spPr/>
        <p:txBody>
          <a:bodyPr/>
          <a:lstStyle/>
          <a:p>
            <a:r>
              <a:rPr lang="en-US" altLang="en-US" dirty="0"/>
              <a:t>Peterson’s Solution</a:t>
            </a:r>
            <a:endParaRPr lang="en-IN" dirty="0"/>
          </a:p>
        </p:txBody>
      </p:sp>
      <p:sp>
        <p:nvSpPr>
          <p:cNvPr id="4" name="Rectangle 3">
            <a:extLst>
              <a:ext uri="{FF2B5EF4-FFF2-40B4-BE49-F238E27FC236}">
                <a16:creationId xmlns:a16="http://schemas.microsoft.com/office/drawing/2014/main" id="{0FD3FA1B-5B2B-384C-1CFA-9526CF788868}"/>
              </a:ext>
            </a:extLst>
          </p:cNvPr>
          <p:cNvSpPr>
            <a:spLocks noGrp="1" noChangeArrowheads="1"/>
          </p:cNvSpPr>
          <p:nvPr>
            <p:ph idx="1"/>
          </p:nvPr>
        </p:nvSpPr>
        <p:spPr>
          <a:xfrm>
            <a:off x="838200" y="1825625"/>
            <a:ext cx="10515600" cy="4351338"/>
          </a:xfrm>
        </p:spPr>
        <p:txBody>
          <a:bodyPr>
            <a:normAutofit lnSpcReduction="10000"/>
          </a:bodyPr>
          <a:lstStyle/>
          <a:p>
            <a:pPr>
              <a:lnSpc>
                <a:spcPct val="90000"/>
              </a:lnSpc>
              <a:tabLst>
                <a:tab pos="744538" algn="l"/>
                <a:tab pos="1025525" algn="l"/>
                <a:tab pos="1260475" algn="l"/>
              </a:tabLst>
            </a:pPr>
            <a:r>
              <a:rPr lang="en-US" altLang="en-US" dirty="0"/>
              <a:t>Two process solution</a:t>
            </a:r>
          </a:p>
          <a:p>
            <a:pPr>
              <a:lnSpc>
                <a:spcPct val="90000"/>
              </a:lnSpc>
              <a:tabLst>
                <a:tab pos="744538" algn="l"/>
                <a:tab pos="1025525" algn="l"/>
                <a:tab pos="1260475" algn="l"/>
              </a:tabLst>
            </a:pPr>
            <a:r>
              <a:rPr lang="en-US" altLang="en-US" dirty="0"/>
              <a:t>Assume that the LOAD and STORE instructions are atomic; that is, cannot be interrupted.</a:t>
            </a:r>
          </a:p>
          <a:p>
            <a:pPr>
              <a:lnSpc>
                <a:spcPct val="90000"/>
              </a:lnSpc>
              <a:tabLst>
                <a:tab pos="744538" algn="l"/>
                <a:tab pos="1025525" algn="l"/>
                <a:tab pos="1260475" algn="l"/>
              </a:tabLst>
            </a:pPr>
            <a:r>
              <a:rPr lang="en-US" altLang="en-US" dirty="0"/>
              <a:t>The two processes share two variables:</a:t>
            </a:r>
          </a:p>
          <a:p>
            <a:pPr lvl="1">
              <a:lnSpc>
                <a:spcPct val="90000"/>
              </a:lnSpc>
              <a:tabLst>
                <a:tab pos="744538" algn="l"/>
                <a:tab pos="1025525" algn="l"/>
                <a:tab pos="1260475" algn="l"/>
              </a:tabLst>
            </a:pPr>
            <a:r>
              <a:rPr lang="en-US" altLang="en-US" dirty="0"/>
              <a:t>int</a:t>
            </a:r>
            <a:r>
              <a:rPr lang="en-US" altLang="en-US" dirty="0">
                <a:solidFill>
                  <a:srgbClr val="FF0000"/>
                </a:solidFill>
              </a:rPr>
              <a:t> turn</a:t>
            </a:r>
            <a:r>
              <a:rPr lang="en-US" altLang="en-US" dirty="0"/>
              <a:t>; </a:t>
            </a:r>
          </a:p>
          <a:p>
            <a:pPr lvl="1">
              <a:lnSpc>
                <a:spcPct val="90000"/>
              </a:lnSpc>
              <a:tabLst>
                <a:tab pos="744538" algn="l"/>
                <a:tab pos="1025525" algn="l"/>
                <a:tab pos="1260475" algn="l"/>
              </a:tabLst>
            </a:pPr>
            <a:r>
              <a:rPr lang="en-US" altLang="en-US" dirty="0"/>
              <a:t>Boolean </a:t>
            </a:r>
            <a:r>
              <a:rPr lang="en-US" altLang="en-US" dirty="0">
                <a:solidFill>
                  <a:srgbClr val="FF0000"/>
                </a:solidFill>
              </a:rPr>
              <a:t>flag[2]</a:t>
            </a:r>
          </a:p>
          <a:p>
            <a:pPr>
              <a:lnSpc>
                <a:spcPct val="90000"/>
              </a:lnSpc>
              <a:tabLst>
                <a:tab pos="744538" algn="l"/>
                <a:tab pos="1025525" algn="l"/>
                <a:tab pos="1260475" algn="l"/>
              </a:tabLst>
            </a:pPr>
            <a:r>
              <a:rPr lang="en-US" altLang="en-US" dirty="0"/>
              <a:t>The variable </a:t>
            </a:r>
            <a:r>
              <a:rPr lang="en-US" altLang="en-US" dirty="0">
                <a:solidFill>
                  <a:srgbClr val="FF0000"/>
                </a:solidFill>
              </a:rPr>
              <a:t>turn</a:t>
            </a:r>
            <a:r>
              <a:rPr lang="en-US" altLang="en-US" dirty="0"/>
              <a:t> indicates whose turn it is to enter the critical section.  </a:t>
            </a:r>
          </a:p>
          <a:p>
            <a:pPr>
              <a:lnSpc>
                <a:spcPct val="90000"/>
              </a:lnSpc>
              <a:tabLst>
                <a:tab pos="744538" algn="l"/>
                <a:tab pos="1025525" algn="l"/>
                <a:tab pos="1260475" algn="l"/>
              </a:tabLst>
            </a:pPr>
            <a:r>
              <a:rPr lang="en-US" altLang="en-US" dirty="0"/>
              <a:t>The </a:t>
            </a:r>
            <a:r>
              <a:rPr lang="en-US" altLang="en-US" dirty="0">
                <a:solidFill>
                  <a:srgbClr val="FF0000"/>
                </a:solidFill>
              </a:rPr>
              <a:t>flag</a:t>
            </a:r>
            <a:r>
              <a:rPr lang="en-US" altLang="en-US" dirty="0"/>
              <a:t> array is used to indicate if a process is ready to enter the critical section. </a:t>
            </a:r>
            <a:r>
              <a:rPr lang="en-US" altLang="en-US" dirty="0">
                <a:solidFill>
                  <a:srgbClr val="FF0000"/>
                </a:solidFill>
              </a:rPr>
              <a:t>flag[</a:t>
            </a:r>
            <a:r>
              <a:rPr lang="en-US" altLang="en-US" dirty="0" err="1">
                <a:solidFill>
                  <a:srgbClr val="FF0000"/>
                </a:solidFill>
              </a:rPr>
              <a:t>i</a:t>
            </a:r>
            <a:r>
              <a:rPr lang="en-US" altLang="en-US" dirty="0">
                <a:solidFill>
                  <a:srgbClr val="FF0000"/>
                </a:solidFill>
              </a:rPr>
              <a:t>] </a:t>
            </a:r>
            <a:r>
              <a:rPr lang="en-US" altLang="en-US" dirty="0"/>
              <a:t>= true implies that process </a:t>
            </a:r>
            <a:r>
              <a:rPr lang="en-US" altLang="en-US" dirty="0">
                <a:solidFill>
                  <a:srgbClr val="0000FF"/>
                </a:solidFill>
              </a:rPr>
              <a:t>P</a:t>
            </a:r>
            <a:r>
              <a:rPr lang="en-US" altLang="en-US" baseline="-25000" dirty="0">
                <a:solidFill>
                  <a:srgbClr val="0000FF"/>
                </a:solidFill>
              </a:rPr>
              <a:t>i</a:t>
            </a:r>
            <a:r>
              <a:rPr lang="en-US" altLang="en-US" dirty="0"/>
              <a:t> is ready!</a:t>
            </a:r>
          </a:p>
        </p:txBody>
      </p:sp>
    </p:spTree>
    <p:extLst>
      <p:ext uri="{BB962C8B-B14F-4D97-AF65-F5344CB8AC3E}">
        <p14:creationId xmlns:p14="http://schemas.microsoft.com/office/powerpoint/2010/main" val="2215678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586BB-5724-D53E-0F88-C171A6B47EEE}"/>
              </a:ext>
            </a:extLst>
          </p:cNvPr>
          <p:cNvSpPr>
            <a:spLocks noGrp="1"/>
          </p:cNvSpPr>
          <p:nvPr>
            <p:ph type="title"/>
          </p:nvPr>
        </p:nvSpPr>
        <p:spPr>
          <a:xfrm>
            <a:off x="838200" y="365126"/>
            <a:ext cx="10515600" cy="863600"/>
          </a:xfrm>
        </p:spPr>
        <p:txBody>
          <a:bodyPr/>
          <a:lstStyle/>
          <a:p>
            <a:endParaRPr lang="en-IN" dirty="0"/>
          </a:p>
        </p:txBody>
      </p:sp>
      <p:sp>
        <p:nvSpPr>
          <p:cNvPr id="4" name="Rectangle 3">
            <a:extLst>
              <a:ext uri="{FF2B5EF4-FFF2-40B4-BE49-F238E27FC236}">
                <a16:creationId xmlns:a16="http://schemas.microsoft.com/office/drawing/2014/main" id="{0B368766-9179-9D9E-C89A-66CB437D0830}"/>
              </a:ext>
            </a:extLst>
          </p:cNvPr>
          <p:cNvSpPr>
            <a:spLocks noGrp="1" noChangeArrowheads="1"/>
          </p:cNvSpPr>
          <p:nvPr>
            <p:ph idx="1"/>
          </p:nvPr>
        </p:nvSpPr>
        <p:spPr>
          <a:xfrm>
            <a:off x="838200" y="1228726"/>
            <a:ext cx="3752850" cy="5381623"/>
          </a:xfrm>
        </p:spPr>
        <p:txBody>
          <a:bodyPr>
            <a:normAutofit fontScale="62500" lnSpcReduction="20000"/>
          </a:bodyPr>
          <a:lstStyle/>
          <a:p>
            <a:pPr>
              <a:lnSpc>
                <a:spcPct val="90000"/>
              </a:lnSpc>
              <a:buFont typeface="Monotype Sorts" pitchFamily="2" charset="2"/>
              <a:buNone/>
            </a:pPr>
            <a:r>
              <a:rPr lang="en-US" altLang="en-US" dirty="0">
                <a:solidFill>
                  <a:srgbClr val="0000FF"/>
                </a:solidFill>
              </a:rPr>
              <a:t>	</a:t>
            </a:r>
            <a:r>
              <a:rPr lang="en-US" altLang="en-US" dirty="0"/>
              <a:t>Algorithm for Process </a:t>
            </a:r>
            <a:r>
              <a:rPr lang="en-US" altLang="en-US" dirty="0">
                <a:solidFill>
                  <a:srgbClr val="0000FF"/>
                </a:solidFill>
              </a:rPr>
              <a:t>P</a:t>
            </a:r>
            <a:r>
              <a:rPr lang="en-US" altLang="en-US" baseline="-25000" dirty="0">
                <a:solidFill>
                  <a:srgbClr val="0000FF"/>
                </a:solidFill>
              </a:rPr>
              <a:t>i</a:t>
            </a:r>
            <a:endParaRPr lang="en-US" altLang="en-US" dirty="0">
              <a:solidFill>
                <a:srgbClr val="0000FF"/>
              </a:solidFill>
            </a:endParaRPr>
          </a:p>
          <a:p>
            <a:pPr>
              <a:lnSpc>
                <a:spcPct val="90000"/>
              </a:lnSpc>
              <a:buFont typeface="Monotype Sorts" pitchFamily="2" charset="2"/>
              <a:buNone/>
            </a:pPr>
            <a:r>
              <a:rPr lang="en-US" altLang="en-US" dirty="0">
                <a:solidFill>
                  <a:srgbClr val="0000FF"/>
                </a:solidFill>
              </a:rPr>
              <a:t>while (true) </a:t>
            </a:r>
          </a:p>
          <a:p>
            <a:pPr>
              <a:lnSpc>
                <a:spcPct val="90000"/>
              </a:lnSpc>
              <a:buFont typeface="Monotype Sorts" pitchFamily="2" charset="2"/>
              <a:buNone/>
            </a:pPr>
            <a:r>
              <a:rPr lang="en-US" altLang="en-US" dirty="0">
                <a:solidFill>
                  <a:srgbClr val="0000FF"/>
                </a:solidFill>
              </a:rPr>
              <a:t>      {</a:t>
            </a:r>
          </a:p>
          <a:p>
            <a:pPr>
              <a:lnSpc>
                <a:spcPct val="90000"/>
              </a:lnSpc>
              <a:buFont typeface="Monotype Sorts" pitchFamily="2" charset="2"/>
              <a:buNone/>
            </a:pPr>
            <a:r>
              <a:rPr lang="en-US" altLang="en-US" dirty="0">
                <a:solidFill>
                  <a:srgbClr val="0000FF"/>
                </a:solidFill>
              </a:rPr>
              <a:t>		flag[ </a:t>
            </a:r>
            <a:r>
              <a:rPr lang="en-US" altLang="en-US" dirty="0" err="1">
                <a:solidFill>
                  <a:srgbClr val="0000FF"/>
                </a:solidFill>
              </a:rPr>
              <a:t>i</a:t>
            </a:r>
            <a:r>
              <a:rPr lang="en-US" altLang="en-US" dirty="0">
                <a:solidFill>
                  <a:srgbClr val="0000FF"/>
                </a:solidFill>
              </a:rPr>
              <a:t> ] = TRUE;</a:t>
            </a:r>
          </a:p>
          <a:p>
            <a:pPr>
              <a:lnSpc>
                <a:spcPct val="90000"/>
              </a:lnSpc>
              <a:buFont typeface="Monotype Sorts" pitchFamily="2" charset="2"/>
              <a:buNone/>
            </a:pPr>
            <a:r>
              <a:rPr lang="en-US" altLang="en-US" dirty="0">
                <a:solidFill>
                  <a:srgbClr val="0000FF"/>
                </a:solidFill>
              </a:rPr>
              <a:t>      	 turn = j;</a:t>
            </a:r>
          </a:p>
          <a:p>
            <a:pPr>
              <a:lnSpc>
                <a:spcPct val="90000"/>
              </a:lnSpc>
              <a:buFont typeface="Monotype Sorts" pitchFamily="2" charset="2"/>
              <a:buNone/>
            </a:pPr>
            <a:r>
              <a:rPr lang="en-US" altLang="en-US" dirty="0">
                <a:solidFill>
                  <a:srgbClr val="0000FF"/>
                </a:solidFill>
              </a:rPr>
              <a:t>       	while ( flag[ j ] &amp;&amp; turn == j); </a:t>
            </a:r>
          </a:p>
          <a:p>
            <a:pPr>
              <a:lnSpc>
                <a:spcPct val="90000"/>
              </a:lnSpc>
              <a:buFont typeface="Monotype Sorts" pitchFamily="2" charset="2"/>
              <a:buNone/>
            </a:pPr>
            <a:r>
              <a:rPr lang="en-US" altLang="en-US" dirty="0">
                <a:solidFill>
                  <a:srgbClr val="0000FF"/>
                </a:solidFill>
              </a:rPr>
              <a:t>		     /* do nothing */</a:t>
            </a:r>
          </a:p>
          <a:p>
            <a:pPr>
              <a:lnSpc>
                <a:spcPct val="90000"/>
              </a:lnSpc>
              <a:buFont typeface="Monotype Sorts" pitchFamily="2" charset="2"/>
              <a:buNone/>
            </a:pPr>
            <a:endParaRPr lang="en-US" altLang="en-US" dirty="0">
              <a:solidFill>
                <a:srgbClr val="0000FF"/>
              </a:solidFill>
            </a:endParaRPr>
          </a:p>
          <a:p>
            <a:pPr>
              <a:lnSpc>
                <a:spcPct val="90000"/>
              </a:lnSpc>
              <a:buFont typeface="Monotype Sorts" pitchFamily="2" charset="2"/>
              <a:buNone/>
            </a:pPr>
            <a:r>
              <a:rPr lang="en-US" altLang="en-US" dirty="0">
                <a:solidFill>
                  <a:srgbClr val="0000FF"/>
                </a:solidFill>
              </a:rPr>
              <a:t>       	/* CRITICAL SECTION */</a:t>
            </a:r>
          </a:p>
          <a:p>
            <a:pPr>
              <a:lnSpc>
                <a:spcPct val="90000"/>
              </a:lnSpc>
              <a:buFont typeface="Monotype Sorts" pitchFamily="2" charset="2"/>
              <a:buNone/>
            </a:pPr>
            <a:endParaRPr lang="en-US" altLang="en-US" dirty="0">
              <a:solidFill>
                <a:srgbClr val="0000FF"/>
              </a:solidFill>
            </a:endParaRPr>
          </a:p>
          <a:p>
            <a:pPr>
              <a:lnSpc>
                <a:spcPct val="90000"/>
              </a:lnSpc>
              <a:buFont typeface="Monotype Sorts" pitchFamily="2" charset="2"/>
              <a:buNone/>
            </a:pPr>
            <a:r>
              <a:rPr lang="en-US" altLang="en-US" dirty="0">
                <a:solidFill>
                  <a:srgbClr val="0000FF"/>
                </a:solidFill>
              </a:rPr>
              <a:t>     		flag[ </a:t>
            </a:r>
            <a:r>
              <a:rPr lang="en-US" altLang="en-US" dirty="0" err="1">
                <a:solidFill>
                  <a:srgbClr val="0000FF"/>
                </a:solidFill>
              </a:rPr>
              <a:t>i</a:t>
            </a:r>
            <a:r>
              <a:rPr lang="en-US" altLang="en-US" dirty="0">
                <a:solidFill>
                  <a:srgbClr val="0000FF"/>
                </a:solidFill>
              </a:rPr>
              <a:t> ] = FALSE;</a:t>
            </a:r>
          </a:p>
          <a:p>
            <a:pPr>
              <a:lnSpc>
                <a:spcPct val="90000"/>
              </a:lnSpc>
              <a:buFont typeface="Monotype Sorts" pitchFamily="2" charset="2"/>
              <a:buNone/>
            </a:pPr>
            <a:endParaRPr lang="en-US" altLang="en-US" dirty="0">
              <a:solidFill>
                <a:srgbClr val="0000FF"/>
              </a:solidFill>
            </a:endParaRPr>
          </a:p>
          <a:p>
            <a:pPr>
              <a:lnSpc>
                <a:spcPct val="90000"/>
              </a:lnSpc>
              <a:buFont typeface="Monotype Sorts" pitchFamily="2" charset="2"/>
              <a:buNone/>
            </a:pPr>
            <a:r>
              <a:rPr lang="en-US" altLang="en-US" dirty="0">
                <a:solidFill>
                  <a:srgbClr val="0000FF"/>
                </a:solidFill>
              </a:rPr>
              <a:t>       	/* REMAINDER SECTION */</a:t>
            </a:r>
          </a:p>
          <a:p>
            <a:pPr>
              <a:lnSpc>
                <a:spcPct val="90000"/>
              </a:lnSpc>
              <a:buFont typeface="Monotype Sorts" pitchFamily="2" charset="2"/>
              <a:buNone/>
            </a:pPr>
            <a:endParaRPr lang="en-US" altLang="en-US" dirty="0">
              <a:solidFill>
                <a:srgbClr val="0000FF"/>
              </a:solidFill>
            </a:endParaRPr>
          </a:p>
          <a:p>
            <a:pPr>
              <a:lnSpc>
                <a:spcPct val="90000"/>
              </a:lnSpc>
              <a:buFont typeface="Monotype Sorts" pitchFamily="2" charset="2"/>
              <a:buNone/>
            </a:pPr>
            <a:r>
              <a:rPr lang="en-US" altLang="en-US" dirty="0">
                <a:solidFill>
                  <a:srgbClr val="0000FF"/>
                </a:solidFill>
              </a:rPr>
              <a:t>      }</a:t>
            </a:r>
          </a:p>
          <a:p>
            <a:pPr>
              <a:lnSpc>
                <a:spcPct val="90000"/>
              </a:lnSpc>
              <a:buFont typeface="Monotype Sorts" pitchFamily="2" charset="2"/>
              <a:buNone/>
            </a:pPr>
            <a:r>
              <a:rPr lang="en-US" altLang="en-US" dirty="0">
                <a:solidFill>
                  <a:srgbClr val="0000FF"/>
                </a:solidFill>
              </a:rPr>
              <a:t>	</a:t>
            </a:r>
          </a:p>
        </p:txBody>
      </p:sp>
      <p:sp>
        <p:nvSpPr>
          <p:cNvPr id="5" name="Rectangle 3">
            <a:extLst>
              <a:ext uri="{FF2B5EF4-FFF2-40B4-BE49-F238E27FC236}">
                <a16:creationId xmlns:a16="http://schemas.microsoft.com/office/drawing/2014/main" id="{05D46956-7DAA-6DE4-6B7F-955042664E58}"/>
              </a:ext>
            </a:extLst>
          </p:cNvPr>
          <p:cNvSpPr txBox="1">
            <a:spLocks noChangeArrowheads="1"/>
          </p:cNvSpPr>
          <p:nvPr/>
        </p:nvSpPr>
        <p:spPr>
          <a:xfrm>
            <a:off x="7210425" y="1143000"/>
            <a:ext cx="4000500" cy="503396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tLang="en-US" sz="1800" dirty="0">
                <a:solidFill>
                  <a:srgbClr val="0000FF"/>
                </a:solidFill>
              </a:rPr>
              <a:t>Algorithm for Process </a:t>
            </a:r>
            <a:r>
              <a:rPr lang="en-US" altLang="en-US" sz="1800" dirty="0" err="1">
                <a:solidFill>
                  <a:srgbClr val="0000FF"/>
                </a:solidFill>
              </a:rPr>
              <a:t>Pj</a:t>
            </a:r>
            <a:endParaRPr lang="en-US" altLang="en-US" sz="1800" dirty="0">
              <a:solidFill>
                <a:srgbClr val="0000FF"/>
              </a:solidFill>
            </a:endParaRPr>
          </a:p>
          <a:p>
            <a:pPr>
              <a:buNone/>
            </a:pPr>
            <a:r>
              <a:rPr lang="en-US" altLang="en-US" sz="1800" dirty="0">
                <a:solidFill>
                  <a:srgbClr val="0000FF"/>
                </a:solidFill>
              </a:rPr>
              <a:t>while (true) </a:t>
            </a:r>
          </a:p>
          <a:p>
            <a:pPr>
              <a:buNone/>
            </a:pPr>
            <a:r>
              <a:rPr lang="en-US" altLang="en-US" sz="1800" dirty="0">
                <a:solidFill>
                  <a:srgbClr val="0000FF"/>
                </a:solidFill>
              </a:rPr>
              <a:t>      {</a:t>
            </a:r>
          </a:p>
          <a:p>
            <a:pPr>
              <a:buNone/>
            </a:pPr>
            <a:r>
              <a:rPr lang="en-US" altLang="en-US" sz="1800" dirty="0">
                <a:solidFill>
                  <a:srgbClr val="0000FF"/>
                </a:solidFill>
              </a:rPr>
              <a:t>		flag[ j ] = TRUE;</a:t>
            </a:r>
          </a:p>
          <a:p>
            <a:pPr>
              <a:buNone/>
            </a:pPr>
            <a:r>
              <a:rPr lang="en-US" altLang="en-US" sz="1800" dirty="0">
                <a:solidFill>
                  <a:srgbClr val="0000FF"/>
                </a:solidFill>
              </a:rPr>
              <a:t>      	 turn = </a:t>
            </a:r>
            <a:r>
              <a:rPr lang="en-US" altLang="en-US" sz="1800" dirty="0" err="1">
                <a:solidFill>
                  <a:srgbClr val="0000FF"/>
                </a:solidFill>
              </a:rPr>
              <a:t>i</a:t>
            </a:r>
            <a:r>
              <a:rPr lang="en-US" altLang="en-US" sz="1800" dirty="0">
                <a:solidFill>
                  <a:srgbClr val="0000FF"/>
                </a:solidFill>
              </a:rPr>
              <a:t>;</a:t>
            </a:r>
          </a:p>
          <a:p>
            <a:pPr>
              <a:buNone/>
            </a:pPr>
            <a:r>
              <a:rPr lang="en-US" altLang="en-US" sz="1800" dirty="0">
                <a:solidFill>
                  <a:srgbClr val="0000FF"/>
                </a:solidFill>
              </a:rPr>
              <a:t>       	while ( flag[ </a:t>
            </a:r>
            <a:r>
              <a:rPr lang="en-US" altLang="en-US" sz="1800" dirty="0" err="1">
                <a:solidFill>
                  <a:srgbClr val="0000FF"/>
                </a:solidFill>
              </a:rPr>
              <a:t>i</a:t>
            </a:r>
            <a:r>
              <a:rPr lang="en-US" altLang="en-US" sz="1800" dirty="0">
                <a:solidFill>
                  <a:srgbClr val="0000FF"/>
                </a:solidFill>
              </a:rPr>
              <a:t> ] &amp;&amp; turn == </a:t>
            </a:r>
            <a:r>
              <a:rPr lang="en-US" altLang="en-US" sz="1800" dirty="0" err="1">
                <a:solidFill>
                  <a:srgbClr val="0000FF"/>
                </a:solidFill>
              </a:rPr>
              <a:t>i</a:t>
            </a:r>
            <a:r>
              <a:rPr lang="en-US" altLang="en-US" sz="1800" dirty="0">
                <a:solidFill>
                  <a:srgbClr val="0000FF"/>
                </a:solidFill>
              </a:rPr>
              <a:t>); </a:t>
            </a:r>
          </a:p>
          <a:p>
            <a:pPr>
              <a:buNone/>
            </a:pPr>
            <a:r>
              <a:rPr lang="en-US" altLang="en-US" sz="1800" dirty="0">
                <a:solidFill>
                  <a:srgbClr val="0000FF"/>
                </a:solidFill>
              </a:rPr>
              <a:t>		      /* do nothing */</a:t>
            </a:r>
          </a:p>
          <a:p>
            <a:pPr>
              <a:buNone/>
            </a:pPr>
            <a:endParaRPr lang="en-US" altLang="en-US" sz="1800" dirty="0">
              <a:solidFill>
                <a:srgbClr val="0000FF"/>
              </a:solidFill>
            </a:endParaRPr>
          </a:p>
          <a:p>
            <a:pPr>
              <a:buNone/>
            </a:pPr>
            <a:r>
              <a:rPr lang="en-US" altLang="en-US" sz="1800" dirty="0">
                <a:solidFill>
                  <a:srgbClr val="0000FF"/>
                </a:solidFill>
              </a:rPr>
              <a:t>       	/* CRITICAL SECTION */</a:t>
            </a:r>
          </a:p>
          <a:p>
            <a:pPr>
              <a:buNone/>
            </a:pPr>
            <a:endParaRPr lang="en-US" altLang="en-US" sz="1800" dirty="0">
              <a:solidFill>
                <a:srgbClr val="0000FF"/>
              </a:solidFill>
            </a:endParaRPr>
          </a:p>
          <a:p>
            <a:pPr>
              <a:buNone/>
            </a:pPr>
            <a:r>
              <a:rPr lang="en-US" altLang="en-US" sz="1800" dirty="0">
                <a:solidFill>
                  <a:srgbClr val="0000FF"/>
                </a:solidFill>
              </a:rPr>
              <a:t>     		flag[ j] = FALSE;</a:t>
            </a:r>
          </a:p>
          <a:p>
            <a:pPr>
              <a:buNone/>
            </a:pPr>
            <a:endParaRPr lang="en-US" altLang="en-US" sz="1800" dirty="0">
              <a:solidFill>
                <a:srgbClr val="0000FF"/>
              </a:solidFill>
            </a:endParaRPr>
          </a:p>
          <a:p>
            <a:pPr>
              <a:buNone/>
            </a:pPr>
            <a:r>
              <a:rPr lang="en-US" altLang="en-US" sz="1800" dirty="0">
                <a:solidFill>
                  <a:srgbClr val="0000FF"/>
                </a:solidFill>
              </a:rPr>
              <a:t>       	/* REMAINDER SECTION */</a:t>
            </a:r>
          </a:p>
          <a:p>
            <a:pPr>
              <a:buNone/>
            </a:pPr>
            <a:endParaRPr lang="en-US" altLang="en-US" sz="1800" dirty="0">
              <a:solidFill>
                <a:srgbClr val="0000FF"/>
              </a:solidFill>
            </a:endParaRPr>
          </a:p>
          <a:p>
            <a:pPr>
              <a:buNone/>
            </a:pPr>
            <a:r>
              <a:rPr lang="en-US" altLang="en-US" sz="1800" dirty="0">
                <a:solidFill>
                  <a:srgbClr val="0000FF"/>
                </a:solidFill>
              </a:rPr>
              <a:t>      }</a:t>
            </a:r>
          </a:p>
          <a:p>
            <a:pPr>
              <a:buNone/>
            </a:pPr>
            <a:r>
              <a:rPr lang="en-US" altLang="en-US" sz="1800" dirty="0">
                <a:solidFill>
                  <a:srgbClr val="0000FF"/>
                </a:solidFill>
              </a:rPr>
              <a:t>	</a:t>
            </a:r>
          </a:p>
        </p:txBody>
      </p:sp>
    </p:spTree>
    <p:extLst>
      <p:ext uri="{BB962C8B-B14F-4D97-AF65-F5344CB8AC3E}">
        <p14:creationId xmlns:p14="http://schemas.microsoft.com/office/powerpoint/2010/main" val="3828801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TotalTime>
  <Words>1032</Words>
  <Application>Microsoft Office PowerPoint</Application>
  <PresentationFormat>Widescreen</PresentationFormat>
  <Paragraphs>107</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Courier New</vt:lpstr>
      <vt:lpstr>Monotype Sorts</vt:lpstr>
      <vt:lpstr>Wingdings 2</vt:lpstr>
      <vt:lpstr>Office Theme</vt:lpstr>
      <vt:lpstr>Process Synchronisation</vt:lpstr>
      <vt:lpstr>Process</vt:lpstr>
      <vt:lpstr>PowerPoint Presentation</vt:lpstr>
      <vt:lpstr>Race Condition</vt:lpstr>
      <vt:lpstr>Producer Consumer Problem</vt:lpstr>
      <vt:lpstr>Producer</vt:lpstr>
      <vt:lpstr>Consumer</vt:lpstr>
      <vt:lpstr>Race Condition</vt:lpstr>
      <vt:lpstr>The Critical-Section Problem</vt:lpstr>
      <vt:lpstr>PowerPoint Presentation</vt:lpstr>
      <vt:lpstr>Solution to Critical-Section Problem</vt:lpstr>
      <vt:lpstr>Peterson’s Solution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REENA GEORGE</dc:creator>
  <cp:lastModifiedBy>REENA GEORGE</cp:lastModifiedBy>
  <cp:revision>8</cp:revision>
  <dcterms:created xsi:type="dcterms:W3CDTF">2025-02-24T13:25:29Z</dcterms:created>
  <dcterms:modified xsi:type="dcterms:W3CDTF">2025-02-25T04:00:15Z</dcterms:modified>
</cp:coreProperties>
</file>