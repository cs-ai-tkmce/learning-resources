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0" r:id="rId12"/>
    <p:sldId id="271" r:id="rId13"/>
    <p:sldId id="272" r:id="rId14"/>
    <p:sldId id="274" r:id="rId15"/>
    <p:sldId id="273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19AA-F395-83AD-55EA-E58EBA4C0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794C2-860F-C2C4-969F-408E1CA3D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6D73D-3F84-DB5C-7F15-65277DAC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B62E4-5256-EEE4-DE42-F893F3AB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66792-8295-5A54-BC02-177CD863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201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9E5E-1FBF-4769-10F2-15192375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956A-A4B3-C3BB-2EF9-7C2CA1F3E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54841-9C20-82E8-C1C8-BE15A708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83151-BABE-FEC8-FD3C-2F28FEB4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A41DD-1F5F-664B-725A-BBF18FF0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875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D6DE-713A-6B96-5A57-15C4C389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00593-A58B-5E10-2BC4-E4BDB0723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47AD3-D6D8-965E-B5D9-7018310A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2CD31-EC6E-A34C-366F-6DBD45DF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AEA7E-2E06-7E81-3C8A-EE13CB480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32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6125-B1DA-D3D0-E4E8-4F3BD3A5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AF0F5-0A79-C945-BF9E-A518135F1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22703-45FF-D4A3-DD06-C44414539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D7E20-6982-0C70-3AA9-B8B47662D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A98A2-26AB-F330-92E2-EFBDDD60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2202A-5D01-1992-EDF1-5E98BD61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6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92CBA-196C-BB3C-7A12-5A83854B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AABF6-2AE1-736C-6709-F0F243A0B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924EB-5C8C-8099-BC7B-792A8989C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2F124-8FE0-85EF-5CBF-11F76006F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1F5AEF-4635-031F-5C85-6A1837B8B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AF1A8-AC82-BE4E-073F-5276D676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E50C8A-D89C-2204-1F60-3A8819A1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870F02-625C-483E-F5EC-56198457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63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9F80-E023-F64C-6F5A-E199DD2D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5BBC5-294A-7EBD-9611-2FA4D6378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B609C-B5F4-933B-2374-05E7BF19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A0542-4E6C-92AF-BCC1-062AA1CA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808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175F22-49A3-771D-6E93-C6E6ED3F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89AB04-8BDB-6E87-C0E5-9C5DA10A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7B587-75A2-9AFE-A30E-C176E8E7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105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F1C5-35A0-B409-DDA3-C526881B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342A8-9BA9-69FF-61FD-A063FD0CB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A43DB-BDC8-7432-1E05-5E27F257D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52BAD-5BB7-8F8F-63DB-BF27AE9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4030-DCB4-5A4C-C6C9-26034A81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5EB76-C1E3-7584-6871-DF485A3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936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67A4-CB6E-C585-6916-909941A34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1E4379-DA37-4403-CBE9-C671FB0E8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846E9-7365-A474-3CC3-2F82E2133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8B72F-429A-4361-DDED-F8A434E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FBE0B-7EF7-FAD6-4286-5DC5DEF9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0F8E9-BE22-6D4C-0816-A70C17B1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42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2910-48E3-CB90-839A-D07C5B03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893E7-8516-E3F7-8EF4-61E52B774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E7D59-ADB0-271D-0177-78182D59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53CC7-D075-8B87-288E-05473EF5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B5045-EC88-5555-2021-F8D8B846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78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A2C30-395F-905E-36CF-5AC0CFE42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5D30F-0F5D-6F38-6655-CF5190C9F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404A8-9736-3673-BDCF-A365EF78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E2320-BFFF-FA60-A0BB-A2D03DFD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7B2C1-C084-6DAA-08E1-D37F5289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55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E18A5-CDAD-3262-9342-CCE6F6CF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F00E1-110F-44DC-D697-666903F94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EA74A-A58E-D6A9-5702-EAE5872F6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A209B-03F5-41B1-A076-51A8AB660D5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EB5F1-DD30-809F-1D58-75FC4D5DD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B37C3-6834-61DF-5670-E49816560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48D0E-7969-4501-BEF7-50D1A21C33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122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F20C-F45E-E86B-B732-A8C4F7E0AC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FE397-BB10-65B9-033B-6A2BE7AE0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887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D4F1-FC3D-698C-6264-84640063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Layout of a process</a:t>
            </a:r>
          </a:p>
        </p:txBody>
      </p:sp>
      <p:sp>
        <p:nvSpPr>
          <p:cNvPr id="6" name="AutoShape 2" descr="Lightbox">
            <a:extLst>
              <a:ext uri="{FF2B5EF4-FFF2-40B4-BE49-F238E27FC236}">
                <a16:creationId xmlns:a16="http://schemas.microsoft.com/office/drawing/2014/main" id="{53B71177-0737-6663-D33C-E0A9D07721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257175"/>
            <a:ext cx="3324225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AF0B65-30F2-8283-7E9C-CCE82145D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79" y="2238226"/>
            <a:ext cx="6950042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5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F7C4-4990-90E4-4B89-BB8A5C3A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Control Block (PCB)</a:t>
            </a:r>
            <a:endParaRPr lang="en-IN" dirty="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69E70BD6-7CCF-4FE8-2E38-EC2A8B6D2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396" y="1238568"/>
            <a:ext cx="3075147" cy="4938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998F5E3-5DD9-9EAE-9670-B3B03033A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52575"/>
            <a:ext cx="6962775" cy="4624388"/>
          </a:xfrm>
        </p:spPr>
        <p:txBody>
          <a:bodyPr>
            <a:normAutofit fontScale="77500" lnSpcReduction="200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Information associated with each process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(also called </a:t>
            </a:r>
            <a:r>
              <a:rPr lang="en-US" altLang="en-US" b="1" dirty="0">
                <a:solidFill>
                  <a:srgbClr val="3366FF"/>
                </a:solidFill>
              </a:rPr>
              <a:t>task control block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Process state – running, waiting,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Program counter – location of instruction to next execute</a:t>
            </a:r>
          </a:p>
          <a:p>
            <a:r>
              <a:rPr lang="en-US" altLang="en-US" dirty="0"/>
              <a:t>CPU registers – contents of all process-centric registers</a:t>
            </a:r>
          </a:p>
          <a:p>
            <a:r>
              <a:rPr lang="en-US" altLang="en-US" dirty="0"/>
              <a:t>CPU scheduling information- priorities, scheduling queue pointers</a:t>
            </a:r>
          </a:p>
          <a:p>
            <a:r>
              <a:rPr lang="en-US" altLang="en-US" dirty="0"/>
              <a:t>Memory-management information – memory allocated to the process</a:t>
            </a:r>
          </a:p>
          <a:p>
            <a:r>
              <a:rPr lang="en-US" altLang="en-US" dirty="0"/>
              <a:t>Accounting information – CPU used, clock time elapsed since start, time limits</a:t>
            </a:r>
          </a:p>
          <a:p>
            <a:r>
              <a:rPr lang="en-US" altLang="en-US" dirty="0"/>
              <a:t>I/O status information – I/O devices allocated to process, list of open files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935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A0C9CCC-CED0-3E7F-C8D7-FB9412572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CPU Switch From Process to Process</a:t>
            </a: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4F5F6B67-962E-6CE2-E06C-DA7651B11A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175" y="1825625"/>
            <a:ext cx="647765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392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844B-27B8-D360-294D-84261481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Scheduling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8F3BC-6410-D81A-1681-EF1B45E57A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Maximize CPU use, quickly switch processes onto CPU for time sharing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Process scheduler </a:t>
            </a:r>
            <a:r>
              <a:rPr lang="en-US" altLang="en-US" dirty="0"/>
              <a:t>selects among available processes for next execution on CPU</a:t>
            </a:r>
          </a:p>
          <a:p>
            <a:r>
              <a:rPr lang="en-US" altLang="en-US" dirty="0"/>
              <a:t>Maintains </a:t>
            </a:r>
            <a:r>
              <a:rPr lang="en-US" altLang="en-US" b="1" dirty="0">
                <a:solidFill>
                  <a:srgbClr val="3366FF"/>
                </a:solidFill>
              </a:rPr>
              <a:t>scheduling queues </a:t>
            </a:r>
            <a:r>
              <a:rPr lang="en-US" altLang="en-US" dirty="0"/>
              <a:t>of processes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Job queue </a:t>
            </a:r>
            <a:r>
              <a:rPr lang="en-US" altLang="en-US" dirty="0"/>
              <a:t>– set of all processes in the system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Ready queue </a:t>
            </a:r>
            <a:r>
              <a:rPr lang="en-US" altLang="en-US" dirty="0"/>
              <a:t>– set of all processes residing in main memory, ready and waiting to execute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Device queues </a:t>
            </a:r>
            <a:r>
              <a:rPr lang="en-US" altLang="en-US" dirty="0"/>
              <a:t>– set of processes waiting for an I/O device</a:t>
            </a:r>
          </a:p>
          <a:p>
            <a:pPr lvl="1"/>
            <a:r>
              <a:rPr lang="en-US" altLang="en-US" dirty="0"/>
              <a:t>Processes migrate among the various queues</a:t>
            </a:r>
          </a:p>
        </p:txBody>
      </p:sp>
    </p:spTree>
    <p:extLst>
      <p:ext uri="{BB962C8B-B14F-4D97-AF65-F5344CB8AC3E}">
        <p14:creationId xmlns:p14="http://schemas.microsoft.com/office/powerpoint/2010/main" val="276993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2030BBF-B0F0-30B8-B30B-64533D895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Ready Queue And Various I/O Device Queues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EFEE8F14-77EC-16AC-3A81-8892136F57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959" y="1825625"/>
            <a:ext cx="5044082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601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D7B3FB1-E673-4C92-9A9F-81CA8C10D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/>
              <a:t>Representation of Process Scheduling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344988-A7C8-1E3F-6394-50EF1F2574FA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>
                <a:solidFill>
                  <a:srgbClr val="3366FF"/>
                </a:solidFill>
                <a:latin typeface="Helvetica" panose="020B0604020202020204" pitchFamily="34" charset="0"/>
              </a:rPr>
              <a:t>Queueing diagram </a:t>
            </a:r>
            <a:r>
              <a:rPr kumimoji="1" lang="en-US" altLang="en-US">
                <a:latin typeface="Helvetica" panose="020B0604020202020204" pitchFamily="34" charset="0"/>
              </a:rPr>
              <a:t>represents queues, resources, flows</a:t>
            </a:r>
          </a:p>
        </p:txBody>
      </p:sp>
      <p:pic>
        <p:nvPicPr>
          <p:cNvPr id="6" name="Picture 4" descr="3">
            <a:extLst>
              <a:ext uri="{FF2B5EF4-FFF2-40B4-BE49-F238E27FC236}">
                <a16:creationId xmlns:a16="http://schemas.microsoft.com/office/drawing/2014/main" id="{CE149366-E055-5ACA-8007-8FCA3184A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2601912"/>
            <a:ext cx="654685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033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E009-FF48-1D1C-E6B6-981A6DDE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Schedulers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DDDF6-CCBB-F8A4-780A-18DED3778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2000" dirty="0"/>
              <a:t>(or </a:t>
            </a:r>
            <a:r>
              <a:rPr lang="en-US" altLang="en-US" sz="2000" b="1" dirty="0">
                <a:solidFill>
                  <a:srgbClr val="3366FF"/>
                </a:solidFill>
              </a:rPr>
              <a:t>CPU scheduler</a:t>
            </a:r>
            <a:r>
              <a:rPr lang="en-US" altLang="en-US" sz="2000" dirty="0"/>
              <a:t>) – selects which process should be executed next and allocates CPU</a:t>
            </a:r>
          </a:p>
          <a:p>
            <a:pPr lvl="1"/>
            <a:r>
              <a:rPr lang="en-US" altLang="en-US" sz="2000" dirty="0"/>
              <a:t>Sometimes the only scheduler in a system</a:t>
            </a:r>
          </a:p>
          <a:p>
            <a:pPr lvl="1"/>
            <a:r>
              <a:rPr lang="en-US" altLang="en-US" sz="2000" dirty="0"/>
              <a:t>Short-term scheduler is invoked frequently (milliseconds) </a:t>
            </a:r>
            <a:r>
              <a:rPr lang="en-US" altLang="en-US" sz="2000" dirty="0">
                <a:sym typeface="Symbol" panose="05050102010706020507" pitchFamily="18" charset="2"/>
              </a:rPr>
              <a:t> (must be fast)</a:t>
            </a:r>
          </a:p>
          <a:p>
            <a:r>
              <a:rPr lang="en-US" altLang="en-US" sz="20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2000" dirty="0"/>
              <a:t>(or </a:t>
            </a:r>
            <a:r>
              <a:rPr lang="en-US" altLang="en-US" sz="2000" b="1" dirty="0">
                <a:solidFill>
                  <a:srgbClr val="3366FF"/>
                </a:solidFill>
              </a:rPr>
              <a:t>job scheduler</a:t>
            </a:r>
            <a:r>
              <a:rPr lang="en-US" altLang="en-US" sz="2000" dirty="0"/>
              <a:t>) – selects which processes should be brought into the ready queue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Long-term scheduler is invoked  infrequently (seconds, minutes)  (may be slow)</a:t>
            </a: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The long-term scheduler controls the </a:t>
            </a:r>
            <a:r>
              <a:rPr lang="en-US" altLang="en-US" sz="2000" b="1" dirty="0">
                <a:solidFill>
                  <a:srgbClr val="3366FF"/>
                </a:solidFill>
                <a:sym typeface="Symbol" panose="05050102010706020507" pitchFamily="18" charset="2"/>
              </a:rPr>
              <a:t>degree of multiprogramming</a:t>
            </a:r>
            <a:endParaRPr lang="en-US" altLang="en-US" sz="2000" i="1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Processes can be described as either: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  <a:sym typeface="Symbol" panose="05050102010706020507" pitchFamily="18" charset="2"/>
              </a:rPr>
              <a:t>I/O-bound process</a:t>
            </a:r>
            <a:r>
              <a:rPr lang="en-US" altLang="en-US" sz="20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– spends more time doing I/O than computations, many short CPU bursts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  <a:sym typeface="Symbol" panose="05050102010706020507" pitchFamily="18" charset="2"/>
              </a:rPr>
              <a:t>CPU-bound process </a:t>
            </a:r>
            <a:r>
              <a:rPr lang="en-US" altLang="en-US" sz="2000" dirty="0">
                <a:sym typeface="Symbol" panose="05050102010706020507" pitchFamily="18" charset="2"/>
              </a:rPr>
              <a:t>– spends more time doing computations; few very long CPU bursts</a:t>
            </a:r>
          </a:p>
          <a:p>
            <a:r>
              <a:rPr lang="en-US" altLang="en-US" sz="2000" dirty="0">
                <a:sym typeface="Symbol" panose="05050102010706020507" pitchFamily="18" charset="2"/>
              </a:rPr>
              <a:t>Long-term scheduler strives for good </a:t>
            </a:r>
            <a:r>
              <a:rPr lang="en-US" altLang="en-US" sz="2000" b="1" i="1" dirty="0">
                <a:sym typeface="Symbol" panose="05050102010706020507" pitchFamily="18" charset="2"/>
              </a:rPr>
              <a:t>process mix</a:t>
            </a:r>
            <a:endParaRPr lang="en-US" altLang="en-US" sz="2000" dirty="0">
              <a:sym typeface="Symbol" panose="05050102010706020507" pitchFamily="18" charset="2"/>
            </a:endParaRPr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2945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7D98-7F87-B622-27A3-A06B7BA3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FC81B5FA-F7EF-A9B2-4742-35BF73EC40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91059"/>
            <a:ext cx="10515600" cy="3820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206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1A58C-D5D2-EE0B-C709-D0F3222B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Context Switch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8CFCBF-47D9-34C2-D724-5FCD91D3BB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When CPU switches to another process, the system must </a:t>
            </a:r>
            <a:r>
              <a:rPr lang="en-US" altLang="en-US" b="1" dirty="0">
                <a:solidFill>
                  <a:srgbClr val="3366FF"/>
                </a:solidFill>
              </a:rPr>
              <a:t>save the state </a:t>
            </a:r>
            <a:r>
              <a:rPr lang="en-US" altLang="en-US" dirty="0"/>
              <a:t>of the old process and load the </a:t>
            </a:r>
            <a:r>
              <a:rPr lang="en-US" altLang="en-US" b="1" dirty="0">
                <a:solidFill>
                  <a:srgbClr val="3366FF"/>
                </a:solidFill>
              </a:rPr>
              <a:t>saved state </a:t>
            </a:r>
            <a:r>
              <a:rPr lang="en-US" altLang="en-US" dirty="0"/>
              <a:t>for the new process via a </a:t>
            </a:r>
            <a:r>
              <a:rPr lang="en-US" altLang="en-US" b="1" dirty="0">
                <a:solidFill>
                  <a:srgbClr val="3366FF"/>
                </a:solidFill>
              </a:rPr>
              <a:t>context switch</a:t>
            </a:r>
            <a:endParaRPr lang="en-US" altLang="en-US" dirty="0"/>
          </a:p>
          <a:p>
            <a:r>
              <a:rPr lang="en-US" altLang="en-US" b="1" dirty="0">
                <a:solidFill>
                  <a:srgbClr val="3366FF"/>
                </a:solidFill>
              </a:rPr>
              <a:t>Context </a:t>
            </a:r>
            <a:r>
              <a:rPr lang="en-US" altLang="en-US" dirty="0"/>
              <a:t>of a process represented in the PCB</a:t>
            </a:r>
          </a:p>
          <a:p>
            <a:r>
              <a:rPr lang="en-US" altLang="en-US" dirty="0"/>
              <a:t>Context-switch time is overhead; the system does no useful work while switching</a:t>
            </a:r>
          </a:p>
          <a:p>
            <a:pPr lvl="1"/>
            <a:r>
              <a:rPr lang="en-US" altLang="en-US" dirty="0"/>
              <a:t>The more complex the OS and the PCB </a:t>
            </a:r>
            <a:r>
              <a:rPr lang="en-US" altLang="en-US" dirty="0">
                <a:sym typeface="Wingdings" panose="05000000000000000000" pitchFamily="2" charset="2"/>
              </a:rPr>
              <a:t> the </a:t>
            </a:r>
            <a:r>
              <a:rPr lang="en-US" altLang="en-US" dirty="0"/>
              <a:t>longer the </a:t>
            </a:r>
            <a:r>
              <a:rPr lang="en-US" altLang="en-US"/>
              <a:t>context switch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9255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00E5D-1AA6-88C5-829A-61673B55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States(LIFE CYCLE)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8647D8-50FF-1F74-749F-79EC28B301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2082006"/>
            <a:ext cx="632460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54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401F-1845-AD3D-F2E2-BB485DE28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2518-D438-E616-B98F-627B11168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775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stdlib.h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a = 5;</a:t>
            </a:r>
          </a:p>
          <a:p>
            <a:pPr marL="0" indent="0">
              <a:buNone/>
            </a:pPr>
            <a:r>
              <a:rPr lang="en-IN" dirty="0"/>
              <a:t>static int b;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c = 10;</a:t>
            </a:r>
          </a:p>
          <a:p>
            <a:pPr marL="0" indent="0">
              <a:buNone/>
            </a:pPr>
            <a:r>
              <a:rPr lang="en-IN" dirty="0"/>
              <a:t>    int *p = (int*)malloc(</a:t>
            </a:r>
            <a:r>
              <a:rPr lang="en-IN" dirty="0" err="1"/>
              <a:t>sizeof</a:t>
            </a:r>
            <a:r>
              <a:rPr lang="en-IN" dirty="0"/>
              <a:t>(int));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31BC08-3E0A-42D8-C09E-547C623FCD4A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8577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which memory section will each of the following be stored?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b</a:t>
            </a:r>
          </a:p>
          <a:p>
            <a:r>
              <a:rPr lang="en-US" dirty="0"/>
              <a:t>c</a:t>
            </a:r>
          </a:p>
          <a:p>
            <a:r>
              <a:rPr lang="en-US" dirty="0"/>
              <a:t>pointer p</a:t>
            </a:r>
          </a:p>
          <a:p>
            <a:r>
              <a:rPr lang="en-US" dirty="0"/>
              <a:t>memory allocated by malloc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890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307C-FEB8-9D11-2C6C-76CEFE95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dirty="0">
                <a:latin typeface="Arial" panose="020B0604020202020204" pitchFamily="34" charset="0"/>
              </a:rPr>
              <a:t>2) A process contains the sections: Text, Initialized Data, BSS, Heap, and Stack. Match each section with its property:</a:t>
            </a:r>
            <a:br>
              <a:rPr lang="en-US" altLang="en-US" sz="2800" dirty="0">
                <a:latin typeface="Arial" panose="020B0604020202020204" pitchFamily="34" charset="0"/>
              </a:rPr>
            </a:b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7D18E7-E57E-385F-AA5F-1431CECA7D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451852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403045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935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(</a:t>
                      </a:r>
                      <a:r>
                        <a:rPr lang="en-IN" dirty="0" err="1"/>
                        <a:t>i</a:t>
                      </a:r>
                      <a:r>
                        <a:rPr lang="en-IN" dirty="0"/>
                        <a:t>)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(a) Grows upward/downward dynamically, stores local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498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(ii)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(b) Stores global variables explicitly initialized in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223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(iii) BSS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(c) Stores global/static variables not initialized by programmer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0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(iv) Heap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(d) Contains compiled machine instructions, read-only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936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(v) 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(e) Allocated at runtime using malloc/new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64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63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1043F-91DA-EC0E-A49E-10E9DCFBD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3EE0-42B7-D266-71B2-53ED35DBD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521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3B0C-66D5-6605-0381-F2F6C45A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dirty="0">
                <a:latin typeface="+mn-lt"/>
              </a:rPr>
              <a:t>3) </a:t>
            </a:r>
            <a:r>
              <a:rPr lang="en-US" sz="2200" dirty="0">
                <a:latin typeface="+mn-lt"/>
              </a:rPr>
              <a:t>Given the following processes with their times and priority (lower number indicates higher priority) . Compute average waiting time using priority scheduling algorithm?</a:t>
            </a:r>
            <a:br>
              <a:rPr lang="en-US" sz="2200" dirty="0">
                <a:latin typeface="+mn-lt"/>
              </a:rPr>
            </a:br>
            <a:br>
              <a:rPr lang="en-US" sz="2200" dirty="0"/>
            </a:br>
            <a:endParaRPr lang="en-IN" sz="22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0F17F17-DCAA-8C7C-59AE-E16069157A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6952865"/>
              </p:ext>
            </p:extLst>
          </p:nvPr>
        </p:nvGraphicFramePr>
        <p:xfrm>
          <a:off x="838200" y="1825625"/>
          <a:ext cx="10515597" cy="309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5588478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0033771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00357480"/>
                    </a:ext>
                  </a:extLst>
                </a:gridCol>
              </a:tblGrid>
              <a:tr h="516467">
                <a:tc>
                  <a:txBody>
                    <a:bodyPr/>
                    <a:lstStyle/>
                    <a:p>
                      <a:r>
                        <a:rPr lang="en-IN" dirty="0"/>
                        <a:t>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496039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IN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726678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IN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78487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IN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846081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IN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160282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IN" dirty="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794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243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34A9-08A4-3B63-58F6-A18D69FE3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Operations on Processes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5BB4F-4063-7335-B6B3-541CAA071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System must provide mechanisms for:</a:t>
            </a:r>
          </a:p>
          <a:p>
            <a:pPr lvl="1"/>
            <a:r>
              <a:rPr lang="en-US" altLang="en-US" dirty="0"/>
              <a:t> process creation,</a:t>
            </a:r>
          </a:p>
          <a:p>
            <a:pPr lvl="1"/>
            <a:r>
              <a:rPr lang="en-US" altLang="en-US" dirty="0"/>
              <a:t> process termination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190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E481-245A-3E2E-5E59-B9F9D2D9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Creation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5B7C9A-EAF1-03B9-5851-E1EF882535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3366FF"/>
                </a:solidFill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3366FF"/>
                </a:solidFill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process identifier </a:t>
            </a:r>
            <a:r>
              <a:rPr lang="en-US" altLang="en-US" dirty="0"/>
              <a:t>(</a:t>
            </a:r>
            <a:r>
              <a:rPr lang="en-US" altLang="en-US" b="1" dirty="0" err="1">
                <a:solidFill>
                  <a:srgbClr val="3366FF"/>
                </a:solidFill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3717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17E6-432C-F30F-4D9C-6ECB8577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Tree of Processes in Linux</a:t>
            </a:r>
            <a:endParaRPr lang="en-IN" dirty="0"/>
          </a:p>
        </p:txBody>
      </p:sp>
      <p:pic>
        <p:nvPicPr>
          <p:cNvPr id="4" name="Picture 1" descr="3_08.pdf">
            <a:extLst>
              <a:ext uri="{FF2B5EF4-FFF2-40B4-BE49-F238E27FC236}">
                <a16:creationId xmlns:a16="http://schemas.microsoft.com/office/drawing/2014/main" id="{FEACC74C-8F4F-7CE3-A0E0-5113A5822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9239581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949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25E9-D0C4-27C2-A865-77C9216B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BF6D-3189-5803-38B4-B3CD9F982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641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719</Words>
  <Application>Microsoft Office PowerPoint</Application>
  <PresentationFormat>Widescreen</PresentationFormat>
  <Paragraphs>105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Helvetica</vt:lpstr>
      <vt:lpstr>Monotype Sorts</vt:lpstr>
      <vt:lpstr>Symbol</vt:lpstr>
      <vt:lpstr>Wingdings</vt:lpstr>
      <vt:lpstr>Office Theme</vt:lpstr>
      <vt:lpstr>Process</vt:lpstr>
      <vt:lpstr>Memory Layout of a process</vt:lpstr>
      <vt:lpstr>Process Control Block (PCB)</vt:lpstr>
      <vt:lpstr>CPU Switch From Process to Process</vt:lpstr>
      <vt:lpstr>Process Scheduling</vt:lpstr>
      <vt:lpstr>Ready Queue And Various I/O Device Queues</vt:lpstr>
      <vt:lpstr>Representation of Process Scheduling</vt:lpstr>
      <vt:lpstr>Schedulers</vt:lpstr>
      <vt:lpstr>PowerPoint Presentation</vt:lpstr>
      <vt:lpstr>Context Switch</vt:lpstr>
      <vt:lpstr>Process States(LIFE CYCLE)</vt:lpstr>
      <vt:lpstr>1)</vt:lpstr>
      <vt:lpstr>2) A process contains the sections: Text, Initialized Data, BSS, Heap, and Stack. Match each section with its property: </vt:lpstr>
      <vt:lpstr>PowerPoint Presentation</vt:lpstr>
      <vt:lpstr>3) Given the following processes with their times and priority (lower number indicates higher priority) . Compute average waiting time using priority scheduling algorithm?  </vt:lpstr>
      <vt:lpstr>Operations on Processes</vt:lpstr>
      <vt:lpstr>Process Creation</vt:lpstr>
      <vt:lpstr>A Tree of Processes in Linux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GEORGE</dc:creator>
  <cp:lastModifiedBy>REENA GEORGE</cp:lastModifiedBy>
  <cp:revision>8</cp:revision>
  <dcterms:created xsi:type="dcterms:W3CDTF">2025-01-14T16:21:50Z</dcterms:created>
  <dcterms:modified xsi:type="dcterms:W3CDTF">2026-01-06T08:39:03Z</dcterms:modified>
</cp:coreProperties>
</file>