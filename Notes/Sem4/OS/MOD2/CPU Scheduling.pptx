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58"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0" d="100"/>
          <a:sy n="80" d="100"/>
        </p:scale>
        <p:origin x="78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5C47E-67EE-7F69-6A44-E466B33CD2C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0114835-D636-35AC-B861-FAEA2D467C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524CD18-5344-7EE4-D0F8-AAB00514C286}"/>
              </a:ext>
            </a:extLst>
          </p:cNvPr>
          <p:cNvSpPr>
            <a:spLocks noGrp="1"/>
          </p:cNvSpPr>
          <p:nvPr>
            <p:ph type="dt" sz="half" idx="10"/>
          </p:nvPr>
        </p:nvSpPr>
        <p:spPr/>
        <p:txBody>
          <a:bodyPr/>
          <a:lstStyle/>
          <a:p>
            <a:fld id="{F3674170-46F9-458F-BB4A-57A28ACCB5CC}" type="datetimeFigureOut">
              <a:rPr lang="en-IN" smtClean="0"/>
              <a:t>29-12-2025</a:t>
            </a:fld>
            <a:endParaRPr lang="en-IN"/>
          </a:p>
        </p:txBody>
      </p:sp>
      <p:sp>
        <p:nvSpPr>
          <p:cNvPr id="5" name="Footer Placeholder 4">
            <a:extLst>
              <a:ext uri="{FF2B5EF4-FFF2-40B4-BE49-F238E27FC236}">
                <a16:creationId xmlns:a16="http://schemas.microsoft.com/office/drawing/2014/main" id="{52838BAF-37C2-9231-30A2-6E928439D7A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95B7E4-7798-AE94-FD75-A0BC75D9ACAA}"/>
              </a:ext>
            </a:extLst>
          </p:cNvPr>
          <p:cNvSpPr>
            <a:spLocks noGrp="1"/>
          </p:cNvSpPr>
          <p:nvPr>
            <p:ph type="sldNum" sz="quarter" idx="12"/>
          </p:nvPr>
        </p:nvSpPr>
        <p:spPr/>
        <p:txBody>
          <a:bodyPr/>
          <a:lstStyle/>
          <a:p>
            <a:fld id="{56CEB07B-A92E-4A76-A3D0-22470A7C5AAE}" type="slidenum">
              <a:rPr lang="en-IN" smtClean="0"/>
              <a:t>‹#›</a:t>
            </a:fld>
            <a:endParaRPr lang="en-IN"/>
          </a:p>
        </p:txBody>
      </p:sp>
    </p:spTree>
    <p:extLst>
      <p:ext uri="{BB962C8B-B14F-4D97-AF65-F5344CB8AC3E}">
        <p14:creationId xmlns:p14="http://schemas.microsoft.com/office/powerpoint/2010/main" val="2289092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88192-6965-A67C-A6E1-7BA925154DC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59A89E3-0D1B-BD4E-B95D-479C5F8D211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8EF7C1C-67CF-B876-9DC8-3CC922C6D4A6}"/>
              </a:ext>
            </a:extLst>
          </p:cNvPr>
          <p:cNvSpPr>
            <a:spLocks noGrp="1"/>
          </p:cNvSpPr>
          <p:nvPr>
            <p:ph type="dt" sz="half" idx="10"/>
          </p:nvPr>
        </p:nvSpPr>
        <p:spPr/>
        <p:txBody>
          <a:bodyPr/>
          <a:lstStyle/>
          <a:p>
            <a:fld id="{F3674170-46F9-458F-BB4A-57A28ACCB5CC}" type="datetimeFigureOut">
              <a:rPr lang="en-IN" smtClean="0"/>
              <a:t>29-12-2025</a:t>
            </a:fld>
            <a:endParaRPr lang="en-IN"/>
          </a:p>
        </p:txBody>
      </p:sp>
      <p:sp>
        <p:nvSpPr>
          <p:cNvPr id="5" name="Footer Placeholder 4">
            <a:extLst>
              <a:ext uri="{FF2B5EF4-FFF2-40B4-BE49-F238E27FC236}">
                <a16:creationId xmlns:a16="http://schemas.microsoft.com/office/drawing/2014/main" id="{E33A981D-5A9F-A360-DF78-210A9002873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7EE789-A67D-48B1-3531-A55A9101482A}"/>
              </a:ext>
            </a:extLst>
          </p:cNvPr>
          <p:cNvSpPr>
            <a:spLocks noGrp="1"/>
          </p:cNvSpPr>
          <p:nvPr>
            <p:ph type="sldNum" sz="quarter" idx="12"/>
          </p:nvPr>
        </p:nvSpPr>
        <p:spPr/>
        <p:txBody>
          <a:bodyPr/>
          <a:lstStyle/>
          <a:p>
            <a:fld id="{56CEB07B-A92E-4A76-A3D0-22470A7C5AAE}" type="slidenum">
              <a:rPr lang="en-IN" smtClean="0"/>
              <a:t>‹#›</a:t>
            </a:fld>
            <a:endParaRPr lang="en-IN"/>
          </a:p>
        </p:txBody>
      </p:sp>
    </p:spTree>
    <p:extLst>
      <p:ext uri="{BB962C8B-B14F-4D97-AF65-F5344CB8AC3E}">
        <p14:creationId xmlns:p14="http://schemas.microsoft.com/office/powerpoint/2010/main" val="25909043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871C1-3698-60F3-55E4-BB6106C499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FC95099-9117-65D1-0B8D-2BF6F0A27BB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585E39-A521-53F8-6E91-417429609D3C}"/>
              </a:ext>
            </a:extLst>
          </p:cNvPr>
          <p:cNvSpPr>
            <a:spLocks noGrp="1"/>
          </p:cNvSpPr>
          <p:nvPr>
            <p:ph type="dt" sz="half" idx="10"/>
          </p:nvPr>
        </p:nvSpPr>
        <p:spPr/>
        <p:txBody>
          <a:bodyPr/>
          <a:lstStyle/>
          <a:p>
            <a:fld id="{F3674170-46F9-458F-BB4A-57A28ACCB5CC}" type="datetimeFigureOut">
              <a:rPr lang="en-IN" smtClean="0"/>
              <a:t>29-12-2025</a:t>
            </a:fld>
            <a:endParaRPr lang="en-IN"/>
          </a:p>
        </p:txBody>
      </p:sp>
      <p:sp>
        <p:nvSpPr>
          <p:cNvPr id="5" name="Footer Placeholder 4">
            <a:extLst>
              <a:ext uri="{FF2B5EF4-FFF2-40B4-BE49-F238E27FC236}">
                <a16:creationId xmlns:a16="http://schemas.microsoft.com/office/drawing/2014/main" id="{D286A1AE-AC4B-5F08-E0EB-03BC716CB14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B736EA5-3F12-8239-C01A-A0AACCF8F173}"/>
              </a:ext>
            </a:extLst>
          </p:cNvPr>
          <p:cNvSpPr>
            <a:spLocks noGrp="1"/>
          </p:cNvSpPr>
          <p:nvPr>
            <p:ph type="sldNum" sz="quarter" idx="12"/>
          </p:nvPr>
        </p:nvSpPr>
        <p:spPr/>
        <p:txBody>
          <a:bodyPr/>
          <a:lstStyle/>
          <a:p>
            <a:fld id="{56CEB07B-A92E-4A76-A3D0-22470A7C5AAE}" type="slidenum">
              <a:rPr lang="en-IN" smtClean="0"/>
              <a:t>‹#›</a:t>
            </a:fld>
            <a:endParaRPr lang="en-IN"/>
          </a:p>
        </p:txBody>
      </p:sp>
    </p:spTree>
    <p:extLst>
      <p:ext uri="{BB962C8B-B14F-4D97-AF65-F5344CB8AC3E}">
        <p14:creationId xmlns:p14="http://schemas.microsoft.com/office/powerpoint/2010/main" val="418241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1A0D4-52BD-B317-4F1D-C1C7BDA2E16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E46A966-4E40-7D77-C923-72D281252A4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91213A2-7234-5846-8651-2384C69CFFB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B1077A1-E506-A257-3BC8-C0EBB094B484}"/>
              </a:ext>
            </a:extLst>
          </p:cNvPr>
          <p:cNvSpPr>
            <a:spLocks noGrp="1"/>
          </p:cNvSpPr>
          <p:nvPr>
            <p:ph type="dt" sz="half" idx="10"/>
          </p:nvPr>
        </p:nvSpPr>
        <p:spPr/>
        <p:txBody>
          <a:bodyPr/>
          <a:lstStyle/>
          <a:p>
            <a:fld id="{F3674170-46F9-458F-BB4A-57A28ACCB5CC}" type="datetimeFigureOut">
              <a:rPr lang="en-IN" smtClean="0"/>
              <a:t>29-12-2025</a:t>
            </a:fld>
            <a:endParaRPr lang="en-IN"/>
          </a:p>
        </p:txBody>
      </p:sp>
      <p:sp>
        <p:nvSpPr>
          <p:cNvPr id="6" name="Footer Placeholder 5">
            <a:extLst>
              <a:ext uri="{FF2B5EF4-FFF2-40B4-BE49-F238E27FC236}">
                <a16:creationId xmlns:a16="http://schemas.microsoft.com/office/drawing/2014/main" id="{BFE927F5-9352-CE1F-705F-58492E3D6F1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61B2B48-58E8-A08E-0BE2-F6F35E18EF7E}"/>
              </a:ext>
            </a:extLst>
          </p:cNvPr>
          <p:cNvSpPr>
            <a:spLocks noGrp="1"/>
          </p:cNvSpPr>
          <p:nvPr>
            <p:ph type="sldNum" sz="quarter" idx="12"/>
          </p:nvPr>
        </p:nvSpPr>
        <p:spPr/>
        <p:txBody>
          <a:bodyPr/>
          <a:lstStyle/>
          <a:p>
            <a:fld id="{56CEB07B-A92E-4A76-A3D0-22470A7C5AAE}" type="slidenum">
              <a:rPr lang="en-IN" smtClean="0"/>
              <a:t>‹#›</a:t>
            </a:fld>
            <a:endParaRPr lang="en-IN"/>
          </a:p>
        </p:txBody>
      </p:sp>
    </p:spTree>
    <p:extLst>
      <p:ext uri="{BB962C8B-B14F-4D97-AF65-F5344CB8AC3E}">
        <p14:creationId xmlns:p14="http://schemas.microsoft.com/office/powerpoint/2010/main" val="35818507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722DC-CE6B-5A32-DF92-A5F27128B1D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E827CEC-2E33-0C14-AF13-09F76FEE44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738ED75-5E4E-C6E8-88BD-0C8877E4ECC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E531EA2-AE66-DE97-FCF4-98B72CC41D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E983969-2081-9F93-F926-F89CFBAA00D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5E5DD57-3AA7-C152-1399-5465ACF49035}"/>
              </a:ext>
            </a:extLst>
          </p:cNvPr>
          <p:cNvSpPr>
            <a:spLocks noGrp="1"/>
          </p:cNvSpPr>
          <p:nvPr>
            <p:ph type="dt" sz="half" idx="10"/>
          </p:nvPr>
        </p:nvSpPr>
        <p:spPr/>
        <p:txBody>
          <a:bodyPr/>
          <a:lstStyle/>
          <a:p>
            <a:fld id="{F3674170-46F9-458F-BB4A-57A28ACCB5CC}" type="datetimeFigureOut">
              <a:rPr lang="en-IN" smtClean="0"/>
              <a:t>29-12-2025</a:t>
            </a:fld>
            <a:endParaRPr lang="en-IN"/>
          </a:p>
        </p:txBody>
      </p:sp>
      <p:sp>
        <p:nvSpPr>
          <p:cNvPr id="8" name="Footer Placeholder 7">
            <a:extLst>
              <a:ext uri="{FF2B5EF4-FFF2-40B4-BE49-F238E27FC236}">
                <a16:creationId xmlns:a16="http://schemas.microsoft.com/office/drawing/2014/main" id="{9BF256AE-8A1B-8D24-F18F-A7C847C02EE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10A20D1-1DC7-B0A6-D2DC-12122D53F1BB}"/>
              </a:ext>
            </a:extLst>
          </p:cNvPr>
          <p:cNvSpPr>
            <a:spLocks noGrp="1"/>
          </p:cNvSpPr>
          <p:nvPr>
            <p:ph type="sldNum" sz="quarter" idx="12"/>
          </p:nvPr>
        </p:nvSpPr>
        <p:spPr/>
        <p:txBody>
          <a:bodyPr/>
          <a:lstStyle/>
          <a:p>
            <a:fld id="{56CEB07B-A92E-4A76-A3D0-22470A7C5AAE}" type="slidenum">
              <a:rPr lang="en-IN" smtClean="0"/>
              <a:t>‹#›</a:t>
            </a:fld>
            <a:endParaRPr lang="en-IN"/>
          </a:p>
        </p:txBody>
      </p:sp>
    </p:spTree>
    <p:extLst>
      <p:ext uri="{BB962C8B-B14F-4D97-AF65-F5344CB8AC3E}">
        <p14:creationId xmlns:p14="http://schemas.microsoft.com/office/powerpoint/2010/main" val="15695372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254ED-D399-B734-061D-D63A958004A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743761D-8131-398D-B8C3-7051F74B3581}"/>
              </a:ext>
            </a:extLst>
          </p:cNvPr>
          <p:cNvSpPr>
            <a:spLocks noGrp="1"/>
          </p:cNvSpPr>
          <p:nvPr>
            <p:ph type="dt" sz="half" idx="10"/>
          </p:nvPr>
        </p:nvSpPr>
        <p:spPr/>
        <p:txBody>
          <a:bodyPr/>
          <a:lstStyle/>
          <a:p>
            <a:fld id="{F3674170-46F9-458F-BB4A-57A28ACCB5CC}" type="datetimeFigureOut">
              <a:rPr lang="en-IN" smtClean="0"/>
              <a:t>29-12-2025</a:t>
            </a:fld>
            <a:endParaRPr lang="en-IN"/>
          </a:p>
        </p:txBody>
      </p:sp>
      <p:sp>
        <p:nvSpPr>
          <p:cNvPr id="4" name="Footer Placeholder 3">
            <a:extLst>
              <a:ext uri="{FF2B5EF4-FFF2-40B4-BE49-F238E27FC236}">
                <a16:creationId xmlns:a16="http://schemas.microsoft.com/office/drawing/2014/main" id="{0E6B9F56-F027-318E-180A-C02443D91EE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BD66518-4CCE-6C1E-E411-E12887FBB71E}"/>
              </a:ext>
            </a:extLst>
          </p:cNvPr>
          <p:cNvSpPr>
            <a:spLocks noGrp="1"/>
          </p:cNvSpPr>
          <p:nvPr>
            <p:ph type="sldNum" sz="quarter" idx="12"/>
          </p:nvPr>
        </p:nvSpPr>
        <p:spPr/>
        <p:txBody>
          <a:bodyPr/>
          <a:lstStyle/>
          <a:p>
            <a:fld id="{56CEB07B-A92E-4A76-A3D0-22470A7C5AAE}" type="slidenum">
              <a:rPr lang="en-IN" smtClean="0"/>
              <a:t>‹#›</a:t>
            </a:fld>
            <a:endParaRPr lang="en-IN"/>
          </a:p>
        </p:txBody>
      </p:sp>
    </p:spTree>
    <p:extLst>
      <p:ext uri="{BB962C8B-B14F-4D97-AF65-F5344CB8AC3E}">
        <p14:creationId xmlns:p14="http://schemas.microsoft.com/office/powerpoint/2010/main" val="8226877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B90A1F4-BD8A-93B2-162B-AA2F35495E0F}"/>
              </a:ext>
            </a:extLst>
          </p:cNvPr>
          <p:cNvSpPr>
            <a:spLocks noGrp="1"/>
          </p:cNvSpPr>
          <p:nvPr>
            <p:ph type="dt" sz="half" idx="10"/>
          </p:nvPr>
        </p:nvSpPr>
        <p:spPr/>
        <p:txBody>
          <a:bodyPr/>
          <a:lstStyle/>
          <a:p>
            <a:fld id="{F3674170-46F9-458F-BB4A-57A28ACCB5CC}" type="datetimeFigureOut">
              <a:rPr lang="en-IN" smtClean="0"/>
              <a:t>29-12-2025</a:t>
            </a:fld>
            <a:endParaRPr lang="en-IN"/>
          </a:p>
        </p:txBody>
      </p:sp>
      <p:sp>
        <p:nvSpPr>
          <p:cNvPr id="3" name="Footer Placeholder 2">
            <a:extLst>
              <a:ext uri="{FF2B5EF4-FFF2-40B4-BE49-F238E27FC236}">
                <a16:creationId xmlns:a16="http://schemas.microsoft.com/office/drawing/2014/main" id="{166A09A4-9CB8-B6DA-6EF9-60919542F21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986D392-EB24-7FD2-C629-22CCECA497BD}"/>
              </a:ext>
            </a:extLst>
          </p:cNvPr>
          <p:cNvSpPr>
            <a:spLocks noGrp="1"/>
          </p:cNvSpPr>
          <p:nvPr>
            <p:ph type="sldNum" sz="quarter" idx="12"/>
          </p:nvPr>
        </p:nvSpPr>
        <p:spPr/>
        <p:txBody>
          <a:bodyPr/>
          <a:lstStyle/>
          <a:p>
            <a:fld id="{56CEB07B-A92E-4A76-A3D0-22470A7C5AAE}" type="slidenum">
              <a:rPr lang="en-IN" smtClean="0"/>
              <a:t>‹#›</a:t>
            </a:fld>
            <a:endParaRPr lang="en-IN"/>
          </a:p>
        </p:txBody>
      </p:sp>
    </p:spTree>
    <p:extLst>
      <p:ext uri="{BB962C8B-B14F-4D97-AF65-F5344CB8AC3E}">
        <p14:creationId xmlns:p14="http://schemas.microsoft.com/office/powerpoint/2010/main" val="1028818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34A50-F2DF-F02F-DA80-389FCE1EF6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54718B1-CD82-8D03-0606-E05B6740306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345EB2D-4567-9C5D-1DA8-9778801C63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4C9F0F-120B-BE58-A849-0D433B94AC5B}"/>
              </a:ext>
            </a:extLst>
          </p:cNvPr>
          <p:cNvSpPr>
            <a:spLocks noGrp="1"/>
          </p:cNvSpPr>
          <p:nvPr>
            <p:ph type="dt" sz="half" idx="10"/>
          </p:nvPr>
        </p:nvSpPr>
        <p:spPr/>
        <p:txBody>
          <a:bodyPr/>
          <a:lstStyle/>
          <a:p>
            <a:fld id="{F3674170-46F9-458F-BB4A-57A28ACCB5CC}" type="datetimeFigureOut">
              <a:rPr lang="en-IN" smtClean="0"/>
              <a:t>29-12-2025</a:t>
            </a:fld>
            <a:endParaRPr lang="en-IN"/>
          </a:p>
        </p:txBody>
      </p:sp>
      <p:sp>
        <p:nvSpPr>
          <p:cNvPr id="6" name="Footer Placeholder 5">
            <a:extLst>
              <a:ext uri="{FF2B5EF4-FFF2-40B4-BE49-F238E27FC236}">
                <a16:creationId xmlns:a16="http://schemas.microsoft.com/office/drawing/2014/main" id="{A05E69DE-5D56-42AA-CC15-2EDB04BFCAF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D34DBB7-4F4A-9D79-57B0-6A9DE1F790F1}"/>
              </a:ext>
            </a:extLst>
          </p:cNvPr>
          <p:cNvSpPr>
            <a:spLocks noGrp="1"/>
          </p:cNvSpPr>
          <p:nvPr>
            <p:ph type="sldNum" sz="quarter" idx="12"/>
          </p:nvPr>
        </p:nvSpPr>
        <p:spPr/>
        <p:txBody>
          <a:bodyPr/>
          <a:lstStyle/>
          <a:p>
            <a:fld id="{56CEB07B-A92E-4A76-A3D0-22470A7C5AAE}" type="slidenum">
              <a:rPr lang="en-IN" smtClean="0"/>
              <a:t>‹#›</a:t>
            </a:fld>
            <a:endParaRPr lang="en-IN"/>
          </a:p>
        </p:txBody>
      </p:sp>
    </p:spTree>
    <p:extLst>
      <p:ext uri="{BB962C8B-B14F-4D97-AF65-F5344CB8AC3E}">
        <p14:creationId xmlns:p14="http://schemas.microsoft.com/office/powerpoint/2010/main" val="41249783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05154-14E7-D274-BF40-2C960FB5A8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C3E21E8-DF79-09C2-6534-9AEB15510F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7A18AE3-4E00-C517-B47E-2D44D2D9D7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0B76E4-BC19-3E65-6A51-DDDDD2333621}"/>
              </a:ext>
            </a:extLst>
          </p:cNvPr>
          <p:cNvSpPr>
            <a:spLocks noGrp="1"/>
          </p:cNvSpPr>
          <p:nvPr>
            <p:ph type="dt" sz="half" idx="10"/>
          </p:nvPr>
        </p:nvSpPr>
        <p:spPr/>
        <p:txBody>
          <a:bodyPr/>
          <a:lstStyle/>
          <a:p>
            <a:fld id="{F3674170-46F9-458F-BB4A-57A28ACCB5CC}" type="datetimeFigureOut">
              <a:rPr lang="en-IN" smtClean="0"/>
              <a:t>29-12-2025</a:t>
            </a:fld>
            <a:endParaRPr lang="en-IN"/>
          </a:p>
        </p:txBody>
      </p:sp>
      <p:sp>
        <p:nvSpPr>
          <p:cNvPr id="6" name="Footer Placeholder 5">
            <a:extLst>
              <a:ext uri="{FF2B5EF4-FFF2-40B4-BE49-F238E27FC236}">
                <a16:creationId xmlns:a16="http://schemas.microsoft.com/office/drawing/2014/main" id="{BB40C1E1-1296-B1FD-291B-CC2148E7EA0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2907D93-F41F-2149-635E-4125BF8B24A5}"/>
              </a:ext>
            </a:extLst>
          </p:cNvPr>
          <p:cNvSpPr>
            <a:spLocks noGrp="1"/>
          </p:cNvSpPr>
          <p:nvPr>
            <p:ph type="sldNum" sz="quarter" idx="12"/>
          </p:nvPr>
        </p:nvSpPr>
        <p:spPr/>
        <p:txBody>
          <a:bodyPr/>
          <a:lstStyle/>
          <a:p>
            <a:fld id="{56CEB07B-A92E-4A76-A3D0-22470A7C5AAE}" type="slidenum">
              <a:rPr lang="en-IN" smtClean="0"/>
              <a:t>‹#›</a:t>
            </a:fld>
            <a:endParaRPr lang="en-IN"/>
          </a:p>
        </p:txBody>
      </p:sp>
    </p:spTree>
    <p:extLst>
      <p:ext uri="{BB962C8B-B14F-4D97-AF65-F5344CB8AC3E}">
        <p14:creationId xmlns:p14="http://schemas.microsoft.com/office/powerpoint/2010/main" val="14464468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5806C-7BA2-DE70-6719-D7C4EC54CB3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CB83549-8C55-7CAD-98F7-4114FB597B4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FE3493-249E-F8D3-1EFF-1D808AC7E1FE}"/>
              </a:ext>
            </a:extLst>
          </p:cNvPr>
          <p:cNvSpPr>
            <a:spLocks noGrp="1"/>
          </p:cNvSpPr>
          <p:nvPr>
            <p:ph type="dt" sz="half" idx="10"/>
          </p:nvPr>
        </p:nvSpPr>
        <p:spPr/>
        <p:txBody>
          <a:bodyPr/>
          <a:lstStyle/>
          <a:p>
            <a:fld id="{F3674170-46F9-458F-BB4A-57A28ACCB5CC}" type="datetimeFigureOut">
              <a:rPr lang="en-IN" smtClean="0"/>
              <a:t>29-12-2025</a:t>
            </a:fld>
            <a:endParaRPr lang="en-IN"/>
          </a:p>
        </p:txBody>
      </p:sp>
      <p:sp>
        <p:nvSpPr>
          <p:cNvPr id="5" name="Footer Placeholder 4">
            <a:extLst>
              <a:ext uri="{FF2B5EF4-FFF2-40B4-BE49-F238E27FC236}">
                <a16:creationId xmlns:a16="http://schemas.microsoft.com/office/drawing/2014/main" id="{C551C686-5B10-B16F-DEA5-96D0C0CA7C3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D61BAF-63B8-DA85-4228-B5D101C9AAE3}"/>
              </a:ext>
            </a:extLst>
          </p:cNvPr>
          <p:cNvSpPr>
            <a:spLocks noGrp="1"/>
          </p:cNvSpPr>
          <p:nvPr>
            <p:ph type="sldNum" sz="quarter" idx="12"/>
          </p:nvPr>
        </p:nvSpPr>
        <p:spPr/>
        <p:txBody>
          <a:bodyPr/>
          <a:lstStyle/>
          <a:p>
            <a:fld id="{56CEB07B-A92E-4A76-A3D0-22470A7C5AAE}" type="slidenum">
              <a:rPr lang="en-IN" smtClean="0"/>
              <a:t>‹#›</a:t>
            </a:fld>
            <a:endParaRPr lang="en-IN"/>
          </a:p>
        </p:txBody>
      </p:sp>
    </p:spTree>
    <p:extLst>
      <p:ext uri="{BB962C8B-B14F-4D97-AF65-F5344CB8AC3E}">
        <p14:creationId xmlns:p14="http://schemas.microsoft.com/office/powerpoint/2010/main" val="25333671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2F8EE56-997D-9C15-B5CB-C52872EC180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272686D-0D36-C1ED-DDC7-2F7DA8AF77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C31C9B1-FE6C-FD6F-49C9-267E4DC5B2C6}"/>
              </a:ext>
            </a:extLst>
          </p:cNvPr>
          <p:cNvSpPr>
            <a:spLocks noGrp="1"/>
          </p:cNvSpPr>
          <p:nvPr>
            <p:ph type="dt" sz="half" idx="10"/>
          </p:nvPr>
        </p:nvSpPr>
        <p:spPr/>
        <p:txBody>
          <a:bodyPr/>
          <a:lstStyle/>
          <a:p>
            <a:fld id="{F3674170-46F9-458F-BB4A-57A28ACCB5CC}" type="datetimeFigureOut">
              <a:rPr lang="en-IN" smtClean="0"/>
              <a:t>29-12-2025</a:t>
            </a:fld>
            <a:endParaRPr lang="en-IN"/>
          </a:p>
        </p:txBody>
      </p:sp>
      <p:sp>
        <p:nvSpPr>
          <p:cNvPr id="5" name="Footer Placeholder 4">
            <a:extLst>
              <a:ext uri="{FF2B5EF4-FFF2-40B4-BE49-F238E27FC236}">
                <a16:creationId xmlns:a16="http://schemas.microsoft.com/office/drawing/2014/main" id="{375AA22A-419D-DEFD-E0F2-90B6703EAA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A32708-0C89-AF9C-BE5D-A34233461A58}"/>
              </a:ext>
            </a:extLst>
          </p:cNvPr>
          <p:cNvSpPr>
            <a:spLocks noGrp="1"/>
          </p:cNvSpPr>
          <p:nvPr>
            <p:ph type="sldNum" sz="quarter" idx="12"/>
          </p:nvPr>
        </p:nvSpPr>
        <p:spPr/>
        <p:txBody>
          <a:bodyPr/>
          <a:lstStyle/>
          <a:p>
            <a:fld id="{56CEB07B-A92E-4A76-A3D0-22470A7C5AAE}" type="slidenum">
              <a:rPr lang="en-IN" smtClean="0"/>
              <a:t>‹#›</a:t>
            </a:fld>
            <a:endParaRPr lang="en-IN"/>
          </a:p>
        </p:txBody>
      </p:sp>
    </p:spTree>
    <p:extLst>
      <p:ext uri="{BB962C8B-B14F-4D97-AF65-F5344CB8AC3E}">
        <p14:creationId xmlns:p14="http://schemas.microsoft.com/office/powerpoint/2010/main" val="656119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542CA28-A151-3531-77E3-1D3FF3D574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858122B-3997-BF0E-388C-7B4F73147F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EF4B535-FB07-E06D-0A42-4B3C44204B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674170-46F9-458F-BB4A-57A28ACCB5CC}" type="datetimeFigureOut">
              <a:rPr lang="en-IN" smtClean="0"/>
              <a:t>29-12-2025</a:t>
            </a:fld>
            <a:endParaRPr lang="en-IN"/>
          </a:p>
        </p:txBody>
      </p:sp>
      <p:sp>
        <p:nvSpPr>
          <p:cNvPr id="5" name="Footer Placeholder 4">
            <a:extLst>
              <a:ext uri="{FF2B5EF4-FFF2-40B4-BE49-F238E27FC236}">
                <a16:creationId xmlns:a16="http://schemas.microsoft.com/office/drawing/2014/main" id="{5AB13125-27E9-8219-3853-B5A2CA939E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221E882-A7C3-44B2-0F4D-1FFD213871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CEB07B-A92E-4A76-A3D0-22470A7C5AAE}" type="slidenum">
              <a:rPr lang="en-IN" smtClean="0"/>
              <a:t>‹#›</a:t>
            </a:fld>
            <a:endParaRPr lang="en-IN"/>
          </a:p>
        </p:txBody>
      </p:sp>
    </p:spTree>
    <p:extLst>
      <p:ext uri="{BB962C8B-B14F-4D97-AF65-F5344CB8AC3E}">
        <p14:creationId xmlns:p14="http://schemas.microsoft.com/office/powerpoint/2010/main" val="38030221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98ECF-33DE-0D96-F03C-67561A37AE53}"/>
              </a:ext>
            </a:extLst>
          </p:cNvPr>
          <p:cNvSpPr>
            <a:spLocks noGrp="1"/>
          </p:cNvSpPr>
          <p:nvPr>
            <p:ph type="ctrTitle"/>
          </p:nvPr>
        </p:nvSpPr>
        <p:spPr/>
        <p:txBody>
          <a:bodyPr/>
          <a:lstStyle/>
          <a:p>
            <a:r>
              <a:rPr lang="en-US" altLang="en-US" dirty="0"/>
              <a:t>CPU Scheduling</a:t>
            </a:r>
            <a:endParaRPr lang="en-IN" dirty="0"/>
          </a:p>
        </p:txBody>
      </p:sp>
      <p:sp>
        <p:nvSpPr>
          <p:cNvPr id="3" name="Subtitle 2">
            <a:extLst>
              <a:ext uri="{FF2B5EF4-FFF2-40B4-BE49-F238E27FC236}">
                <a16:creationId xmlns:a16="http://schemas.microsoft.com/office/drawing/2014/main" id="{FA169809-C6C2-D7DB-B312-CB429B02D3C2}"/>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4928281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49538-9900-3C86-654F-96B6380ABDD1}"/>
              </a:ext>
            </a:extLst>
          </p:cNvPr>
          <p:cNvSpPr>
            <a:spLocks noGrp="1"/>
          </p:cNvSpPr>
          <p:nvPr>
            <p:ph type="title"/>
          </p:nvPr>
        </p:nvSpPr>
        <p:spPr/>
        <p:txBody>
          <a:bodyPr/>
          <a:lstStyle/>
          <a:p>
            <a:r>
              <a:rPr lang="en-US" altLang="en-US" dirty="0"/>
              <a:t>Basic Concepts</a:t>
            </a:r>
            <a:endParaRPr lang="en-IN" dirty="0"/>
          </a:p>
        </p:txBody>
      </p:sp>
      <p:sp>
        <p:nvSpPr>
          <p:cNvPr id="4" name="Rectangle 3">
            <a:extLst>
              <a:ext uri="{FF2B5EF4-FFF2-40B4-BE49-F238E27FC236}">
                <a16:creationId xmlns:a16="http://schemas.microsoft.com/office/drawing/2014/main" id="{B0C9716D-36FE-669A-A5A7-DE757F7B6983}"/>
              </a:ext>
            </a:extLst>
          </p:cNvPr>
          <p:cNvSpPr>
            <a:spLocks noGrp="1" noChangeArrowheads="1"/>
          </p:cNvSpPr>
          <p:nvPr>
            <p:ph idx="1"/>
          </p:nvPr>
        </p:nvSpPr>
        <p:spPr>
          <a:xfrm>
            <a:off x="838200" y="1825625"/>
            <a:ext cx="10515600" cy="4351338"/>
          </a:xfrm>
        </p:spPr>
        <p:txBody>
          <a:bodyPr/>
          <a:lstStyle/>
          <a:p>
            <a:endParaRPr lang="en-US" altLang="en-US" dirty="0"/>
          </a:p>
          <a:p>
            <a:r>
              <a:rPr lang="en-US" altLang="en-US" dirty="0"/>
              <a:t>CPU scheduling- forms the basis of </a:t>
            </a:r>
            <a:r>
              <a:rPr lang="en-US" altLang="en-US" dirty="0" err="1"/>
              <a:t>multiprogrammed</a:t>
            </a:r>
            <a:r>
              <a:rPr lang="en-US" altLang="en-US" dirty="0"/>
              <a:t> systems</a:t>
            </a:r>
          </a:p>
          <a:p>
            <a:r>
              <a:rPr lang="en-US" altLang="en-US" dirty="0"/>
              <a:t>Maximum CPU utilization obtained with multiprogramming</a:t>
            </a:r>
          </a:p>
          <a:p>
            <a:r>
              <a:rPr lang="en-US" altLang="en-US" dirty="0"/>
              <a:t>CPU–I/O Burst Cycle – Process execution consists of a </a:t>
            </a:r>
            <a:r>
              <a:rPr lang="en-US" altLang="en-US" i="1" dirty="0"/>
              <a:t>cycle</a:t>
            </a:r>
            <a:r>
              <a:rPr lang="en-US" altLang="en-US" dirty="0"/>
              <a:t> of CPU execution and I/O wait.</a:t>
            </a:r>
          </a:p>
          <a:p>
            <a:r>
              <a:rPr lang="en-US" altLang="en-US" dirty="0"/>
              <a:t>CPU burst distribution</a:t>
            </a:r>
          </a:p>
        </p:txBody>
      </p:sp>
    </p:spTree>
    <p:extLst>
      <p:ext uri="{BB962C8B-B14F-4D97-AF65-F5344CB8AC3E}">
        <p14:creationId xmlns:p14="http://schemas.microsoft.com/office/powerpoint/2010/main" val="19626912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0A0D8-D6F7-0C42-1643-5C2C66DF99F8}"/>
              </a:ext>
            </a:extLst>
          </p:cNvPr>
          <p:cNvSpPr>
            <a:spLocks noGrp="1"/>
          </p:cNvSpPr>
          <p:nvPr>
            <p:ph type="title"/>
          </p:nvPr>
        </p:nvSpPr>
        <p:spPr/>
        <p:txBody>
          <a:bodyPr/>
          <a:lstStyle/>
          <a:p>
            <a:r>
              <a:rPr lang="en-US" altLang="en-US" sz="4400" dirty="0"/>
              <a:t>Alternating Sequence of CPU And I/O Bursts</a:t>
            </a:r>
            <a:endParaRPr lang="en-IN" dirty="0"/>
          </a:p>
        </p:txBody>
      </p:sp>
      <p:sp>
        <p:nvSpPr>
          <p:cNvPr id="3" name="Content Placeholder 2">
            <a:extLst>
              <a:ext uri="{FF2B5EF4-FFF2-40B4-BE49-F238E27FC236}">
                <a16:creationId xmlns:a16="http://schemas.microsoft.com/office/drawing/2014/main" id="{E992C776-69CD-1650-77A0-1EAAB8EE363A}"/>
              </a:ext>
            </a:extLst>
          </p:cNvPr>
          <p:cNvSpPr>
            <a:spLocks noGrp="1"/>
          </p:cNvSpPr>
          <p:nvPr>
            <p:ph idx="1"/>
          </p:nvPr>
        </p:nvSpPr>
        <p:spPr>
          <a:xfrm>
            <a:off x="838200" y="1825625"/>
            <a:ext cx="4876800" cy="4351338"/>
          </a:xfrm>
        </p:spPr>
        <p:txBody>
          <a:bodyPr/>
          <a:lstStyle/>
          <a:p>
            <a:r>
              <a:rPr lang="en-US" altLang="en-US" dirty="0"/>
              <a:t>Process execution begins with a </a:t>
            </a:r>
            <a:r>
              <a:rPr lang="en-US" altLang="en-US" b="1" dirty="0"/>
              <a:t>CPU burst. </a:t>
            </a:r>
            <a:r>
              <a:rPr lang="en-US" altLang="en-US" dirty="0"/>
              <a:t>That is followed by an </a:t>
            </a:r>
            <a:r>
              <a:rPr lang="en-US" altLang="en-US" b="1" i="1" dirty="0"/>
              <a:t>I/O </a:t>
            </a:r>
            <a:r>
              <a:rPr lang="en-US" altLang="en-US" b="1" dirty="0"/>
              <a:t>burst, </a:t>
            </a:r>
            <a:r>
              <a:rPr lang="en-US" altLang="en-US" dirty="0"/>
              <a:t>then another CPU burst, then another I/O burst, and so on.</a:t>
            </a:r>
          </a:p>
          <a:p>
            <a:endParaRPr lang="en-US" altLang="en-US" dirty="0"/>
          </a:p>
          <a:p>
            <a:r>
              <a:rPr lang="en-US" altLang="en-US" dirty="0"/>
              <a:t>Eventually, the last CPU burst will end with a system request to terminate execution, rather than with another I/O burst</a:t>
            </a:r>
          </a:p>
          <a:p>
            <a:endParaRPr lang="en-IN" dirty="0"/>
          </a:p>
        </p:txBody>
      </p:sp>
      <p:pic>
        <p:nvPicPr>
          <p:cNvPr id="4" name="Picture 4">
            <a:extLst>
              <a:ext uri="{FF2B5EF4-FFF2-40B4-BE49-F238E27FC236}">
                <a16:creationId xmlns:a16="http://schemas.microsoft.com/office/drawing/2014/main" id="{D37E402A-82D6-7A4C-87E4-61EFDA1503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8274" t="10310" r="40599" b="52560"/>
          <a:stretch>
            <a:fillRect/>
          </a:stretch>
        </p:blipFill>
        <p:spPr bwMode="auto">
          <a:xfrm>
            <a:off x="6629402" y="1295399"/>
            <a:ext cx="4114798" cy="5508625"/>
          </a:xfrm>
          <a:prstGeom prst="rect">
            <a:avLst/>
          </a:prstGeom>
          <a:noFill/>
          <a:ln w="57150" cmpd="thickThin">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509454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7FC51-1640-6A1F-1256-676B31116A59}"/>
              </a:ext>
            </a:extLst>
          </p:cNvPr>
          <p:cNvSpPr>
            <a:spLocks noGrp="1"/>
          </p:cNvSpPr>
          <p:nvPr>
            <p:ph type="title"/>
          </p:nvPr>
        </p:nvSpPr>
        <p:spPr/>
        <p:txBody>
          <a:bodyPr/>
          <a:lstStyle/>
          <a:p>
            <a:r>
              <a:rPr lang="en-US" altLang="en-US" dirty="0"/>
              <a:t>CPU Scheduler</a:t>
            </a:r>
            <a:endParaRPr lang="en-IN" dirty="0"/>
          </a:p>
        </p:txBody>
      </p:sp>
      <p:sp>
        <p:nvSpPr>
          <p:cNvPr id="3" name="Content Placeholder 2">
            <a:extLst>
              <a:ext uri="{FF2B5EF4-FFF2-40B4-BE49-F238E27FC236}">
                <a16:creationId xmlns:a16="http://schemas.microsoft.com/office/drawing/2014/main" id="{3A95FED3-841B-CDD0-0377-C7193D317744}"/>
              </a:ext>
            </a:extLst>
          </p:cNvPr>
          <p:cNvSpPr>
            <a:spLocks noGrp="1"/>
          </p:cNvSpPr>
          <p:nvPr>
            <p:ph idx="1"/>
          </p:nvPr>
        </p:nvSpPr>
        <p:spPr>
          <a:xfrm>
            <a:off x="838200" y="1362075"/>
            <a:ext cx="10515600" cy="4814888"/>
          </a:xfrm>
        </p:spPr>
        <p:txBody>
          <a:bodyPr>
            <a:normAutofit fontScale="92500" lnSpcReduction="10000"/>
          </a:bodyPr>
          <a:lstStyle/>
          <a:p>
            <a:r>
              <a:rPr lang="en-US" altLang="en-US" sz="2400" dirty="0"/>
              <a:t>Selects from among the processes in memory that are ready to execute, and allocates the CPU to one of them.</a:t>
            </a:r>
          </a:p>
          <a:p>
            <a:r>
              <a:rPr lang="en-US" altLang="en-US" sz="2400" dirty="0"/>
              <a:t>CPU scheduling decisions may take place when a process:</a:t>
            </a:r>
          </a:p>
          <a:p>
            <a:pPr lvl="1">
              <a:buFont typeface="Monotype Sorts" pitchFamily="2" charset="2"/>
              <a:buNone/>
            </a:pPr>
            <a:r>
              <a:rPr lang="en-US" altLang="en-US" sz="2200" dirty="0"/>
              <a:t>1.Switches from running to waiting state. (for example, I/O request, or invocation of wait for the termination of one of the child processes)</a:t>
            </a:r>
          </a:p>
          <a:p>
            <a:pPr lvl="1">
              <a:buFont typeface="Monotype Sorts" pitchFamily="2" charset="2"/>
              <a:buNone/>
            </a:pPr>
            <a:r>
              <a:rPr lang="en-US" altLang="en-US" sz="2200" dirty="0"/>
              <a:t>2.	Switches from running to ready state. (for example, when an interrupt occurs)</a:t>
            </a:r>
          </a:p>
          <a:p>
            <a:pPr lvl="1">
              <a:buFont typeface="Monotype Sorts" pitchFamily="2" charset="2"/>
              <a:buNone/>
            </a:pPr>
            <a:r>
              <a:rPr lang="en-US" altLang="en-US" sz="2200" dirty="0"/>
              <a:t>3.	Switches from waiting to ready. (for example, completion of I/O)</a:t>
            </a:r>
          </a:p>
          <a:p>
            <a:pPr lvl="1">
              <a:buFont typeface="Monotype Sorts" pitchFamily="2" charset="2"/>
              <a:buNone/>
            </a:pPr>
            <a:r>
              <a:rPr lang="en-US" altLang="en-US" sz="2200" dirty="0"/>
              <a:t>4.	Terminates.</a:t>
            </a:r>
          </a:p>
          <a:p>
            <a:r>
              <a:rPr lang="en-US" altLang="en-US" dirty="0"/>
              <a:t>When scheduling takes place only under circumstances 1 and 4, we say the scheduling scheme is </a:t>
            </a:r>
            <a:r>
              <a:rPr lang="en-US" altLang="en-US" b="1" dirty="0" err="1"/>
              <a:t>nonpreemptive</a:t>
            </a:r>
            <a:r>
              <a:rPr lang="en-US" altLang="en-US" b="1" dirty="0"/>
              <a:t>; </a:t>
            </a:r>
            <a:r>
              <a:rPr lang="en-US" altLang="en-US" dirty="0"/>
              <a:t>otherwise, the scheduling scheme is </a:t>
            </a:r>
            <a:r>
              <a:rPr lang="en-US" altLang="en-US" b="1" dirty="0"/>
              <a:t>preemptive. </a:t>
            </a:r>
          </a:p>
          <a:p>
            <a:r>
              <a:rPr lang="en-US" altLang="en-US" dirty="0"/>
              <a:t>Under </a:t>
            </a:r>
            <a:r>
              <a:rPr lang="en-US" altLang="en-US" dirty="0" err="1"/>
              <a:t>nonpreemptive</a:t>
            </a:r>
            <a:r>
              <a:rPr lang="en-US" altLang="en-US" dirty="0"/>
              <a:t> scheduling, once the CPU has been allocated to a process, the process keeps the CPU until it releases the CPU either by terminating or by switching to the waiting state.</a:t>
            </a:r>
          </a:p>
          <a:p>
            <a:endParaRPr lang="en-IN" dirty="0"/>
          </a:p>
        </p:txBody>
      </p:sp>
    </p:spTree>
    <p:extLst>
      <p:ext uri="{BB962C8B-B14F-4D97-AF65-F5344CB8AC3E}">
        <p14:creationId xmlns:p14="http://schemas.microsoft.com/office/powerpoint/2010/main" val="15733200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4C81B-EEA4-B531-5E78-1BA5B2661A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63C9BB-0DAB-F0FF-4D97-4B8AF9657DD0}"/>
              </a:ext>
            </a:extLst>
          </p:cNvPr>
          <p:cNvSpPr>
            <a:spLocks noGrp="1"/>
          </p:cNvSpPr>
          <p:nvPr>
            <p:ph type="title"/>
          </p:nvPr>
        </p:nvSpPr>
        <p:spPr/>
        <p:txBody>
          <a:bodyPr/>
          <a:lstStyle/>
          <a:p>
            <a:r>
              <a:rPr lang="en-US" altLang="en-US" dirty="0"/>
              <a:t>Dispatcher</a:t>
            </a:r>
            <a:endParaRPr lang="en-IN" dirty="0"/>
          </a:p>
        </p:txBody>
      </p:sp>
      <p:sp>
        <p:nvSpPr>
          <p:cNvPr id="3" name="Content Placeholder 2">
            <a:extLst>
              <a:ext uri="{FF2B5EF4-FFF2-40B4-BE49-F238E27FC236}">
                <a16:creationId xmlns:a16="http://schemas.microsoft.com/office/drawing/2014/main" id="{D15EAD8B-5C5B-6F2E-9D35-E77EBCBECBD9}"/>
              </a:ext>
            </a:extLst>
          </p:cNvPr>
          <p:cNvSpPr>
            <a:spLocks noGrp="1"/>
          </p:cNvSpPr>
          <p:nvPr>
            <p:ph idx="1"/>
          </p:nvPr>
        </p:nvSpPr>
        <p:spPr/>
        <p:txBody>
          <a:bodyPr/>
          <a:lstStyle/>
          <a:p>
            <a:r>
              <a:rPr lang="en-US" altLang="en-US" sz="2400" dirty="0"/>
              <a:t>Dispatcher module gives control of the CPU to the process selected by the short-term scheduler; this involves:</a:t>
            </a:r>
          </a:p>
          <a:p>
            <a:pPr lvl="1"/>
            <a:r>
              <a:rPr lang="en-US" altLang="en-US" sz="2200" dirty="0"/>
              <a:t>switching context</a:t>
            </a:r>
          </a:p>
          <a:p>
            <a:pPr lvl="1"/>
            <a:r>
              <a:rPr lang="en-US" altLang="en-US" sz="2200" dirty="0"/>
              <a:t>switching to user mode</a:t>
            </a:r>
          </a:p>
          <a:p>
            <a:pPr lvl="1"/>
            <a:r>
              <a:rPr lang="en-US" altLang="en-US" sz="2200" dirty="0"/>
              <a:t>jumping to the proper location in the user program to restart that program</a:t>
            </a:r>
          </a:p>
          <a:p>
            <a:endParaRPr lang="en-US" altLang="en-US" sz="2400" i="1" dirty="0"/>
          </a:p>
          <a:p>
            <a:r>
              <a:rPr lang="en-US" altLang="en-US" sz="2400" i="1" dirty="0"/>
              <a:t>Dispatch latency</a:t>
            </a:r>
            <a:r>
              <a:rPr lang="en-US" altLang="en-US" sz="2400" dirty="0"/>
              <a:t> – time it takes for the dispatcher to stop one process and start another running.</a:t>
            </a:r>
          </a:p>
          <a:p>
            <a:pPr marL="0" indent="0">
              <a:buNone/>
            </a:pPr>
            <a:endParaRPr lang="en-IN" dirty="0"/>
          </a:p>
        </p:txBody>
      </p:sp>
    </p:spTree>
    <p:extLst>
      <p:ext uri="{BB962C8B-B14F-4D97-AF65-F5344CB8AC3E}">
        <p14:creationId xmlns:p14="http://schemas.microsoft.com/office/powerpoint/2010/main" val="6033489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D8B4C-87BD-4627-227D-AC6700BCE5E2}"/>
              </a:ext>
            </a:extLst>
          </p:cNvPr>
          <p:cNvSpPr>
            <a:spLocks noGrp="1"/>
          </p:cNvSpPr>
          <p:nvPr>
            <p:ph type="title"/>
          </p:nvPr>
        </p:nvSpPr>
        <p:spPr>
          <a:xfrm>
            <a:off x="838200" y="336550"/>
            <a:ext cx="10515600" cy="1325563"/>
          </a:xfrm>
        </p:spPr>
        <p:txBody>
          <a:bodyPr/>
          <a:lstStyle/>
          <a:p>
            <a:r>
              <a:rPr lang="en-US" altLang="en-US" dirty="0"/>
              <a:t>Scheduling Criteria</a:t>
            </a:r>
            <a:endParaRPr lang="en-IN" dirty="0"/>
          </a:p>
        </p:txBody>
      </p:sp>
      <p:sp>
        <p:nvSpPr>
          <p:cNvPr id="3" name="Content Placeholder 2">
            <a:extLst>
              <a:ext uri="{FF2B5EF4-FFF2-40B4-BE49-F238E27FC236}">
                <a16:creationId xmlns:a16="http://schemas.microsoft.com/office/drawing/2014/main" id="{D790A50D-532F-18E7-0CF8-B51A556D3EFA}"/>
              </a:ext>
            </a:extLst>
          </p:cNvPr>
          <p:cNvSpPr>
            <a:spLocks noGrp="1"/>
          </p:cNvSpPr>
          <p:nvPr>
            <p:ph idx="1"/>
          </p:nvPr>
        </p:nvSpPr>
        <p:spPr/>
        <p:txBody>
          <a:bodyPr>
            <a:normAutofit lnSpcReduction="10000"/>
          </a:bodyPr>
          <a:lstStyle/>
          <a:p>
            <a:r>
              <a:rPr lang="en-US" altLang="en-US" dirty="0"/>
              <a:t>CPU utilization – keep the CPU as busy as possible</a:t>
            </a:r>
          </a:p>
          <a:p>
            <a:r>
              <a:rPr lang="en-US" altLang="en-US" dirty="0"/>
              <a:t>Throughput – # of processes that complete their execution per time unit</a:t>
            </a:r>
          </a:p>
          <a:p>
            <a:r>
              <a:rPr lang="en-US" altLang="en-US" dirty="0"/>
              <a:t>Turnaround time – amount of time to execute a particular process</a:t>
            </a:r>
          </a:p>
          <a:p>
            <a:r>
              <a:rPr lang="en-US" altLang="en-US" dirty="0"/>
              <a:t>Waiting time – amount of time a process has been waiting in the ready queue</a:t>
            </a:r>
          </a:p>
          <a:p>
            <a:r>
              <a:rPr lang="en-US" altLang="en-US" dirty="0"/>
              <a:t>Response time – amount of time it takes from when a request was submitted until the first response is produced. (a process can produce some output fairly early, and can continue computing new results while previous results are being output to the user.)</a:t>
            </a:r>
          </a:p>
          <a:p>
            <a:endParaRPr lang="en-IN" dirty="0"/>
          </a:p>
        </p:txBody>
      </p:sp>
    </p:spTree>
    <p:extLst>
      <p:ext uri="{BB962C8B-B14F-4D97-AF65-F5344CB8AC3E}">
        <p14:creationId xmlns:p14="http://schemas.microsoft.com/office/powerpoint/2010/main" val="30583058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DBAC7-9876-5867-4071-DCDD37638271}"/>
              </a:ext>
            </a:extLst>
          </p:cNvPr>
          <p:cNvSpPr>
            <a:spLocks noGrp="1"/>
          </p:cNvSpPr>
          <p:nvPr>
            <p:ph type="title"/>
          </p:nvPr>
        </p:nvSpPr>
        <p:spPr/>
        <p:txBody>
          <a:bodyPr/>
          <a:lstStyle/>
          <a:p>
            <a:r>
              <a:rPr lang="en-US" altLang="en-US" dirty="0"/>
              <a:t>Optimization Criteria</a:t>
            </a:r>
            <a:endParaRPr lang="en-IN" dirty="0"/>
          </a:p>
        </p:txBody>
      </p:sp>
      <p:sp>
        <p:nvSpPr>
          <p:cNvPr id="3" name="Content Placeholder 2">
            <a:extLst>
              <a:ext uri="{FF2B5EF4-FFF2-40B4-BE49-F238E27FC236}">
                <a16:creationId xmlns:a16="http://schemas.microsoft.com/office/drawing/2014/main" id="{495EC56F-FD64-B763-FFFD-CF7EB0782F4B}"/>
              </a:ext>
            </a:extLst>
          </p:cNvPr>
          <p:cNvSpPr>
            <a:spLocks noGrp="1"/>
          </p:cNvSpPr>
          <p:nvPr>
            <p:ph idx="1"/>
          </p:nvPr>
        </p:nvSpPr>
        <p:spPr/>
        <p:txBody>
          <a:bodyPr/>
          <a:lstStyle/>
          <a:p>
            <a:r>
              <a:rPr lang="en-US" altLang="en-US" dirty="0"/>
              <a:t>Max CPU utilization</a:t>
            </a:r>
          </a:p>
          <a:p>
            <a:r>
              <a:rPr lang="en-US" altLang="en-US" dirty="0"/>
              <a:t>Max throughput</a:t>
            </a:r>
          </a:p>
          <a:p>
            <a:r>
              <a:rPr lang="en-US" altLang="en-US" dirty="0"/>
              <a:t>Min turnaround time </a:t>
            </a:r>
          </a:p>
          <a:p>
            <a:r>
              <a:rPr lang="en-US" altLang="en-US" dirty="0"/>
              <a:t>Min waiting time </a:t>
            </a:r>
          </a:p>
          <a:p>
            <a:r>
              <a:rPr lang="en-US" altLang="en-US" dirty="0"/>
              <a:t>Min response time</a:t>
            </a:r>
            <a:endParaRPr lang="en-IN" dirty="0"/>
          </a:p>
        </p:txBody>
      </p:sp>
    </p:spTree>
    <p:extLst>
      <p:ext uri="{BB962C8B-B14F-4D97-AF65-F5344CB8AC3E}">
        <p14:creationId xmlns:p14="http://schemas.microsoft.com/office/powerpoint/2010/main" val="34482185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CA537-8F16-E6AE-2270-66337568AF93}"/>
              </a:ext>
            </a:extLst>
          </p:cNvPr>
          <p:cNvSpPr>
            <a:spLocks noGrp="1"/>
          </p:cNvSpPr>
          <p:nvPr>
            <p:ph type="title"/>
          </p:nvPr>
        </p:nvSpPr>
        <p:spPr/>
        <p:txBody>
          <a:bodyPr/>
          <a:lstStyle/>
          <a:p>
            <a:r>
              <a:rPr lang="en-US" altLang="en-US" sz="4400" dirty="0"/>
              <a:t>First-Come, First-Served (FCFS) Scheduling</a:t>
            </a:r>
            <a:endParaRPr lang="en-IN" dirty="0"/>
          </a:p>
        </p:txBody>
      </p:sp>
      <p:sp>
        <p:nvSpPr>
          <p:cNvPr id="4" name="Rectangle 3">
            <a:extLst>
              <a:ext uri="{FF2B5EF4-FFF2-40B4-BE49-F238E27FC236}">
                <a16:creationId xmlns:a16="http://schemas.microsoft.com/office/drawing/2014/main" id="{4ABC6818-8A25-E14A-14B3-27A09BCFC90C}"/>
              </a:ext>
            </a:extLst>
          </p:cNvPr>
          <p:cNvSpPr>
            <a:spLocks noGrp="1" noChangeArrowheads="1"/>
          </p:cNvSpPr>
          <p:nvPr>
            <p:ph idx="1"/>
          </p:nvPr>
        </p:nvSpPr>
        <p:spPr>
          <a:xfrm>
            <a:off x="838200" y="1825625"/>
            <a:ext cx="10515600" cy="4351338"/>
          </a:xfrm>
        </p:spPr>
        <p:txBody>
          <a:bodyPr>
            <a:normAutofit fontScale="85000" lnSpcReduction="20000"/>
          </a:bodyPr>
          <a:lstStyle/>
          <a:p>
            <a:pPr>
              <a:buFont typeface="Monotype Sorts" pitchFamily="2" charset="2"/>
              <a:buNone/>
              <a:tabLst>
                <a:tab pos="3032125" algn="ctr"/>
                <a:tab pos="4635500" algn="ctr"/>
              </a:tabLst>
            </a:pPr>
            <a:r>
              <a:rPr lang="en-US" altLang="en-US" dirty="0"/>
              <a:t>		</a:t>
            </a:r>
            <a:r>
              <a:rPr lang="en-US" altLang="en-US" u="sng" dirty="0"/>
              <a:t>Process</a:t>
            </a:r>
            <a:r>
              <a:rPr lang="en-US" altLang="en-US" dirty="0"/>
              <a:t>	</a:t>
            </a:r>
            <a:r>
              <a:rPr lang="en-US" altLang="en-US" u="sng" dirty="0"/>
              <a:t>Burst Time(</a:t>
            </a:r>
            <a:r>
              <a:rPr lang="en-US" altLang="en-US" u="sng" dirty="0" err="1"/>
              <a:t>ms</a:t>
            </a:r>
            <a:r>
              <a:rPr lang="en-US" altLang="en-US" u="sng" dirty="0"/>
              <a:t>)	</a:t>
            </a:r>
          </a:p>
          <a:p>
            <a:pPr>
              <a:buFont typeface="Monotype Sorts" pitchFamily="2" charset="2"/>
              <a:buNone/>
              <a:tabLst>
                <a:tab pos="3032125" algn="ctr"/>
                <a:tab pos="4635500" algn="ctr"/>
              </a:tabLst>
            </a:pPr>
            <a:r>
              <a:rPr lang="en-US" altLang="en-US" dirty="0"/>
              <a:t>		</a:t>
            </a:r>
            <a:r>
              <a:rPr lang="en-US" altLang="en-US" i="1" dirty="0"/>
              <a:t>P</a:t>
            </a:r>
            <a:r>
              <a:rPr lang="en-US" altLang="en-US" i="1" baseline="-25000" dirty="0"/>
              <a:t>1</a:t>
            </a:r>
            <a:r>
              <a:rPr lang="en-US" altLang="en-US" dirty="0"/>
              <a:t>	24</a:t>
            </a:r>
          </a:p>
          <a:p>
            <a:pPr>
              <a:buFont typeface="Monotype Sorts" pitchFamily="2" charset="2"/>
              <a:buNone/>
              <a:tabLst>
                <a:tab pos="3032125" algn="ctr"/>
                <a:tab pos="4635500" algn="ctr"/>
              </a:tabLst>
            </a:pPr>
            <a:r>
              <a:rPr lang="en-US" altLang="en-US" dirty="0"/>
              <a:t>		 </a:t>
            </a:r>
            <a:r>
              <a:rPr lang="en-US" altLang="en-US" i="1" dirty="0"/>
              <a:t>P</a:t>
            </a:r>
            <a:r>
              <a:rPr lang="en-US" altLang="en-US" i="1" baseline="-25000" dirty="0"/>
              <a:t>2</a:t>
            </a:r>
            <a:r>
              <a:rPr lang="en-US" altLang="en-US" dirty="0"/>
              <a:t> 	3</a:t>
            </a:r>
          </a:p>
          <a:p>
            <a:pPr>
              <a:buFont typeface="Monotype Sorts" pitchFamily="2" charset="2"/>
              <a:buNone/>
              <a:tabLst>
                <a:tab pos="3032125" algn="ctr"/>
                <a:tab pos="4635500" algn="ctr"/>
              </a:tabLst>
            </a:pPr>
            <a:r>
              <a:rPr lang="en-US" altLang="en-US" dirty="0"/>
              <a:t>		 </a:t>
            </a:r>
            <a:r>
              <a:rPr lang="en-US" altLang="en-US" i="1" dirty="0"/>
              <a:t>P</a:t>
            </a:r>
            <a:r>
              <a:rPr lang="en-US" altLang="en-US" i="1" baseline="-25000" dirty="0"/>
              <a:t>3	 </a:t>
            </a:r>
            <a:r>
              <a:rPr lang="en-US" altLang="en-US" dirty="0"/>
              <a:t>3</a:t>
            </a:r>
            <a:r>
              <a:rPr lang="en-US" altLang="en-US" i="1" baseline="-25000" dirty="0"/>
              <a:t> </a:t>
            </a:r>
          </a:p>
          <a:p>
            <a:pPr>
              <a:tabLst>
                <a:tab pos="3032125" algn="ctr"/>
                <a:tab pos="4635500" algn="ctr"/>
              </a:tabLst>
            </a:pPr>
            <a:r>
              <a:rPr lang="en-US" altLang="en-US" dirty="0"/>
              <a:t>Suppose that the processes arrive in the order: </a:t>
            </a:r>
            <a:r>
              <a:rPr lang="en-US" altLang="en-US" i="1" dirty="0"/>
              <a:t>P</a:t>
            </a:r>
            <a:r>
              <a:rPr lang="en-US" altLang="en-US" i="1" baseline="-25000" dirty="0"/>
              <a:t>1</a:t>
            </a:r>
            <a:r>
              <a:rPr lang="en-US" altLang="en-US" dirty="0"/>
              <a:t> , </a:t>
            </a:r>
            <a:r>
              <a:rPr lang="en-US" altLang="en-US" i="1" dirty="0"/>
              <a:t>P</a:t>
            </a:r>
            <a:r>
              <a:rPr lang="en-US" altLang="en-US" i="1" baseline="-25000" dirty="0"/>
              <a:t>2</a:t>
            </a:r>
            <a:r>
              <a:rPr lang="en-US" altLang="en-US" dirty="0"/>
              <a:t> , </a:t>
            </a:r>
            <a:r>
              <a:rPr lang="en-US" altLang="en-US" i="1" dirty="0"/>
              <a:t>P</a:t>
            </a:r>
            <a:r>
              <a:rPr lang="en-US" altLang="en-US" i="1" baseline="-25000" dirty="0"/>
              <a:t>3  </a:t>
            </a:r>
            <a:br>
              <a:rPr lang="en-US" altLang="en-US" i="1" baseline="-25000" dirty="0"/>
            </a:br>
            <a:r>
              <a:rPr lang="en-US" altLang="en-US" dirty="0"/>
              <a:t>The Gantt Chart for the schedule is:</a:t>
            </a:r>
            <a:br>
              <a:rPr lang="en-US" altLang="en-US" dirty="0"/>
            </a:br>
            <a:br>
              <a:rPr lang="en-US" altLang="en-US" dirty="0"/>
            </a:br>
            <a:br>
              <a:rPr lang="en-US" altLang="en-US" dirty="0"/>
            </a:br>
            <a:br>
              <a:rPr lang="en-US" altLang="en-US" dirty="0"/>
            </a:br>
            <a:br>
              <a:rPr lang="en-US" altLang="en-US" dirty="0"/>
            </a:br>
            <a:endParaRPr lang="en-US" altLang="en-US" dirty="0"/>
          </a:p>
          <a:p>
            <a:pPr>
              <a:tabLst>
                <a:tab pos="3032125" algn="ctr"/>
                <a:tab pos="4635500" algn="ctr"/>
              </a:tabLst>
            </a:pPr>
            <a:r>
              <a:rPr lang="en-US" altLang="en-US" dirty="0"/>
              <a:t>Waiting time for </a:t>
            </a:r>
            <a:r>
              <a:rPr lang="en-US" altLang="en-US" i="1" dirty="0"/>
              <a:t>P</a:t>
            </a:r>
            <a:r>
              <a:rPr lang="en-US" altLang="en-US" i="1" baseline="-25000" dirty="0"/>
              <a:t>1</a:t>
            </a:r>
            <a:r>
              <a:rPr lang="en-US" altLang="en-US" dirty="0"/>
              <a:t>  = 0; </a:t>
            </a:r>
            <a:r>
              <a:rPr lang="en-US" altLang="en-US" i="1" dirty="0"/>
              <a:t>P</a:t>
            </a:r>
            <a:r>
              <a:rPr lang="en-US" altLang="en-US" i="1" baseline="-25000" dirty="0"/>
              <a:t>2</a:t>
            </a:r>
            <a:r>
              <a:rPr lang="en-US" altLang="en-US" dirty="0"/>
              <a:t>  = 24; </a:t>
            </a:r>
            <a:r>
              <a:rPr lang="en-US" altLang="en-US" i="1" dirty="0"/>
              <a:t>P</a:t>
            </a:r>
            <a:r>
              <a:rPr lang="en-US" altLang="en-US" i="1" baseline="-25000" dirty="0"/>
              <a:t>3 </a:t>
            </a:r>
            <a:r>
              <a:rPr lang="en-US" altLang="en-US" dirty="0"/>
              <a:t>= 27</a:t>
            </a:r>
          </a:p>
          <a:p>
            <a:pPr>
              <a:tabLst>
                <a:tab pos="3032125" algn="ctr"/>
                <a:tab pos="4635500" algn="ctr"/>
              </a:tabLst>
            </a:pPr>
            <a:r>
              <a:rPr lang="en-US" altLang="en-US" dirty="0"/>
              <a:t>Average waiting time:  (0 + 24 + 27)/3 = 17</a:t>
            </a:r>
          </a:p>
        </p:txBody>
      </p:sp>
      <p:grpSp>
        <p:nvGrpSpPr>
          <p:cNvPr id="5" name="Group 18">
            <a:extLst>
              <a:ext uri="{FF2B5EF4-FFF2-40B4-BE49-F238E27FC236}">
                <a16:creationId xmlns:a16="http://schemas.microsoft.com/office/drawing/2014/main" id="{C475BC38-CAA1-9D4B-7FFE-376E4CFF8F8E}"/>
              </a:ext>
            </a:extLst>
          </p:cNvPr>
          <p:cNvGrpSpPr>
            <a:grpSpLocks/>
          </p:cNvGrpSpPr>
          <p:nvPr/>
        </p:nvGrpSpPr>
        <p:grpSpPr bwMode="auto">
          <a:xfrm>
            <a:off x="1584325" y="4001294"/>
            <a:ext cx="5556250" cy="1128713"/>
            <a:chOff x="856" y="2688"/>
            <a:chExt cx="3500" cy="711"/>
          </a:xfrm>
        </p:grpSpPr>
        <p:sp>
          <p:nvSpPr>
            <p:cNvPr id="6" name="Rectangle 4">
              <a:extLst>
                <a:ext uri="{FF2B5EF4-FFF2-40B4-BE49-F238E27FC236}">
                  <a16:creationId xmlns:a16="http://schemas.microsoft.com/office/drawing/2014/main" id="{C532B2DB-8833-9EBA-973B-4E1176B6CA97}"/>
                </a:ext>
              </a:extLst>
            </p:cNvPr>
            <p:cNvSpPr>
              <a:spLocks noChangeArrowheads="1"/>
            </p:cNvSpPr>
            <p:nvPr/>
          </p:nvSpPr>
          <p:spPr bwMode="auto">
            <a:xfrm>
              <a:off x="960" y="2688"/>
              <a:ext cx="3312" cy="38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 name="Text Box 5">
              <a:extLst>
                <a:ext uri="{FF2B5EF4-FFF2-40B4-BE49-F238E27FC236}">
                  <a16:creationId xmlns:a16="http://schemas.microsoft.com/office/drawing/2014/main" id="{161B4147-9930-7D77-2F70-EA34A1D77A81}"/>
                </a:ext>
              </a:extLst>
            </p:cNvPr>
            <p:cNvSpPr txBox="1">
              <a:spLocks noChangeArrowheads="1"/>
            </p:cNvSpPr>
            <p:nvPr/>
          </p:nvSpPr>
          <p:spPr bwMode="auto">
            <a:xfrm>
              <a:off x="1776" y="2736"/>
              <a:ext cx="265"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en-US"/>
                <a:t>P</a:t>
              </a:r>
              <a:r>
                <a:rPr lang="en-US" altLang="en-US" baseline="-25000"/>
                <a:t>1</a:t>
              </a:r>
              <a:endParaRPr lang="en-US" altLang="en-US"/>
            </a:p>
          </p:txBody>
        </p:sp>
        <p:sp>
          <p:nvSpPr>
            <p:cNvPr id="8" name="Text Box 6">
              <a:extLst>
                <a:ext uri="{FF2B5EF4-FFF2-40B4-BE49-F238E27FC236}">
                  <a16:creationId xmlns:a16="http://schemas.microsoft.com/office/drawing/2014/main" id="{46E93A98-2BF6-B32C-506D-010C9421800D}"/>
                </a:ext>
              </a:extLst>
            </p:cNvPr>
            <p:cNvSpPr txBox="1">
              <a:spLocks noChangeArrowheads="1"/>
            </p:cNvSpPr>
            <p:nvPr/>
          </p:nvSpPr>
          <p:spPr bwMode="auto">
            <a:xfrm>
              <a:off x="3264" y="2736"/>
              <a:ext cx="265"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en-US"/>
                <a:t>P</a:t>
              </a:r>
              <a:r>
                <a:rPr lang="en-US" altLang="en-US" baseline="-25000"/>
                <a:t>2</a:t>
              </a:r>
              <a:endParaRPr lang="en-US" altLang="en-US"/>
            </a:p>
          </p:txBody>
        </p:sp>
        <p:sp>
          <p:nvSpPr>
            <p:cNvPr id="9" name="Text Box 7">
              <a:extLst>
                <a:ext uri="{FF2B5EF4-FFF2-40B4-BE49-F238E27FC236}">
                  <a16:creationId xmlns:a16="http://schemas.microsoft.com/office/drawing/2014/main" id="{8930935E-B9F3-F049-6820-9BFDE7208B39}"/>
                </a:ext>
              </a:extLst>
            </p:cNvPr>
            <p:cNvSpPr txBox="1">
              <a:spLocks noChangeArrowheads="1"/>
            </p:cNvSpPr>
            <p:nvPr/>
          </p:nvSpPr>
          <p:spPr bwMode="auto">
            <a:xfrm>
              <a:off x="3840" y="2736"/>
              <a:ext cx="265"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en-US"/>
                <a:t>P</a:t>
              </a:r>
              <a:r>
                <a:rPr lang="en-US" altLang="en-US" baseline="-25000"/>
                <a:t>3</a:t>
              </a:r>
              <a:endParaRPr lang="en-US" altLang="en-US"/>
            </a:p>
          </p:txBody>
        </p:sp>
        <p:sp>
          <p:nvSpPr>
            <p:cNvPr id="10" name="Line 8">
              <a:extLst>
                <a:ext uri="{FF2B5EF4-FFF2-40B4-BE49-F238E27FC236}">
                  <a16:creationId xmlns:a16="http://schemas.microsoft.com/office/drawing/2014/main" id="{A418EFED-AFF1-A8B1-39F1-06363F6A50DD}"/>
                </a:ext>
              </a:extLst>
            </p:cNvPr>
            <p:cNvSpPr>
              <a:spLocks noChangeShapeType="1"/>
            </p:cNvSpPr>
            <p:nvPr/>
          </p:nvSpPr>
          <p:spPr bwMode="auto">
            <a:xfrm>
              <a:off x="960" y="3072"/>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 name="Line 9">
              <a:extLst>
                <a:ext uri="{FF2B5EF4-FFF2-40B4-BE49-F238E27FC236}">
                  <a16:creationId xmlns:a16="http://schemas.microsoft.com/office/drawing/2014/main" id="{A17E268E-703A-ED5F-F391-15AE97454E21}"/>
                </a:ext>
              </a:extLst>
            </p:cNvPr>
            <p:cNvSpPr>
              <a:spLocks noChangeShapeType="1"/>
            </p:cNvSpPr>
            <p:nvPr/>
          </p:nvSpPr>
          <p:spPr bwMode="auto">
            <a:xfrm>
              <a:off x="4272" y="3072"/>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2" name="Line 10">
              <a:extLst>
                <a:ext uri="{FF2B5EF4-FFF2-40B4-BE49-F238E27FC236}">
                  <a16:creationId xmlns:a16="http://schemas.microsoft.com/office/drawing/2014/main" id="{B1F8786E-F69A-71A3-896C-CF141CE014A8}"/>
                </a:ext>
              </a:extLst>
            </p:cNvPr>
            <p:cNvSpPr>
              <a:spLocks noChangeShapeType="1"/>
            </p:cNvSpPr>
            <p:nvPr/>
          </p:nvSpPr>
          <p:spPr bwMode="auto">
            <a:xfrm>
              <a:off x="3072" y="2688"/>
              <a:ext cx="0"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3" name="Line 11">
              <a:extLst>
                <a:ext uri="{FF2B5EF4-FFF2-40B4-BE49-F238E27FC236}">
                  <a16:creationId xmlns:a16="http://schemas.microsoft.com/office/drawing/2014/main" id="{6DE5D880-77ED-7BDC-08B1-D5F3D0400361}"/>
                </a:ext>
              </a:extLst>
            </p:cNvPr>
            <p:cNvSpPr>
              <a:spLocks noChangeShapeType="1"/>
            </p:cNvSpPr>
            <p:nvPr/>
          </p:nvSpPr>
          <p:spPr bwMode="auto">
            <a:xfrm>
              <a:off x="3648" y="2688"/>
              <a:ext cx="0"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 name="Line 12">
              <a:extLst>
                <a:ext uri="{FF2B5EF4-FFF2-40B4-BE49-F238E27FC236}">
                  <a16:creationId xmlns:a16="http://schemas.microsoft.com/office/drawing/2014/main" id="{2B82AF2B-4123-0839-823C-BBF935D32912}"/>
                </a:ext>
              </a:extLst>
            </p:cNvPr>
            <p:cNvSpPr>
              <a:spLocks noChangeShapeType="1"/>
            </p:cNvSpPr>
            <p:nvPr/>
          </p:nvSpPr>
          <p:spPr bwMode="auto">
            <a:xfrm>
              <a:off x="3072" y="3072"/>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 name="Line 13">
              <a:extLst>
                <a:ext uri="{FF2B5EF4-FFF2-40B4-BE49-F238E27FC236}">
                  <a16:creationId xmlns:a16="http://schemas.microsoft.com/office/drawing/2014/main" id="{469B14DE-0242-873D-9E35-4845B8B422D4}"/>
                </a:ext>
              </a:extLst>
            </p:cNvPr>
            <p:cNvSpPr>
              <a:spLocks noChangeShapeType="1"/>
            </p:cNvSpPr>
            <p:nvPr/>
          </p:nvSpPr>
          <p:spPr bwMode="auto">
            <a:xfrm>
              <a:off x="3648" y="3072"/>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 name="Text Box 14">
              <a:extLst>
                <a:ext uri="{FF2B5EF4-FFF2-40B4-BE49-F238E27FC236}">
                  <a16:creationId xmlns:a16="http://schemas.microsoft.com/office/drawing/2014/main" id="{AE926DE3-B54B-92AE-EC75-5BEE2EA96FA4}"/>
                </a:ext>
              </a:extLst>
            </p:cNvPr>
            <p:cNvSpPr txBox="1">
              <a:spLocks noChangeArrowheads="1"/>
            </p:cNvSpPr>
            <p:nvPr/>
          </p:nvSpPr>
          <p:spPr bwMode="auto">
            <a:xfrm>
              <a:off x="2928" y="3168"/>
              <a:ext cx="276"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en-US"/>
                <a:t>24</a:t>
              </a:r>
            </a:p>
          </p:txBody>
        </p:sp>
        <p:sp>
          <p:nvSpPr>
            <p:cNvPr id="17" name="Text Box 15">
              <a:extLst>
                <a:ext uri="{FF2B5EF4-FFF2-40B4-BE49-F238E27FC236}">
                  <a16:creationId xmlns:a16="http://schemas.microsoft.com/office/drawing/2014/main" id="{225960CD-FAA4-77E5-1492-53A15D23F0F4}"/>
                </a:ext>
              </a:extLst>
            </p:cNvPr>
            <p:cNvSpPr txBox="1">
              <a:spLocks noChangeArrowheads="1"/>
            </p:cNvSpPr>
            <p:nvPr/>
          </p:nvSpPr>
          <p:spPr bwMode="auto">
            <a:xfrm>
              <a:off x="3504" y="3168"/>
              <a:ext cx="276"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en-US"/>
                <a:t>27</a:t>
              </a:r>
            </a:p>
          </p:txBody>
        </p:sp>
        <p:sp>
          <p:nvSpPr>
            <p:cNvPr id="18" name="Text Box 16">
              <a:extLst>
                <a:ext uri="{FF2B5EF4-FFF2-40B4-BE49-F238E27FC236}">
                  <a16:creationId xmlns:a16="http://schemas.microsoft.com/office/drawing/2014/main" id="{E93A2955-E3B6-D733-1C97-4DF3F543A1E3}"/>
                </a:ext>
              </a:extLst>
            </p:cNvPr>
            <p:cNvSpPr txBox="1">
              <a:spLocks noChangeArrowheads="1"/>
            </p:cNvSpPr>
            <p:nvPr/>
          </p:nvSpPr>
          <p:spPr bwMode="auto">
            <a:xfrm>
              <a:off x="4080" y="3168"/>
              <a:ext cx="276"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en-US"/>
                <a:t>30</a:t>
              </a:r>
            </a:p>
          </p:txBody>
        </p:sp>
        <p:sp>
          <p:nvSpPr>
            <p:cNvPr id="19" name="Text Box 17">
              <a:extLst>
                <a:ext uri="{FF2B5EF4-FFF2-40B4-BE49-F238E27FC236}">
                  <a16:creationId xmlns:a16="http://schemas.microsoft.com/office/drawing/2014/main" id="{44784DD7-823F-1000-4FBF-53B8AEE3726D}"/>
                </a:ext>
              </a:extLst>
            </p:cNvPr>
            <p:cNvSpPr txBox="1">
              <a:spLocks noChangeArrowheads="1"/>
            </p:cNvSpPr>
            <p:nvPr/>
          </p:nvSpPr>
          <p:spPr bwMode="auto">
            <a:xfrm>
              <a:off x="856" y="3168"/>
              <a:ext cx="196"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en-US"/>
                <a:t>0</a:t>
              </a:r>
            </a:p>
          </p:txBody>
        </p:sp>
      </p:grpSp>
    </p:spTree>
    <p:extLst>
      <p:ext uri="{BB962C8B-B14F-4D97-AF65-F5344CB8AC3E}">
        <p14:creationId xmlns:p14="http://schemas.microsoft.com/office/powerpoint/2010/main" val="2424246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00239-799A-C0C3-539E-688AA42CD67C}"/>
              </a:ext>
            </a:extLst>
          </p:cNvPr>
          <p:cNvSpPr>
            <a:spLocks noGrp="1"/>
          </p:cNvSpPr>
          <p:nvPr>
            <p:ph type="title"/>
          </p:nvPr>
        </p:nvSpPr>
        <p:spPr/>
        <p:txBody>
          <a:bodyPr/>
          <a:lstStyle/>
          <a:p>
            <a:endParaRPr lang="en-IN"/>
          </a:p>
        </p:txBody>
      </p:sp>
      <p:sp>
        <p:nvSpPr>
          <p:cNvPr id="4" name="Rectangle 3">
            <a:extLst>
              <a:ext uri="{FF2B5EF4-FFF2-40B4-BE49-F238E27FC236}">
                <a16:creationId xmlns:a16="http://schemas.microsoft.com/office/drawing/2014/main" id="{CDA4FE91-8922-64DD-5B6E-DBC00411B08D}"/>
              </a:ext>
            </a:extLst>
          </p:cNvPr>
          <p:cNvSpPr>
            <a:spLocks noGrp="1" noChangeArrowheads="1"/>
          </p:cNvSpPr>
          <p:nvPr>
            <p:ph idx="1"/>
          </p:nvPr>
        </p:nvSpPr>
        <p:spPr>
          <a:xfrm>
            <a:off x="838200" y="1825625"/>
            <a:ext cx="10515600" cy="4351338"/>
          </a:xfrm>
        </p:spPr>
        <p:txBody>
          <a:bodyPr>
            <a:normAutofit fontScale="92500" lnSpcReduction="20000"/>
          </a:bodyPr>
          <a:lstStyle/>
          <a:p>
            <a:pPr>
              <a:buFont typeface="Monotype Sorts" pitchFamily="2" charset="2"/>
              <a:buNone/>
              <a:tabLst>
                <a:tab pos="3651250" algn="ctr"/>
              </a:tabLst>
            </a:pPr>
            <a:r>
              <a:rPr lang="en-US" altLang="en-US" dirty="0"/>
              <a:t>Suppose that the processes arrive in the order</a:t>
            </a:r>
          </a:p>
          <a:p>
            <a:pPr>
              <a:buFont typeface="Monotype Sorts" pitchFamily="2" charset="2"/>
              <a:buNone/>
              <a:tabLst>
                <a:tab pos="3651250" algn="ctr"/>
              </a:tabLst>
            </a:pPr>
            <a:r>
              <a:rPr lang="en-US" altLang="en-US" dirty="0"/>
              <a:t>		 </a:t>
            </a:r>
            <a:r>
              <a:rPr lang="en-US" altLang="en-US" i="1" dirty="0"/>
              <a:t>P</a:t>
            </a:r>
            <a:r>
              <a:rPr lang="en-US" altLang="en-US" i="1" baseline="-25000" dirty="0"/>
              <a:t>2</a:t>
            </a:r>
            <a:r>
              <a:rPr lang="en-US" altLang="en-US" dirty="0"/>
              <a:t> , </a:t>
            </a:r>
            <a:r>
              <a:rPr lang="en-US" altLang="en-US" i="1" dirty="0"/>
              <a:t>P</a:t>
            </a:r>
            <a:r>
              <a:rPr lang="en-US" altLang="en-US" i="1" baseline="-25000" dirty="0"/>
              <a:t>3</a:t>
            </a:r>
            <a:r>
              <a:rPr lang="en-US" altLang="en-US" dirty="0"/>
              <a:t> , </a:t>
            </a:r>
            <a:r>
              <a:rPr lang="en-US" altLang="en-US" i="1" dirty="0"/>
              <a:t>P</a:t>
            </a:r>
            <a:r>
              <a:rPr lang="en-US" altLang="en-US" i="1" baseline="-25000" dirty="0"/>
              <a:t>1</a:t>
            </a:r>
            <a:r>
              <a:rPr lang="en-US" altLang="en-US" dirty="0"/>
              <a:t> .</a:t>
            </a:r>
          </a:p>
          <a:p>
            <a:pPr>
              <a:tabLst>
                <a:tab pos="3651250" algn="ctr"/>
              </a:tabLst>
            </a:pPr>
            <a:r>
              <a:rPr lang="en-US" altLang="en-US" dirty="0"/>
              <a:t>The Gantt chart for the schedule is:</a:t>
            </a:r>
            <a:br>
              <a:rPr lang="en-US" altLang="en-US" dirty="0"/>
            </a:br>
            <a:endParaRPr lang="en-US" altLang="en-US" dirty="0"/>
          </a:p>
          <a:p>
            <a:pPr>
              <a:tabLst>
                <a:tab pos="3651250" algn="ctr"/>
              </a:tabLst>
            </a:pPr>
            <a:endParaRPr lang="en-US" altLang="en-US" dirty="0"/>
          </a:p>
          <a:p>
            <a:pPr>
              <a:tabLst>
                <a:tab pos="3651250" algn="ctr"/>
              </a:tabLst>
            </a:pPr>
            <a:endParaRPr lang="en-US" altLang="en-US" dirty="0"/>
          </a:p>
          <a:p>
            <a:pPr>
              <a:tabLst>
                <a:tab pos="3651250" algn="ctr"/>
              </a:tabLst>
            </a:pPr>
            <a:endParaRPr lang="en-US" altLang="en-US" dirty="0"/>
          </a:p>
          <a:p>
            <a:pPr>
              <a:tabLst>
                <a:tab pos="3651250" algn="ctr"/>
              </a:tabLst>
            </a:pPr>
            <a:r>
              <a:rPr lang="en-US" altLang="en-US" dirty="0"/>
              <a:t>Waiting time for </a:t>
            </a:r>
            <a:r>
              <a:rPr lang="en-US" altLang="en-US" i="1" dirty="0"/>
              <a:t>P</a:t>
            </a:r>
            <a:r>
              <a:rPr lang="en-US" altLang="en-US" i="1" baseline="-25000" dirty="0"/>
              <a:t>1 </a:t>
            </a:r>
            <a:r>
              <a:rPr lang="en-US" altLang="en-US" i="1" dirty="0"/>
              <a:t>=</a:t>
            </a:r>
            <a:r>
              <a:rPr lang="en-US" altLang="en-US" dirty="0"/>
              <a:t> 6</a:t>
            </a:r>
            <a:r>
              <a:rPr lang="en-US" altLang="en-US" i="1" dirty="0"/>
              <a:t>;</a:t>
            </a:r>
            <a:r>
              <a:rPr lang="en-US" altLang="en-US" i="1" baseline="-25000" dirty="0"/>
              <a:t> </a:t>
            </a:r>
            <a:r>
              <a:rPr lang="en-US" altLang="en-US" i="1" dirty="0"/>
              <a:t>P</a:t>
            </a:r>
            <a:r>
              <a:rPr lang="en-US" altLang="en-US" i="1" baseline="-25000" dirty="0"/>
              <a:t>2</a:t>
            </a:r>
            <a:r>
              <a:rPr lang="en-US" altLang="en-US" dirty="0"/>
              <a:t> = 0</a:t>
            </a:r>
            <a:r>
              <a:rPr lang="en-US" altLang="en-US" i="1" baseline="-25000" dirty="0"/>
              <a:t>; </a:t>
            </a:r>
            <a:r>
              <a:rPr lang="en-US" altLang="en-US" i="1" dirty="0"/>
              <a:t>P</a:t>
            </a:r>
            <a:r>
              <a:rPr lang="en-US" altLang="en-US" i="1" baseline="-25000" dirty="0"/>
              <a:t>3 </a:t>
            </a:r>
            <a:r>
              <a:rPr lang="en-US" altLang="en-US" i="1" dirty="0"/>
              <a:t>= </a:t>
            </a:r>
            <a:r>
              <a:rPr lang="en-US" altLang="en-US" dirty="0"/>
              <a:t>3</a:t>
            </a:r>
            <a:endParaRPr lang="en-US" altLang="en-US" i="1" dirty="0"/>
          </a:p>
          <a:p>
            <a:pPr>
              <a:tabLst>
                <a:tab pos="3651250" algn="ctr"/>
              </a:tabLst>
            </a:pPr>
            <a:r>
              <a:rPr lang="en-US" altLang="en-US" dirty="0"/>
              <a:t>Average waiting time:   (6 + 0 + 3)/3 = 3</a:t>
            </a:r>
          </a:p>
          <a:p>
            <a:pPr>
              <a:tabLst>
                <a:tab pos="3651250" algn="ctr"/>
              </a:tabLst>
            </a:pPr>
            <a:r>
              <a:rPr lang="en-US" altLang="en-US" dirty="0"/>
              <a:t>Much better than previous case.</a:t>
            </a:r>
          </a:p>
          <a:p>
            <a:pPr>
              <a:tabLst>
                <a:tab pos="3651250" algn="ctr"/>
              </a:tabLst>
            </a:pPr>
            <a:r>
              <a:rPr lang="en-US" altLang="en-US" i="1" dirty="0"/>
              <a:t>The effect</a:t>
            </a:r>
            <a:r>
              <a:rPr lang="en-US" altLang="en-US" dirty="0"/>
              <a:t> short process behind long process</a:t>
            </a:r>
          </a:p>
        </p:txBody>
      </p:sp>
      <p:grpSp>
        <p:nvGrpSpPr>
          <p:cNvPr id="5" name="Group 20">
            <a:extLst>
              <a:ext uri="{FF2B5EF4-FFF2-40B4-BE49-F238E27FC236}">
                <a16:creationId xmlns:a16="http://schemas.microsoft.com/office/drawing/2014/main" id="{B63B7EF2-6757-8552-C81D-5B91701078EB}"/>
              </a:ext>
            </a:extLst>
          </p:cNvPr>
          <p:cNvGrpSpPr>
            <a:grpSpLocks/>
          </p:cNvGrpSpPr>
          <p:nvPr/>
        </p:nvGrpSpPr>
        <p:grpSpPr bwMode="auto">
          <a:xfrm>
            <a:off x="1651000" y="3148013"/>
            <a:ext cx="5575300" cy="1128712"/>
            <a:chOff x="852" y="1650"/>
            <a:chExt cx="3512" cy="711"/>
          </a:xfrm>
        </p:grpSpPr>
        <p:sp>
          <p:nvSpPr>
            <p:cNvPr id="6" name="Rectangle 6">
              <a:extLst>
                <a:ext uri="{FF2B5EF4-FFF2-40B4-BE49-F238E27FC236}">
                  <a16:creationId xmlns:a16="http://schemas.microsoft.com/office/drawing/2014/main" id="{68CB7269-D707-6FB4-885F-FD9BE40B0EAB}"/>
                </a:ext>
              </a:extLst>
            </p:cNvPr>
            <p:cNvSpPr>
              <a:spLocks noChangeArrowheads="1"/>
            </p:cNvSpPr>
            <p:nvPr/>
          </p:nvSpPr>
          <p:spPr bwMode="auto">
            <a:xfrm flipH="1">
              <a:off x="948" y="1650"/>
              <a:ext cx="3312" cy="38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 name="Text Box 7">
              <a:extLst>
                <a:ext uri="{FF2B5EF4-FFF2-40B4-BE49-F238E27FC236}">
                  <a16:creationId xmlns:a16="http://schemas.microsoft.com/office/drawing/2014/main" id="{F8623F7C-35BD-69D8-B7CD-19D6925321BE}"/>
                </a:ext>
              </a:extLst>
            </p:cNvPr>
            <p:cNvSpPr txBox="1">
              <a:spLocks noChangeArrowheads="1"/>
            </p:cNvSpPr>
            <p:nvPr/>
          </p:nvSpPr>
          <p:spPr bwMode="auto">
            <a:xfrm flipH="1">
              <a:off x="3179" y="1698"/>
              <a:ext cx="265"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en-US"/>
                <a:t>P</a:t>
              </a:r>
              <a:r>
                <a:rPr lang="en-US" altLang="en-US" baseline="-25000"/>
                <a:t>1</a:t>
              </a:r>
              <a:endParaRPr lang="en-US" altLang="en-US"/>
            </a:p>
          </p:txBody>
        </p:sp>
        <p:sp>
          <p:nvSpPr>
            <p:cNvPr id="8" name="Text Box 8">
              <a:extLst>
                <a:ext uri="{FF2B5EF4-FFF2-40B4-BE49-F238E27FC236}">
                  <a16:creationId xmlns:a16="http://schemas.microsoft.com/office/drawing/2014/main" id="{2AA7D0E7-7FDC-6A5E-7EEB-E07DDA7FD9CD}"/>
                </a:ext>
              </a:extLst>
            </p:cNvPr>
            <p:cNvSpPr txBox="1">
              <a:spLocks noChangeArrowheads="1"/>
            </p:cNvSpPr>
            <p:nvPr/>
          </p:nvSpPr>
          <p:spPr bwMode="auto">
            <a:xfrm flipH="1">
              <a:off x="1691" y="1698"/>
              <a:ext cx="265"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en-US"/>
                <a:t>P</a:t>
              </a:r>
              <a:r>
                <a:rPr lang="en-US" altLang="en-US" baseline="-25000"/>
                <a:t>3</a:t>
              </a:r>
              <a:endParaRPr lang="en-US" altLang="en-US"/>
            </a:p>
          </p:txBody>
        </p:sp>
        <p:sp>
          <p:nvSpPr>
            <p:cNvPr id="9" name="Text Box 9">
              <a:extLst>
                <a:ext uri="{FF2B5EF4-FFF2-40B4-BE49-F238E27FC236}">
                  <a16:creationId xmlns:a16="http://schemas.microsoft.com/office/drawing/2014/main" id="{61B92A63-CB9C-FB9F-063C-3FB8EC4A0A3B}"/>
                </a:ext>
              </a:extLst>
            </p:cNvPr>
            <p:cNvSpPr txBox="1">
              <a:spLocks noChangeArrowheads="1"/>
            </p:cNvSpPr>
            <p:nvPr/>
          </p:nvSpPr>
          <p:spPr bwMode="auto">
            <a:xfrm flipH="1">
              <a:off x="1115" y="1698"/>
              <a:ext cx="265"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en-US"/>
                <a:t>P</a:t>
              </a:r>
              <a:r>
                <a:rPr lang="en-US" altLang="en-US" baseline="-25000"/>
                <a:t>2</a:t>
              </a:r>
              <a:endParaRPr lang="en-US" altLang="en-US"/>
            </a:p>
          </p:txBody>
        </p:sp>
        <p:sp>
          <p:nvSpPr>
            <p:cNvPr id="10" name="Line 10">
              <a:extLst>
                <a:ext uri="{FF2B5EF4-FFF2-40B4-BE49-F238E27FC236}">
                  <a16:creationId xmlns:a16="http://schemas.microsoft.com/office/drawing/2014/main" id="{549CEEBD-C99D-F6CD-ADF6-937C429E9AD1}"/>
                </a:ext>
              </a:extLst>
            </p:cNvPr>
            <p:cNvSpPr>
              <a:spLocks noChangeShapeType="1"/>
            </p:cNvSpPr>
            <p:nvPr/>
          </p:nvSpPr>
          <p:spPr bwMode="auto">
            <a:xfrm flipH="1">
              <a:off x="4260" y="2034"/>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 name="Line 11">
              <a:extLst>
                <a:ext uri="{FF2B5EF4-FFF2-40B4-BE49-F238E27FC236}">
                  <a16:creationId xmlns:a16="http://schemas.microsoft.com/office/drawing/2014/main" id="{15CD23F7-3DA3-37D6-FD08-82755C5F63C0}"/>
                </a:ext>
              </a:extLst>
            </p:cNvPr>
            <p:cNvSpPr>
              <a:spLocks noChangeShapeType="1"/>
            </p:cNvSpPr>
            <p:nvPr/>
          </p:nvSpPr>
          <p:spPr bwMode="auto">
            <a:xfrm flipH="1">
              <a:off x="948" y="2034"/>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2" name="Line 12">
              <a:extLst>
                <a:ext uri="{FF2B5EF4-FFF2-40B4-BE49-F238E27FC236}">
                  <a16:creationId xmlns:a16="http://schemas.microsoft.com/office/drawing/2014/main" id="{6435F813-742D-8F12-2C41-AA836977709B}"/>
                </a:ext>
              </a:extLst>
            </p:cNvPr>
            <p:cNvSpPr>
              <a:spLocks noChangeShapeType="1"/>
            </p:cNvSpPr>
            <p:nvPr/>
          </p:nvSpPr>
          <p:spPr bwMode="auto">
            <a:xfrm flipH="1">
              <a:off x="2148" y="1650"/>
              <a:ext cx="0"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3" name="Line 13">
              <a:extLst>
                <a:ext uri="{FF2B5EF4-FFF2-40B4-BE49-F238E27FC236}">
                  <a16:creationId xmlns:a16="http://schemas.microsoft.com/office/drawing/2014/main" id="{BBEB0C40-6713-6299-98B0-E1E9416B0B85}"/>
                </a:ext>
              </a:extLst>
            </p:cNvPr>
            <p:cNvSpPr>
              <a:spLocks noChangeShapeType="1"/>
            </p:cNvSpPr>
            <p:nvPr/>
          </p:nvSpPr>
          <p:spPr bwMode="auto">
            <a:xfrm flipH="1">
              <a:off x="1572" y="1650"/>
              <a:ext cx="0"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 name="Line 14">
              <a:extLst>
                <a:ext uri="{FF2B5EF4-FFF2-40B4-BE49-F238E27FC236}">
                  <a16:creationId xmlns:a16="http://schemas.microsoft.com/office/drawing/2014/main" id="{37D5B1C8-6B6C-6401-AC60-3FA75885163A}"/>
                </a:ext>
              </a:extLst>
            </p:cNvPr>
            <p:cNvSpPr>
              <a:spLocks noChangeShapeType="1"/>
            </p:cNvSpPr>
            <p:nvPr/>
          </p:nvSpPr>
          <p:spPr bwMode="auto">
            <a:xfrm flipH="1">
              <a:off x="2148" y="2034"/>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 name="Line 15">
              <a:extLst>
                <a:ext uri="{FF2B5EF4-FFF2-40B4-BE49-F238E27FC236}">
                  <a16:creationId xmlns:a16="http://schemas.microsoft.com/office/drawing/2014/main" id="{72F15243-3CA8-530D-9149-00A1D5191B2E}"/>
                </a:ext>
              </a:extLst>
            </p:cNvPr>
            <p:cNvSpPr>
              <a:spLocks noChangeShapeType="1"/>
            </p:cNvSpPr>
            <p:nvPr/>
          </p:nvSpPr>
          <p:spPr bwMode="auto">
            <a:xfrm flipH="1">
              <a:off x="1572" y="2034"/>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 name="Text Box 16">
              <a:extLst>
                <a:ext uri="{FF2B5EF4-FFF2-40B4-BE49-F238E27FC236}">
                  <a16:creationId xmlns:a16="http://schemas.microsoft.com/office/drawing/2014/main" id="{63E71ABB-D771-86EC-A6BF-634B53A025B0}"/>
                </a:ext>
              </a:extLst>
            </p:cNvPr>
            <p:cNvSpPr txBox="1">
              <a:spLocks noChangeArrowheads="1"/>
            </p:cNvSpPr>
            <p:nvPr/>
          </p:nvSpPr>
          <p:spPr bwMode="auto">
            <a:xfrm flipH="1">
              <a:off x="2056" y="2130"/>
              <a:ext cx="196"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en-US"/>
                <a:t>6</a:t>
              </a:r>
            </a:p>
          </p:txBody>
        </p:sp>
        <p:sp>
          <p:nvSpPr>
            <p:cNvPr id="17" name="Text Box 17">
              <a:extLst>
                <a:ext uri="{FF2B5EF4-FFF2-40B4-BE49-F238E27FC236}">
                  <a16:creationId xmlns:a16="http://schemas.microsoft.com/office/drawing/2014/main" id="{94F94340-1D04-B706-2436-98B6928B1DEE}"/>
                </a:ext>
              </a:extLst>
            </p:cNvPr>
            <p:cNvSpPr txBox="1">
              <a:spLocks noChangeArrowheads="1"/>
            </p:cNvSpPr>
            <p:nvPr/>
          </p:nvSpPr>
          <p:spPr bwMode="auto">
            <a:xfrm flipH="1">
              <a:off x="1480" y="2130"/>
              <a:ext cx="196"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en-US"/>
                <a:t>3</a:t>
              </a:r>
            </a:p>
          </p:txBody>
        </p:sp>
        <p:sp>
          <p:nvSpPr>
            <p:cNvPr id="18" name="Text Box 18">
              <a:extLst>
                <a:ext uri="{FF2B5EF4-FFF2-40B4-BE49-F238E27FC236}">
                  <a16:creationId xmlns:a16="http://schemas.microsoft.com/office/drawing/2014/main" id="{5BDC3771-95DF-8D43-B691-2648C5342778}"/>
                </a:ext>
              </a:extLst>
            </p:cNvPr>
            <p:cNvSpPr txBox="1">
              <a:spLocks noChangeArrowheads="1"/>
            </p:cNvSpPr>
            <p:nvPr/>
          </p:nvSpPr>
          <p:spPr bwMode="auto">
            <a:xfrm flipH="1">
              <a:off x="4088" y="2130"/>
              <a:ext cx="276"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en-US"/>
                <a:t>30</a:t>
              </a:r>
            </a:p>
          </p:txBody>
        </p:sp>
        <p:sp>
          <p:nvSpPr>
            <p:cNvPr id="19" name="Text Box 19">
              <a:extLst>
                <a:ext uri="{FF2B5EF4-FFF2-40B4-BE49-F238E27FC236}">
                  <a16:creationId xmlns:a16="http://schemas.microsoft.com/office/drawing/2014/main" id="{1BD3A1FC-B894-C433-E04C-AB4EC69ADA1A}"/>
                </a:ext>
              </a:extLst>
            </p:cNvPr>
            <p:cNvSpPr txBox="1">
              <a:spLocks noChangeArrowheads="1"/>
            </p:cNvSpPr>
            <p:nvPr/>
          </p:nvSpPr>
          <p:spPr bwMode="auto">
            <a:xfrm flipH="1">
              <a:off x="852" y="2130"/>
              <a:ext cx="196"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50000"/>
                </a:spcBef>
              </a:pPr>
              <a:r>
                <a:rPr lang="en-US" altLang="en-US"/>
                <a:t>0</a:t>
              </a:r>
            </a:p>
          </p:txBody>
        </p:sp>
      </p:grpSp>
    </p:spTree>
    <p:extLst>
      <p:ext uri="{BB962C8B-B14F-4D97-AF65-F5344CB8AC3E}">
        <p14:creationId xmlns:p14="http://schemas.microsoft.com/office/powerpoint/2010/main" val="8899383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DB783-0E58-4350-788D-A0F2210D09AE}"/>
              </a:ext>
            </a:extLst>
          </p:cNvPr>
          <p:cNvSpPr>
            <a:spLocks noGrp="1"/>
          </p:cNvSpPr>
          <p:nvPr>
            <p:ph type="title"/>
          </p:nvPr>
        </p:nvSpPr>
        <p:spPr/>
        <p:txBody>
          <a:bodyPr/>
          <a:lstStyle/>
          <a:p>
            <a:r>
              <a:rPr lang="en-US" altLang="en-US" dirty="0"/>
              <a:t>Multilevel Queue</a:t>
            </a:r>
            <a:endParaRPr lang="en-IN" dirty="0"/>
          </a:p>
        </p:txBody>
      </p:sp>
      <p:sp>
        <p:nvSpPr>
          <p:cNvPr id="4" name="Rectangle 3">
            <a:extLst>
              <a:ext uri="{FF2B5EF4-FFF2-40B4-BE49-F238E27FC236}">
                <a16:creationId xmlns:a16="http://schemas.microsoft.com/office/drawing/2014/main" id="{F6A21682-CAEC-EC38-E4FD-FE9A1A887131}"/>
              </a:ext>
            </a:extLst>
          </p:cNvPr>
          <p:cNvSpPr>
            <a:spLocks noGrp="1" noChangeArrowheads="1"/>
          </p:cNvSpPr>
          <p:nvPr>
            <p:ph idx="1"/>
          </p:nvPr>
        </p:nvSpPr>
        <p:spPr>
          <a:xfrm>
            <a:off x="838200" y="1825625"/>
            <a:ext cx="10515600" cy="4351338"/>
          </a:xfrm>
        </p:spPr>
        <p:txBody>
          <a:bodyPr/>
          <a:lstStyle/>
          <a:p>
            <a:r>
              <a:rPr lang="en-US" altLang="en-US" sz="2400" dirty="0"/>
              <a:t>Ready queue is partitioned into separate queues:</a:t>
            </a:r>
            <a:br>
              <a:rPr lang="en-US" altLang="en-US" sz="2400" dirty="0"/>
            </a:br>
            <a:r>
              <a:rPr lang="en-US" altLang="en-US" sz="2400" dirty="0"/>
              <a:t>foreground (interactive)</a:t>
            </a:r>
            <a:br>
              <a:rPr lang="en-US" altLang="en-US" sz="2400" dirty="0"/>
            </a:br>
            <a:r>
              <a:rPr lang="en-US" altLang="en-US" sz="2400" dirty="0"/>
              <a:t>background (batch)</a:t>
            </a:r>
          </a:p>
          <a:p>
            <a:r>
              <a:rPr lang="en-US" altLang="en-US" sz="2400" dirty="0"/>
              <a:t>Each queue has its own scheduling algorithm, </a:t>
            </a:r>
            <a:br>
              <a:rPr lang="en-US" altLang="en-US" sz="2400" dirty="0"/>
            </a:br>
            <a:r>
              <a:rPr lang="en-US" altLang="en-US" sz="2400" dirty="0"/>
              <a:t>foreground – RR</a:t>
            </a:r>
            <a:br>
              <a:rPr lang="en-US" altLang="en-US" sz="2400" dirty="0"/>
            </a:br>
            <a:r>
              <a:rPr lang="en-US" altLang="en-US" sz="2400" dirty="0"/>
              <a:t>background – FCFS</a:t>
            </a:r>
          </a:p>
          <a:p>
            <a:r>
              <a:rPr lang="en-US" altLang="en-US" sz="2400" dirty="0"/>
              <a:t>Scheduling must be done between the queues.</a:t>
            </a:r>
          </a:p>
          <a:p>
            <a:pPr lvl="1"/>
            <a:r>
              <a:rPr lang="en-US" altLang="en-US" sz="2200" dirty="0"/>
              <a:t>Fixed priority scheduling; (i.e., serve all from foreground then from background).  Possibility of starvation.</a:t>
            </a:r>
          </a:p>
          <a:p>
            <a:pPr lvl="1"/>
            <a:r>
              <a:rPr lang="en-US" altLang="en-US" sz="2200" dirty="0"/>
              <a:t>Time slice – each queue gets a certain amount of CPU time which it can schedule amongst its processes; i.e., 80% to foreground in RR 20% to background in FCFS </a:t>
            </a:r>
          </a:p>
        </p:txBody>
      </p:sp>
    </p:spTree>
    <p:extLst>
      <p:ext uri="{BB962C8B-B14F-4D97-AF65-F5344CB8AC3E}">
        <p14:creationId xmlns:p14="http://schemas.microsoft.com/office/powerpoint/2010/main" val="38524362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11810-A9A1-FCA2-0DD8-94C642FBFFC3}"/>
              </a:ext>
            </a:extLst>
          </p:cNvPr>
          <p:cNvSpPr>
            <a:spLocks noGrp="1"/>
          </p:cNvSpPr>
          <p:nvPr>
            <p:ph type="title"/>
          </p:nvPr>
        </p:nvSpPr>
        <p:spPr/>
        <p:txBody>
          <a:bodyPr/>
          <a:lstStyle/>
          <a:p>
            <a:endParaRPr lang="en-IN"/>
          </a:p>
        </p:txBody>
      </p:sp>
      <p:sp>
        <p:nvSpPr>
          <p:cNvPr id="4" name="Rectangle 3">
            <a:extLst>
              <a:ext uri="{FF2B5EF4-FFF2-40B4-BE49-F238E27FC236}">
                <a16:creationId xmlns:a16="http://schemas.microsoft.com/office/drawing/2014/main" id="{94A3D542-9FDB-1D37-CDA0-65229B0D1480}"/>
              </a:ext>
            </a:extLst>
          </p:cNvPr>
          <p:cNvSpPr>
            <a:spLocks noGrp="1" noChangeArrowheads="1"/>
          </p:cNvSpPr>
          <p:nvPr>
            <p:ph idx="1"/>
          </p:nvPr>
        </p:nvSpPr>
        <p:spPr>
          <a:xfrm>
            <a:off x="838200" y="1825625"/>
            <a:ext cx="10515600" cy="4351338"/>
          </a:xfrm>
        </p:spPr>
        <p:txBody>
          <a:bodyPr>
            <a:normAutofit fontScale="92500"/>
          </a:bodyPr>
          <a:lstStyle/>
          <a:p>
            <a:r>
              <a:rPr lang="en-US" altLang="en-US" sz="2400" dirty="0"/>
              <a:t>Let us look at an example of a multilevel queue-scheduling algorithm with five queues:</a:t>
            </a:r>
          </a:p>
          <a:p>
            <a:pPr lvl="1"/>
            <a:r>
              <a:rPr lang="en-US" altLang="en-US" sz="2000" dirty="0"/>
              <a:t>1. System processes</a:t>
            </a:r>
          </a:p>
          <a:p>
            <a:pPr lvl="1"/>
            <a:r>
              <a:rPr lang="en-US" altLang="en-US" sz="2000" dirty="0"/>
              <a:t>2. Interactive processes</a:t>
            </a:r>
          </a:p>
          <a:p>
            <a:pPr lvl="1"/>
            <a:r>
              <a:rPr lang="en-US" altLang="en-US" sz="2000" b="1" dirty="0"/>
              <a:t>3. </a:t>
            </a:r>
            <a:r>
              <a:rPr lang="en-US" altLang="en-US" sz="2000" dirty="0"/>
              <a:t>Interactive editing processes</a:t>
            </a:r>
          </a:p>
          <a:p>
            <a:pPr lvl="1"/>
            <a:r>
              <a:rPr lang="en-US" altLang="en-US" sz="2000" dirty="0"/>
              <a:t>4. Batch processes</a:t>
            </a:r>
          </a:p>
          <a:p>
            <a:pPr lvl="1"/>
            <a:r>
              <a:rPr lang="en-US" altLang="en-US" sz="2000" dirty="0"/>
              <a:t>5. Student processes</a:t>
            </a:r>
          </a:p>
          <a:p>
            <a:endParaRPr lang="en-US" altLang="en-US" dirty="0"/>
          </a:p>
          <a:p>
            <a:r>
              <a:rPr lang="en-US" altLang="en-US" sz="2400" dirty="0"/>
              <a:t>Each queue has absolute priority over lower-priority queues. No process in the batch queue, for example, could run unless the queues for system processes, interactive processes, and interactive editing processes were all empty. </a:t>
            </a:r>
          </a:p>
          <a:p>
            <a:r>
              <a:rPr lang="en-US" altLang="en-US" sz="2400" dirty="0"/>
              <a:t>If an interactive editing process entered the ready queue while a batch process was running, the batch process would be preempted. Solaris 2 uses a form of this algorithm.</a:t>
            </a:r>
          </a:p>
        </p:txBody>
      </p:sp>
    </p:spTree>
    <p:extLst>
      <p:ext uri="{BB962C8B-B14F-4D97-AF65-F5344CB8AC3E}">
        <p14:creationId xmlns:p14="http://schemas.microsoft.com/office/powerpoint/2010/main" val="32989419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64271F3E-6BEE-ADFF-DF8C-4373CC5F9F55}"/>
              </a:ext>
            </a:extLst>
          </p:cNvPr>
          <p:cNvSpPr>
            <a:spLocks noGrp="1" noChangeArrowheads="1"/>
          </p:cNvSpPr>
          <p:nvPr>
            <p:ph type="title"/>
          </p:nvPr>
        </p:nvSpPr>
        <p:spPr>
          <a:xfrm>
            <a:off x="838200" y="365125"/>
            <a:ext cx="10515600" cy="1325563"/>
          </a:xfrm>
        </p:spPr>
        <p:txBody>
          <a:bodyPr/>
          <a:lstStyle/>
          <a:p>
            <a:r>
              <a:rPr lang="en-US" altLang="en-US" dirty="0"/>
              <a:t>Multilevel Queue Scheduling</a:t>
            </a:r>
          </a:p>
        </p:txBody>
      </p:sp>
      <p:pic>
        <p:nvPicPr>
          <p:cNvPr id="5" name="Picture 5">
            <a:extLst>
              <a:ext uri="{FF2B5EF4-FFF2-40B4-BE49-F238E27FC236}">
                <a16:creationId xmlns:a16="http://schemas.microsoft.com/office/drawing/2014/main" id="{509568CD-E2D1-56E4-08D5-8D417241C50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569" t="8675" r="571" b="9201"/>
          <a:stretch>
            <a:fillRect/>
          </a:stretch>
        </p:blipFill>
        <p:spPr bwMode="auto">
          <a:xfrm>
            <a:off x="2821324" y="1825625"/>
            <a:ext cx="6549351" cy="4351338"/>
          </a:xfrm>
          <a:prstGeom prst="rect">
            <a:avLst/>
          </a:prstGeom>
          <a:noFill/>
          <a:ln w="57150" cmpd="thickThin">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358447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A03D29CD-DFEA-016D-553A-7EF5C718552B}"/>
              </a:ext>
            </a:extLst>
          </p:cNvPr>
          <p:cNvSpPr>
            <a:spLocks noGrp="1" noChangeArrowheads="1"/>
          </p:cNvSpPr>
          <p:nvPr>
            <p:ph type="title"/>
          </p:nvPr>
        </p:nvSpPr>
        <p:spPr>
          <a:xfrm>
            <a:off x="838200" y="365125"/>
            <a:ext cx="10515600" cy="1325563"/>
          </a:xfrm>
        </p:spPr>
        <p:txBody>
          <a:bodyPr/>
          <a:lstStyle/>
          <a:p>
            <a:r>
              <a:rPr lang="en-US" altLang="en-US" dirty="0"/>
              <a:t>Multilevel Feedback Queue</a:t>
            </a:r>
          </a:p>
        </p:txBody>
      </p:sp>
      <p:sp>
        <p:nvSpPr>
          <p:cNvPr id="6" name="Rectangle 3">
            <a:extLst>
              <a:ext uri="{FF2B5EF4-FFF2-40B4-BE49-F238E27FC236}">
                <a16:creationId xmlns:a16="http://schemas.microsoft.com/office/drawing/2014/main" id="{91046893-F4BB-3A54-0B60-467C43180C77}"/>
              </a:ext>
            </a:extLst>
          </p:cNvPr>
          <p:cNvSpPr>
            <a:spLocks noGrp="1" noChangeArrowheads="1"/>
          </p:cNvSpPr>
          <p:nvPr>
            <p:ph idx="1"/>
          </p:nvPr>
        </p:nvSpPr>
        <p:spPr>
          <a:xfrm>
            <a:off x="838200" y="1825625"/>
            <a:ext cx="10515600" cy="4351338"/>
          </a:xfrm>
        </p:spPr>
        <p:txBody>
          <a:bodyPr/>
          <a:lstStyle/>
          <a:p>
            <a:r>
              <a:rPr lang="en-US" altLang="en-US" sz="2400" dirty="0"/>
              <a:t>A process can move between the various queues; aging can be implemented this way.</a:t>
            </a:r>
          </a:p>
          <a:p>
            <a:r>
              <a:rPr lang="en-US" altLang="en-US" sz="2400" dirty="0"/>
              <a:t>Multilevel-feedback-queue scheduler defined by the following parameters:</a:t>
            </a:r>
          </a:p>
          <a:p>
            <a:pPr lvl="1"/>
            <a:r>
              <a:rPr lang="en-US" altLang="en-US" sz="2200" dirty="0"/>
              <a:t>number of queues</a:t>
            </a:r>
          </a:p>
          <a:p>
            <a:pPr lvl="1"/>
            <a:r>
              <a:rPr lang="en-US" altLang="en-US" sz="2200" dirty="0"/>
              <a:t>scheduling algorithms for each queue</a:t>
            </a:r>
          </a:p>
          <a:p>
            <a:pPr lvl="1"/>
            <a:r>
              <a:rPr lang="en-US" altLang="en-US" sz="2200" dirty="0"/>
              <a:t>method used to determine when to upgrade a process</a:t>
            </a:r>
          </a:p>
          <a:p>
            <a:pPr lvl="1"/>
            <a:r>
              <a:rPr lang="en-US" altLang="en-US" sz="2200" dirty="0"/>
              <a:t>method used to determine when to demote a process</a:t>
            </a:r>
          </a:p>
          <a:p>
            <a:pPr lvl="1"/>
            <a:r>
              <a:rPr lang="en-US" altLang="en-US" sz="2200" dirty="0"/>
              <a:t>method used to determine which queue a process will enter when that process needs service</a:t>
            </a:r>
          </a:p>
        </p:txBody>
      </p:sp>
    </p:spTree>
    <p:extLst>
      <p:ext uri="{BB962C8B-B14F-4D97-AF65-F5344CB8AC3E}">
        <p14:creationId xmlns:p14="http://schemas.microsoft.com/office/powerpoint/2010/main" val="19644094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A5659FA7-6B36-0922-86E3-F2A1B77CD017}"/>
              </a:ext>
            </a:extLst>
          </p:cNvPr>
          <p:cNvSpPr>
            <a:spLocks noGrp="1" noChangeArrowheads="1"/>
          </p:cNvSpPr>
          <p:nvPr>
            <p:ph type="title"/>
          </p:nvPr>
        </p:nvSpPr>
        <p:spPr>
          <a:xfrm>
            <a:off x="838200" y="365125"/>
            <a:ext cx="10515600" cy="1325563"/>
          </a:xfrm>
        </p:spPr>
        <p:txBody>
          <a:bodyPr/>
          <a:lstStyle/>
          <a:p>
            <a:r>
              <a:rPr lang="en-US" altLang="en-US" sz="2800" dirty="0"/>
              <a:t>Example of Multilevel Feedback Queue</a:t>
            </a:r>
          </a:p>
        </p:txBody>
      </p:sp>
      <p:sp>
        <p:nvSpPr>
          <p:cNvPr id="5" name="Rectangle 3">
            <a:extLst>
              <a:ext uri="{FF2B5EF4-FFF2-40B4-BE49-F238E27FC236}">
                <a16:creationId xmlns:a16="http://schemas.microsoft.com/office/drawing/2014/main" id="{5460A88F-D360-4A86-0FE3-58891180987E}"/>
              </a:ext>
            </a:extLst>
          </p:cNvPr>
          <p:cNvSpPr>
            <a:spLocks noGrp="1" noChangeArrowheads="1"/>
          </p:cNvSpPr>
          <p:nvPr>
            <p:ph idx="1"/>
          </p:nvPr>
        </p:nvSpPr>
        <p:spPr>
          <a:xfrm>
            <a:off x="838200" y="1825625"/>
            <a:ext cx="10515600" cy="4351338"/>
          </a:xfrm>
        </p:spPr>
        <p:txBody>
          <a:bodyPr/>
          <a:lstStyle/>
          <a:p>
            <a:r>
              <a:rPr lang="en-US" altLang="en-US" dirty="0"/>
              <a:t>This scheduling algorithm gives highest priority to any process with a CPU burst of 8 milliseconds or less. Such a process will quickly get the CPU, finish its CPU burst, and go off to its next I/O burst. Processes that need more than 8, but less than 16, milliseconds are also served quickly, although with lower priority than shorter processes. Long processes automatically sink to queue 2 and are served in FCFS order with any CPU cycles left over from queues 0 and 1.</a:t>
            </a:r>
          </a:p>
        </p:txBody>
      </p:sp>
    </p:spTree>
    <p:extLst>
      <p:ext uri="{BB962C8B-B14F-4D97-AF65-F5344CB8AC3E}">
        <p14:creationId xmlns:p14="http://schemas.microsoft.com/office/powerpoint/2010/main" val="41592951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442C4-7881-C666-47B9-3239324C8540}"/>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EF4C08F0-6C4E-48F3-4E02-9F36C37A603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514" t="12209" r="537" b="12032"/>
          <a:stretch>
            <a:fillRect/>
          </a:stretch>
        </p:blipFill>
        <p:spPr bwMode="auto">
          <a:xfrm>
            <a:off x="2543002" y="1825625"/>
            <a:ext cx="7105995" cy="4351338"/>
          </a:xfrm>
          <a:prstGeom prst="rect">
            <a:avLst/>
          </a:prstGeom>
          <a:noFill/>
          <a:ln w="57150" cmpd="thickThin">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942669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799E5-5C66-1D3D-2AF2-1B10E01DF32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6AC63DB-2F90-77A9-55E4-78D90B96D0E3}"/>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2286739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402</TotalTime>
  <Words>1003</Words>
  <Application>Microsoft Office PowerPoint</Application>
  <PresentationFormat>Widescreen</PresentationFormat>
  <Paragraphs>97</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Monotype Sorts</vt:lpstr>
      <vt:lpstr>Office Theme</vt:lpstr>
      <vt:lpstr>CPU Scheduling</vt:lpstr>
      <vt:lpstr>Basic Concepts</vt:lpstr>
      <vt:lpstr>Alternating Sequence of CPU And I/O Bursts</vt:lpstr>
      <vt:lpstr>CPU Scheduler</vt:lpstr>
      <vt:lpstr>Dispatcher</vt:lpstr>
      <vt:lpstr>Scheduling Criteria</vt:lpstr>
      <vt:lpstr>Optimization Criteria</vt:lpstr>
      <vt:lpstr>First-Come, First-Served (FCFS) Scheduling</vt:lpstr>
      <vt:lpstr>PowerPoint Presentation</vt:lpstr>
      <vt:lpstr>Multilevel Queue</vt:lpstr>
      <vt:lpstr>PowerPoint Presentation</vt:lpstr>
      <vt:lpstr>Multilevel Queue Scheduling</vt:lpstr>
      <vt:lpstr>Multilevel Feedback Queue</vt:lpstr>
      <vt:lpstr>Example of Multilevel Feedback Queue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REENA GEORGE</dc:creator>
  <cp:lastModifiedBy>REENA GEORGE</cp:lastModifiedBy>
  <cp:revision>5</cp:revision>
  <dcterms:created xsi:type="dcterms:W3CDTF">2025-01-21T13:22:29Z</dcterms:created>
  <dcterms:modified xsi:type="dcterms:W3CDTF">2025-12-29T06:15:56Z</dcterms:modified>
</cp:coreProperties>
</file>