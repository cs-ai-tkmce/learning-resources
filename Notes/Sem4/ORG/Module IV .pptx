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4" r:id="rId27"/>
    <p:sldId id="283" r:id="rId28"/>
    <p:sldId id="285" r:id="rId29"/>
    <p:sldId id="286" r:id="rId30"/>
    <p:sldId id="287" r:id="rId31"/>
    <p:sldId id="288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1" r:id="rId53"/>
    <p:sldId id="312" r:id="rId54"/>
    <p:sldId id="313" r:id="rId55"/>
    <p:sldId id="314" r:id="rId56"/>
    <p:sldId id="315" r:id="rId57"/>
    <p:sldId id="316" r:id="rId58"/>
    <p:sldId id="317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013" autoAdjust="0"/>
  </p:normalViewPr>
  <p:slideViewPr>
    <p:cSldViewPr snapToGrid="0">
      <p:cViewPr varScale="1">
        <p:scale>
          <a:sx n="71" d="100"/>
          <a:sy n="71" d="100"/>
        </p:scale>
        <p:origin x="11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C1B40-04DB-4026-B56C-C020CE9A0046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C69172-6D7A-4EED-8343-853BE8B0ED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692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077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ACE26-BE06-CD18-8DFE-C4CDBFBC7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5E323-EE3D-6E1B-8122-11C9A9369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144C12-9CE9-0399-96D4-3AF2CF889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BEF5C-1719-AC80-5824-976807DF47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166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83102-C4E2-ACD4-3C72-E30A2029F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1DD7C-4436-9A7B-00F3-9F10954BD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6B48D-666C-2845-16B6-24A42866F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70F82-164A-6286-FDC3-90110F46A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974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C5BB1-3DA6-9218-A05C-763648F68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07972A-176E-EAA6-5FFB-7D4ADCF8AF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A4F46-B3BF-9E52-435E-EBF3D90E5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1C53D-0AB3-F170-1327-956E48DE2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3086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52EE9-EFB3-8D6A-3CFA-E69D19F39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FC2E4-9C57-DE66-1674-88FD4B171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B2475-2CE9-6425-D193-0502205A8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8289A-A485-D9B1-CF8F-676E091FA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43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C3C8B-A8FB-5AA6-C6CA-DE46A5414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0D24B-C4AE-B349-9E4C-CC20AEC7B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896A4C-8338-B501-4F52-D1AC572C8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F365D-6706-5D0F-BCA6-304B2BE8FC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6305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9A96D-5F95-A647-F4BF-EB718905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2660E-5811-B472-2678-0E489FA0F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DB9C5-955B-BA30-909E-305F1C2C2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13594-2F71-89AE-8AF9-1676361BDF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168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F11F9-D8AE-7AF4-F316-1682F3A4E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4D244-FE01-C8AF-0D3C-57AE2CFC2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3F6FA-5FF4-5E02-7898-045F293C8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40F1F-4919-9137-0D36-834D21F20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010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F514F-74C2-A4E7-9B42-C7FD840B7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07B1A-111B-22D6-C3D9-662DCED4A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938C6-B7EE-9695-6BCB-DD086AEC6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3F2A0-FA8E-FEA3-55DC-601DE4AA2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580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948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1F9BE-C568-B9A9-F7CC-3A23EA8B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E2F2A-01D8-84B2-FEF6-D062BA2CC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EB0B3-98A9-239B-A613-F08C55CD1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9AD6B-CF0B-153D-EFA7-B94A0BA76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373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77440-0DFB-5F37-DBB4-CEBA83372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5DB9A6-F891-6D9E-EF91-76FEEF285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86E26-CC77-BD71-4921-F6A297B9C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B1B79-07FC-19EB-06C0-430384DDC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25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B0C04-24D9-C3DD-47B9-44FB8B297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D40BC3-689F-15C8-57C3-354CA43AB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97174-A281-195B-4F7A-39FFAA757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E8E62-CD35-A34B-18F5-E2298D1C9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531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1979D-64A2-2AE2-68A5-505FA61C5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E90A0-2CC3-585D-373D-C2A84AEB6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9D01C-F91C-4D90-9BE5-066451B84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8A312-C52C-7E5E-7DB2-403AD2ECA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668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58181-8C54-D452-C2B8-83AED1363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EAE10-72F0-0E69-8C05-E870A94A7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A68F3-AA68-10F5-8BFD-ACC8142F6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32BB1-85EE-348C-F5F4-211B147E8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1561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2C068-3C2F-245F-7668-40E462EF1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74A58-C69B-2D62-AEA8-8B32F3F99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89D06-BC7E-069B-A12B-78CB84800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BF870-9868-A773-4BCB-6AC2A4195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3556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0D1F9-1E69-DC24-FDDC-291F9ADEE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6CB20-7E00-AD5D-F1FF-4580D9A62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FA92E3-96B8-1299-7457-A833C2ACD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21E3C-9B5C-8AA0-2AFA-B36DFC52F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1446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DDD09-61E1-CFB7-4331-A572E8B6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AC37E9-059B-D002-2AF5-9F5B9DDB2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90BDE-A4AF-1BCE-9ACE-D01966482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DFCA4-34D4-E142-75CF-297D8BD33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C69172-6D7A-4EED-8343-853BE8B0ED24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853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01C49-836A-7B4F-BDF4-7A07BE9A9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B8A59-DE74-82E0-99B1-5C5C053A7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585A3-B568-A181-1FEB-31A1EEA9D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3DAF-B3DD-4634-A0FF-3CD4A6CC19A3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D34AF-B645-4A69-79A9-0823B2D8F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22E20-AB99-E71C-D644-718D66021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0637-7056-4AE1-BA12-56BD295FF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251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D69FA-7119-7A9C-4DED-BB617CFEE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32163-7E14-492A-576C-5B75D15CB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1D965-47C1-E6F5-E790-841467931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3DAF-B3DD-4634-A0FF-3CD4A6CC19A3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37F83-E2D6-F7BC-F3F0-42A20EAED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F599C-2D6F-EC38-57BE-B1D5A605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0637-7056-4AE1-BA12-56BD295FF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11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C6FD8-4F69-5026-7124-B09F05EF8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F3C62-6BF3-482C-1301-1E755B456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390C3-0EDE-AD46-1BAF-5D0757CF6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3DAF-B3DD-4634-A0FF-3CD4A6CC19A3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2A479-1D04-586A-EA93-4585F3B39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E4BDC-2F7C-FDBB-AC5B-719DEE4D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0637-7056-4AE1-BA12-56BD295FF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031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15DDD-86BA-0B5C-E8B7-7C428ACE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94A2B-C5D6-37A2-3E0B-9062CB203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CCB89-CCBE-441C-4491-B5CC1E6B5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F7CDD-1A01-9496-4D96-C654B191E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3DAF-B3DD-4634-A0FF-3CD4A6CC19A3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EF0BE-0FDE-7C53-E462-E6BFDF19F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3FF37-D7B2-4FAD-DA97-8A01D18FB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0637-7056-4AE1-BA12-56BD295FF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04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FEF6C-9608-0CD5-7E0A-4437F5240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92FF9-D3EC-AE27-57A2-0C659B771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6ED4D-2FC4-5922-9834-25C3661F3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69F9AD-FC5B-3836-4448-A6E308CEB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532E9B-2023-6834-96DE-3FF608B5E5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93CEE3-A08D-A942-8F98-710174367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3DAF-B3DD-4634-A0FF-3CD4A6CC19A3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F00DF6-B8AD-2226-5D0D-F1C659371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373CF2-5E08-4D01-DC48-DA53D30FF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0637-7056-4AE1-BA12-56BD295FF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166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46E2B-AC42-E284-ADB4-F11C9B6F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9F04B0-27E6-9EE2-7B53-204D5C351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3DAF-B3DD-4634-A0FF-3CD4A6CC19A3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3D0D2-8EB7-6601-BC9B-6D3506BBE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2118AC-27E3-4697-8D62-07F732F91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0637-7056-4AE1-BA12-56BD295FF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017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DF396-ED85-A743-990B-179FDE5E5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3DAF-B3DD-4634-A0FF-3CD4A6CC19A3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3515C0-E304-914C-2084-9DD92964E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2D789-8E7D-16C5-F043-048C5522B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0637-7056-4AE1-BA12-56BD295FF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853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A7F-355B-359D-E4F6-80EBED88A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02F58-7637-9F68-B45B-0FDB2B1B8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13A88-C00A-8646-D96F-E125C2EC6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F6483-6ACE-FBA2-A5F6-7F761C6C2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3DAF-B3DD-4634-A0FF-3CD4A6CC19A3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8F91F-49CE-A532-2CE8-85947B1FB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A3E12-6EF7-E436-3117-2E78FF62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0637-7056-4AE1-BA12-56BD295FF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823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9C315-FDA9-4BC0-7E14-DD32D68C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188384-11C2-B159-306D-5179FD3E7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B91E7-6691-ADC7-5AE7-8271B38B2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D0A20-465A-DB05-996A-EDFFEDDDA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3DAF-B3DD-4634-A0FF-3CD4A6CC19A3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507E3-1242-6C2E-37AE-A0F4978B9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9E426-4755-36AD-A94B-6896875FE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0637-7056-4AE1-BA12-56BD295FF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87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A10AC-28DB-8AA5-DEB7-98948EAC7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E4EEE-4CA0-DC2F-BA03-78DAEADA5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825FD-1A78-D9AC-A659-2D897A0B1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3DAF-B3DD-4634-A0FF-3CD4A6CC19A3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0844C-0CE5-40E2-2CB9-3184C0CFB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16DE9-97CA-5D46-D5E0-069553967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0637-7056-4AE1-BA12-56BD295FF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884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B6D250-9A7C-B031-AEBE-7D988052F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7887B5-9AEF-838B-558B-65E9185E7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79500-F0A8-760B-8CEE-CC6464FEF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63DAF-B3DD-4634-A0FF-3CD4A6CC19A3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7320D-DC68-CE57-E61A-A936F0187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2F3D0-66F5-D1CF-09A2-9D424A064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0637-7056-4AE1-BA12-56BD295FF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21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B050E5-1E81-FB93-C510-98E0CF709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967A5-F2BC-3E7A-5077-555EE8D8F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42303-07BC-2BFA-9C69-98800C2E4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63DAF-B3DD-4634-A0FF-3CD4A6CC19A3}" type="datetimeFigureOut">
              <a:rPr lang="en-IN" smtClean="0"/>
              <a:t>23-03-2025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231CE-BAD5-4126-9034-1D1653A93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57289-4A20-35BA-E3BC-C3676FD8A3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50637-7056-4AE1-BA12-56BD295FF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43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66E2-0D16-5052-2FC6-A5CDEF508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937" y="670542"/>
            <a:ext cx="9144000" cy="238760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Module IV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E011F-7D40-599B-F960-F0FEAE4D8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0061" y="3058142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Empowerment and Team Work  </a:t>
            </a:r>
          </a:p>
        </p:txBody>
      </p:sp>
    </p:spTree>
    <p:extLst>
      <p:ext uri="{BB962C8B-B14F-4D97-AF65-F5344CB8AC3E}">
        <p14:creationId xmlns:p14="http://schemas.microsoft.com/office/powerpoint/2010/main" val="1142979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3FEBA-87D3-16B1-D3A4-96950AF4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Syllabus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C5FDD3-14AF-6697-86C6-E74957FF5F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56"/>
          <a:stretch/>
        </p:blipFill>
        <p:spPr>
          <a:xfrm>
            <a:off x="315838" y="2327564"/>
            <a:ext cx="11414000" cy="180801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7808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F0EE-015A-8D70-07F8-439E3EC5A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94" y="1"/>
            <a:ext cx="10515600" cy="644235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Meaning of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7EB03-D10D-B1FF-AC18-A88510E7E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94" y="644236"/>
            <a:ext cx="11959936" cy="225639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Bookman Old Style" panose="02050604050505020204" pitchFamily="18" charset="0"/>
              </a:rPr>
              <a:t>Dynamics of power</a:t>
            </a:r>
            <a:r>
              <a:rPr lang="en-US" dirty="0">
                <a:latin typeface="Bookman Old Style" panose="02050604050505020204" pitchFamily="18" charset="0"/>
              </a:rPr>
              <a:t>—How to use it and how to abuse it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Bookman Old Style" panose="02050604050505020204" pitchFamily="18" charset="0"/>
              </a:rPr>
              <a:t>“Probability that one actor within a social relationship will be in a position to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carry out his own will </a:t>
            </a:r>
            <a:r>
              <a:rPr lang="en-US" dirty="0">
                <a:solidFill>
                  <a:srgbClr val="000000"/>
                </a:solidFill>
                <a:latin typeface="Bookman Old Style" panose="02050604050505020204" pitchFamily="18" charset="0"/>
              </a:rPr>
              <a:t>despite resistance”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960C59-AE6D-EA5C-0966-9F70AC76C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491" y="3544862"/>
            <a:ext cx="4861981" cy="310160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0875F4-BDD8-E552-EF59-F90EE808A904}"/>
              </a:ext>
            </a:extLst>
          </p:cNvPr>
          <p:cNvSpPr txBox="1">
            <a:spLocks/>
          </p:cNvSpPr>
          <p:nvPr/>
        </p:nvSpPr>
        <p:spPr>
          <a:xfrm>
            <a:off x="154694" y="2767109"/>
            <a:ext cx="10515600" cy="850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Power, Influence and Authority</a:t>
            </a:r>
          </a:p>
        </p:txBody>
      </p:sp>
    </p:spTree>
    <p:extLst>
      <p:ext uri="{BB962C8B-B14F-4D97-AF65-F5344CB8AC3E}">
        <p14:creationId xmlns:p14="http://schemas.microsoft.com/office/powerpoint/2010/main" val="2839389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4F5AC-4772-8A41-3126-C52F28E7C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3ED28-23E1-3A80-822D-B7AD07D83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94" y="1"/>
            <a:ext cx="10515600" cy="559397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Power, Influence and Authority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21DF4-5DD9-35AD-998C-03D35C9E5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94" y="517000"/>
            <a:ext cx="11959936" cy="2973363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3200" b="1" dirty="0">
                <a:solidFill>
                  <a:schemeClr val="folHlink"/>
                </a:solidFill>
                <a:latin typeface="Bookman Old Style" panose="02050604050505020204" pitchFamily="18" charset="0"/>
              </a:rPr>
              <a:t>Power </a:t>
            </a:r>
          </a:p>
          <a:p>
            <a:r>
              <a:rPr lang="en-US" altLang="en-US" sz="3200" dirty="0">
                <a:latin typeface="Bookman Old Style" panose="02050604050505020204" pitchFamily="18" charset="0"/>
              </a:rPr>
              <a:t>Ability to influence another person</a:t>
            </a:r>
          </a:p>
          <a:p>
            <a:r>
              <a:rPr lang="en-US" altLang="en-US" sz="3200" dirty="0">
                <a:latin typeface="Bookman Old Style" panose="02050604050505020204" pitchFamily="18" charset="0"/>
              </a:rPr>
              <a:t>Ability to get an individual or group to do something</a:t>
            </a:r>
          </a:p>
          <a:p>
            <a:r>
              <a:rPr lang="en-US" altLang="en-US" sz="3200" dirty="0">
                <a:latin typeface="Bookman Old Style" panose="02050604050505020204" pitchFamily="18" charset="0"/>
              </a:rPr>
              <a:t>Get the person or group to change in some way</a:t>
            </a:r>
          </a:p>
          <a:p>
            <a:r>
              <a:rPr lang="en-US" altLang="en-US" sz="3200" dirty="0">
                <a:latin typeface="Bookman Old Style" panose="02050604050505020204" pitchFamily="18" charset="0"/>
              </a:rPr>
              <a:t>Ability to manipulate or change others</a:t>
            </a:r>
            <a:br>
              <a:rPr lang="en-US" altLang="en-US" sz="3200" dirty="0">
                <a:latin typeface="Bookman Old Style" panose="02050604050505020204" pitchFamily="18" charset="0"/>
              </a:rPr>
            </a:br>
            <a:endParaRPr lang="en-US" altLang="en-US" sz="3200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32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409E334-5D6F-2598-FEA6-840EC9BD4346}"/>
              </a:ext>
            </a:extLst>
          </p:cNvPr>
          <p:cNvSpPr txBox="1">
            <a:spLocks/>
          </p:cNvSpPr>
          <p:nvPr/>
        </p:nvSpPr>
        <p:spPr>
          <a:xfrm>
            <a:off x="154694" y="2767109"/>
            <a:ext cx="10515600" cy="850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32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92E2E2-53E4-6AD1-E5C6-46385DF61123}"/>
              </a:ext>
            </a:extLst>
          </p:cNvPr>
          <p:cNvSpPr txBox="1"/>
          <p:nvPr/>
        </p:nvSpPr>
        <p:spPr>
          <a:xfrm>
            <a:off x="154694" y="3490363"/>
            <a:ext cx="12037306" cy="347678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800" b="1" dirty="0">
                <a:solidFill>
                  <a:schemeClr val="folHlink"/>
                </a:solidFill>
                <a:latin typeface="Bookman Old Style" panose="02050604050505020204" pitchFamily="18" charset="0"/>
              </a:rPr>
              <a:t>Influence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Bookman Old Style" panose="02050604050505020204" pitchFamily="18" charset="0"/>
              </a:rPr>
              <a:t>Process of affecting the thoughts, behavior, and feelings of another person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800" b="1" dirty="0">
                <a:solidFill>
                  <a:schemeClr val="folHlink"/>
                </a:solidFill>
                <a:latin typeface="Bookman Old Style" panose="02050604050505020204" pitchFamily="18" charset="0"/>
              </a:rPr>
              <a:t>Authority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Bookman Old Style" panose="02050604050505020204" pitchFamily="18" charset="0"/>
              </a:rPr>
              <a:t>Right to influence another person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Legitimatizes and is a source of power.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Authority is the right to manipulate or change others.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Bookman Old Style" panose="02050604050505020204" pitchFamily="18" charset="0"/>
              </a:rPr>
              <a:t>Power need not be legitimate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  <a:endParaRPr lang="en-US" altLang="en-US" sz="18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393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F44A3-09F9-FD5D-C2EF-4F94DEEBE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5AB53-C3CC-4274-FB39-24734FDE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94" y="1"/>
            <a:ext cx="10515600" cy="644235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Types of Power : French and Raven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1F0748A-E845-7FAE-1928-D2C125AA0D9A}"/>
              </a:ext>
            </a:extLst>
          </p:cNvPr>
          <p:cNvSpPr txBox="1">
            <a:spLocks/>
          </p:cNvSpPr>
          <p:nvPr/>
        </p:nvSpPr>
        <p:spPr>
          <a:xfrm>
            <a:off x="154694" y="2767109"/>
            <a:ext cx="10515600" cy="8504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32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2CA747-C042-4254-E6D5-CC7E8513A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614" y="581932"/>
            <a:ext cx="5672383" cy="603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46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2ABB2-9E84-E971-81E5-24DAC71B3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26A5A-F1AF-0C81-BF24-D5D2B5620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94" y="1"/>
            <a:ext cx="10515600" cy="644235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Types of Power : Reward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946A2-F086-9892-FE3C-E2A43391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94" y="720762"/>
            <a:ext cx="11959936" cy="560473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latin typeface="Bookman Old Style" panose="02050604050505020204" pitchFamily="18" charset="0"/>
              </a:rPr>
              <a:t>Based on a person’s ability to control resources and reward others.</a:t>
            </a:r>
          </a:p>
          <a:p>
            <a:pPr algn="just">
              <a:lnSpc>
                <a:spcPct val="100000"/>
              </a:lnSpc>
            </a:pPr>
            <a:endParaRPr lang="en-US" dirty="0">
              <a:latin typeface="Bookman Old Style" panose="020506040505050202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Bookman Old Style" panose="02050604050505020204" pitchFamily="18" charset="0"/>
              </a:rPr>
              <a:t>Target of this power must value these rewards</a:t>
            </a:r>
          </a:p>
          <a:p>
            <a:pPr>
              <a:lnSpc>
                <a:spcPct val="100000"/>
              </a:lnSpc>
            </a:pPr>
            <a:endParaRPr lang="en-US" dirty="0">
              <a:latin typeface="Bookman Old Style" panose="020506040505050202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Bookman Old Style" panose="02050604050505020204" pitchFamily="18" charset="0"/>
              </a:rPr>
              <a:t>Managers have many potential rewards, 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Bookman Old Style" panose="02050604050505020204" pitchFamily="18" charset="0"/>
              </a:rPr>
              <a:t>Pay increases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Bookman Old Style" panose="02050604050505020204" pitchFamily="18" charset="0"/>
              </a:rPr>
              <a:t>Promotions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Bookman Old Style" panose="02050604050505020204" pitchFamily="18" charset="0"/>
              </a:rPr>
              <a:t>Valuable information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Bookman Old Style" panose="02050604050505020204" pitchFamily="18" charset="0"/>
              </a:rPr>
              <a:t>Favorable work assignments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Bookman Old Style" panose="02050604050505020204" pitchFamily="18" charset="0"/>
              </a:rPr>
              <a:t>More responsibility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Bookman Old Style" panose="02050604050505020204" pitchFamily="18" charset="0"/>
              </a:rPr>
              <a:t>New equipment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Bookman Old Style" panose="02050604050505020204" pitchFamily="18" charset="0"/>
              </a:rPr>
              <a:t>Praise, feedback</a:t>
            </a:r>
            <a:br>
              <a:rPr lang="en-US" dirty="0">
                <a:latin typeface="Bookman Old Style" panose="02050604050505020204" pitchFamily="18" charset="0"/>
              </a:rPr>
            </a:br>
            <a:br>
              <a:rPr lang="en-US" dirty="0">
                <a:latin typeface="Bookman Old Style" panose="02050604050505020204" pitchFamily="18" charset="0"/>
              </a:rPr>
            </a:br>
            <a:endParaRPr lang="en-US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60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CEFEA-A79B-828C-6345-8D577EF23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DBC4-BB40-7206-F808-54201DD1A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6" y="75305"/>
            <a:ext cx="10515600" cy="644235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Types of Power : Reward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B705B-7428-D22F-12DB-5CF5E67C6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94" y="925158"/>
            <a:ext cx="11959936" cy="575534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Recipient holds the key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If managers offer their people what they think are rewards, but the people do not value them, then managers do not really have reward power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Managers may not really have the rewards to dispense, but as long as their people think they have it, they do indeed have reward power</a:t>
            </a:r>
          </a:p>
        </p:txBody>
      </p:sp>
    </p:spTree>
    <p:extLst>
      <p:ext uri="{BB962C8B-B14F-4D97-AF65-F5344CB8AC3E}">
        <p14:creationId xmlns:p14="http://schemas.microsoft.com/office/powerpoint/2010/main" val="405759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0ED58-E148-F8C8-4E44-4F49D0EF0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F70C-F8B6-01A5-C9B4-AD3C3B797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6" y="75305"/>
            <a:ext cx="10515600" cy="644235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Types of Power : Coercive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4925B-CBDB-6518-508C-C150BB373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94" y="613186"/>
            <a:ext cx="11959936" cy="616950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Power depends on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fear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Person with coercive power has the ability to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Inflict punishment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Aversive consequences on another person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Mo make threats that the other person believes will result in punishment or undesirable outcomes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Managers frequently have coercive power in that they can </a:t>
            </a: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fire or demote people who work for them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Manager can also </a:t>
            </a: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directly or indirectly threaten an employee </a:t>
            </a:r>
            <a:r>
              <a:rPr lang="en-US" sz="2400" dirty="0">
                <a:latin typeface="Bookman Old Style" panose="02050604050505020204" pitchFamily="18" charset="0"/>
              </a:rPr>
              <a:t>with these punishing consequences</a:t>
            </a:r>
          </a:p>
        </p:txBody>
      </p:sp>
    </p:spTree>
    <p:extLst>
      <p:ext uri="{BB962C8B-B14F-4D97-AF65-F5344CB8AC3E}">
        <p14:creationId xmlns:p14="http://schemas.microsoft.com/office/powerpoint/2010/main" val="3296646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A44DC-0946-C63C-E886-783C9B5C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ACEF9-9D41-5974-35BE-E682F7DBE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6" y="75305"/>
            <a:ext cx="10515600" cy="644235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Types of Power : Legitimate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55063-A7E2-2919-EB4A-9E8D7EFFE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94" y="719540"/>
            <a:ext cx="11959936" cy="606315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 Stems from the internalized values of the other persons that give the legitimate right to the agent to influence them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Others feel they have the obligation to accept this power.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Almost identical to authority and is closely aligned with both reward and coercive power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Unlike reward and coercive power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Not depend on the relationships with others but rather on the position or role that the person holds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99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EF69B-5856-E040-C710-685F79102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62005-91A4-80E1-F4C7-F0FA1F6A0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6" y="75305"/>
            <a:ext cx="10515600" cy="644235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Types of Power : Legitimate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F7E47-DC88-9BD9-4116-A6D59A2E6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94" y="719540"/>
            <a:ext cx="11959936" cy="606315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>
                <a:latin typeface="Bookman Old Style" panose="02050604050505020204" pitchFamily="18" charset="0"/>
              </a:rPr>
              <a:t>3 major sources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Prevailing cultural values of a society, organization, or group determine what is legitimate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Accepted social structure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Being designated as the agent or representative of a powerful person or group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Bookman Old Style" panose="0205060405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616BDE-EB8C-5876-8E87-DF0F70193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78" y="3198562"/>
            <a:ext cx="11303228" cy="262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5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D48D5-2DF2-8298-31C6-3424D71C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FE6D1-BDAD-4E34-79E9-6AC546956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6" y="75305"/>
            <a:ext cx="10515600" cy="644235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Types of Power : Referent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678F0-064C-A82C-89A3-7CBD67C1B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94" y="719540"/>
            <a:ext cx="11959936" cy="606315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Based on interpersonal attraction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Leader's ability to influence others based on admiration, respect, loyalty, or a desire for approval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A team captain who inspires their teammates through their positive attitude and work ethic, even if they don't have formal authority</a:t>
            </a:r>
          </a:p>
        </p:txBody>
      </p:sp>
    </p:spTree>
    <p:extLst>
      <p:ext uri="{BB962C8B-B14F-4D97-AF65-F5344CB8AC3E}">
        <p14:creationId xmlns:p14="http://schemas.microsoft.com/office/powerpoint/2010/main" val="347373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F008F-EE1D-3D15-7F92-8B93FF70D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D027-D092-D1F8-D7F7-51F58AAF7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6" y="75305"/>
            <a:ext cx="10515600" cy="644235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Types of Power : Expert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ED800-073E-08A6-8988-6E0C6DE44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94" y="719540"/>
            <a:ext cx="11959936" cy="606315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Agent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has knowledge target needs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If a highly successful football coach gives an aspiring young player some advice on how to do a new block, he will be closely listened to—he will be granted expert power.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Coach has expert power in this case because he is so knowledgeable about football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In organizations, staff specialists have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expert power in their functional areas</a:t>
            </a:r>
            <a:r>
              <a:rPr lang="en-US" dirty="0">
                <a:latin typeface="Bookman Old Style" panose="02050604050505020204" pitchFamily="18" charset="0"/>
              </a:rPr>
              <a:t> but not outside them</a:t>
            </a:r>
          </a:p>
        </p:txBody>
      </p:sp>
    </p:spTree>
    <p:extLst>
      <p:ext uri="{BB962C8B-B14F-4D97-AF65-F5344CB8AC3E}">
        <p14:creationId xmlns:p14="http://schemas.microsoft.com/office/powerpoint/2010/main" val="251044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6541-FCD0-8C17-05DE-89C0DA011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ECA23-2300-337E-0788-C83868633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6" y="75305"/>
            <a:ext cx="10515600" cy="644235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Types of Power : Expert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71EF8-09AC-099B-070D-818A53FB7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94" y="719540"/>
            <a:ext cx="11959936" cy="606315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Expert power is highly selective, and, besides credibility, the agent must also have trustworthiness and relevance</a:t>
            </a:r>
          </a:p>
        </p:txBody>
      </p:sp>
      <p:grpSp>
        <p:nvGrpSpPr>
          <p:cNvPr id="4" name="Group 57">
            <a:extLst>
              <a:ext uri="{FF2B5EF4-FFF2-40B4-BE49-F238E27FC236}">
                <a16:creationId xmlns:a16="http://schemas.microsoft.com/office/drawing/2014/main" id="{E7FCB2AE-DAEB-7FFB-0006-01E621E08561}"/>
              </a:ext>
            </a:extLst>
          </p:cNvPr>
          <p:cNvGrpSpPr>
            <a:grpSpLocks/>
          </p:cNvGrpSpPr>
          <p:nvPr/>
        </p:nvGrpSpPr>
        <p:grpSpPr bwMode="auto">
          <a:xfrm>
            <a:off x="2604604" y="2679327"/>
            <a:ext cx="6618287" cy="2533650"/>
            <a:chOff x="1051" y="803"/>
            <a:chExt cx="4169" cy="1596"/>
          </a:xfrm>
        </p:grpSpPr>
        <p:grpSp>
          <p:nvGrpSpPr>
            <p:cNvPr id="5" name="Group 55">
              <a:extLst>
                <a:ext uri="{FF2B5EF4-FFF2-40B4-BE49-F238E27FC236}">
                  <a16:creationId xmlns:a16="http://schemas.microsoft.com/office/drawing/2014/main" id="{C06904AD-167F-E61E-EAE4-EF46F19E8591}"/>
                </a:ext>
              </a:extLst>
            </p:cNvPr>
            <p:cNvGrpSpPr>
              <a:grpSpLocks/>
            </p:cNvGrpSpPr>
            <p:nvPr/>
          </p:nvGrpSpPr>
          <p:grpSpPr bwMode="auto">
            <a:xfrm rot="518135" flipH="1">
              <a:off x="1051" y="803"/>
              <a:ext cx="4169" cy="1596"/>
              <a:chOff x="549" y="2603"/>
              <a:chExt cx="4644" cy="2146"/>
            </a:xfrm>
          </p:grpSpPr>
          <p:sp>
            <p:nvSpPr>
              <p:cNvPr id="7" name="Oval 31">
                <a:extLst>
                  <a:ext uri="{FF2B5EF4-FFF2-40B4-BE49-F238E27FC236}">
                    <a16:creationId xmlns:a16="http://schemas.microsoft.com/office/drawing/2014/main" id="{8601D8AD-FE98-4B83-FB0A-3ED6E4E2AC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7" y="4004"/>
                <a:ext cx="566" cy="251"/>
              </a:xfrm>
              <a:prstGeom prst="ellipse">
                <a:avLst/>
              </a:prstGeom>
              <a:solidFill>
                <a:srgbClr val="FFFFFF"/>
              </a:solidFill>
              <a:ln w="412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Oval 32">
                <a:extLst>
                  <a:ext uri="{FF2B5EF4-FFF2-40B4-BE49-F238E27FC236}">
                    <a16:creationId xmlns:a16="http://schemas.microsoft.com/office/drawing/2014/main" id="{AC3BD8E8-A0AC-6FED-C27E-4C53805CBC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7" y="2981"/>
                <a:ext cx="566" cy="250"/>
              </a:xfrm>
              <a:prstGeom prst="ellipse">
                <a:avLst/>
              </a:prstGeom>
              <a:solidFill>
                <a:srgbClr val="FFFFFF"/>
              </a:solidFill>
              <a:ln w="412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Oval 33">
                <a:extLst>
                  <a:ext uri="{FF2B5EF4-FFF2-40B4-BE49-F238E27FC236}">
                    <a16:creationId xmlns:a16="http://schemas.microsoft.com/office/drawing/2014/main" id="{DE325254-D28D-8CB9-94A2-D99FA469D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2" y="3035"/>
                <a:ext cx="336" cy="143"/>
              </a:xfrm>
              <a:prstGeom prst="ellipse">
                <a:avLst/>
              </a:prstGeom>
              <a:solidFill>
                <a:srgbClr val="FFFFFF"/>
              </a:solidFill>
              <a:ln w="412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" name="Oval 34">
                <a:extLst>
                  <a:ext uri="{FF2B5EF4-FFF2-40B4-BE49-F238E27FC236}">
                    <a16:creationId xmlns:a16="http://schemas.microsoft.com/office/drawing/2014/main" id="{BFD6A693-0F07-0A1C-8731-F7A7CA40CB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2" y="3681"/>
                <a:ext cx="336" cy="143"/>
              </a:xfrm>
              <a:prstGeom prst="ellipse">
                <a:avLst/>
              </a:prstGeom>
              <a:solidFill>
                <a:srgbClr val="FFFFFF"/>
              </a:solidFill>
              <a:ln w="412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Oval 35">
                <a:extLst>
                  <a:ext uri="{FF2B5EF4-FFF2-40B4-BE49-F238E27FC236}">
                    <a16:creationId xmlns:a16="http://schemas.microsoft.com/office/drawing/2014/main" id="{9FDC3E02-CC67-5C55-50FA-7A7A58394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2" y="3412"/>
                <a:ext cx="566" cy="250"/>
              </a:xfrm>
              <a:prstGeom prst="ellipse">
                <a:avLst/>
              </a:prstGeom>
              <a:solidFill>
                <a:srgbClr val="FFFFFF"/>
              </a:solidFill>
              <a:ln w="412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Oval 36">
                <a:extLst>
                  <a:ext uri="{FF2B5EF4-FFF2-40B4-BE49-F238E27FC236}">
                    <a16:creationId xmlns:a16="http://schemas.microsoft.com/office/drawing/2014/main" id="{9747496C-7EA1-478D-62DC-F2F6ED2E68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7" y="2981"/>
                <a:ext cx="566" cy="250"/>
              </a:xfrm>
              <a:prstGeom prst="ellipse">
                <a:avLst/>
              </a:prstGeom>
              <a:solidFill>
                <a:srgbClr val="FFFFFF"/>
              </a:solidFill>
              <a:ln w="412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Oval 37">
                <a:extLst>
                  <a:ext uri="{FF2B5EF4-FFF2-40B4-BE49-F238E27FC236}">
                    <a16:creationId xmlns:a16="http://schemas.microsoft.com/office/drawing/2014/main" id="{2A480166-6CAF-190B-D84F-8FC035FA2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3" y="3950"/>
                <a:ext cx="565" cy="251"/>
              </a:xfrm>
              <a:prstGeom prst="ellipse">
                <a:avLst/>
              </a:prstGeom>
              <a:solidFill>
                <a:srgbClr val="FFFFFF"/>
              </a:solidFill>
              <a:ln w="412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Oval 38">
                <a:extLst>
                  <a:ext uri="{FF2B5EF4-FFF2-40B4-BE49-F238E27FC236}">
                    <a16:creationId xmlns:a16="http://schemas.microsoft.com/office/drawing/2014/main" id="{ED60B50D-448B-673C-2D71-2179B11AD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3" y="4004"/>
                <a:ext cx="565" cy="251"/>
              </a:xfrm>
              <a:prstGeom prst="ellipse">
                <a:avLst/>
              </a:prstGeom>
              <a:solidFill>
                <a:srgbClr val="FFFFFF"/>
              </a:solidFill>
              <a:ln w="412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9">
                <a:extLst>
                  <a:ext uri="{FF2B5EF4-FFF2-40B4-BE49-F238E27FC236}">
                    <a16:creationId xmlns:a16="http://schemas.microsoft.com/office/drawing/2014/main" id="{96859E11-40E7-89A8-7F50-FED1C3C17E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" y="2603"/>
                <a:ext cx="4644" cy="2146"/>
              </a:xfrm>
              <a:custGeom>
                <a:avLst/>
                <a:gdLst>
                  <a:gd name="T0" fmla="*/ 1926 w 4644"/>
                  <a:gd name="T1" fmla="*/ 1145 h 4293"/>
                  <a:gd name="T2" fmla="*/ 2014 w 4644"/>
                  <a:gd name="T3" fmla="*/ 41 h 4293"/>
                  <a:gd name="T4" fmla="*/ 2156 w 4644"/>
                  <a:gd name="T5" fmla="*/ 1305 h 4293"/>
                  <a:gd name="T6" fmla="*/ 2616 w 4644"/>
                  <a:gd name="T7" fmla="*/ 1131 h 4293"/>
                  <a:gd name="T8" fmla="*/ 3293 w 4644"/>
                  <a:gd name="T9" fmla="*/ 0 h 4293"/>
                  <a:gd name="T10" fmla="*/ 2819 w 4644"/>
                  <a:gd name="T11" fmla="*/ 1426 h 4293"/>
                  <a:gd name="T12" fmla="*/ 3120 w 4644"/>
                  <a:gd name="T13" fmla="*/ 1574 h 4293"/>
                  <a:gd name="T14" fmla="*/ 3782 w 4644"/>
                  <a:gd name="T15" fmla="*/ 1010 h 4293"/>
                  <a:gd name="T16" fmla="*/ 3293 w 4644"/>
                  <a:gd name="T17" fmla="*/ 1776 h 4293"/>
                  <a:gd name="T18" fmla="*/ 3580 w 4644"/>
                  <a:gd name="T19" fmla="*/ 1830 h 4293"/>
                  <a:gd name="T20" fmla="*/ 4025 w 4644"/>
                  <a:gd name="T21" fmla="*/ 1440 h 4293"/>
                  <a:gd name="T22" fmla="*/ 3653 w 4644"/>
                  <a:gd name="T23" fmla="*/ 1938 h 4293"/>
                  <a:gd name="T24" fmla="*/ 3883 w 4644"/>
                  <a:gd name="T25" fmla="*/ 2705 h 4293"/>
                  <a:gd name="T26" fmla="*/ 4644 w 4644"/>
                  <a:gd name="T27" fmla="*/ 3258 h 4293"/>
                  <a:gd name="T28" fmla="*/ 3538 w 4644"/>
                  <a:gd name="T29" fmla="*/ 2760 h 4293"/>
                  <a:gd name="T30" fmla="*/ 3523 w 4644"/>
                  <a:gd name="T31" fmla="*/ 3069 h 4293"/>
                  <a:gd name="T32" fmla="*/ 3810 w 4644"/>
                  <a:gd name="T33" fmla="*/ 3809 h 4293"/>
                  <a:gd name="T34" fmla="*/ 3249 w 4644"/>
                  <a:gd name="T35" fmla="*/ 2934 h 4293"/>
                  <a:gd name="T36" fmla="*/ 2789 w 4644"/>
                  <a:gd name="T37" fmla="*/ 3258 h 4293"/>
                  <a:gd name="T38" fmla="*/ 2530 w 4644"/>
                  <a:gd name="T39" fmla="*/ 4293 h 4293"/>
                  <a:gd name="T40" fmla="*/ 2359 w 4644"/>
                  <a:gd name="T41" fmla="*/ 3109 h 4293"/>
                  <a:gd name="T42" fmla="*/ 1121 w 4644"/>
                  <a:gd name="T43" fmla="*/ 2248 h 4293"/>
                  <a:gd name="T44" fmla="*/ 0 w 4644"/>
                  <a:gd name="T45" fmla="*/ 2248 h 4293"/>
                  <a:gd name="T46" fmla="*/ 1150 w 4644"/>
                  <a:gd name="T47" fmla="*/ 2032 h 4293"/>
                  <a:gd name="T48" fmla="*/ 1121 w 4644"/>
                  <a:gd name="T49" fmla="*/ 1170 h 4293"/>
                  <a:gd name="T50" fmla="*/ 619 w 4644"/>
                  <a:gd name="T51" fmla="*/ 457 h 4293"/>
                  <a:gd name="T52" fmla="*/ 1524 w 4644"/>
                  <a:gd name="T53" fmla="*/ 1252 h 4293"/>
                  <a:gd name="T54" fmla="*/ 1926 w 4644"/>
                  <a:gd name="T55" fmla="*/ 1145 h 42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644" h="4293">
                    <a:moveTo>
                      <a:pt x="1926" y="1145"/>
                    </a:moveTo>
                    <a:lnTo>
                      <a:pt x="2014" y="41"/>
                    </a:lnTo>
                    <a:lnTo>
                      <a:pt x="2156" y="1305"/>
                    </a:lnTo>
                    <a:lnTo>
                      <a:pt x="2616" y="1131"/>
                    </a:lnTo>
                    <a:lnTo>
                      <a:pt x="3293" y="0"/>
                    </a:lnTo>
                    <a:lnTo>
                      <a:pt x="2819" y="1426"/>
                    </a:lnTo>
                    <a:lnTo>
                      <a:pt x="3120" y="1574"/>
                    </a:lnTo>
                    <a:lnTo>
                      <a:pt x="3782" y="1010"/>
                    </a:lnTo>
                    <a:lnTo>
                      <a:pt x="3293" y="1776"/>
                    </a:lnTo>
                    <a:lnTo>
                      <a:pt x="3580" y="1830"/>
                    </a:lnTo>
                    <a:lnTo>
                      <a:pt x="4025" y="1440"/>
                    </a:lnTo>
                    <a:lnTo>
                      <a:pt x="3653" y="1938"/>
                    </a:lnTo>
                    <a:lnTo>
                      <a:pt x="3883" y="2705"/>
                    </a:lnTo>
                    <a:lnTo>
                      <a:pt x="4644" y="3258"/>
                    </a:lnTo>
                    <a:lnTo>
                      <a:pt x="3538" y="2760"/>
                    </a:lnTo>
                    <a:lnTo>
                      <a:pt x="3523" y="3069"/>
                    </a:lnTo>
                    <a:lnTo>
                      <a:pt x="3810" y="3809"/>
                    </a:lnTo>
                    <a:lnTo>
                      <a:pt x="3249" y="2934"/>
                    </a:lnTo>
                    <a:lnTo>
                      <a:pt x="2789" y="3258"/>
                    </a:lnTo>
                    <a:lnTo>
                      <a:pt x="2530" y="4293"/>
                    </a:lnTo>
                    <a:lnTo>
                      <a:pt x="2359" y="3109"/>
                    </a:lnTo>
                    <a:lnTo>
                      <a:pt x="1121" y="2248"/>
                    </a:lnTo>
                    <a:lnTo>
                      <a:pt x="0" y="2248"/>
                    </a:lnTo>
                    <a:lnTo>
                      <a:pt x="1150" y="2032"/>
                    </a:lnTo>
                    <a:lnTo>
                      <a:pt x="1121" y="1170"/>
                    </a:lnTo>
                    <a:lnTo>
                      <a:pt x="619" y="457"/>
                    </a:lnTo>
                    <a:lnTo>
                      <a:pt x="1524" y="1252"/>
                    </a:lnTo>
                    <a:lnTo>
                      <a:pt x="1926" y="1145"/>
                    </a:lnTo>
                    <a:close/>
                  </a:path>
                </a:pathLst>
              </a:custGeom>
              <a:solidFill>
                <a:srgbClr val="FFFF00"/>
              </a:solidFill>
              <a:ln w="412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16" name="Group 54">
                <a:extLst>
                  <a:ext uri="{FF2B5EF4-FFF2-40B4-BE49-F238E27FC236}">
                    <a16:creationId xmlns:a16="http://schemas.microsoft.com/office/drawing/2014/main" id="{70D1E63F-F5AF-2FC3-8D64-966BA5974C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2" y="3035"/>
                <a:ext cx="3441" cy="1220"/>
                <a:chOff x="1242" y="3035"/>
                <a:chExt cx="3441" cy="1220"/>
              </a:xfrm>
            </p:grpSpPr>
            <p:sp>
              <p:nvSpPr>
                <p:cNvPr id="17" name="Oval 40">
                  <a:extLst>
                    <a:ext uri="{FF2B5EF4-FFF2-40B4-BE49-F238E27FC236}">
                      <a16:creationId xmlns:a16="http://schemas.microsoft.com/office/drawing/2014/main" id="{B258F8CA-32AA-C8E2-90D1-046548BB67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2" y="3142"/>
                  <a:ext cx="1026" cy="466"/>
                </a:xfrm>
                <a:prstGeom prst="ellipse">
                  <a:avLst/>
                </a:prstGeom>
                <a:solidFill>
                  <a:srgbClr val="FFFFFF"/>
                </a:solidFill>
                <a:ln w="412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grpSp>
              <p:nvGrpSpPr>
                <p:cNvPr id="18" name="Group 43">
                  <a:extLst>
                    <a:ext uri="{FF2B5EF4-FFF2-40B4-BE49-F238E27FC236}">
                      <a16:creationId xmlns:a16="http://schemas.microsoft.com/office/drawing/2014/main" id="{EDEF058C-1168-4156-6DE4-7A15765CB33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23" y="3251"/>
                  <a:ext cx="2010" cy="896"/>
                  <a:chOff x="1523" y="3251"/>
                  <a:chExt cx="2010" cy="896"/>
                </a:xfrm>
              </p:grpSpPr>
              <p:sp>
                <p:nvSpPr>
                  <p:cNvPr id="29" name="Oval 41">
                    <a:extLst>
                      <a:ext uri="{FF2B5EF4-FFF2-40B4-BE49-F238E27FC236}">
                        <a16:creationId xmlns:a16="http://schemas.microsoft.com/office/drawing/2014/main" id="{90556733-288D-0AB9-3536-30D1C76085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87" y="3251"/>
                    <a:ext cx="1946" cy="896"/>
                  </a:xfrm>
                  <a:prstGeom prst="ellipse">
                    <a:avLst/>
                  </a:prstGeom>
                  <a:solidFill>
                    <a:srgbClr val="FFFFFF"/>
                  </a:solidFill>
                  <a:ln w="4127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IN"/>
                  </a:p>
                </p:txBody>
              </p:sp>
              <p:sp>
                <p:nvSpPr>
                  <p:cNvPr id="30" name="Freeform 42">
                    <a:extLst>
                      <a:ext uri="{FF2B5EF4-FFF2-40B4-BE49-F238E27FC236}">
                        <a16:creationId xmlns:a16="http://schemas.microsoft.com/office/drawing/2014/main" id="{1BAD6F0C-C9A1-5028-488D-6EC2885208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23" y="3350"/>
                    <a:ext cx="401" cy="243"/>
                  </a:xfrm>
                  <a:custGeom>
                    <a:avLst/>
                    <a:gdLst>
                      <a:gd name="T0" fmla="*/ 343 w 401"/>
                      <a:gd name="T1" fmla="*/ 0 h 484"/>
                      <a:gd name="T2" fmla="*/ 0 w 401"/>
                      <a:gd name="T3" fmla="*/ 424 h 484"/>
                      <a:gd name="T4" fmla="*/ 170 w 401"/>
                      <a:gd name="T5" fmla="*/ 484 h 484"/>
                      <a:gd name="T6" fmla="*/ 401 w 401"/>
                      <a:gd name="T7" fmla="*/ 42 h 484"/>
                      <a:gd name="T8" fmla="*/ 343 w 401"/>
                      <a:gd name="T9" fmla="*/ 0 h 4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01" h="484">
                        <a:moveTo>
                          <a:pt x="343" y="0"/>
                        </a:moveTo>
                        <a:lnTo>
                          <a:pt x="0" y="424"/>
                        </a:lnTo>
                        <a:lnTo>
                          <a:pt x="170" y="484"/>
                        </a:lnTo>
                        <a:lnTo>
                          <a:pt x="401" y="42"/>
                        </a:lnTo>
                        <a:lnTo>
                          <a:pt x="343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IN"/>
                  </a:p>
                </p:txBody>
              </p:sp>
            </p:grpSp>
            <p:sp>
              <p:nvSpPr>
                <p:cNvPr id="19" name="Oval 44">
                  <a:extLst>
                    <a:ext uri="{FF2B5EF4-FFF2-40B4-BE49-F238E27FC236}">
                      <a16:creationId xmlns:a16="http://schemas.microsoft.com/office/drawing/2014/main" id="{67FAD722-CF8F-7456-F7B9-06DF55593E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77" y="3358"/>
                  <a:ext cx="1946" cy="897"/>
                </a:xfrm>
                <a:prstGeom prst="ellipse">
                  <a:avLst/>
                </a:prstGeom>
                <a:solidFill>
                  <a:srgbClr val="FFFFFF"/>
                </a:solidFill>
                <a:ln w="412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0" name="Oval 45">
                  <a:extLst>
                    <a:ext uri="{FF2B5EF4-FFF2-40B4-BE49-F238E27FC236}">
                      <a16:creationId xmlns:a16="http://schemas.microsoft.com/office/drawing/2014/main" id="{5D11A56D-0C50-975B-B2E1-8E62B41996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03" y="3519"/>
                  <a:ext cx="680" cy="305"/>
                </a:xfrm>
                <a:prstGeom prst="ellipse">
                  <a:avLst/>
                </a:prstGeom>
                <a:solidFill>
                  <a:srgbClr val="FFFFFF"/>
                </a:solidFill>
                <a:ln w="412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1" name="Oval 46">
                  <a:extLst>
                    <a:ext uri="{FF2B5EF4-FFF2-40B4-BE49-F238E27FC236}">
                      <a16:creationId xmlns:a16="http://schemas.microsoft.com/office/drawing/2014/main" id="{7EFA779B-4177-1453-17C2-C8F1D37736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73" y="4004"/>
                  <a:ext cx="450" cy="197"/>
                </a:xfrm>
                <a:prstGeom prst="ellipse">
                  <a:avLst/>
                </a:prstGeom>
                <a:solidFill>
                  <a:srgbClr val="FFFFFF"/>
                </a:solidFill>
                <a:ln w="412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2" name="Oval 47">
                  <a:extLst>
                    <a:ext uri="{FF2B5EF4-FFF2-40B4-BE49-F238E27FC236}">
                      <a16:creationId xmlns:a16="http://schemas.microsoft.com/office/drawing/2014/main" id="{D337841E-E899-C2DA-0FCB-9BFCAD427F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73" y="3412"/>
                  <a:ext cx="450" cy="196"/>
                </a:xfrm>
                <a:prstGeom prst="ellipse">
                  <a:avLst/>
                </a:prstGeom>
                <a:solidFill>
                  <a:srgbClr val="FFFFFF"/>
                </a:solidFill>
                <a:ln w="412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3" name="Oval 48">
                  <a:extLst>
                    <a:ext uri="{FF2B5EF4-FFF2-40B4-BE49-F238E27FC236}">
                      <a16:creationId xmlns:a16="http://schemas.microsoft.com/office/drawing/2014/main" id="{0A46BFA6-B768-31AC-B3C2-237B95F746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88" y="3735"/>
                  <a:ext cx="680" cy="304"/>
                </a:xfrm>
                <a:prstGeom prst="ellipse">
                  <a:avLst/>
                </a:prstGeom>
                <a:solidFill>
                  <a:srgbClr val="FFFFFF"/>
                </a:solidFill>
                <a:ln w="412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4" name="Oval 49">
                  <a:extLst>
                    <a:ext uri="{FF2B5EF4-FFF2-40B4-BE49-F238E27FC236}">
                      <a16:creationId xmlns:a16="http://schemas.microsoft.com/office/drawing/2014/main" id="{B7D6FD5A-7B9C-1F88-71E3-9143E5827A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7" y="3035"/>
                  <a:ext cx="1026" cy="466"/>
                </a:xfrm>
                <a:prstGeom prst="ellipse">
                  <a:avLst/>
                </a:prstGeom>
                <a:solidFill>
                  <a:srgbClr val="FFFFFF"/>
                </a:solidFill>
                <a:ln w="412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5" name="Oval 50">
                  <a:extLst>
                    <a:ext uri="{FF2B5EF4-FFF2-40B4-BE49-F238E27FC236}">
                      <a16:creationId xmlns:a16="http://schemas.microsoft.com/office/drawing/2014/main" id="{70226110-BA87-6E48-103E-18A03E64F7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53" y="3142"/>
                  <a:ext cx="1025" cy="466"/>
                </a:xfrm>
                <a:prstGeom prst="ellipse">
                  <a:avLst/>
                </a:prstGeom>
                <a:solidFill>
                  <a:srgbClr val="FFFFFF"/>
                </a:solidFill>
                <a:ln w="412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" name="Oval 51">
                  <a:extLst>
                    <a:ext uri="{FF2B5EF4-FFF2-40B4-BE49-F238E27FC236}">
                      <a16:creationId xmlns:a16="http://schemas.microsoft.com/office/drawing/2014/main" id="{0B63DF75-C9D3-199F-9981-E65D920F85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2" y="3035"/>
                  <a:ext cx="1026" cy="466"/>
                </a:xfrm>
                <a:prstGeom prst="ellipse">
                  <a:avLst/>
                </a:prstGeom>
                <a:solidFill>
                  <a:srgbClr val="FFFFFF"/>
                </a:solidFill>
                <a:ln w="412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7" name="Oval 52">
                  <a:extLst>
                    <a:ext uri="{FF2B5EF4-FFF2-40B4-BE49-F238E27FC236}">
                      <a16:creationId xmlns:a16="http://schemas.microsoft.com/office/drawing/2014/main" id="{9815AC8B-399A-360C-671B-157706FABD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47" y="3627"/>
                  <a:ext cx="1026" cy="466"/>
                </a:xfrm>
                <a:prstGeom prst="ellipse">
                  <a:avLst/>
                </a:prstGeom>
                <a:solidFill>
                  <a:srgbClr val="FFFFFF"/>
                </a:solidFill>
                <a:ln w="412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8" name="Freeform 53">
                  <a:extLst>
                    <a:ext uri="{FF2B5EF4-FFF2-40B4-BE49-F238E27FC236}">
                      <a16:creationId xmlns:a16="http://schemas.microsoft.com/office/drawing/2014/main" id="{141B7166-0698-64A6-774D-E45B11D890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34" y="3110"/>
                  <a:ext cx="2562" cy="1032"/>
                </a:xfrm>
                <a:custGeom>
                  <a:avLst/>
                  <a:gdLst>
                    <a:gd name="T0" fmla="*/ 604 w 2562"/>
                    <a:gd name="T1" fmla="*/ 0 h 2063"/>
                    <a:gd name="T2" fmla="*/ 1069 w 2562"/>
                    <a:gd name="T3" fmla="*/ 256 h 2063"/>
                    <a:gd name="T4" fmla="*/ 1629 w 2562"/>
                    <a:gd name="T5" fmla="*/ 189 h 2063"/>
                    <a:gd name="T6" fmla="*/ 1987 w 2562"/>
                    <a:gd name="T7" fmla="*/ 686 h 2063"/>
                    <a:gd name="T8" fmla="*/ 2081 w 2562"/>
                    <a:gd name="T9" fmla="*/ 725 h 2063"/>
                    <a:gd name="T10" fmla="*/ 2332 w 2562"/>
                    <a:gd name="T11" fmla="*/ 881 h 2063"/>
                    <a:gd name="T12" fmla="*/ 2397 w 2562"/>
                    <a:gd name="T13" fmla="*/ 1008 h 2063"/>
                    <a:gd name="T14" fmla="*/ 2562 w 2562"/>
                    <a:gd name="T15" fmla="*/ 1237 h 2063"/>
                    <a:gd name="T16" fmla="*/ 2535 w 2562"/>
                    <a:gd name="T17" fmla="*/ 1311 h 2063"/>
                    <a:gd name="T18" fmla="*/ 2146 w 2562"/>
                    <a:gd name="T19" fmla="*/ 1983 h 2063"/>
                    <a:gd name="T20" fmla="*/ 1874 w 2562"/>
                    <a:gd name="T21" fmla="*/ 2063 h 2063"/>
                    <a:gd name="T22" fmla="*/ 983 w 2562"/>
                    <a:gd name="T23" fmla="*/ 1989 h 2063"/>
                    <a:gd name="T24" fmla="*/ 918 w 2562"/>
                    <a:gd name="T25" fmla="*/ 1881 h 2063"/>
                    <a:gd name="T26" fmla="*/ 330 w 2562"/>
                    <a:gd name="T27" fmla="*/ 1760 h 2063"/>
                    <a:gd name="T28" fmla="*/ 222 w 2562"/>
                    <a:gd name="T29" fmla="*/ 1807 h 2063"/>
                    <a:gd name="T30" fmla="*/ 0 w 2562"/>
                    <a:gd name="T31" fmla="*/ 698 h 2063"/>
                    <a:gd name="T32" fmla="*/ 604 w 2562"/>
                    <a:gd name="T33" fmla="*/ 0 h 20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562" h="2063">
                      <a:moveTo>
                        <a:pt x="604" y="0"/>
                      </a:moveTo>
                      <a:lnTo>
                        <a:pt x="1069" y="256"/>
                      </a:lnTo>
                      <a:lnTo>
                        <a:pt x="1629" y="189"/>
                      </a:lnTo>
                      <a:lnTo>
                        <a:pt x="1987" y="686"/>
                      </a:lnTo>
                      <a:lnTo>
                        <a:pt x="2081" y="725"/>
                      </a:lnTo>
                      <a:lnTo>
                        <a:pt x="2332" y="881"/>
                      </a:lnTo>
                      <a:lnTo>
                        <a:pt x="2397" y="1008"/>
                      </a:lnTo>
                      <a:lnTo>
                        <a:pt x="2562" y="1237"/>
                      </a:lnTo>
                      <a:lnTo>
                        <a:pt x="2535" y="1311"/>
                      </a:lnTo>
                      <a:lnTo>
                        <a:pt x="2146" y="1983"/>
                      </a:lnTo>
                      <a:lnTo>
                        <a:pt x="1874" y="2063"/>
                      </a:lnTo>
                      <a:lnTo>
                        <a:pt x="983" y="1989"/>
                      </a:lnTo>
                      <a:lnTo>
                        <a:pt x="918" y="1881"/>
                      </a:lnTo>
                      <a:lnTo>
                        <a:pt x="330" y="1760"/>
                      </a:lnTo>
                      <a:lnTo>
                        <a:pt x="222" y="1807"/>
                      </a:lnTo>
                      <a:lnTo>
                        <a:pt x="0" y="698"/>
                      </a:lnTo>
                      <a:lnTo>
                        <a:pt x="60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</p:grpSp>
        <p:sp>
          <p:nvSpPr>
            <p:cNvPr id="6" name="Text Box 28">
              <a:extLst>
                <a:ext uri="{FF2B5EF4-FFF2-40B4-BE49-F238E27FC236}">
                  <a16:creationId xmlns:a16="http://schemas.microsoft.com/office/drawing/2014/main" id="{74FD56C3-85D3-8351-477D-23A4D6F543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4" y="1296"/>
              <a:ext cx="2514" cy="5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4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Expert Power!</a:t>
              </a:r>
              <a:endParaRPr lang="en-US" altLang="en-US" sz="48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588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558FE-B9BF-3C7E-D0F0-148FDF615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6887E-51F1-0D53-427C-DEE140E93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6" y="75305"/>
            <a:ext cx="10515600" cy="644235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Types of Power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402485C-9355-0426-63B4-5509F70F8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686" y="608285"/>
            <a:ext cx="8623661" cy="622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124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978BF-CFB8-AA33-AA3E-C1FCD0944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62B7-502D-751E-CBD1-F01DCF07A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6" y="75305"/>
            <a:ext cx="10515600" cy="644235"/>
          </a:xfrm>
        </p:spPr>
        <p:txBody>
          <a:bodyPr>
            <a:normAutofit/>
          </a:bodyPr>
          <a:lstStyle/>
          <a:p>
            <a:r>
              <a:rPr lang="en-IN" sz="40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Contingency Approaches to Power</a:t>
            </a:r>
            <a:endParaRPr lang="en-IN" sz="4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B3B03-439F-91AE-806B-0F7DC89EA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94" y="719540"/>
            <a:ext cx="11959936" cy="606315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No particular power base is effective </a:t>
            </a:r>
            <a:r>
              <a:rPr lang="en-US" dirty="0">
                <a:latin typeface="Bookman Old Style" panose="02050604050505020204" pitchFamily="18" charset="0"/>
              </a:rPr>
              <a:t>in all situations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Effectiveness of power depends upon the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situation requirements </a:t>
            </a:r>
            <a:r>
              <a:rPr lang="en-US" dirty="0">
                <a:latin typeface="Bookman Old Style" panose="02050604050505020204" pitchFamily="18" charset="0"/>
              </a:rPr>
              <a:t>prevailing at the time of use of power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A Successful Manager is one who is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aware of existence of multiple bases of power </a:t>
            </a:r>
            <a:r>
              <a:rPr lang="en-US" dirty="0">
                <a:latin typeface="Bookman Old Style" panose="02050604050505020204" pitchFamily="18" charset="0"/>
              </a:rPr>
              <a:t>in work situations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Effectiveness of different power depends on the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nature of managerial, subordinate and organization variable</a:t>
            </a:r>
            <a:r>
              <a:rPr lang="en-US" dirty="0">
                <a:latin typeface="Bookman Old Style" panose="020506040505050202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26050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D477F-85DD-7A91-B7E7-D8628DA08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0DB09-8648-929D-6245-64C628FE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6" y="75305"/>
            <a:ext cx="10515600" cy="644235"/>
          </a:xfrm>
        </p:spPr>
        <p:txBody>
          <a:bodyPr>
            <a:normAutofit/>
          </a:bodyPr>
          <a:lstStyle/>
          <a:p>
            <a:r>
              <a:rPr lang="en-IN" sz="40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Contingency Approaches to Power</a:t>
            </a:r>
            <a:endParaRPr lang="en-IN" sz="4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734C1-7850-5D83-825B-80E06FD98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694" y="719540"/>
            <a:ext cx="11959936" cy="606315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IN" dirty="0">
                <a:latin typeface="Bookman Old Style" panose="02050604050505020204" pitchFamily="18" charset="0"/>
              </a:rPr>
              <a:t>Contingency approaches to power have emerged to </a:t>
            </a:r>
            <a:r>
              <a:rPr lang="en-US" dirty="0">
                <a:latin typeface="Bookman Old Style" panose="02050604050505020204" pitchFamily="18" charset="0"/>
              </a:rPr>
              <a:t>describe the right place or position in the organization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dirty="0">
                <a:latin typeface="Bookman Old Style" panose="02050604050505020204" pitchFamily="18" charset="0"/>
              </a:rPr>
              <a:t>Managers need 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b="1" i="1" dirty="0">
                <a:latin typeface="Bookman Old Style" panose="02050604050505020204" pitchFamily="18" charset="0"/>
              </a:rPr>
              <a:t>Control over resources </a:t>
            </a:r>
            <a:r>
              <a:rPr lang="en-US" dirty="0">
                <a:latin typeface="Bookman Old Style" panose="02050604050505020204" pitchFamily="18" charset="0"/>
              </a:rPr>
              <a:t>such as budgets, physical facilities, and positions that can be used to cultivate allies and supporters	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b="1" i="1" dirty="0">
                <a:latin typeface="Bookman Old Style" panose="02050604050505020204" pitchFamily="18" charset="0"/>
              </a:rPr>
              <a:t>Control over or extensive access to information</a:t>
            </a:r>
            <a:r>
              <a:rPr lang="en-US" dirty="0">
                <a:latin typeface="Bookman Old Style" panose="02050604050505020204" pitchFamily="18" charset="0"/>
              </a:rPr>
              <a:t>—about the organization’s activities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IN" b="1" i="1" dirty="0">
                <a:latin typeface="Bookman Old Style" panose="02050604050505020204" pitchFamily="18" charset="0"/>
              </a:rPr>
              <a:t>Formal authority</a:t>
            </a:r>
          </a:p>
        </p:txBody>
      </p:sp>
    </p:spTree>
    <p:extLst>
      <p:ext uri="{BB962C8B-B14F-4D97-AF65-F5344CB8AC3E}">
        <p14:creationId xmlns:p14="http://schemas.microsoft.com/office/powerpoint/2010/main" val="1317173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A73B9-6F11-97FD-A72D-F1B758E54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38" y="130076"/>
            <a:ext cx="10515600" cy="579929"/>
          </a:xfrm>
        </p:spPr>
        <p:txBody>
          <a:bodyPr>
            <a:normAutofit/>
          </a:bodyPr>
          <a:lstStyle/>
          <a:p>
            <a:r>
              <a:rPr lang="en-US" sz="3200" b="1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Influenceability of the Targets of Power</a:t>
            </a:r>
            <a:endParaRPr lang="en-IN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98426-1770-BADF-1106-FE336D0C3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051" y="710005"/>
            <a:ext cx="11757511" cy="6017919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Bookman Old Style" panose="02050604050505020204" pitchFamily="18" charset="0"/>
              </a:rPr>
              <a:t>C</a:t>
            </a:r>
            <a:r>
              <a:rPr lang="en-US" b="0" i="0" u="none" strike="noStrike" baseline="0" dirty="0">
                <a:latin typeface="Bookman Old Style" panose="02050604050505020204" pitchFamily="18" charset="0"/>
              </a:rPr>
              <a:t>haracteristics important to the influenceability of targets: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b="0" i="1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Dependency</a:t>
            </a:r>
            <a:endParaRPr lang="en-US" b="0" i="0" u="none" strike="noStrike" baseline="0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0" i="0" u="none" strike="noStrike" baseline="0" dirty="0">
                <a:latin typeface="Bookman Old Style" panose="02050604050505020204" pitchFamily="18" charset="0"/>
              </a:rPr>
              <a:t>2. 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Uncertainty</a:t>
            </a:r>
            <a:endParaRPr lang="en-IN" b="0" i="0" u="none" strike="noStrike" baseline="0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0" i="0" u="none" strike="noStrike" baseline="0" dirty="0">
                <a:latin typeface="Bookman Old Style" panose="02050604050505020204" pitchFamily="18" charset="0"/>
              </a:rPr>
              <a:t>3. </a:t>
            </a:r>
            <a:r>
              <a:rPr lang="en-IN" b="0" i="1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Personality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u="none" strike="noStrike" baseline="0" dirty="0">
                <a:latin typeface="Bookman Old Style" panose="02050604050505020204" pitchFamily="18" charset="0"/>
              </a:rPr>
              <a:t>4.</a:t>
            </a:r>
            <a:r>
              <a:rPr lang="en-IN" b="0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IN" b="0" i="1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Intelligence</a:t>
            </a:r>
            <a:endParaRPr lang="en-IN" i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0" i="0" u="none" strike="noStrike" baseline="0" dirty="0">
                <a:latin typeface="Bookman Old Style" panose="02050604050505020204" pitchFamily="18" charset="0"/>
              </a:rPr>
              <a:t>5. </a:t>
            </a:r>
            <a:r>
              <a:rPr lang="en-IN" b="0" i="1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Gender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0" i="0" u="none" strike="noStrike" baseline="0" dirty="0">
                <a:latin typeface="Bookman Old Style" panose="02050604050505020204" pitchFamily="18" charset="0"/>
              </a:rPr>
              <a:t>6. </a:t>
            </a:r>
            <a:r>
              <a:rPr lang="en-IN" b="0" i="1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Age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0" i="0" u="none" strike="noStrike" baseline="0" dirty="0">
                <a:latin typeface="Bookman Old Style" panose="02050604050505020204" pitchFamily="18" charset="0"/>
              </a:rPr>
              <a:t>7. </a:t>
            </a:r>
            <a:r>
              <a:rPr lang="en-IN" b="0" i="1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Culture</a:t>
            </a:r>
            <a:endParaRPr lang="en-IN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542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6025E-84B0-1B92-B3B1-67C8EE84D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69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i="1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An Overall Contingency Model for Power</a:t>
            </a:r>
            <a:endParaRPr lang="en-IN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C4321D-5268-B3DA-9E18-D45652FA93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390" y="936072"/>
            <a:ext cx="8892803" cy="449133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4B5A05-3A4C-D3AB-7A6F-7EFC54811134}"/>
              </a:ext>
            </a:extLst>
          </p:cNvPr>
          <p:cNvSpPr txBox="1"/>
          <p:nvPr/>
        </p:nvSpPr>
        <p:spPr>
          <a:xfrm>
            <a:off x="924232" y="5545394"/>
            <a:ext cx="108154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i="0" u="none" strike="noStrike" baseline="0" dirty="0">
                <a:latin typeface="Times New Roman" panose="02020603050405020304" pitchFamily="18" charset="0"/>
              </a:rPr>
              <a:t>Overall</a:t>
            </a:r>
            <a:r>
              <a:rPr lang="en-IN" sz="2400" b="1" dirty="0">
                <a:latin typeface="Times New Roman" panose="02020603050405020304" pitchFamily="18" charset="0"/>
              </a:rPr>
              <a:t> </a:t>
            </a:r>
            <a:r>
              <a:rPr lang="en-IN" sz="2400" b="1" i="0" u="none" strike="noStrike" baseline="0" dirty="0">
                <a:latin typeface="Times New Roman" panose="02020603050405020304" pitchFamily="18" charset="0"/>
              </a:rPr>
              <a:t>Contingency Model of Power Based on the French-Raven and Herbert Kelman Theories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41782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A9802-5AC3-5841-B2C7-CEA6B885C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47346"/>
            <a:ext cx="10515600" cy="422809"/>
          </a:xfrm>
        </p:spPr>
        <p:txBody>
          <a:bodyPr>
            <a:normAutofit fontScale="90000"/>
          </a:bodyPr>
          <a:lstStyle/>
          <a:p>
            <a:r>
              <a:rPr lang="en-US" sz="3200" b="1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The Two Faces of Power</a:t>
            </a:r>
            <a:endParaRPr lang="en-IN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E180-C0EA-CCC4-B1A8-3D63E4873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29" y="570156"/>
            <a:ext cx="11478410" cy="6140498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400" b="0" i="0" u="none" strike="noStrike" baseline="0" dirty="0">
                <a:latin typeface="Bookman Old Style" panose="02050604050505020204" pitchFamily="18" charset="0"/>
                <a:sym typeface="Wingdings" panose="05000000000000000000" pitchFamily="2" charset="2"/>
              </a:rPr>
              <a:t>According to </a:t>
            </a:r>
            <a:r>
              <a:rPr lang="en-IN" sz="2400" b="0" i="0" u="none" strike="noStrike" baseline="0" dirty="0">
                <a:latin typeface="Bookman Old Style" panose="02050604050505020204" pitchFamily="18" charset="0"/>
              </a:rPr>
              <a:t>social psychologist </a:t>
            </a:r>
            <a:r>
              <a:rPr lang="en-IN" sz="2400" b="0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David McClelland</a:t>
            </a:r>
            <a:endParaRPr lang="en-US" sz="24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Negative Personal Power: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Bookman Old Style" panose="02050604050505020204" pitchFamily="18" charset="0"/>
              </a:rPr>
              <a:t> Always </a:t>
            </a:r>
            <a:r>
              <a:rPr lang="en-IN" sz="2400" b="0" i="0" u="none" strike="noStrike" baseline="0" dirty="0">
                <a:latin typeface="Bookman Old Style" panose="02050604050505020204" pitchFamily="18" charset="0"/>
              </a:rPr>
              <a:t>“I” oriented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Bookman Old Style" panose="02050604050505020204" pitchFamily="18" charset="0"/>
              </a:rPr>
              <a:t>Focus on personal gain, exploitative and manipulative to achieve their goals, lack of concern for others, Destructive behavior(aggression, bullying)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Positive Social Power: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b="0" i="0" u="none" strike="noStrike" baseline="0" dirty="0">
                <a:latin typeface="Bookman Old Style" panose="02050604050505020204" pitchFamily="18" charset="0"/>
              </a:rPr>
              <a:t>“We” oriented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Bookman Old Style" panose="02050604050505020204" pitchFamily="18" charset="0"/>
              </a:rPr>
              <a:t>Focus on social benefit(improving the organization, helping others), Collaborative and empowering to achieve goals, Concern for others, constructive behavior (innovation, teamwork).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12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C9A99-390F-5A9D-03CE-95A6C9B5D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91B89-DB36-D148-D6C0-B9C0E2B1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47346"/>
            <a:ext cx="10515600" cy="637962"/>
          </a:xfrm>
        </p:spPr>
        <p:txBody>
          <a:bodyPr>
            <a:normAutofit/>
          </a:bodyPr>
          <a:lstStyle/>
          <a:p>
            <a:r>
              <a:rPr lang="en-US" sz="3200" b="1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Empowerment</a:t>
            </a:r>
            <a:endParaRPr lang="en-IN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E82F0-5B2C-C7D4-32A8-EE68C0CC1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29" y="785308"/>
            <a:ext cx="11478410" cy="592534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“Recognizing and releasing into the organization the power that people have in their wealth of useful knowledge and internal motivation”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Empowerment is the authority to make decisions within one’s area of responsibility.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Bookman Old Style" panose="02050604050505020204" pitchFamily="18" charset="0"/>
              </a:rPr>
              <a:t>Two characteristics</a:t>
            </a:r>
            <a:r>
              <a:rPr lang="en-US" sz="2400" dirty="0">
                <a:latin typeface="Bookman Old Style" panose="02050604050505020204" pitchFamily="18" charset="0"/>
              </a:rPr>
              <a:t> </a:t>
            </a:r>
          </a:p>
          <a:p>
            <a:pPr lvl="1" algn="just">
              <a:lnSpc>
                <a:spcPct val="150000"/>
              </a:lnSpc>
            </a:pPr>
            <a:r>
              <a:rPr lang="en-IN" sz="2000" b="1" dirty="0">
                <a:latin typeface="Bookman Old Style" panose="02050604050505020204" pitchFamily="18" charset="0"/>
              </a:rPr>
              <a:t>Employees are e</a:t>
            </a:r>
            <a:r>
              <a:rPr lang="en-US" sz="2000" b="1" dirty="0" err="1">
                <a:latin typeface="Bookman Old Style" panose="02050604050505020204" pitchFamily="18" charset="0"/>
              </a:rPr>
              <a:t>ncouraged</a:t>
            </a:r>
            <a:r>
              <a:rPr lang="en-US" sz="2000" b="1" dirty="0">
                <a:latin typeface="Bookman Old Style" panose="02050604050505020204" pitchFamily="18" charset="0"/>
              </a:rPr>
              <a:t> to use their own initiative, “Just do it.” approach.</a:t>
            </a:r>
          </a:p>
          <a:p>
            <a:pPr lvl="1" algn="just">
              <a:lnSpc>
                <a:spcPct val="150000"/>
              </a:lnSpc>
            </a:pPr>
            <a:r>
              <a:rPr lang="en-US" sz="2000" b="1" dirty="0">
                <a:latin typeface="Bookman Old Style" panose="02050604050505020204" pitchFamily="18" charset="0"/>
              </a:rPr>
              <a:t>Empowered employees are given not only the authority but also the resources</a:t>
            </a:r>
            <a:endParaRPr lang="en-US" sz="2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Creating a “shared purpose among employees, encouraging greater collaboration, delivering enhanced value to customers.”		</a:t>
            </a:r>
          </a:p>
        </p:txBody>
      </p:sp>
    </p:spTree>
    <p:extLst>
      <p:ext uri="{BB962C8B-B14F-4D97-AF65-F5344CB8AC3E}">
        <p14:creationId xmlns:p14="http://schemas.microsoft.com/office/powerpoint/2010/main" val="92435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3C4C-395E-3238-82AF-231EBF087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69C8D-FE70-215D-7DB2-EE12098BF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47346"/>
            <a:ext cx="10515600" cy="637962"/>
          </a:xfrm>
        </p:spPr>
        <p:txBody>
          <a:bodyPr>
            <a:normAutofit/>
          </a:bodyPr>
          <a:lstStyle/>
          <a:p>
            <a:r>
              <a:rPr lang="en-US" sz="3200" b="1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Complexity of Empowerment</a:t>
            </a:r>
            <a:endParaRPr lang="en-IN" sz="32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32677-ABA9-3C1F-2003-F070F5B83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29" y="785308"/>
            <a:ext cx="11478410" cy="5925346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Assumes that employees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Willing to </a:t>
            </a:r>
            <a:r>
              <a:rPr lang="en-US" b="1" dirty="0">
                <a:latin typeface="Bookman Old Style" panose="02050604050505020204" pitchFamily="18" charset="0"/>
              </a:rPr>
              <a:t>accept responsibility</a:t>
            </a:r>
          </a:p>
          <a:p>
            <a:pPr lvl="1" algn="just">
              <a:lnSpc>
                <a:spcPct val="150000"/>
              </a:lnSpc>
            </a:pPr>
            <a:r>
              <a:rPr lang="en-US" b="1" dirty="0">
                <a:latin typeface="Bookman Old Style" panose="02050604050505020204" pitchFamily="18" charset="0"/>
              </a:rPr>
              <a:t>Improve</a:t>
            </a:r>
            <a:r>
              <a:rPr lang="en-US" dirty="0">
                <a:latin typeface="Bookman Old Style" panose="02050604050505020204" pitchFamily="18" charset="0"/>
              </a:rPr>
              <a:t> their daily work processes and relationships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Empowerment and participation have been found to work best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When they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open new avenues for action among all members </a:t>
            </a:r>
            <a:r>
              <a:rPr lang="en-US" dirty="0">
                <a:latin typeface="Bookman Old Style" panose="02050604050505020204" pitchFamily="18" charset="0"/>
              </a:rPr>
              <a:t>of the organization</a:t>
            </a:r>
          </a:p>
          <a:p>
            <a:pPr lvl="1" algn="just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Strengthen their resolve to go along </a:t>
            </a:r>
            <a:r>
              <a:rPr lang="en-US" dirty="0">
                <a:latin typeface="Bookman Old Style" panose="02050604050505020204" pitchFamily="18" charset="0"/>
              </a:rPr>
              <a:t>with the new ideas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i="1" dirty="0">
                <a:latin typeface="Bookman Old Style" panose="02050604050505020204" pitchFamily="18" charset="0"/>
              </a:rPr>
              <a:t>Innovation Implications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i="1" dirty="0">
                <a:latin typeface="Bookman Old Style" panose="02050604050505020204" pitchFamily="18" charset="0"/>
              </a:rPr>
              <a:t>Access to Information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b="1" i="1" dirty="0">
                <a:latin typeface="Bookman Old Style" panose="02050604050505020204" pitchFamily="18" charset="0"/>
              </a:rPr>
              <a:t>Accountability and Responsibility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41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A212D-C286-668B-4E73-A1E903D12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4EFB8-7F75-597D-FD87-3F785662D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47346"/>
            <a:ext cx="10515600" cy="637962"/>
          </a:xfrm>
        </p:spPr>
        <p:txBody>
          <a:bodyPr>
            <a:normAutofit/>
          </a:bodyPr>
          <a:lstStyle/>
          <a:p>
            <a:r>
              <a:rPr lang="en-US" sz="3200" b="1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Putting Empowerment into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AC8CF-E2B9-E594-C6AD-E928E181E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29" y="785308"/>
            <a:ext cx="11745356" cy="5925346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Bookman Old Style" panose="02050604050505020204" pitchFamily="18" charset="0"/>
              </a:rPr>
              <a:t>How managers can implement empowerment??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Bookman Old Style" panose="02050604050505020204" pitchFamily="18" charset="0"/>
              </a:rPr>
              <a:t>Two common approaches are: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        (1) </a:t>
            </a:r>
            <a:r>
              <a:rPr lang="en-US" sz="24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kaizen (</a:t>
            </a:r>
            <a:r>
              <a:rPr lang="en-IN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continuous improvement)</a:t>
            </a:r>
            <a:r>
              <a:rPr lang="en-US" sz="24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and “just do it” principles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        (2) Trust building</a:t>
            </a:r>
            <a:endParaRPr lang="en-IN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Empowerment: Sharing of social power in an organization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Individual employees share goals and combine efforts to reach those goals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Fosters creativity and a stronger stake in the organization’s outcomes and future</a:t>
            </a:r>
          </a:p>
        </p:txBody>
      </p:sp>
    </p:spTree>
    <p:extLst>
      <p:ext uri="{BB962C8B-B14F-4D97-AF65-F5344CB8AC3E}">
        <p14:creationId xmlns:p14="http://schemas.microsoft.com/office/powerpoint/2010/main" val="200451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8BC90-1518-D030-17A8-C8040D82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B8AEA-C84A-791A-9F95-E9B967BDB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47346"/>
            <a:ext cx="10515600" cy="637962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Political Perspective of Power in Organizations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D82E6-1F08-73EA-033A-38DA373C3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5308"/>
            <a:ext cx="12068085" cy="592534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400" dirty="0">
                <a:latin typeface="Bookman Old Style" panose="02050604050505020204" pitchFamily="18" charset="0"/>
              </a:rPr>
              <a:t>Politics is </a:t>
            </a: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exercise of powers </a:t>
            </a:r>
            <a:r>
              <a:rPr lang="en-US" sz="2400" dirty="0">
                <a:latin typeface="Bookman Old Style" panose="02050604050505020204" pitchFamily="18" charset="0"/>
              </a:rPr>
              <a:t>for advantage or achieve your purpose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Four postulates of power</a:t>
            </a:r>
            <a:r>
              <a:rPr lang="en-US" sz="2400" dirty="0">
                <a:latin typeface="Bookman Old Style" panose="02050604050505020204" pitchFamily="18" charset="0"/>
              </a:rPr>
              <a:t> in organizations that help focus on the political realities </a:t>
            </a: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(Walter Nord)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dirty="0">
                <a:latin typeface="Bookman Old Style" panose="02050604050505020204" pitchFamily="18" charset="0"/>
              </a:rPr>
              <a:t>Organizations are composed of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coalitions that compete with one another </a:t>
            </a:r>
            <a:r>
              <a:rPr lang="en-US" dirty="0">
                <a:latin typeface="Bookman Old Style" panose="02050604050505020204" pitchFamily="18" charset="0"/>
              </a:rPr>
              <a:t>for resources, </a:t>
            </a:r>
            <a:r>
              <a:rPr lang="en-IN" dirty="0">
                <a:latin typeface="Bookman Old Style" panose="02050604050505020204" pitchFamily="18" charset="0"/>
              </a:rPr>
              <a:t>energy, and influence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dirty="0">
                <a:latin typeface="Bookman Old Style" panose="02050604050505020204" pitchFamily="18" charset="0"/>
              </a:rPr>
              <a:t>Various coalitions will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seek to protect their interests </a:t>
            </a:r>
            <a:r>
              <a:rPr lang="en-US" dirty="0">
                <a:latin typeface="Bookman Old Style" panose="02050604050505020204" pitchFamily="18" charset="0"/>
              </a:rPr>
              <a:t>and positions of influence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Unequal distribution of power </a:t>
            </a:r>
            <a:r>
              <a:rPr lang="en-US" dirty="0">
                <a:latin typeface="Bookman Old Style" panose="02050604050505020204" pitchFamily="18" charset="0"/>
              </a:rPr>
              <a:t>itself has dehumanizing effects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Exercise of power within organizations </a:t>
            </a:r>
            <a:r>
              <a:rPr lang="en-US" dirty="0">
                <a:latin typeface="Bookman Old Style" panose="02050604050505020204" pitchFamily="18" charset="0"/>
              </a:rPr>
              <a:t>is one very crucial aspect of the exercise of power within the larger social system</a:t>
            </a:r>
            <a:endParaRPr lang="en-IN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86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0FC9B-F8ED-D289-CE9B-9F727EFD5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D0E6-3474-16F3-2C48-03B1EE1B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47346"/>
            <a:ext cx="10515600" cy="637962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Political Perspective of Power in Organizations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03633-1411-E148-67F8-5513EFC05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15" y="932654"/>
            <a:ext cx="12068085" cy="592534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Areas that identifies organizations are political are: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2400" i="1" dirty="0">
                <a:latin typeface="Bookman Old Style" panose="02050604050505020204" pitchFamily="18" charset="0"/>
              </a:rPr>
              <a:t>Resources</a:t>
            </a:r>
            <a:endParaRPr lang="en-IN" sz="2400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2. </a:t>
            </a:r>
            <a:r>
              <a:rPr lang="en-US" sz="2400" i="1" dirty="0">
                <a:latin typeface="Bookman Old Style" panose="02050604050505020204" pitchFamily="18" charset="0"/>
              </a:rPr>
              <a:t>Decisions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3. </a:t>
            </a:r>
            <a:r>
              <a:rPr lang="en-US" sz="2400" i="1" dirty="0">
                <a:latin typeface="Bookman Old Style" panose="02050604050505020204" pitchFamily="18" charset="0"/>
              </a:rPr>
              <a:t>Goals</a:t>
            </a:r>
            <a:endParaRPr lang="en-IN" sz="2400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4. </a:t>
            </a:r>
            <a:r>
              <a:rPr lang="en-US" sz="2400" i="1" dirty="0">
                <a:latin typeface="Bookman Old Style" panose="02050604050505020204" pitchFamily="18" charset="0"/>
              </a:rPr>
              <a:t>Technology and external environment</a:t>
            </a:r>
            <a:endParaRPr lang="en-IN" sz="2400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5. </a:t>
            </a:r>
            <a:r>
              <a:rPr lang="en-US" sz="2400" i="1" dirty="0">
                <a:latin typeface="Bookman Old Style" panose="02050604050505020204" pitchFamily="18" charset="0"/>
              </a:rPr>
              <a:t>Change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519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767C4-6EB1-F056-86FB-78EA87F4B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9C62-AC5B-F904-7E6E-FE00B9D81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47346"/>
            <a:ext cx="10515600" cy="637962"/>
          </a:xfrm>
        </p:spPr>
        <p:txBody>
          <a:bodyPr>
            <a:normAutofit fontScale="90000"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Specific Political Strategies for Power Acquisition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52D60-5D6A-3FFD-B86A-470CE17B6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16" y="932654"/>
            <a:ext cx="11892376" cy="592534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Bookman Old Style" panose="02050604050505020204" pitchFamily="18" charset="0"/>
              </a:rPr>
              <a:t>Taxonomy of political strategies include: 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24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Information strategy</a:t>
            </a:r>
            <a:r>
              <a:rPr lang="en-US" sz="2400" dirty="0">
                <a:latin typeface="Bookman Old Style" panose="02050604050505020204" pitchFamily="18" charset="0"/>
              </a:rPr>
              <a:t>—Targets political decision makers by providing information through lobbying or supplying position papers or technical reports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2.</a:t>
            </a:r>
            <a:r>
              <a:rPr lang="en-US" sz="24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Financial incentive strategy</a:t>
            </a:r>
            <a:r>
              <a:rPr lang="en-US" sz="2400" dirty="0">
                <a:latin typeface="Bookman Old Style" panose="02050604050505020204" pitchFamily="18" charset="0"/>
              </a:rPr>
              <a:t>—Targets political decision makers by providing financial incentives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3.</a:t>
            </a:r>
            <a:r>
              <a:rPr lang="en-US" sz="24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Constituency building strategy</a:t>
            </a:r>
            <a:r>
              <a:rPr lang="en-US" sz="2400" dirty="0">
                <a:latin typeface="Bookman Old Style" panose="02050604050505020204" pitchFamily="18" charset="0"/>
              </a:rPr>
              <a:t>—Targets political decision makers indirectly through constituent support 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b="1" dirty="0">
                <a:latin typeface="Bookman Old Style" panose="02050604050505020204" pitchFamily="18" charset="0"/>
              </a:rPr>
              <a:t>Self study Topic: Political strategies for attaining power in Organizations</a:t>
            </a:r>
          </a:p>
        </p:txBody>
      </p:sp>
    </p:spTree>
    <p:extLst>
      <p:ext uri="{BB962C8B-B14F-4D97-AF65-F5344CB8AC3E}">
        <p14:creationId xmlns:p14="http://schemas.microsoft.com/office/powerpoint/2010/main" val="1146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0DE46-FD73-837D-E535-73BDB87D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35" y="1770702"/>
            <a:ext cx="3861619" cy="2280188"/>
          </a:xfrm>
        </p:spPr>
        <p:txBody>
          <a:bodyPr>
            <a:normAutofit/>
          </a:bodyPr>
          <a:lstStyle/>
          <a:p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    Political Tactics: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A99262-5F99-C447-A1DF-E1C8F72086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7265" y="174523"/>
            <a:ext cx="8072283" cy="6508954"/>
          </a:xfrm>
        </p:spPr>
      </p:pic>
    </p:spTree>
    <p:extLst>
      <p:ext uri="{BB962C8B-B14F-4D97-AF65-F5344CB8AC3E}">
        <p14:creationId xmlns:p14="http://schemas.microsoft.com/office/powerpoint/2010/main" val="35664197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C8223-5A3D-0ED7-726E-B6BC9A269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5EDD0-839A-E067-BEFF-00BF938AF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47346"/>
            <a:ext cx="10515600" cy="229172"/>
          </a:xfrm>
        </p:spPr>
        <p:txBody>
          <a:bodyPr>
            <a:normAutofit fontScale="90000"/>
          </a:bodyPr>
          <a:lstStyle/>
          <a:p>
            <a:r>
              <a:rPr lang="en-US" sz="3200" b="1" i="0" u="none" strike="noStrike" baseline="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DuBrin</a:t>
            </a:r>
            <a:r>
              <a:rPr lang="en-US" sz="3200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’s</a:t>
            </a:r>
            <a:r>
              <a:rPr lang="en-US" sz="3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list of political strategies 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0545B-9200-A231-1260-BC27FD4CA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16" y="462579"/>
            <a:ext cx="11892376" cy="611034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300" dirty="0">
                <a:latin typeface="Bookman Old Style" panose="02050604050505020204" pitchFamily="18" charset="0"/>
              </a:rPr>
              <a:t>Maintain Alliances with Powerful People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Bookman Old Style" panose="02050604050505020204" pitchFamily="18" charset="0"/>
              </a:rPr>
              <a:t>Embrace or Demolish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Bookman Old Style" panose="02050604050505020204" pitchFamily="18" charset="0"/>
              </a:rPr>
              <a:t>Divide and Rule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Bookman Old Style" panose="02050604050505020204" pitchFamily="18" charset="0"/>
              </a:rPr>
              <a:t>Manipulate Classified Information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Bookman Old Style" panose="02050604050505020204" pitchFamily="18" charset="0"/>
              </a:rPr>
              <a:t>Make a quick showing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Bookman Old Style" panose="02050604050505020204" pitchFamily="18" charset="0"/>
              </a:rPr>
              <a:t>Avoid Decisive Engagement (Fabianism)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Bookman Old Style" panose="02050604050505020204" pitchFamily="18" charset="0"/>
              </a:rPr>
              <a:t>Attacking and Blaming Others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Bookman Old Style" panose="02050604050505020204" pitchFamily="18" charset="0"/>
              </a:rPr>
              <a:t>Progress One Step at a Time (Camel’s Head in the Tent)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Bookman Old Style" panose="02050604050505020204" pitchFamily="18" charset="0"/>
              </a:rPr>
              <a:t>Wait for a Crisis (Things Must Get Worse Before They Get Better)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Bookman Old Style" panose="02050604050505020204" pitchFamily="18" charset="0"/>
              </a:rPr>
              <a:t>Be Aware of Resource Dependence</a:t>
            </a:r>
          </a:p>
        </p:txBody>
      </p:sp>
    </p:spTree>
    <p:extLst>
      <p:ext uri="{BB962C8B-B14F-4D97-AF65-F5344CB8AC3E}">
        <p14:creationId xmlns:p14="http://schemas.microsoft.com/office/powerpoint/2010/main" val="128837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A66E8-221C-ADA4-F8CC-93814BD60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09FF-05B2-1D8E-2C0E-D2BB19FBB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05" y="405529"/>
            <a:ext cx="10515600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Groups and Teams : Meaning of Group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BB837-94E5-8C7B-FE23-14D3F9A46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16" y="1387736"/>
            <a:ext cx="11892376" cy="518518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300" dirty="0">
                <a:latin typeface="Bookman Old Style" panose="02050604050505020204" pitchFamily="18" charset="0"/>
              </a:rPr>
              <a:t>If a group exists in an organization, its members: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dirty="0">
                <a:latin typeface="Bookman Old Style" panose="02050604050505020204" pitchFamily="18" charset="0"/>
              </a:rPr>
              <a:t>1. Are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motivated</a:t>
            </a:r>
            <a:r>
              <a:rPr lang="en-US" dirty="0">
                <a:latin typeface="Bookman Old Style" panose="02050604050505020204" pitchFamily="18" charset="0"/>
              </a:rPr>
              <a:t> to join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dirty="0">
                <a:latin typeface="Bookman Old Style" panose="02050604050505020204" pitchFamily="18" charset="0"/>
              </a:rPr>
              <a:t>2.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Perceive</a:t>
            </a:r>
            <a:r>
              <a:rPr lang="en-US" dirty="0">
                <a:latin typeface="Bookman Old Style" panose="02050604050505020204" pitchFamily="18" charset="0"/>
              </a:rPr>
              <a:t> the group as a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unified unit</a:t>
            </a:r>
            <a:r>
              <a:rPr lang="en-US" dirty="0">
                <a:latin typeface="Bookman Old Style" panose="02050604050505020204" pitchFamily="18" charset="0"/>
              </a:rPr>
              <a:t> of interacting people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dirty="0">
                <a:latin typeface="Bookman Old Style" panose="02050604050505020204" pitchFamily="18" charset="0"/>
              </a:rPr>
              <a:t>3.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Contribute in various amounts </a:t>
            </a:r>
            <a:r>
              <a:rPr lang="en-US" dirty="0">
                <a:latin typeface="Bookman Old Style" panose="02050604050505020204" pitchFamily="18" charset="0"/>
              </a:rPr>
              <a:t>to the group processes </a:t>
            </a:r>
          </a:p>
          <a:p>
            <a:pPr marL="457200" lvl="1" indent="0" algn="just">
              <a:lnSpc>
                <a:spcPct val="150000"/>
              </a:lnSpc>
              <a:buNone/>
            </a:pPr>
            <a:r>
              <a:rPr lang="en-US" dirty="0">
                <a:latin typeface="Bookman Old Style" panose="02050604050505020204" pitchFamily="18" charset="0"/>
              </a:rPr>
              <a:t>4. Reach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agreements and have disagreements</a:t>
            </a:r>
            <a:r>
              <a:rPr lang="en-US" dirty="0">
                <a:latin typeface="Bookman Old Style" panose="02050604050505020204" pitchFamily="18" charset="0"/>
              </a:rPr>
              <a:t> through various forms of interaction</a:t>
            </a:r>
          </a:p>
          <a:p>
            <a:pPr algn="just">
              <a:lnSpc>
                <a:spcPct val="150000"/>
              </a:lnSpc>
            </a:pPr>
            <a:r>
              <a:rPr lang="en-US" sz="2300" b="1" dirty="0">
                <a:latin typeface="Bookman Old Style" panose="02050604050505020204" pitchFamily="18" charset="0"/>
              </a:rPr>
              <a:t>Group dynamics</a:t>
            </a:r>
            <a:r>
              <a:rPr lang="en-US" sz="2300" dirty="0">
                <a:latin typeface="Bookman Old Style" panose="02050604050505020204" pitchFamily="18" charset="0"/>
              </a:rPr>
              <a:t>: How a group should be organized and conducted</a:t>
            </a:r>
          </a:p>
          <a:p>
            <a:pPr algn="just">
              <a:lnSpc>
                <a:spcPct val="150000"/>
              </a:lnSpc>
            </a:pPr>
            <a:endParaRPr lang="en-US" sz="23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10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8A24A-356E-BCCC-FA46-5B3EAABE3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67DEC-84F7-BE25-1BBD-2DC70CDD9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58103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Groups and Teams : Dynamics of Group Formation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D0B60-5D3D-B40F-F4F8-4D71FA943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16" y="785308"/>
            <a:ext cx="11892376" cy="607269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300" b="1" dirty="0">
                <a:latin typeface="Bookman Old Style" panose="02050604050505020204" pitchFamily="18" charset="0"/>
              </a:rPr>
              <a:t>Why do individuals form into groups?</a:t>
            </a:r>
          </a:p>
          <a:p>
            <a:pPr algn="just">
              <a:lnSpc>
                <a:spcPct val="150000"/>
              </a:lnSpc>
            </a:pPr>
            <a:r>
              <a:rPr lang="en-US" sz="2300" b="1" dirty="0">
                <a:latin typeface="Bookman Old Style" panose="02050604050505020204" pitchFamily="18" charset="0"/>
              </a:rPr>
              <a:t> </a:t>
            </a:r>
            <a:r>
              <a:rPr lang="en-US" sz="2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Propinquity:  </a:t>
            </a:r>
            <a:r>
              <a:rPr lang="en-US" sz="2300" dirty="0">
                <a:latin typeface="Bookman Old Style" panose="02050604050505020204" pitchFamily="18" charset="0"/>
              </a:rPr>
              <a:t>Individuals affiliate with one another because of spatial or geographical proximity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3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Theories of Group Formation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latin typeface="Bookman Old Style" panose="02050604050505020204" pitchFamily="18" charset="0"/>
              </a:rPr>
              <a:t>1. </a:t>
            </a:r>
            <a:r>
              <a:rPr lang="en-US" sz="2300" dirty="0">
                <a:latin typeface="Bookman Old Style" panose="02050604050505020204" pitchFamily="18" charset="0"/>
              </a:rPr>
              <a:t>Classic theory of </a:t>
            </a:r>
            <a:r>
              <a:rPr lang="en-US" sz="2300" b="1" dirty="0">
                <a:solidFill>
                  <a:schemeClr val="accent6">
                    <a:lumMod val="75000"/>
                  </a:schemeClr>
                </a:solidFill>
                <a:latin typeface="Bookman Old Style" panose="02050604050505020204" pitchFamily="18" charset="0"/>
              </a:rPr>
              <a:t>George Homans </a:t>
            </a:r>
            <a:r>
              <a:rPr lang="en-US" sz="2300" dirty="0">
                <a:latin typeface="Bookman Old Style" panose="02050604050505020204" pitchFamily="18" charset="0"/>
              </a:rPr>
              <a:t>based on activities, interactions, and sentiments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300" b="1" dirty="0">
                <a:latin typeface="Bookman Old Style" panose="02050604050505020204" pitchFamily="18" charset="0"/>
              </a:rPr>
              <a:t>2. </a:t>
            </a:r>
            <a:r>
              <a:rPr lang="en-US" sz="2300" dirty="0">
                <a:latin typeface="Bookman Old Style" panose="02050604050505020204" pitchFamily="18" charset="0"/>
              </a:rPr>
              <a:t>Theodore Newcomb’s </a:t>
            </a:r>
            <a:r>
              <a:rPr lang="en-US" sz="2300" b="1" dirty="0">
                <a:solidFill>
                  <a:schemeClr val="accent6">
                    <a:lumMod val="75000"/>
                  </a:schemeClr>
                </a:solidFill>
                <a:latin typeface="Bookman Old Style" panose="02050604050505020204" pitchFamily="18" charset="0"/>
              </a:rPr>
              <a:t>classic balance theory of group formation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Persons are attracted to one another on the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basis of similar attitudes </a:t>
            </a:r>
            <a:r>
              <a:rPr lang="en-US" dirty="0">
                <a:latin typeface="Bookman Old Style" panose="02050604050505020204" pitchFamily="18" charset="0"/>
              </a:rPr>
              <a:t>toward commonly relevant objects and goals</a:t>
            </a:r>
          </a:p>
        </p:txBody>
      </p:sp>
    </p:spTree>
    <p:extLst>
      <p:ext uri="{BB962C8B-B14F-4D97-AF65-F5344CB8AC3E}">
        <p14:creationId xmlns:p14="http://schemas.microsoft.com/office/powerpoint/2010/main" val="387582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9F70D-476B-4A91-D61A-4B09EE4C1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CCB79-F0FA-38AD-38B0-518893E4E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58103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Groups and Teams : Dynamics of Group Formation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DDF9EA-31AE-7E4E-036C-87DFD040E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7609" y="1520927"/>
            <a:ext cx="10332986" cy="4449567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993929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17E9E-2B2B-0107-FD45-DB3A8CC1F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23796-3328-BA63-2C68-D6E26C7EF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58103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Groups and Teams : Dynamics of Group Formation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D5E9E-520F-264C-FECB-F169964D2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521" y="871369"/>
            <a:ext cx="11053279" cy="5305594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>
                <a:latin typeface="Bookman Old Style" panose="02050604050505020204" pitchFamily="18" charset="0"/>
              </a:rPr>
              <a:t>3. </a:t>
            </a:r>
            <a:r>
              <a:rPr lang="en-IN" sz="2400" b="1" dirty="0">
                <a:latin typeface="Bookman Old Style" panose="02050604050505020204" pitchFamily="18" charset="0"/>
              </a:rPr>
              <a:t>Exchange Theory : </a:t>
            </a:r>
            <a:r>
              <a:rPr lang="en-IN" sz="2400" dirty="0">
                <a:latin typeface="Bookman Old Style" panose="02050604050505020204" pitchFamily="18" charset="0"/>
              </a:rPr>
              <a:t>B</a:t>
            </a:r>
            <a:r>
              <a:rPr lang="en-US" sz="2400" dirty="0" err="1">
                <a:latin typeface="Bookman Old Style" panose="02050604050505020204" pitchFamily="18" charset="0"/>
              </a:rPr>
              <a:t>ased</a:t>
            </a:r>
            <a:r>
              <a:rPr lang="en-US" sz="2400" dirty="0">
                <a:latin typeface="Bookman Old Style" panose="02050604050505020204" pitchFamily="18" charset="0"/>
              </a:rPr>
              <a:t> on reward-cost outcomes of interaction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Bookman Old Style" panose="02050604050505020204" pitchFamily="18" charset="0"/>
              </a:rPr>
              <a:t>A minimum positive level (rewards greater than costs) of an outcome must exist in order for attraction or affiliation to take place</a:t>
            </a:r>
          </a:p>
          <a:p>
            <a:pPr algn="just">
              <a:lnSpc>
                <a:spcPct val="150000"/>
              </a:lnSpc>
            </a:pPr>
            <a:r>
              <a:rPr lang="en-US" sz="2300" dirty="0">
                <a:latin typeface="Bookman Old Style" panose="02050604050505020204" pitchFamily="18" charset="0"/>
              </a:rPr>
              <a:t>Propinquity, interaction, and common attitudes all have roles in exchange theory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dirty="0"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endParaRPr lang="en-IN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5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090B6-77F6-5AA3-4E76-8ACB20D4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CE503-29CF-14C1-9282-DB8F0B53D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58103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Groups and Teams : </a:t>
            </a:r>
            <a:r>
              <a:rPr lang="en-US" sz="3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</a:t>
            </a:r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tages of group development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9907A-2F11-CBE8-C58D-119B4332F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521" y="871369"/>
            <a:ext cx="11053279" cy="5305594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1. Forming : </a:t>
            </a:r>
            <a:r>
              <a:rPr lang="en-US" dirty="0">
                <a:latin typeface="Bookman Old Style" panose="02050604050505020204" pitchFamily="18" charset="0"/>
              </a:rPr>
              <a:t>Initial stage is marked by uncertainty and even confusion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2. Storming: </a:t>
            </a:r>
            <a:r>
              <a:rPr lang="en-US" dirty="0">
                <a:latin typeface="Bookman Old Style" panose="02050604050505020204" pitchFamily="18" charset="0"/>
              </a:rPr>
              <a:t>Stage of development is characterized by conflict and confrontation.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3. Norming : </a:t>
            </a:r>
            <a:r>
              <a:rPr lang="en-US" dirty="0">
                <a:latin typeface="Bookman Old Style" panose="02050604050505020204" pitchFamily="18" charset="0"/>
              </a:rPr>
              <a:t>Members begin to settle into cooperation and collaboration. They have a “we” feeling with high cohesion, group identity, and camaraderie.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4. Performing : </a:t>
            </a:r>
            <a:r>
              <a:rPr lang="en-US" dirty="0">
                <a:latin typeface="Bookman Old Style" panose="02050604050505020204" pitchFamily="18" charset="0"/>
              </a:rPr>
              <a:t>Group is fully functioning and devoted to effectively accomplishing the tasks agreed on in the norming stage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5. Adjourning : </a:t>
            </a:r>
            <a:r>
              <a:rPr lang="en-US" dirty="0">
                <a:latin typeface="Bookman Old Style" panose="02050604050505020204" pitchFamily="18" charset="0"/>
              </a:rPr>
              <a:t>End of the group</a:t>
            </a:r>
          </a:p>
          <a:p>
            <a:pPr marL="0" indent="0" algn="ctr">
              <a:lnSpc>
                <a:spcPct val="170000"/>
              </a:lnSpc>
              <a:buNone/>
            </a:pPr>
            <a:r>
              <a:rPr lang="en-US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READING EXERCISE:  “PRACTICALITIES OF GROUP”</a:t>
            </a:r>
            <a:endParaRPr lang="en-IN" b="1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11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FA4C7-C0D6-4B5A-2400-FA2D512A4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ADA22-3014-9CA4-C913-ECDF43F5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58103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Groups and Teams : Types of Groups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CCFFD-70ED-9457-61FB-0BDBA5E53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521" y="871369"/>
            <a:ext cx="11053279" cy="5305594"/>
          </a:xfrm>
        </p:spPr>
        <p:txBody>
          <a:bodyPr>
            <a:normAutofit lnSpcReduction="10000"/>
          </a:bodyPr>
          <a:lstStyle/>
          <a:p>
            <a:pPr marL="457200" indent="-457200" algn="just">
              <a:lnSpc>
                <a:spcPct val="170000"/>
              </a:lnSpc>
              <a:buAutoNum type="arabicPeriod"/>
            </a:pPr>
            <a:r>
              <a:rPr lang="en-IN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Primary Groups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Small group and primary group</a:t>
            </a:r>
          </a:p>
          <a:p>
            <a:pPr algn="just">
              <a:lnSpc>
                <a:spcPct val="170000"/>
              </a:lnSpc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Small group: </a:t>
            </a:r>
            <a:r>
              <a:rPr lang="en-US" sz="2400" dirty="0">
                <a:latin typeface="Bookman Old Style" panose="02050604050505020204" pitchFamily="18" charset="0"/>
              </a:rPr>
              <a:t>Meet only the criterion of small size</a:t>
            </a:r>
          </a:p>
          <a:p>
            <a:pPr algn="just">
              <a:lnSpc>
                <a:spcPct val="170000"/>
              </a:lnSpc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Primary group: </a:t>
            </a:r>
            <a:r>
              <a:rPr lang="en-US" sz="2400" dirty="0">
                <a:latin typeface="Bookman Old Style" panose="02050604050505020204" pitchFamily="18" charset="0"/>
              </a:rPr>
              <a:t>Feeling of comradeship, loyalty, and a common sense of values</a:t>
            </a:r>
          </a:p>
          <a:p>
            <a:pPr lvl="1" algn="just">
              <a:lnSpc>
                <a:spcPct val="170000"/>
              </a:lnSpc>
            </a:pPr>
            <a:r>
              <a:rPr lang="en-US" sz="2000" dirty="0" err="1">
                <a:latin typeface="Bookman Old Style" panose="02050604050505020204" pitchFamily="18" charset="0"/>
              </a:rPr>
              <a:t>Eg</a:t>
            </a:r>
            <a:r>
              <a:rPr lang="en-US" sz="2000" dirty="0">
                <a:latin typeface="Bookman Old Style" panose="02050604050505020204" pitchFamily="18" charset="0"/>
              </a:rPr>
              <a:t>: Family and the peer group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Use the power of primary groups by organizing employees into </a:t>
            </a: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self-managed teams</a:t>
            </a:r>
          </a:p>
          <a:p>
            <a:pPr algn="just">
              <a:lnSpc>
                <a:spcPct val="170000"/>
              </a:lnSpc>
            </a:pPr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19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21745-3EC9-B33F-06CD-51A0CF50E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DD691-746F-BD08-667F-CD872768E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58103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Groups and Teams : Types of Groups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D4BA9-9A4D-9022-F15B-4CBFF7E42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521" y="763793"/>
            <a:ext cx="11053279" cy="6072692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IN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2. Coalitions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Group of individuals or groups who temporarily collaborate to achieve a common goal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1. Interacting group of individuals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2. Deliberately constructed by the members for a specific purpose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3. Independent of the formal organization’s structure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4. Lacking a formal internal structure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5. Mutual perception of membership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6. Issue-oriented to advance the purposes of the members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7. External forms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8. Concerted member action, act as a group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6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98F2-70E0-09F5-3EF4-85EA47CCD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375D6-9999-255D-0A31-69E0C89E5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58103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Groups and Teams : Types of Groups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E3799-E297-F864-7C71-39D73C9BC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521" y="785309"/>
            <a:ext cx="11053279" cy="6072692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IN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2. Other Types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Membership and reference groups</a:t>
            </a:r>
          </a:p>
          <a:p>
            <a:pPr lvl="1" algn="just"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Membership groups: Those to which the individual actually belongs</a:t>
            </a:r>
          </a:p>
          <a:p>
            <a:pPr lvl="1" algn="just"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Reference groups: Those to which an individual would like to belong</a:t>
            </a:r>
          </a:p>
          <a:p>
            <a:pPr algn="just"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In-Groups and Out-groups</a:t>
            </a:r>
          </a:p>
          <a:p>
            <a:pPr lvl="1" algn="just"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In-groups: Those who have or share the dominant values</a:t>
            </a:r>
          </a:p>
          <a:p>
            <a:pPr lvl="1" algn="just">
              <a:lnSpc>
                <a:spcPct val="170000"/>
              </a:lnSpc>
            </a:pPr>
            <a:r>
              <a:rPr lang="en-US" dirty="0">
                <a:latin typeface="Bookman Old Style" panose="02050604050505020204" pitchFamily="18" charset="0"/>
              </a:rPr>
              <a:t>Out-groups: Those on the outside looking in</a:t>
            </a:r>
          </a:p>
          <a:p>
            <a:pPr marL="457200" lvl="1" indent="0" algn="just">
              <a:lnSpc>
                <a:spcPct val="170000"/>
              </a:lnSpc>
              <a:buNone/>
            </a:pPr>
            <a:br>
              <a:rPr lang="en-US" sz="2000" dirty="0">
                <a:latin typeface="Bookman Old Style" panose="02050604050505020204" pitchFamily="18" charset="0"/>
              </a:rPr>
            </a:br>
            <a:endParaRPr lang="en-IN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58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605FB-2459-BA85-D5A2-2C54D3F1F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2B828-231F-76F6-6F2E-D1AAAA71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58103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Groups and Teams : Group Cohesiveness 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70ABD9-6568-ABBC-F521-B81472B8E1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448" y="1606297"/>
            <a:ext cx="12029103" cy="3912375"/>
          </a:xfrm>
        </p:spPr>
      </p:pic>
    </p:spTree>
    <p:extLst>
      <p:ext uri="{BB962C8B-B14F-4D97-AF65-F5344CB8AC3E}">
        <p14:creationId xmlns:p14="http://schemas.microsoft.com/office/powerpoint/2010/main" val="629594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AE792-AEC4-2D94-ABC9-A2C46E164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DB2E5-1CE7-21E0-173F-75033C8F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58103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Groups and Teams : Group/Team Effectiveness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3C14B-0BEE-7ABD-6C83-5E0C6FC92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521" y="785309"/>
            <a:ext cx="11737286" cy="607269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Following ways to use groups to enhance satisfaction and performance: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1. Organizing work around intact groups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2. Having groups charged with selection, training, and rewarding of members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3. Using groups to enforce strong norms for behavior, with group involvement in off-the  job as well as on-the-job behavior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4. Distributing resources on a group rather than an individual basis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5. Allowing and perhaps even promoting intergroup rivalry so as to build within-group solidarity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54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A1EA-799A-40C9-1DDA-E9745DA23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EEDE8-0D59-4FF7-3012-7A6CAA47D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58103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Groups and Teams : Group/Team Effectiveness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D3565A-7F19-1391-2493-3FF629C6A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521" y="785309"/>
            <a:ext cx="11737286" cy="607269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Following ways to use groups to enhance satisfaction and performance: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1. Organizing work around intact groups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2. Having groups charged with selection, training, and rewarding of members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3. Using groups to enforce strong norms for behavior, with group involvement in off-the  job as well as on-the-job behavior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4. Distributing resources on a group rather than an individual basis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5. Allowing and perhaps even promoting intergroup rivalry so as to build within-group solidarity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03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15A78-B8E8-805E-3A8A-A5FF76D1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50532-688A-F04F-EA77-18EFCED7A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15" y="158103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Groups and Teams : Group/Team Effectiveness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574A88-061D-16DF-80B5-98F6CAEC7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521" y="785309"/>
            <a:ext cx="11737286" cy="607269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2400" dirty="0">
                <a:latin typeface="Bookman Old Style" panose="02050604050505020204" pitchFamily="18" charset="0"/>
              </a:rPr>
              <a:t>Three factors that seem to play the major role in determining group effectiveness: </a:t>
            </a:r>
          </a:p>
          <a:p>
            <a:pPr marL="457200" indent="-457200" algn="just">
              <a:lnSpc>
                <a:spcPct val="170000"/>
              </a:lnSpc>
              <a:buAutoNum type="arabicParenBoth"/>
            </a:pPr>
            <a:r>
              <a:rPr lang="en-US" sz="2400" dirty="0">
                <a:latin typeface="Bookman Old Style" panose="02050604050505020204" pitchFamily="18" charset="0"/>
              </a:rPr>
              <a:t>Task interdependence (how closely group members work together); </a:t>
            </a:r>
          </a:p>
          <a:p>
            <a:pPr marL="457200" indent="-457200" algn="just">
              <a:lnSpc>
                <a:spcPct val="170000"/>
              </a:lnSpc>
              <a:buAutoNum type="arabicParenBoth"/>
            </a:pPr>
            <a:r>
              <a:rPr lang="en-US" sz="2400" dirty="0">
                <a:latin typeface="Bookman Old Style" panose="02050604050505020204" pitchFamily="18" charset="0"/>
              </a:rPr>
              <a:t>Outcome interdependence (whether and how group performance is rewarded); </a:t>
            </a:r>
          </a:p>
          <a:p>
            <a:pPr marL="457200" indent="-457200" algn="just">
              <a:lnSpc>
                <a:spcPct val="170000"/>
              </a:lnSpc>
              <a:buAutoNum type="arabicParenBoth"/>
            </a:pPr>
            <a:r>
              <a:rPr lang="en-US" sz="2400" dirty="0">
                <a:latin typeface="Bookman Old Style" panose="02050604050505020204" pitchFamily="18" charset="0"/>
              </a:rPr>
              <a:t>Potency (members’ belief that the group can be effective)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8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564E4-5995-0CE6-89CF-68D139EEF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D0F9A-5DA1-DBE5-E59A-E822FCF66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2" y="-100080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Dynamics of Informal Groups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5E76D4-82FC-04BD-38B7-15ADE015C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42" y="408791"/>
            <a:ext cx="12008716" cy="6449210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Formal group has officially prescribed goals and relationships, whereas the informal one does not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Smallest units of analysis in group dynamics are </a:t>
            </a: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norms and roles</a:t>
            </a:r>
          </a:p>
          <a:p>
            <a:pPr algn="just">
              <a:lnSpc>
                <a:spcPct val="170000"/>
              </a:lnSpc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Norms will be strongly enforced by work groups </a:t>
            </a:r>
            <a:r>
              <a:rPr lang="en-US" sz="2400" dirty="0">
                <a:latin typeface="Bookman Old Style" panose="02050604050505020204" pitchFamily="18" charset="0"/>
              </a:rPr>
              <a:t>if they: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1. Aid in group survival and provision of benefits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2. Simplify or make predictable the behavior expected of group members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3. Help the group avoid embarrassing interpersonal problems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4. Express the central values or goals of the group and clarify what is distinctive about the group’s identity</a:t>
            </a:r>
          </a:p>
          <a:p>
            <a:pPr algn="just">
              <a:lnSpc>
                <a:spcPct val="170000"/>
              </a:lnSpc>
            </a:pPr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38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11FD4-2FD0-E6B2-1654-214093A03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B7CC-FFEE-2014-A3C7-138BD73A1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2" y="-100080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Dynamics of Informal Groups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717700-7D88-98D9-A401-0BF0E1BA0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42" y="408791"/>
            <a:ext cx="12008716" cy="644921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Role : Position that can be acted out by an individual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Some informal roles found in work groups include the following: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1. Boundary spanner : </a:t>
            </a:r>
            <a:r>
              <a:rPr lang="en-US" sz="2400" dirty="0">
                <a:latin typeface="Bookman Old Style" panose="02050604050505020204" pitchFamily="18" charset="0"/>
              </a:rPr>
              <a:t>Acts as a facilitator and bridge between units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2. Buffer: </a:t>
            </a:r>
            <a:r>
              <a:rPr lang="en-US" sz="2400" dirty="0">
                <a:latin typeface="Bookman Old Style" panose="02050604050505020204" pitchFamily="18" charset="0"/>
              </a:rPr>
              <a:t>Protects and filters negative or disappointing news or information that might cause group members to be upset and cause morale to suffer.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3. Lobbyist: </a:t>
            </a:r>
            <a:r>
              <a:rPr lang="en-US" sz="2400" dirty="0">
                <a:latin typeface="Bookman Old Style" panose="02050604050505020204" pitchFamily="18" charset="0"/>
              </a:rPr>
              <a:t>Promotes and tells others how successful and important the group is to outsiders.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4. Negotiator: </a:t>
            </a:r>
            <a:r>
              <a:rPr lang="en-US" sz="2400" dirty="0">
                <a:latin typeface="Bookman Old Style" panose="02050604050505020204" pitchFamily="18" charset="0"/>
              </a:rPr>
              <a:t>Empowered by the group to act on its behalf to get resources and make deals.</a:t>
            </a:r>
          </a:p>
          <a:p>
            <a:pPr algn="just">
              <a:lnSpc>
                <a:spcPct val="17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5. </a:t>
            </a: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Spokesperson: </a:t>
            </a:r>
            <a:r>
              <a:rPr lang="en-US" sz="2400" dirty="0">
                <a:latin typeface="Bookman Old Style" panose="02050604050505020204" pitchFamily="18" charset="0"/>
              </a:rPr>
              <a:t> Voice of the group</a:t>
            </a:r>
            <a:endParaRPr lang="en-IN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71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45BC7-9CCD-619D-4D54-03D2A7265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6C909-9E4E-91CF-B438-E2EB89955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2" y="158102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Dynamics of Informal Groups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3C0DC-E361-E574-3307-B79CB391B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42" y="785307"/>
            <a:ext cx="12008716" cy="607269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Practical benefits that can be derived from the informal organization: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1. Makes for a more </a:t>
            </a: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effective</a:t>
            </a:r>
            <a:r>
              <a:rPr lang="en-US" sz="2400" dirty="0">
                <a:latin typeface="Bookman Old Style" panose="02050604050505020204" pitchFamily="18" charset="0"/>
              </a:rPr>
              <a:t> total system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2. </a:t>
            </a: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Lightens the workload </a:t>
            </a:r>
            <a:r>
              <a:rPr lang="en-US" sz="2400" dirty="0">
                <a:latin typeface="Bookman Old Style" panose="02050604050505020204" pitchFamily="18" charset="0"/>
              </a:rPr>
              <a:t>on management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3. </a:t>
            </a: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Fills in gaps </a:t>
            </a:r>
            <a:r>
              <a:rPr lang="en-US" sz="2400" dirty="0">
                <a:latin typeface="Bookman Old Style" panose="02050604050505020204" pitchFamily="18" charset="0"/>
              </a:rPr>
              <a:t>in a manager’s abilities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4. Provides a </a:t>
            </a: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safety valve </a:t>
            </a:r>
            <a:r>
              <a:rPr lang="en-US" sz="2400" dirty="0">
                <a:latin typeface="Bookman Old Style" panose="02050604050505020204" pitchFamily="18" charset="0"/>
              </a:rPr>
              <a:t>for employee emotions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5. </a:t>
            </a:r>
            <a:r>
              <a:rPr lang="en-US" sz="24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Improves communication</a:t>
            </a:r>
            <a:endParaRPr lang="en-IN" sz="2400" b="1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54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BFDB2-3635-F8DF-802F-8F9CDB92D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937C-7CDD-C9CF-EDDB-FF75A99AB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2" y="158102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Dysfunctions of Groups and Teams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366AD-4F1D-FF3A-583C-18B7DF52A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42" y="785307"/>
            <a:ext cx="12008716" cy="6072693"/>
          </a:xfrm>
        </p:spPr>
        <p:txBody>
          <a:bodyPr>
            <a:noAutofit/>
          </a:bodyPr>
          <a:lstStyle/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Norm Violation and Role Ambiguity/Conflict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Group norms that are violated can result in antisocial behaviors.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At the extreme, these include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Sexual harassment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Theft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Lying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Spreading rumors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Withholding effort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Absenteeism</a:t>
            </a:r>
            <a:endParaRPr lang="en-IN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22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E5A5D-80A1-8234-3539-D0931030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F49B-1DF7-1388-79AD-EE21FE75B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2" y="158102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Dysfunctions of Groups and Teams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27C7-3A57-BD1A-473D-1FA3CFDD9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42" y="785307"/>
            <a:ext cx="12008716" cy="6072693"/>
          </a:xfrm>
        </p:spPr>
        <p:txBody>
          <a:bodyPr>
            <a:noAutofit/>
          </a:bodyPr>
          <a:lstStyle/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b="1" dirty="0">
                <a:highlight>
                  <a:srgbClr val="FFFF00"/>
                </a:highlight>
              </a:rPr>
              <a:t>Norm Violation and Role Ambiguity/Conflict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Role ambiguity: “Doesn’t know what he’s supposed to be doing”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Unclear job descriptions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Incomplete orders given by a manager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Inexperience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Role conflict occurs when the employee or team member is: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Asked to perform conflicting tasks or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Required to perform a task that conflicts with his or her own personal values</a:t>
            </a:r>
            <a:endParaRPr lang="en-IN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818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84A0B-E192-6759-CCE0-F538096A1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1A83-A596-9445-6556-AC0162DED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2" y="158102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Dysfunctions of Groups and Teams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ECA962-611E-3350-CA21-9C6FF3D09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42" y="785307"/>
            <a:ext cx="12008716" cy="607269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2. The Groupthink, Conformity Problem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Group Think: </a:t>
            </a:r>
            <a:r>
              <a:rPr lang="en-US" sz="2000" dirty="0">
                <a:latin typeface="Bookman Old Style" panose="02050604050505020204" pitchFamily="18" charset="0"/>
              </a:rPr>
              <a:t>Deterioration of mental efficiency, reality testing, and moral judgment that results from in group pressures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Groupthink results from the pressures on individual members to conform and reach consensus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000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37D08E-0616-503E-6F6F-7A1E31676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09" y="3585781"/>
            <a:ext cx="11205275" cy="326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835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73C8E-53B4-5889-06EB-363D82039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A8CB7-A6BC-CD1E-9B06-B58DAD03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2" y="158102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Dysfunctions of Groups and Teams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E2863-54E2-8481-EBEC-0B8060AE3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42" y="785307"/>
            <a:ext cx="12008716" cy="607269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3. Risky Shift Phenomenon : </a:t>
            </a:r>
            <a:r>
              <a:rPr lang="en-US" sz="2000" b="1" dirty="0">
                <a:latin typeface="Bookman Old Style" panose="02050604050505020204" pitchFamily="18" charset="0"/>
              </a:rPr>
              <a:t> </a:t>
            </a:r>
            <a:r>
              <a:rPr lang="en-US" sz="2000" dirty="0">
                <a:latin typeface="Bookman Old Style" panose="02050604050505020204" pitchFamily="18" charset="0"/>
              </a:rPr>
              <a:t>A group may make more risky decisions than the individual members would on their own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1" dirty="0">
                <a:highlight>
                  <a:srgbClr val="FFFF00"/>
                </a:highlight>
                <a:latin typeface="Bookman Old Style" panose="02050604050505020204" pitchFamily="18" charset="0"/>
              </a:rPr>
              <a:t>4. Social Loafing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When members reduce their effort and performance levels when acting as part of a group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Primary causes include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Lack of performance feedback within the group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Tasks that are not intrinsically motivating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Situations in which the performances of others will cover for the reduced effort given by some members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“Sucker effect” of not wanting to do more than the perception of effort being given by others</a:t>
            </a:r>
            <a:endParaRPr lang="en-US" sz="2000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68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DF025-1886-3A13-1C90-65A3674FB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EB88-55AC-6E8B-1E9A-D5DBB24F8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2" y="158102"/>
            <a:ext cx="11053279" cy="627205"/>
          </a:xfrm>
        </p:spPr>
        <p:txBody>
          <a:bodyPr>
            <a:normAutofit fontScale="90000"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Work Teams: Difference between Work group and Teams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69C0B-E461-7BE8-1A3B-9AA61C07D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41" y="785307"/>
            <a:ext cx="12100359" cy="607269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Bookman Old Style" panose="02050604050505020204" pitchFamily="18" charset="0"/>
              </a:rPr>
              <a:t>1. The work group has a strong, clearly focused leader; the team has shared leadership roles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Bookman Old Style" panose="02050604050505020204" pitchFamily="18" charset="0"/>
              </a:rPr>
              <a:t>2. The work group has individual accountability; the team has individual and mutual accountability.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Bookman Old Style" panose="02050604050505020204" pitchFamily="18" charset="0"/>
              </a:rPr>
              <a:t>3. The work group’s purpose is the same as the organization’s; the team has a specific purpose.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Bookman Old Style" panose="02050604050505020204" pitchFamily="18" charset="0"/>
              </a:rPr>
              <a:t>4. The work group has individual work-products; the team has collective work-products.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Bookman Old Style" panose="02050604050505020204" pitchFamily="18" charset="0"/>
              </a:rPr>
              <a:t>5. The work group runs efficient meetings; the team encourages open-ended, active problem solving meetings.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Bookman Old Style" panose="02050604050505020204" pitchFamily="18" charset="0"/>
              </a:rPr>
              <a:t>6. The work group measures effectiveness indirectly, the team measures performance directly by assessing collective work-products.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Bookman Old Style" panose="02050604050505020204" pitchFamily="18" charset="0"/>
              </a:rPr>
              <a:t>7. The work group discusses, decides, and delegates; the team discusses, decides, and does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Bookman Old Style" panose="02050604050505020204" pitchFamily="18" charset="0"/>
              </a:rPr>
              <a:t>real work</a:t>
            </a:r>
            <a:endParaRPr lang="en-US" sz="2000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16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1AA6D-B752-DF3F-C1D2-11A090DA2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C0222-F3F5-5B39-EFB0-0CEA0EB9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2" y="158102"/>
            <a:ext cx="11053279" cy="6272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Work Teams: Cross-Functional Teams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57549-ECE5-52C3-1C57-7DEE46ED9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41" y="785307"/>
            <a:ext cx="12100359" cy="607269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Teams made up of individuals from various departments or functional </a:t>
            </a:r>
            <a:r>
              <a:rPr lang="en-US" sz="2000" dirty="0" err="1">
                <a:latin typeface="Bookman Old Style" panose="02050604050505020204" pitchFamily="18" charset="0"/>
              </a:rPr>
              <a:t>specialities</a:t>
            </a:r>
            <a:endParaRPr lang="en-US" sz="2000" dirty="0">
              <a:latin typeface="Bookman Old Style" panose="0205060405050502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Improve productivity by establishing cross-functional teams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To improve coordination with cross-functional teams, organizations can carry out five steps.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Bookman Old Style" panose="02050604050505020204" pitchFamily="18" charset="0"/>
              </a:rPr>
              <a:t>	(1) choosing the membership carefully,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Bookman Old Style" panose="02050604050505020204" pitchFamily="18" charset="0"/>
              </a:rPr>
              <a:t>	(2) clearly establishing the purpose of the team,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Bookman Old Style" panose="02050604050505020204" pitchFamily="18" charset="0"/>
              </a:rPr>
              <a:t>	(3) ensuring that everyone understands how the group will function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Bookman Old Style" panose="02050604050505020204" pitchFamily="18" charset="0"/>
              </a:rPr>
              <a:t>	(4) conducting intensive team building up front so that everyone learns how to interact 	effectively,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Bookman Old Style" panose="02050604050505020204" pitchFamily="18" charset="0"/>
              </a:rPr>
              <a:t>	(5) achieving noticeable results so that morale remains high and the members can see 		the impact of their efforts</a:t>
            </a:r>
            <a:endParaRPr lang="en-US" sz="2000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CC14F-5954-C9C8-CB25-78D8309F6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0C16-D3F8-445A-BB88-CA85FFE21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1" y="95187"/>
            <a:ext cx="11053279" cy="347507"/>
          </a:xfrm>
        </p:spPr>
        <p:txBody>
          <a:bodyPr>
            <a:normAutofit fontScale="90000"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Work Teams: Virtual Teams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3F9D2-4D48-CC02-3014-2D6CF375A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41" y="442695"/>
            <a:ext cx="12100359" cy="641530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Groups be made up of members in face-to-face interaction is no longer necessary</a:t>
            </a:r>
          </a:p>
          <a:p>
            <a:pPr lvl="1"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Advanced information technology</a:t>
            </a:r>
          </a:p>
          <a:p>
            <a:pPr lvl="1"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Increasing globalization</a:t>
            </a:r>
          </a:p>
          <a:p>
            <a:pPr lvl="1"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Need for speed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Communicate at a distance through electronic means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Members performing knowledge-based tasks in remote locations can become members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“Virtual teams are groups of people who work interdependently with shared purpose across space, time, and organization boundaries using technology to communicate and collaborate”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Synchronous Technology Vs Asynchronous technology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n-US" sz="2200" dirty="0">
                <a:latin typeface="Bookman Old Style" panose="02050604050505020204" pitchFamily="18" charset="0"/>
              </a:rPr>
            </a:br>
            <a:endParaRPr lang="en-US" sz="2200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17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0F82B-4EDA-A3DC-6731-FD0129B3E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56AD1-ADE1-E1A6-023D-7ED48D32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1" y="95187"/>
            <a:ext cx="11053279" cy="347507"/>
          </a:xfrm>
        </p:spPr>
        <p:txBody>
          <a:bodyPr>
            <a:normAutofit fontScale="90000"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Work Teams: Self Managed Teams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88AB42-12BE-9C62-BF9F-4508BDA36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442695"/>
            <a:ext cx="12192000" cy="641530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Teams are being set up or are evolving into being self-managed as part of the empowerment movement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“Group of employees who are responsible for managing &amp; performing technical tasks that result in product/service being delivered to an internal/external customer.”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Individual problems included the following: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1. Team members aren’t willing to give up past practices or set aside power and position.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2. Not all team members have the ability, knowledge, or skill to contribute to the group.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3. As team members, workers often face conflicts or challenges to their own personal beliefs. </a:t>
            </a:r>
            <a:endParaRPr lang="en-US" sz="2200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9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9B8F-9598-492C-83AC-640C3C89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6EE6-CFD0-BDC1-CBAF-3ADB2C06D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1" y="95187"/>
            <a:ext cx="11053279" cy="9483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Work Teams: Improve the effectiveness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F32459-A25B-284C-9D2E-EC644E159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761" y="1301675"/>
            <a:ext cx="11471239" cy="5556326"/>
          </a:xfrm>
        </p:spPr>
        <p:txBody>
          <a:bodyPr>
            <a:noAutofit/>
          </a:bodyPr>
          <a:lstStyle/>
          <a:p>
            <a:pPr marL="514350" indent="-514350" algn="just">
              <a:lnSpc>
                <a:spcPct val="150000"/>
              </a:lnSpc>
              <a:buAutoNum type="arabicParenBoth"/>
            </a:pPr>
            <a:r>
              <a:rPr lang="en-US" dirty="0"/>
              <a:t>Team building</a:t>
            </a:r>
          </a:p>
          <a:p>
            <a:pPr marL="514350" indent="-514350" algn="just">
              <a:lnSpc>
                <a:spcPct val="150000"/>
              </a:lnSpc>
              <a:buAutoNum type="arabicParenBoth"/>
            </a:pPr>
            <a:r>
              <a:rPr lang="en-US" dirty="0"/>
              <a:t>Collaboration</a:t>
            </a:r>
          </a:p>
          <a:p>
            <a:pPr marL="514350" indent="-514350" algn="just">
              <a:lnSpc>
                <a:spcPct val="150000"/>
              </a:lnSpc>
              <a:buAutoNum type="arabicParenBoth"/>
            </a:pPr>
            <a:r>
              <a:rPr lang="en-US" dirty="0"/>
              <a:t>Leadership</a:t>
            </a:r>
          </a:p>
          <a:p>
            <a:pPr marL="514350" indent="-514350" algn="just">
              <a:lnSpc>
                <a:spcPct val="150000"/>
              </a:lnSpc>
              <a:buAutoNum type="arabicParenBoth"/>
            </a:pPr>
            <a:r>
              <a:rPr lang="en-US" dirty="0"/>
              <a:t>Understanding of cultural issues in global situations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400" dirty="0"/>
              <a:t> </a:t>
            </a:r>
            <a:br>
              <a:rPr lang="en-US" sz="2400" dirty="0"/>
            </a:br>
            <a:endParaRPr lang="en-US" sz="2200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35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6FBFC-6A1C-592C-9625-20556F6A1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E824-B6E4-40B4-5AB9-290DFC7A8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1" y="95187"/>
            <a:ext cx="11053279" cy="9483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Work Teams: Team Building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74042-782E-6B8D-952C-5C648C15B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909" y="688489"/>
            <a:ext cx="11471239" cy="607432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Work groups require time and training before they develop into productive and cohesive units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Effective team building establishes a sense of ownership and partnership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Allows members to see the team as a unit and as an attractive work arrangement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Team building succeeds when individuals share collective intelligence and experience a sense of empowerment and engagement.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Team building involves rapid learning, which takes place when there is a free-flowing generation of ideas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Bookman Old Style" panose="02050604050505020204" pitchFamily="18" charset="0"/>
              </a:rPr>
              <a:t>READING EXERCISE: Training Guidelines for Developing Effective Self Managed Teams</a:t>
            </a:r>
          </a:p>
        </p:txBody>
      </p:sp>
    </p:spTree>
    <p:extLst>
      <p:ext uri="{BB962C8B-B14F-4D97-AF65-F5344CB8AC3E}">
        <p14:creationId xmlns:p14="http://schemas.microsoft.com/office/powerpoint/2010/main" val="227421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EF5E9-73FB-436C-4777-C4BE86D14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E0C5-103B-6A31-3531-4FBAA6350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1" y="95187"/>
            <a:ext cx="11053279" cy="9483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Work Teams: Team Building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5C3E4-4082-509F-3C14-A1BB70972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909" y="688489"/>
            <a:ext cx="11471239" cy="607432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Five key areas that should be monitored and measured include:</a:t>
            </a:r>
          </a:p>
          <a:p>
            <a:pPr marL="457200" indent="-457200" algn="just">
              <a:lnSpc>
                <a:spcPct val="150000"/>
              </a:lnSpc>
              <a:buAutoNum type="arabicParenBoth"/>
            </a:pPr>
            <a:r>
              <a:rPr lang="en-US" sz="2200" dirty="0">
                <a:latin typeface="Bookman Old Style" panose="02050604050505020204" pitchFamily="18" charset="0"/>
              </a:rPr>
              <a:t>The team’s mission, </a:t>
            </a:r>
          </a:p>
          <a:p>
            <a:pPr marL="457200" indent="-457200" algn="just">
              <a:lnSpc>
                <a:spcPct val="150000"/>
              </a:lnSpc>
              <a:buAutoNum type="arabicParenBoth"/>
            </a:pPr>
            <a:r>
              <a:rPr lang="en-US" sz="2200" dirty="0">
                <a:latin typeface="Bookman Old Style" panose="02050604050505020204" pitchFamily="18" charset="0"/>
              </a:rPr>
              <a:t>Goal achievements, </a:t>
            </a:r>
          </a:p>
          <a:p>
            <a:pPr marL="457200" indent="-457200" algn="just">
              <a:lnSpc>
                <a:spcPct val="150000"/>
              </a:lnSpc>
              <a:buAutoNum type="arabicParenBoth"/>
            </a:pPr>
            <a:r>
              <a:rPr lang="en-US" sz="2200" dirty="0">
                <a:latin typeface="Bookman Old Style" panose="02050604050505020204" pitchFamily="18" charset="0"/>
              </a:rPr>
              <a:t>Feelings of empowerment, </a:t>
            </a:r>
          </a:p>
          <a:p>
            <a:pPr marL="457200" indent="-457200" algn="just">
              <a:lnSpc>
                <a:spcPct val="150000"/>
              </a:lnSpc>
              <a:buAutoNum type="arabicParenBoth"/>
            </a:pPr>
            <a:r>
              <a:rPr lang="en-US" sz="2200" dirty="0">
                <a:latin typeface="Bookman Old Style" panose="02050604050505020204" pitchFamily="18" charset="0"/>
              </a:rPr>
              <a:t>Communications,</a:t>
            </a:r>
          </a:p>
          <a:p>
            <a:pPr marL="457200" indent="-457200" algn="just">
              <a:lnSpc>
                <a:spcPct val="150000"/>
              </a:lnSpc>
              <a:buAutoNum type="arabicParenBoth"/>
            </a:pPr>
            <a:r>
              <a:rPr lang="en-US" sz="2200" dirty="0">
                <a:latin typeface="Bookman Old Style" panose="02050604050505020204" pitchFamily="18" charset="0"/>
              </a:rPr>
              <a:t>Roles and norms that are positive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Members should be emotionally intelligent, rather than just have raw intelligence (i.e., IQ)</a:t>
            </a:r>
            <a:endParaRPr lang="en-US" sz="2200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46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03E96-1957-C8FD-AE7A-02CA599FF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C85A-E9B1-6C06-EFED-7D872DC2E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1" y="95187"/>
            <a:ext cx="11053279" cy="94830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Work Teams: Collaboration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7836A-5E33-E36A-9AFB-350EE7553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909" y="817581"/>
            <a:ext cx="11471239" cy="594523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Effective group leaders do not act alone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Assemble a group of highly talented people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Figure out how to get the most creative efforts out of everyone by effectively organizing them collaborative efforts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Computer “open-source” operating system Linux and the also free Web browser Firefox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Developed by essentially a voluntary, self organizing community of thousands of programmers and companies</a:t>
            </a:r>
            <a:endParaRPr lang="en-US" sz="2200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982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B57C2-3D81-D596-24F7-10FA231F6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7A90-806F-E16B-A6EE-9B82FF7B3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1" y="95187"/>
            <a:ext cx="11053279" cy="80845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Work Teams: Group Leadership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BA840-C3BE-8BFB-0D8D-4DCDB137F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909" y="817581"/>
            <a:ext cx="11874450" cy="594523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Two key ways in which leaders may affect performance of groups: </a:t>
            </a:r>
          </a:p>
          <a:p>
            <a:pPr lvl="1"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How they select members </a:t>
            </a:r>
          </a:p>
          <a:p>
            <a:pPr lvl="1"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The tactics they use to affect those members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Team leaders engaged to foster team effectiveness</a:t>
            </a:r>
          </a:p>
          <a:p>
            <a:pPr lvl="1"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Structuring the team and establishing its purposes</a:t>
            </a:r>
          </a:p>
          <a:p>
            <a:pPr lvl="1"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Arranging for the resources a team needs for its work </a:t>
            </a:r>
          </a:p>
          <a:p>
            <a:pPr lvl="1"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Removing organizational roadblocks </a:t>
            </a:r>
          </a:p>
          <a:p>
            <a:pPr lvl="1"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Helping individual members strengthen their personal contributions </a:t>
            </a:r>
          </a:p>
          <a:p>
            <a:pPr lvl="1" algn="just">
              <a:lnSpc>
                <a:spcPct val="150000"/>
              </a:lnSpc>
            </a:pPr>
            <a:r>
              <a:rPr lang="en-US" sz="2200" dirty="0">
                <a:latin typeface="Bookman Old Style" panose="02050604050505020204" pitchFamily="18" charset="0"/>
              </a:rPr>
              <a:t>Working with the team as a whole to help members use their collective resources</a:t>
            </a:r>
          </a:p>
        </p:txBody>
      </p:sp>
    </p:spTree>
    <p:extLst>
      <p:ext uri="{BB962C8B-B14F-4D97-AF65-F5344CB8AC3E}">
        <p14:creationId xmlns:p14="http://schemas.microsoft.com/office/powerpoint/2010/main" val="96729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6037-69C7-2B2C-4DE9-80CBCB0A8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146E3-C776-A597-147E-A35F28BD0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1" y="95187"/>
            <a:ext cx="11053279" cy="80845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Work Teams: Group Leadership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4FD5B-ACAC-AD79-04ED-6DE41F6D3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909" y="817581"/>
            <a:ext cx="11874450" cy="594523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Effective leaders know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How to teach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How to share the glory by acknowledging group success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How to gain the trust of their team members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When team leaders exhibit positivity, their members tended to be more positive</a:t>
            </a:r>
            <a:endParaRPr lang="en-US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79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6140E-7C35-B765-65C2-63043E87A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7567D-245A-87D5-FC58-47D39E16B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1" y="95187"/>
            <a:ext cx="11053279" cy="808455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Bookman Old Style" panose="02050604050505020204" pitchFamily="18" charset="0"/>
              </a:rPr>
              <a:t>Work Teams: Cultural/Global issues</a:t>
            </a:r>
            <a:endParaRPr lang="en-US" sz="3200" b="1" u="none" strike="noStrike" baseline="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5F7A4-EB55-F774-B7C7-6CB403BCE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909" y="688489"/>
            <a:ext cx="11874450" cy="607432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Global teams operating in a multicultural environment is inevitable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Certain cultural values lead to resistance to teams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Homogenous and highly heterogeneous teams outperformed moderately heterogeneous groups in the long run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Bookman Old Style" panose="02050604050505020204" pitchFamily="18" charset="0"/>
              </a:rPr>
              <a:t>Guidelines would include: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Careful selection of team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Adapting to each culture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Changing implementation of teams for each culture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Respecting local laws </a:t>
            </a: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Bookman Old Style" panose="02050604050505020204" pitchFamily="18" charset="0"/>
              </a:rPr>
              <a:t>Shared perceptions of procedural justice </a:t>
            </a:r>
            <a:endParaRPr lang="en-US" dirty="0">
              <a:highlight>
                <a:srgbClr val="FFFF00"/>
              </a:highligh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12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3E283-2AA1-A46B-B2FA-589F5DB26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665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solidFill>
                  <a:srgbClr val="FF0000"/>
                </a:solidFill>
                <a:highlight>
                  <a:srgbClr val="FFFF00"/>
                </a:highlight>
                <a:latin typeface="Bookman Old Style" panose="020506040505050202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26061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5468</TotalTime>
  <Words>3455</Words>
  <Application>Microsoft Office PowerPoint</Application>
  <PresentationFormat>Widescreen</PresentationFormat>
  <Paragraphs>393</Paragraphs>
  <Slides>58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Arial</vt:lpstr>
      <vt:lpstr>Bookman Old Style</vt:lpstr>
      <vt:lpstr>Calibri</vt:lpstr>
      <vt:lpstr>Calibri Light</vt:lpstr>
      <vt:lpstr>Times New Roman</vt:lpstr>
      <vt:lpstr>Wingdings</vt:lpstr>
      <vt:lpstr>Office Theme</vt:lpstr>
      <vt:lpstr>Module IV</vt:lpstr>
      <vt:lpstr>Syllabus</vt:lpstr>
      <vt:lpstr>Meaning of Power</vt:lpstr>
      <vt:lpstr>Power, Influence and Authority</vt:lpstr>
      <vt:lpstr>Types of Power : French and Raven</vt:lpstr>
      <vt:lpstr>Types of Power : Reward Power</vt:lpstr>
      <vt:lpstr>Types of Power : Reward Power</vt:lpstr>
      <vt:lpstr>Types of Power : Coercive Power</vt:lpstr>
      <vt:lpstr>Types of Power : Legitimate Power</vt:lpstr>
      <vt:lpstr>Types of Power : Legitimate Power</vt:lpstr>
      <vt:lpstr>Types of Power : Referent Power</vt:lpstr>
      <vt:lpstr>Types of Power : Expert Power</vt:lpstr>
      <vt:lpstr>Types of Power : Expert Power</vt:lpstr>
      <vt:lpstr>Types of Power</vt:lpstr>
      <vt:lpstr>Contingency Approaches to Power</vt:lpstr>
      <vt:lpstr>Contingency Approaches to Power</vt:lpstr>
      <vt:lpstr>Influenceability of the Targets of Power</vt:lpstr>
      <vt:lpstr>An Overall Contingency Model for Power</vt:lpstr>
      <vt:lpstr>The Two Faces of Power</vt:lpstr>
      <vt:lpstr>Empowerment</vt:lpstr>
      <vt:lpstr>Complexity of Empowerment</vt:lpstr>
      <vt:lpstr>Putting Empowerment into Action</vt:lpstr>
      <vt:lpstr>Political Perspective of Power in Organizations</vt:lpstr>
      <vt:lpstr>Political Perspective of Power in Organizations</vt:lpstr>
      <vt:lpstr>Specific Political Strategies for Power Acquisition</vt:lpstr>
      <vt:lpstr>    Political Tactics:</vt:lpstr>
      <vt:lpstr>DuBrin’s list of political strategies </vt:lpstr>
      <vt:lpstr>Groups and Teams : Meaning of Group</vt:lpstr>
      <vt:lpstr>Groups and Teams : Dynamics of Group Formation</vt:lpstr>
      <vt:lpstr>Groups and Teams : Dynamics of Group Formation</vt:lpstr>
      <vt:lpstr>Groups and Teams : Dynamics of Group Formation</vt:lpstr>
      <vt:lpstr>Groups and Teams : Stages of group development</vt:lpstr>
      <vt:lpstr>Groups and Teams : Types of Groups</vt:lpstr>
      <vt:lpstr>Groups and Teams : Types of Groups</vt:lpstr>
      <vt:lpstr>Groups and Teams : Types of Groups</vt:lpstr>
      <vt:lpstr>Groups and Teams : Group Cohesiveness </vt:lpstr>
      <vt:lpstr>Groups and Teams : Group/Team Effectiveness</vt:lpstr>
      <vt:lpstr>Groups and Teams : Group/Team Effectiveness</vt:lpstr>
      <vt:lpstr>Groups and Teams : Group/Team Effectiveness</vt:lpstr>
      <vt:lpstr>Dynamics of Informal Groups</vt:lpstr>
      <vt:lpstr>Dynamics of Informal Groups</vt:lpstr>
      <vt:lpstr>Dynamics of Informal Groups</vt:lpstr>
      <vt:lpstr>Dysfunctions of Groups and Teams</vt:lpstr>
      <vt:lpstr>Dysfunctions of Groups and Teams</vt:lpstr>
      <vt:lpstr>Dysfunctions of Groups and Teams</vt:lpstr>
      <vt:lpstr>Dysfunctions of Groups and Teams</vt:lpstr>
      <vt:lpstr>Work Teams: Difference between Work group and Teams</vt:lpstr>
      <vt:lpstr>Work Teams: Cross-Functional Teams</vt:lpstr>
      <vt:lpstr>Work Teams: Virtual Teams</vt:lpstr>
      <vt:lpstr>Work Teams: Self Managed Teams</vt:lpstr>
      <vt:lpstr>Work Teams: Improve the effectiveness</vt:lpstr>
      <vt:lpstr>Work Teams: Team Building</vt:lpstr>
      <vt:lpstr>Work Teams: Team Building</vt:lpstr>
      <vt:lpstr>Work Teams: Collaboration</vt:lpstr>
      <vt:lpstr>Work Teams: Group Leadership</vt:lpstr>
      <vt:lpstr>Work Teams: Group Leadership</vt:lpstr>
      <vt:lpstr>Work Teams: Cultural/Global issues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JINI RAJU</dc:creator>
  <cp:lastModifiedBy>Bismi M</cp:lastModifiedBy>
  <cp:revision>214</cp:revision>
  <dcterms:created xsi:type="dcterms:W3CDTF">2025-01-31T05:17:05Z</dcterms:created>
  <dcterms:modified xsi:type="dcterms:W3CDTF">2025-03-23T16:30:51Z</dcterms:modified>
</cp:coreProperties>
</file>