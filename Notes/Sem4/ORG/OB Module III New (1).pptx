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59" r:id="rId5"/>
    <p:sldId id="260" r:id="rId6"/>
    <p:sldId id="313" r:id="rId7"/>
    <p:sldId id="261" r:id="rId8"/>
    <p:sldId id="263" r:id="rId9"/>
    <p:sldId id="279" r:id="rId10"/>
    <p:sldId id="264" r:id="rId11"/>
    <p:sldId id="280" r:id="rId12"/>
    <p:sldId id="265" r:id="rId13"/>
    <p:sldId id="266" r:id="rId14"/>
    <p:sldId id="267" r:id="rId15"/>
    <p:sldId id="268" r:id="rId16"/>
    <p:sldId id="270" r:id="rId17"/>
    <p:sldId id="269" r:id="rId18"/>
    <p:sldId id="271" r:id="rId19"/>
    <p:sldId id="273" r:id="rId20"/>
    <p:sldId id="274" r:id="rId21"/>
    <p:sldId id="275" r:id="rId22"/>
    <p:sldId id="277" r:id="rId23"/>
    <p:sldId id="278" r:id="rId24"/>
    <p:sldId id="281" r:id="rId25"/>
    <p:sldId id="282" r:id="rId26"/>
    <p:sldId id="283" r:id="rId27"/>
    <p:sldId id="311" r:id="rId28"/>
    <p:sldId id="312"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458" autoAdjust="0"/>
  </p:normalViewPr>
  <p:slideViewPr>
    <p:cSldViewPr snapToGrid="0">
      <p:cViewPr varScale="1">
        <p:scale>
          <a:sx n="70" d="100"/>
          <a:sy n="70" d="100"/>
        </p:scale>
        <p:origin x="116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DB3510-3D19-4883-87FC-AF9D3D624047}" type="datetimeFigureOut">
              <a:rPr lang="en-IN" smtClean="0"/>
              <a:t>13-02-2026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FD969E-D7A5-4235-B2FB-84D14147A7F9}" type="slidenum">
              <a:rPr lang="en-IN" smtClean="0"/>
              <a:t>‹#›</a:t>
            </a:fld>
            <a:endParaRPr lang="en-IN"/>
          </a:p>
        </p:txBody>
      </p:sp>
    </p:spTree>
    <p:extLst>
      <p:ext uri="{BB962C8B-B14F-4D97-AF65-F5344CB8AC3E}">
        <p14:creationId xmlns:p14="http://schemas.microsoft.com/office/powerpoint/2010/main" val="2808717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DFD969E-D7A5-4235-B2FB-84D14147A7F9}" type="slidenum">
              <a:rPr lang="en-IN" smtClean="0"/>
              <a:t>35</a:t>
            </a:fld>
            <a:endParaRPr lang="en-IN"/>
          </a:p>
        </p:txBody>
      </p:sp>
    </p:spTree>
    <p:extLst>
      <p:ext uri="{BB962C8B-B14F-4D97-AF65-F5344CB8AC3E}">
        <p14:creationId xmlns:p14="http://schemas.microsoft.com/office/powerpoint/2010/main" val="4208407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DFD969E-D7A5-4235-B2FB-84D14147A7F9}" type="slidenum">
              <a:rPr lang="en-IN" smtClean="0"/>
              <a:t>36</a:t>
            </a:fld>
            <a:endParaRPr lang="en-IN"/>
          </a:p>
        </p:txBody>
      </p:sp>
    </p:spTree>
    <p:extLst>
      <p:ext uri="{BB962C8B-B14F-4D97-AF65-F5344CB8AC3E}">
        <p14:creationId xmlns:p14="http://schemas.microsoft.com/office/powerpoint/2010/main" val="2528045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DFD969E-D7A5-4235-B2FB-84D14147A7F9}" type="slidenum">
              <a:rPr lang="en-IN" smtClean="0"/>
              <a:t>40</a:t>
            </a:fld>
            <a:endParaRPr lang="en-IN"/>
          </a:p>
        </p:txBody>
      </p:sp>
    </p:spTree>
    <p:extLst>
      <p:ext uri="{BB962C8B-B14F-4D97-AF65-F5344CB8AC3E}">
        <p14:creationId xmlns:p14="http://schemas.microsoft.com/office/powerpoint/2010/main" val="2350933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DFD969E-D7A5-4235-B2FB-84D14147A7F9}" type="slidenum">
              <a:rPr lang="en-IN" smtClean="0"/>
              <a:t>50</a:t>
            </a:fld>
            <a:endParaRPr lang="en-IN"/>
          </a:p>
        </p:txBody>
      </p:sp>
    </p:spTree>
    <p:extLst>
      <p:ext uri="{BB962C8B-B14F-4D97-AF65-F5344CB8AC3E}">
        <p14:creationId xmlns:p14="http://schemas.microsoft.com/office/powerpoint/2010/main" val="3274848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01C49-836A-7B4F-BDF4-7A07BE9A92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76B8A59-DE74-82E0-99B1-5C5C053A72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93585A3-B568-A181-1FEB-31A1EEA9DD27}"/>
              </a:ext>
            </a:extLst>
          </p:cNvPr>
          <p:cNvSpPr>
            <a:spLocks noGrp="1"/>
          </p:cNvSpPr>
          <p:nvPr>
            <p:ph type="dt" sz="half" idx="10"/>
          </p:nvPr>
        </p:nvSpPr>
        <p:spPr/>
        <p:txBody>
          <a:bodyPr/>
          <a:lstStyle/>
          <a:p>
            <a:fld id="{94D63DAF-B3DD-4634-A0FF-3CD4A6CC19A3}" type="datetimeFigureOut">
              <a:rPr lang="en-IN" smtClean="0"/>
              <a:t>13-02-2026</a:t>
            </a:fld>
            <a:endParaRPr lang="en-IN"/>
          </a:p>
        </p:txBody>
      </p:sp>
      <p:sp>
        <p:nvSpPr>
          <p:cNvPr id="5" name="Footer Placeholder 4">
            <a:extLst>
              <a:ext uri="{FF2B5EF4-FFF2-40B4-BE49-F238E27FC236}">
                <a16:creationId xmlns:a16="http://schemas.microsoft.com/office/drawing/2014/main" id="{B87D34AF-B645-4A69-79A9-0823B2D8F6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422E20-AB99-E71C-D644-718D66021958}"/>
              </a:ext>
            </a:extLst>
          </p:cNvPr>
          <p:cNvSpPr>
            <a:spLocks noGrp="1"/>
          </p:cNvSpPr>
          <p:nvPr>
            <p:ph type="sldNum" sz="quarter" idx="12"/>
          </p:nvPr>
        </p:nvSpPr>
        <p:spPr/>
        <p:txBody>
          <a:bodyPr/>
          <a:lstStyle/>
          <a:p>
            <a:fld id="{67B50637-7056-4AE1-BA12-56BD295FFFF9}" type="slidenum">
              <a:rPr lang="en-IN" smtClean="0"/>
              <a:t>‹#›</a:t>
            </a:fld>
            <a:endParaRPr lang="en-IN"/>
          </a:p>
        </p:txBody>
      </p:sp>
    </p:spTree>
    <p:extLst>
      <p:ext uri="{BB962C8B-B14F-4D97-AF65-F5344CB8AC3E}">
        <p14:creationId xmlns:p14="http://schemas.microsoft.com/office/powerpoint/2010/main" val="2940251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D69FA-7119-7A9C-4DED-BB617CFEE1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C32163-7E14-492A-576C-5B75D15CB7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B1D965-47C1-E6F5-E790-841467931AC7}"/>
              </a:ext>
            </a:extLst>
          </p:cNvPr>
          <p:cNvSpPr>
            <a:spLocks noGrp="1"/>
          </p:cNvSpPr>
          <p:nvPr>
            <p:ph type="dt" sz="half" idx="10"/>
          </p:nvPr>
        </p:nvSpPr>
        <p:spPr/>
        <p:txBody>
          <a:bodyPr/>
          <a:lstStyle/>
          <a:p>
            <a:fld id="{94D63DAF-B3DD-4634-A0FF-3CD4A6CC19A3}" type="datetimeFigureOut">
              <a:rPr lang="en-IN" smtClean="0"/>
              <a:t>13-02-2026</a:t>
            </a:fld>
            <a:endParaRPr lang="en-IN"/>
          </a:p>
        </p:txBody>
      </p:sp>
      <p:sp>
        <p:nvSpPr>
          <p:cNvPr id="5" name="Footer Placeholder 4">
            <a:extLst>
              <a:ext uri="{FF2B5EF4-FFF2-40B4-BE49-F238E27FC236}">
                <a16:creationId xmlns:a16="http://schemas.microsoft.com/office/drawing/2014/main" id="{45237F83-E2D6-F7BC-F3F0-42A20EAED6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4F599C-2D6F-EC38-57BE-B1D5A605B921}"/>
              </a:ext>
            </a:extLst>
          </p:cNvPr>
          <p:cNvSpPr>
            <a:spLocks noGrp="1"/>
          </p:cNvSpPr>
          <p:nvPr>
            <p:ph type="sldNum" sz="quarter" idx="12"/>
          </p:nvPr>
        </p:nvSpPr>
        <p:spPr/>
        <p:txBody>
          <a:bodyPr/>
          <a:lstStyle/>
          <a:p>
            <a:fld id="{67B50637-7056-4AE1-BA12-56BD295FFFF9}" type="slidenum">
              <a:rPr lang="en-IN" smtClean="0"/>
              <a:t>‹#›</a:t>
            </a:fld>
            <a:endParaRPr lang="en-IN"/>
          </a:p>
        </p:txBody>
      </p:sp>
    </p:spTree>
    <p:extLst>
      <p:ext uri="{BB962C8B-B14F-4D97-AF65-F5344CB8AC3E}">
        <p14:creationId xmlns:p14="http://schemas.microsoft.com/office/powerpoint/2010/main" val="1272116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C6FD8-4F69-5026-7124-B09F05EF86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64F3C62-6BF3-482C-1301-1E755B4561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A390C3-0EDE-AD46-1BAF-5D0757CF6E4E}"/>
              </a:ext>
            </a:extLst>
          </p:cNvPr>
          <p:cNvSpPr>
            <a:spLocks noGrp="1"/>
          </p:cNvSpPr>
          <p:nvPr>
            <p:ph type="dt" sz="half" idx="10"/>
          </p:nvPr>
        </p:nvSpPr>
        <p:spPr/>
        <p:txBody>
          <a:bodyPr/>
          <a:lstStyle/>
          <a:p>
            <a:fld id="{94D63DAF-B3DD-4634-A0FF-3CD4A6CC19A3}" type="datetimeFigureOut">
              <a:rPr lang="en-IN" smtClean="0"/>
              <a:t>13-02-2026</a:t>
            </a:fld>
            <a:endParaRPr lang="en-IN"/>
          </a:p>
        </p:txBody>
      </p:sp>
      <p:sp>
        <p:nvSpPr>
          <p:cNvPr id="5" name="Footer Placeholder 4">
            <a:extLst>
              <a:ext uri="{FF2B5EF4-FFF2-40B4-BE49-F238E27FC236}">
                <a16:creationId xmlns:a16="http://schemas.microsoft.com/office/drawing/2014/main" id="{BF62A479-1D04-586A-EA93-4585F3B39D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5E4BDC-2F7C-FDBB-AC5B-719DEE4D26C2}"/>
              </a:ext>
            </a:extLst>
          </p:cNvPr>
          <p:cNvSpPr>
            <a:spLocks noGrp="1"/>
          </p:cNvSpPr>
          <p:nvPr>
            <p:ph type="sldNum" sz="quarter" idx="12"/>
          </p:nvPr>
        </p:nvSpPr>
        <p:spPr/>
        <p:txBody>
          <a:bodyPr/>
          <a:lstStyle/>
          <a:p>
            <a:fld id="{67B50637-7056-4AE1-BA12-56BD295FFFF9}" type="slidenum">
              <a:rPr lang="en-IN" smtClean="0"/>
              <a:t>‹#›</a:t>
            </a:fld>
            <a:endParaRPr lang="en-IN"/>
          </a:p>
        </p:txBody>
      </p:sp>
    </p:spTree>
    <p:extLst>
      <p:ext uri="{BB962C8B-B14F-4D97-AF65-F5344CB8AC3E}">
        <p14:creationId xmlns:p14="http://schemas.microsoft.com/office/powerpoint/2010/main" val="486031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15DDD-86BA-0B5C-E8B7-7C428ACE73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694A2B-C5D6-37A2-3E0B-9062CB203B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3CCB89-CCBE-441C-4491-B5CC1E6B57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2F7CDD-1A01-9496-4D96-C654B191EB27}"/>
              </a:ext>
            </a:extLst>
          </p:cNvPr>
          <p:cNvSpPr>
            <a:spLocks noGrp="1"/>
          </p:cNvSpPr>
          <p:nvPr>
            <p:ph type="dt" sz="half" idx="10"/>
          </p:nvPr>
        </p:nvSpPr>
        <p:spPr/>
        <p:txBody>
          <a:bodyPr/>
          <a:lstStyle/>
          <a:p>
            <a:fld id="{94D63DAF-B3DD-4634-A0FF-3CD4A6CC19A3}" type="datetimeFigureOut">
              <a:rPr lang="en-IN" smtClean="0"/>
              <a:t>13-02-2026</a:t>
            </a:fld>
            <a:endParaRPr lang="en-IN"/>
          </a:p>
        </p:txBody>
      </p:sp>
      <p:sp>
        <p:nvSpPr>
          <p:cNvPr id="6" name="Footer Placeholder 5">
            <a:extLst>
              <a:ext uri="{FF2B5EF4-FFF2-40B4-BE49-F238E27FC236}">
                <a16:creationId xmlns:a16="http://schemas.microsoft.com/office/drawing/2014/main" id="{CD5EF0BE-0FDE-7C53-E462-E6BFDF19F4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F3FF37-D7B2-4FAD-DA97-8A01D18FBDA9}"/>
              </a:ext>
            </a:extLst>
          </p:cNvPr>
          <p:cNvSpPr>
            <a:spLocks noGrp="1"/>
          </p:cNvSpPr>
          <p:nvPr>
            <p:ph type="sldNum" sz="quarter" idx="12"/>
          </p:nvPr>
        </p:nvSpPr>
        <p:spPr/>
        <p:txBody>
          <a:bodyPr/>
          <a:lstStyle/>
          <a:p>
            <a:fld id="{67B50637-7056-4AE1-BA12-56BD295FFFF9}" type="slidenum">
              <a:rPr lang="en-IN" smtClean="0"/>
              <a:t>‹#›</a:t>
            </a:fld>
            <a:endParaRPr lang="en-IN"/>
          </a:p>
        </p:txBody>
      </p:sp>
    </p:spTree>
    <p:extLst>
      <p:ext uri="{BB962C8B-B14F-4D97-AF65-F5344CB8AC3E}">
        <p14:creationId xmlns:p14="http://schemas.microsoft.com/office/powerpoint/2010/main" val="2102047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FEF6C-9608-0CD5-7E0A-4437F5240B5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592FF9-D3EC-AE27-57A2-0C659B7710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66ED4D-2FC4-5922-9834-25C3661F33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269F9AD-FC5B-3836-4448-A6E308CEB2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532E9B-2023-6834-96DE-3FF608B5E5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193CEE3-A08D-A942-8F98-7101743675A0}"/>
              </a:ext>
            </a:extLst>
          </p:cNvPr>
          <p:cNvSpPr>
            <a:spLocks noGrp="1"/>
          </p:cNvSpPr>
          <p:nvPr>
            <p:ph type="dt" sz="half" idx="10"/>
          </p:nvPr>
        </p:nvSpPr>
        <p:spPr/>
        <p:txBody>
          <a:bodyPr/>
          <a:lstStyle/>
          <a:p>
            <a:fld id="{94D63DAF-B3DD-4634-A0FF-3CD4A6CC19A3}" type="datetimeFigureOut">
              <a:rPr lang="en-IN" smtClean="0"/>
              <a:t>13-02-2026</a:t>
            </a:fld>
            <a:endParaRPr lang="en-IN"/>
          </a:p>
        </p:txBody>
      </p:sp>
      <p:sp>
        <p:nvSpPr>
          <p:cNvPr id="8" name="Footer Placeholder 7">
            <a:extLst>
              <a:ext uri="{FF2B5EF4-FFF2-40B4-BE49-F238E27FC236}">
                <a16:creationId xmlns:a16="http://schemas.microsoft.com/office/drawing/2014/main" id="{51F00DF6-B8AD-2226-5D0D-F1C659371EE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B373CF2-5E08-4D01-DC48-DA53D30FF6FD}"/>
              </a:ext>
            </a:extLst>
          </p:cNvPr>
          <p:cNvSpPr>
            <a:spLocks noGrp="1"/>
          </p:cNvSpPr>
          <p:nvPr>
            <p:ph type="sldNum" sz="quarter" idx="12"/>
          </p:nvPr>
        </p:nvSpPr>
        <p:spPr/>
        <p:txBody>
          <a:bodyPr/>
          <a:lstStyle/>
          <a:p>
            <a:fld id="{67B50637-7056-4AE1-BA12-56BD295FFFF9}" type="slidenum">
              <a:rPr lang="en-IN" smtClean="0"/>
              <a:t>‹#›</a:t>
            </a:fld>
            <a:endParaRPr lang="en-IN"/>
          </a:p>
        </p:txBody>
      </p:sp>
    </p:spTree>
    <p:extLst>
      <p:ext uri="{BB962C8B-B14F-4D97-AF65-F5344CB8AC3E}">
        <p14:creationId xmlns:p14="http://schemas.microsoft.com/office/powerpoint/2010/main" val="851166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46E2B-AC42-E284-ADB4-F11C9B6F56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79F04B0-27E6-9EE2-7B53-204D5C351AEE}"/>
              </a:ext>
            </a:extLst>
          </p:cNvPr>
          <p:cNvSpPr>
            <a:spLocks noGrp="1"/>
          </p:cNvSpPr>
          <p:nvPr>
            <p:ph type="dt" sz="half" idx="10"/>
          </p:nvPr>
        </p:nvSpPr>
        <p:spPr/>
        <p:txBody>
          <a:bodyPr/>
          <a:lstStyle/>
          <a:p>
            <a:fld id="{94D63DAF-B3DD-4634-A0FF-3CD4A6CC19A3}" type="datetimeFigureOut">
              <a:rPr lang="en-IN" smtClean="0"/>
              <a:t>13-02-2026</a:t>
            </a:fld>
            <a:endParaRPr lang="en-IN"/>
          </a:p>
        </p:txBody>
      </p:sp>
      <p:sp>
        <p:nvSpPr>
          <p:cNvPr id="4" name="Footer Placeholder 3">
            <a:extLst>
              <a:ext uri="{FF2B5EF4-FFF2-40B4-BE49-F238E27FC236}">
                <a16:creationId xmlns:a16="http://schemas.microsoft.com/office/drawing/2014/main" id="{9073D0D2-8EB7-6601-BC9B-6D3506BBE1D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2118AC-27E3-4697-8D62-07F732F91957}"/>
              </a:ext>
            </a:extLst>
          </p:cNvPr>
          <p:cNvSpPr>
            <a:spLocks noGrp="1"/>
          </p:cNvSpPr>
          <p:nvPr>
            <p:ph type="sldNum" sz="quarter" idx="12"/>
          </p:nvPr>
        </p:nvSpPr>
        <p:spPr/>
        <p:txBody>
          <a:bodyPr/>
          <a:lstStyle/>
          <a:p>
            <a:fld id="{67B50637-7056-4AE1-BA12-56BD295FFFF9}" type="slidenum">
              <a:rPr lang="en-IN" smtClean="0"/>
              <a:t>‹#›</a:t>
            </a:fld>
            <a:endParaRPr lang="en-IN"/>
          </a:p>
        </p:txBody>
      </p:sp>
    </p:spTree>
    <p:extLst>
      <p:ext uri="{BB962C8B-B14F-4D97-AF65-F5344CB8AC3E}">
        <p14:creationId xmlns:p14="http://schemas.microsoft.com/office/powerpoint/2010/main" val="3496017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5DF396-ED85-A743-990B-179FDE5E5FAB}"/>
              </a:ext>
            </a:extLst>
          </p:cNvPr>
          <p:cNvSpPr>
            <a:spLocks noGrp="1"/>
          </p:cNvSpPr>
          <p:nvPr>
            <p:ph type="dt" sz="half" idx="10"/>
          </p:nvPr>
        </p:nvSpPr>
        <p:spPr/>
        <p:txBody>
          <a:bodyPr/>
          <a:lstStyle/>
          <a:p>
            <a:fld id="{94D63DAF-B3DD-4634-A0FF-3CD4A6CC19A3}" type="datetimeFigureOut">
              <a:rPr lang="en-IN" smtClean="0"/>
              <a:t>13-02-2026</a:t>
            </a:fld>
            <a:endParaRPr lang="en-IN"/>
          </a:p>
        </p:txBody>
      </p:sp>
      <p:sp>
        <p:nvSpPr>
          <p:cNvPr id="3" name="Footer Placeholder 2">
            <a:extLst>
              <a:ext uri="{FF2B5EF4-FFF2-40B4-BE49-F238E27FC236}">
                <a16:creationId xmlns:a16="http://schemas.microsoft.com/office/drawing/2014/main" id="{163515C0-E304-914C-2084-9DD92964E5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FB2D789-8E7D-16C5-F043-048C5522B90A}"/>
              </a:ext>
            </a:extLst>
          </p:cNvPr>
          <p:cNvSpPr>
            <a:spLocks noGrp="1"/>
          </p:cNvSpPr>
          <p:nvPr>
            <p:ph type="sldNum" sz="quarter" idx="12"/>
          </p:nvPr>
        </p:nvSpPr>
        <p:spPr/>
        <p:txBody>
          <a:bodyPr/>
          <a:lstStyle/>
          <a:p>
            <a:fld id="{67B50637-7056-4AE1-BA12-56BD295FFFF9}" type="slidenum">
              <a:rPr lang="en-IN" smtClean="0"/>
              <a:t>‹#›</a:t>
            </a:fld>
            <a:endParaRPr lang="en-IN"/>
          </a:p>
        </p:txBody>
      </p:sp>
    </p:spTree>
    <p:extLst>
      <p:ext uri="{BB962C8B-B14F-4D97-AF65-F5344CB8AC3E}">
        <p14:creationId xmlns:p14="http://schemas.microsoft.com/office/powerpoint/2010/main" val="3994853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A7F-355B-359D-E4F6-80EBED88AB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8402F58-7637-9F68-B45B-0FDB2B1B8F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7B13A88-C00A-8646-D96F-E125C2EC64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F6483-6ACE-FBA2-A5F6-7F761C6C2201}"/>
              </a:ext>
            </a:extLst>
          </p:cNvPr>
          <p:cNvSpPr>
            <a:spLocks noGrp="1"/>
          </p:cNvSpPr>
          <p:nvPr>
            <p:ph type="dt" sz="half" idx="10"/>
          </p:nvPr>
        </p:nvSpPr>
        <p:spPr/>
        <p:txBody>
          <a:bodyPr/>
          <a:lstStyle/>
          <a:p>
            <a:fld id="{94D63DAF-B3DD-4634-A0FF-3CD4A6CC19A3}" type="datetimeFigureOut">
              <a:rPr lang="en-IN" smtClean="0"/>
              <a:t>13-02-2026</a:t>
            </a:fld>
            <a:endParaRPr lang="en-IN"/>
          </a:p>
        </p:txBody>
      </p:sp>
      <p:sp>
        <p:nvSpPr>
          <p:cNvPr id="6" name="Footer Placeholder 5">
            <a:extLst>
              <a:ext uri="{FF2B5EF4-FFF2-40B4-BE49-F238E27FC236}">
                <a16:creationId xmlns:a16="http://schemas.microsoft.com/office/drawing/2014/main" id="{9A58F91F-49CE-A532-2CE8-85947B1FBA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3A3E12-6EF7-E436-3117-2E78FF62A53B}"/>
              </a:ext>
            </a:extLst>
          </p:cNvPr>
          <p:cNvSpPr>
            <a:spLocks noGrp="1"/>
          </p:cNvSpPr>
          <p:nvPr>
            <p:ph type="sldNum" sz="quarter" idx="12"/>
          </p:nvPr>
        </p:nvSpPr>
        <p:spPr/>
        <p:txBody>
          <a:bodyPr/>
          <a:lstStyle/>
          <a:p>
            <a:fld id="{67B50637-7056-4AE1-BA12-56BD295FFFF9}" type="slidenum">
              <a:rPr lang="en-IN" smtClean="0"/>
              <a:t>‹#›</a:t>
            </a:fld>
            <a:endParaRPr lang="en-IN"/>
          </a:p>
        </p:txBody>
      </p:sp>
    </p:spTree>
    <p:extLst>
      <p:ext uri="{BB962C8B-B14F-4D97-AF65-F5344CB8AC3E}">
        <p14:creationId xmlns:p14="http://schemas.microsoft.com/office/powerpoint/2010/main" val="2677823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9C315-FDA9-4BC0-7E14-DD32D68CC2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C188384-11C2-B159-306D-5179FD3E75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B3B91E7-6691-ADC7-5AE7-8271B38B21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FD0A20-465A-DB05-996A-EDFFEDDDA15C}"/>
              </a:ext>
            </a:extLst>
          </p:cNvPr>
          <p:cNvSpPr>
            <a:spLocks noGrp="1"/>
          </p:cNvSpPr>
          <p:nvPr>
            <p:ph type="dt" sz="half" idx="10"/>
          </p:nvPr>
        </p:nvSpPr>
        <p:spPr/>
        <p:txBody>
          <a:bodyPr/>
          <a:lstStyle/>
          <a:p>
            <a:fld id="{94D63DAF-B3DD-4634-A0FF-3CD4A6CC19A3}" type="datetimeFigureOut">
              <a:rPr lang="en-IN" smtClean="0"/>
              <a:t>13-02-2026</a:t>
            </a:fld>
            <a:endParaRPr lang="en-IN"/>
          </a:p>
        </p:txBody>
      </p:sp>
      <p:sp>
        <p:nvSpPr>
          <p:cNvPr id="6" name="Footer Placeholder 5">
            <a:extLst>
              <a:ext uri="{FF2B5EF4-FFF2-40B4-BE49-F238E27FC236}">
                <a16:creationId xmlns:a16="http://schemas.microsoft.com/office/drawing/2014/main" id="{818507E3-1242-6C2E-37AE-A0F4978B92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99E426-4755-36AD-A94B-6896875FE9DF}"/>
              </a:ext>
            </a:extLst>
          </p:cNvPr>
          <p:cNvSpPr>
            <a:spLocks noGrp="1"/>
          </p:cNvSpPr>
          <p:nvPr>
            <p:ph type="sldNum" sz="quarter" idx="12"/>
          </p:nvPr>
        </p:nvSpPr>
        <p:spPr/>
        <p:txBody>
          <a:bodyPr/>
          <a:lstStyle/>
          <a:p>
            <a:fld id="{67B50637-7056-4AE1-BA12-56BD295FFFF9}" type="slidenum">
              <a:rPr lang="en-IN" smtClean="0"/>
              <a:t>‹#›</a:t>
            </a:fld>
            <a:endParaRPr lang="en-IN"/>
          </a:p>
        </p:txBody>
      </p:sp>
    </p:spTree>
    <p:extLst>
      <p:ext uri="{BB962C8B-B14F-4D97-AF65-F5344CB8AC3E}">
        <p14:creationId xmlns:p14="http://schemas.microsoft.com/office/powerpoint/2010/main" val="302287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A10AC-28DB-8AA5-DEB7-98948EAC7C2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9E4EEE-4CA0-DC2F-BA03-78DAEADA51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9825FD-1A78-D9AC-A659-2D897A0B19B1}"/>
              </a:ext>
            </a:extLst>
          </p:cNvPr>
          <p:cNvSpPr>
            <a:spLocks noGrp="1"/>
          </p:cNvSpPr>
          <p:nvPr>
            <p:ph type="dt" sz="half" idx="10"/>
          </p:nvPr>
        </p:nvSpPr>
        <p:spPr/>
        <p:txBody>
          <a:bodyPr/>
          <a:lstStyle/>
          <a:p>
            <a:fld id="{94D63DAF-B3DD-4634-A0FF-3CD4A6CC19A3}" type="datetimeFigureOut">
              <a:rPr lang="en-IN" smtClean="0"/>
              <a:t>13-02-2026</a:t>
            </a:fld>
            <a:endParaRPr lang="en-IN"/>
          </a:p>
        </p:txBody>
      </p:sp>
      <p:sp>
        <p:nvSpPr>
          <p:cNvPr id="5" name="Footer Placeholder 4">
            <a:extLst>
              <a:ext uri="{FF2B5EF4-FFF2-40B4-BE49-F238E27FC236}">
                <a16:creationId xmlns:a16="http://schemas.microsoft.com/office/drawing/2014/main" id="{5840844C-0CE5-40E2-2CB9-3184C0CFBB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416DE9-97CA-5D46-D5E0-0695539674AD}"/>
              </a:ext>
            </a:extLst>
          </p:cNvPr>
          <p:cNvSpPr>
            <a:spLocks noGrp="1"/>
          </p:cNvSpPr>
          <p:nvPr>
            <p:ph type="sldNum" sz="quarter" idx="12"/>
          </p:nvPr>
        </p:nvSpPr>
        <p:spPr/>
        <p:txBody>
          <a:bodyPr/>
          <a:lstStyle/>
          <a:p>
            <a:fld id="{67B50637-7056-4AE1-BA12-56BD295FFFF9}" type="slidenum">
              <a:rPr lang="en-IN" smtClean="0"/>
              <a:t>‹#›</a:t>
            </a:fld>
            <a:endParaRPr lang="en-IN"/>
          </a:p>
        </p:txBody>
      </p:sp>
    </p:spTree>
    <p:extLst>
      <p:ext uri="{BB962C8B-B14F-4D97-AF65-F5344CB8AC3E}">
        <p14:creationId xmlns:p14="http://schemas.microsoft.com/office/powerpoint/2010/main" val="1450884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B6D250-9A7C-B031-AEBE-7D988052F1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7887B5-9AEF-838B-558B-65E9185E77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479500-F0A8-760B-8CEE-CC6464FEF790}"/>
              </a:ext>
            </a:extLst>
          </p:cNvPr>
          <p:cNvSpPr>
            <a:spLocks noGrp="1"/>
          </p:cNvSpPr>
          <p:nvPr>
            <p:ph type="dt" sz="half" idx="10"/>
          </p:nvPr>
        </p:nvSpPr>
        <p:spPr/>
        <p:txBody>
          <a:bodyPr/>
          <a:lstStyle/>
          <a:p>
            <a:fld id="{94D63DAF-B3DD-4634-A0FF-3CD4A6CC19A3}" type="datetimeFigureOut">
              <a:rPr lang="en-IN" smtClean="0"/>
              <a:t>13-02-2026</a:t>
            </a:fld>
            <a:endParaRPr lang="en-IN"/>
          </a:p>
        </p:txBody>
      </p:sp>
      <p:sp>
        <p:nvSpPr>
          <p:cNvPr id="5" name="Footer Placeholder 4">
            <a:extLst>
              <a:ext uri="{FF2B5EF4-FFF2-40B4-BE49-F238E27FC236}">
                <a16:creationId xmlns:a16="http://schemas.microsoft.com/office/drawing/2014/main" id="{1CA7320D-DC68-CE57-E61A-A936F01879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62F3D0-66F5-D1CF-09A2-9D424A064AC8}"/>
              </a:ext>
            </a:extLst>
          </p:cNvPr>
          <p:cNvSpPr>
            <a:spLocks noGrp="1"/>
          </p:cNvSpPr>
          <p:nvPr>
            <p:ph type="sldNum" sz="quarter" idx="12"/>
          </p:nvPr>
        </p:nvSpPr>
        <p:spPr/>
        <p:txBody>
          <a:bodyPr/>
          <a:lstStyle/>
          <a:p>
            <a:fld id="{67B50637-7056-4AE1-BA12-56BD295FFFF9}" type="slidenum">
              <a:rPr lang="en-IN" smtClean="0"/>
              <a:t>‹#›</a:t>
            </a:fld>
            <a:endParaRPr lang="en-IN"/>
          </a:p>
        </p:txBody>
      </p:sp>
    </p:spTree>
    <p:extLst>
      <p:ext uri="{BB962C8B-B14F-4D97-AF65-F5344CB8AC3E}">
        <p14:creationId xmlns:p14="http://schemas.microsoft.com/office/powerpoint/2010/main" val="1536217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B050E5-1E81-FB93-C510-98E0CF7092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9967A5-F2BC-3E7A-5077-555EE8D8FA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742303-07BC-2BFA-9C69-98800C2E47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63DAF-B3DD-4634-A0FF-3CD4A6CC19A3}" type="datetimeFigureOut">
              <a:rPr lang="en-IN" smtClean="0"/>
              <a:t>13-02-2026</a:t>
            </a:fld>
            <a:endParaRPr lang="en-IN"/>
          </a:p>
        </p:txBody>
      </p:sp>
      <p:sp>
        <p:nvSpPr>
          <p:cNvPr id="5" name="Footer Placeholder 4">
            <a:extLst>
              <a:ext uri="{FF2B5EF4-FFF2-40B4-BE49-F238E27FC236}">
                <a16:creationId xmlns:a16="http://schemas.microsoft.com/office/drawing/2014/main" id="{9D7231CE-BAD5-4126-9034-1D1653A932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0B57289-4A20-35BA-E3BC-C3676FD8A3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B50637-7056-4AE1-BA12-56BD295FFFF9}" type="slidenum">
              <a:rPr lang="en-IN" smtClean="0"/>
              <a:t>‹#›</a:t>
            </a:fld>
            <a:endParaRPr lang="en-IN"/>
          </a:p>
        </p:txBody>
      </p:sp>
    </p:spTree>
    <p:extLst>
      <p:ext uri="{BB962C8B-B14F-4D97-AF65-F5344CB8AC3E}">
        <p14:creationId xmlns:p14="http://schemas.microsoft.com/office/powerpoint/2010/main" val="1040438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A66E2-0D16-5052-2FC6-A5CDEF5084F8}"/>
              </a:ext>
            </a:extLst>
          </p:cNvPr>
          <p:cNvSpPr>
            <a:spLocks noGrp="1"/>
          </p:cNvSpPr>
          <p:nvPr>
            <p:ph type="ctrTitle"/>
          </p:nvPr>
        </p:nvSpPr>
        <p:spPr/>
        <p:txBody>
          <a:bodyPr>
            <a:normAutofit/>
          </a:bodyPr>
          <a:lstStyle/>
          <a:p>
            <a:r>
              <a:rPr lang="en-IN" b="1" dirty="0">
                <a:solidFill>
                  <a:srgbClr val="FF0000"/>
                </a:solidFill>
                <a:latin typeface="Bookman Old Style" panose="02050604050505020204" pitchFamily="18" charset="0"/>
              </a:rPr>
              <a:t>Module III</a:t>
            </a:r>
            <a:br>
              <a:rPr lang="en-IN" b="1" dirty="0">
                <a:solidFill>
                  <a:srgbClr val="FF0000"/>
                </a:solidFill>
                <a:latin typeface="Bookman Old Style" panose="02050604050505020204" pitchFamily="18" charset="0"/>
              </a:rPr>
            </a:br>
            <a:r>
              <a:rPr lang="en-IN" sz="3600" b="1" dirty="0">
                <a:solidFill>
                  <a:srgbClr val="7030A0"/>
                </a:solidFill>
                <a:latin typeface="Bookman Old Style" panose="02050604050505020204" pitchFamily="18" charset="0"/>
              </a:rPr>
              <a:t>Communication, Decision making, Stress and Conflict.</a:t>
            </a:r>
          </a:p>
        </p:txBody>
      </p:sp>
    </p:spTree>
    <p:extLst>
      <p:ext uri="{BB962C8B-B14F-4D97-AF65-F5344CB8AC3E}">
        <p14:creationId xmlns:p14="http://schemas.microsoft.com/office/powerpoint/2010/main" val="1142979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3FEBA-87D3-16B1-D3A4-96950AF43B7B}"/>
              </a:ext>
            </a:extLst>
          </p:cNvPr>
          <p:cNvSpPr>
            <a:spLocks noGrp="1"/>
          </p:cNvSpPr>
          <p:nvPr>
            <p:ph type="title"/>
          </p:nvPr>
        </p:nvSpPr>
        <p:spPr/>
        <p:txBody>
          <a:bodyPr/>
          <a:lstStyle/>
          <a:p>
            <a:r>
              <a:rPr lang="en-IN" dirty="0"/>
              <a:t>Syllabus</a:t>
            </a:r>
          </a:p>
        </p:txBody>
      </p:sp>
      <p:pic>
        <p:nvPicPr>
          <p:cNvPr id="5" name="Picture 4">
            <a:extLst>
              <a:ext uri="{FF2B5EF4-FFF2-40B4-BE49-F238E27FC236}">
                <a16:creationId xmlns:a16="http://schemas.microsoft.com/office/drawing/2014/main" id="{4ED68865-2268-CA61-0BB2-7A676FC953CA}"/>
              </a:ext>
            </a:extLst>
          </p:cNvPr>
          <p:cNvPicPr>
            <a:picLocks noChangeAspect="1"/>
          </p:cNvPicPr>
          <p:nvPr/>
        </p:nvPicPr>
        <p:blipFill>
          <a:blip r:embed="rId2"/>
          <a:stretch>
            <a:fillRect/>
          </a:stretch>
        </p:blipFill>
        <p:spPr>
          <a:xfrm>
            <a:off x="490721" y="1962841"/>
            <a:ext cx="11409550" cy="2038453"/>
          </a:xfrm>
          <a:prstGeom prst="rect">
            <a:avLst/>
          </a:prstGeom>
          <a:solidFill>
            <a:schemeClr val="accent2"/>
          </a:solidFill>
          <a:ln>
            <a:solidFill>
              <a:schemeClr val="accent1"/>
            </a:solidFill>
          </a:ln>
        </p:spPr>
      </p:pic>
    </p:spTree>
    <p:extLst>
      <p:ext uri="{BB962C8B-B14F-4D97-AF65-F5344CB8AC3E}">
        <p14:creationId xmlns:p14="http://schemas.microsoft.com/office/powerpoint/2010/main" val="4178084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C47DA-89C4-150D-BACD-E0C6D8934CC5}"/>
              </a:ext>
            </a:extLst>
          </p:cNvPr>
          <p:cNvSpPr>
            <a:spLocks noGrp="1"/>
          </p:cNvSpPr>
          <p:nvPr>
            <p:ph type="title"/>
          </p:nvPr>
        </p:nvSpPr>
        <p:spPr/>
        <p:txBody>
          <a:bodyPr/>
          <a:lstStyle/>
          <a:p>
            <a:r>
              <a:rPr lang="en-IN" b="1" dirty="0">
                <a:solidFill>
                  <a:srgbClr val="FF0000"/>
                </a:solidFill>
                <a:latin typeface="Bookman Old Style" panose="02050604050505020204" pitchFamily="18" charset="0"/>
              </a:rPr>
              <a:t>Effectiveness of Real Managers</a:t>
            </a:r>
            <a:br>
              <a:rPr lang="en-IN" b="1" dirty="0">
                <a:solidFill>
                  <a:srgbClr val="FF0000"/>
                </a:solidFill>
                <a:latin typeface="Bookman Old Style" panose="02050604050505020204" pitchFamily="18" charset="0"/>
              </a:rPr>
            </a:br>
            <a:endParaRPr lang="en-IN" b="1" dirty="0">
              <a:solidFill>
                <a:srgbClr val="FF0000"/>
              </a:solidFill>
              <a:latin typeface="Bookman Old Style" panose="02050604050505020204" pitchFamily="18" charset="0"/>
            </a:endParaRPr>
          </a:p>
        </p:txBody>
      </p:sp>
      <p:pic>
        <p:nvPicPr>
          <p:cNvPr id="5" name="Picture 4">
            <a:extLst>
              <a:ext uri="{FF2B5EF4-FFF2-40B4-BE49-F238E27FC236}">
                <a16:creationId xmlns:a16="http://schemas.microsoft.com/office/drawing/2014/main" id="{15522668-18AD-B3B7-DC99-B1ACA1386D68}"/>
              </a:ext>
            </a:extLst>
          </p:cNvPr>
          <p:cNvPicPr>
            <a:picLocks noChangeAspect="1"/>
          </p:cNvPicPr>
          <p:nvPr/>
        </p:nvPicPr>
        <p:blipFill>
          <a:blip r:embed="rId2"/>
          <a:stretch>
            <a:fillRect/>
          </a:stretch>
        </p:blipFill>
        <p:spPr>
          <a:xfrm>
            <a:off x="2723538" y="1255032"/>
            <a:ext cx="6963737" cy="5067110"/>
          </a:xfrm>
          <a:prstGeom prst="rect">
            <a:avLst/>
          </a:prstGeom>
          <a:ln>
            <a:solidFill>
              <a:schemeClr val="accent1"/>
            </a:solidFill>
          </a:ln>
        </p:spPr>
      </p:pic>
    </p:spTree>
    <p:extLst>
      <p:ext uri="{BB962C8B-B14F-4D97-AF65-F5344CB8AC3E}">
        <p14:creationId xmlns:p14="http://schemas.microsoft.com/office/powerpoint/2010/main" val="903716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CF0EE-015A-8D70-07F8-439E3EC5A839}"/>
              </a:ext>
            </a:extLst>
          </p:cNvPr>
          <p:cNvSpPr>
            <a:spLocks noGrp="1"/>
          </p:cNvSpPr>
          <p:nvPr>
            <p:ph type="title"/>
          </p:nvPr>
        </p:nvSpPr>
        <p:spPr>
          <a:xfrm>
            <a:off x="154694" y="1"/>
            <a:ext cx="10515600" cy="850490"/>
          </a:xfrm>
        </p:spPr>
        <p:txBody>
          <a:bodyPr>
            <a:normAutofit/>
          </a:bodyPr>
          <a:lstStyle/>
          <a:p>
            <a:r>
              <a:rPr lang="en-IN" sz="4000" b="1" dirty="0">
                <a:solidFill>
                  <a:srgbClr val="FF0000"/>
                </a:solidFill>
                <a:latin typeface="Bookman Old Style" panose="02050604050505020204" pitchFamily="18" charset="0"/>
              </a:rPr>
              <a:t>Managerial Communication Model</a:t>
            </a:r>
          </a:p>
        </p:txBody>
      </p:sp>
      <p:sp>
        <p:nvSpPr>
          <p:cNvPr id="3" name="Content Placeholder 2">
            <a:extLst>
              <a:ext uri="{FF2B5EF4-FFF2-40B4-BE49-F238E27FC236}">
                <a16:creationId xmlns:a16="http://schemas.microsoft.com/office/drawing/2014/main" id="{EAB7EB03-D10D-B1FF-AC18-A88510E7E538}"/>
              </a:ext>
            </a:extLst>
          </p:cNvPr>
          <p:cNvSpPr>
            <a:spLocks noGrp="1"/>
          </p:cNvSpPr>
          <p:nvPr>
            <p:ph idx="1"/>
          </p:nvPr>
        </p:nvSpPr>
        <p:spPr>
          <a:xfrm>
            <a:off x="0" y="850491"/>
            <a:ext cx="5270090" cy="6007508"/>
          </a:xfrm>
        </p:spPr>
        <p:txBody>
          <a:bodyPr>
            <a:noAutofit/>
          </a:bodyPr>
          <a:lstStyle/>
          <a:p>
            <a:pPr algn="just">
              <a:lnSpc>
                <a:spcPct val="150000"/>
              </a:lnSpc>
            </a:pPr>
            <a:r>
              <a:rPr lang="en-IN" sz="1800" b="1" dirty="0">
                <a:latin typeface="Bookman Old Style" panose="02050604050505020204" pitchFamily="18" charset="0"/>
              </a:rPr>
              <a:t>Humanistic Interactor: </a:t>
            </a:r>
            <a:r>
              <a:rPr lang="en-US" sz="1800" dirty="0">
                <a:solidFill>
                  <a:srgbClr val="000000"/>
                </a:solidFill>
                <a:latin typeface="Bookman Old Style" panose="02050604050505020204" pitchFamily="18" charset="0"/>
              </a:rPr>
              <a:t>F</a:t>
            </a:r>
            <a:r>
              <a:rPr lang="en-US" sz="1800" b="0" i="0" dirty="0">
                <a:solidFill>
                  <a:srgbClr val="000000"/>
                </a:solidFill>
                <a:effectLst/>
                <a:latin typeface="Bookman Old Style" panose="02050604050505020204" pitchFamily="18" charset="0"/>
              </a:rPr>
              <a:t>requently interacts both up and down the organization system and exhibits human-oriented activities</a:t>
            </a:r>
          </a:p>
          <a:p>
            <a:pPr algn="just">
              <a:lnSpc>
                <a:spcPct val="150000"/>
              </a:lnSpc>
            </a:pPr>
            <a:r>
              <a:rPr lang="en-US" sz="1800" b="1" dirty="0">
                <a:latin typeface="Bookman Old Style" panose="02050604050505020204" pitchFamily="18" charset="0"/>
              </a:rPr>
              <a:t>Mechanistic Isolate: </a:t>
            </a:r>
            <a:r>
              <a:rPr lang="en-US" sz="1800" dirty="0">
                <a:solidFill>
                  <a:srgbClr val="000000"/>
                </a:solidFill>
                <a:latin typeface="Bookman Old Style" panose="02050604050505020204" pitchFamily="18" charset="0"/>
              </a:rPr>
              <a:t>	Communicates very little, except on a formal basis</a:t>
            </a:r>
          </a:p>
          <a:p>
            <a:pPr algn="just">
              <a:lnSpc>
                <a:spcPct val="150000"/>
              </a:lnSpc>
            </a:pPr>
            <a:r>
              <a:rPr lang="en-US" sz="1800" b="1" dirty="0">
                <a:latin typeface="Bookman Old Style" panose="02050604050505020204" pitchFamily="18" charset="0"/>
              </a:rPr>
              <a:t>Informal developer: </a:t>
            </a:r>
            <a:r>
              <a:rPr lang="en-US" sz="1800" dirty="0">
                <a:solidFill>
                  <a:srgbClr val="000000"/>
                </a:solidFill>
                <a:latin typeface="Bookman Old Style" panose="02050604050505020204" pitchFamily="18" charset="0"/>
              </a:rPr>
              <a:t>Communicates spontaneously in all directions and exhibits activities related to developing his or her people</a:t>
            </a:r>
          </a:p>
          <a:p>
            <a:pPr algn="just">
              <a:lnSpc>
                <a:spcPct val="150000"/>
              </a:lnSpc>
            </a:pPr>
            <a:r>
              <a:rPr lang="en-US" sz="1800" b="1" dirty="0">
                <a:latin typeface="Bookman Old Style" panose="02050604050505020204" pitchFamily="18" charset="0"/>
              </a:rPr>
              <a:t>Formal controller :</a:t>
            </a:r>
            <a:r>
              <a:rPr lang="en-US" sz="1800" dirty="0">
                <a:solidFill>
                  <a:srgbClr val="000000"/>
                </a:solidFill>
                <a:latin typeface="Bookman Old Style" panose="02050604050505020204" pitchFamily="18" charset="0"/>
              </a:rPr>
              <a:t>	Formally scheduled communication interaction and exhibits monitoring/controlling activities</a:t>
            </a:r>
          </a:p>
        </p:txBody>
      </p:sp>
      <p:pic>
        <p:nvPicPr>
          <p:cNvPr id="5" name="Picture 4">
            <a:extLst>
              <a:ext uri="{FF2B5EF4-FFF2-40B4-BE49-F238E27FC236}">
                <a16:creationId xmlns:a16="http://schemas.microsoft.com/office/drawing/2014/main" id="{845AD615-1B00-CD97-90AE-FE604499FCDD}"/>
              </a:ext>
            </a:extLst>
          </p:cNvPr>
          <p:cNvPicPr>
            <a:picLocks noChangeAspect="1"/>
          </p:cNvPicPr>
          <p:nvPr/>
        </p:nvPicPr>
        <p:blipFill>
          <a:blip r:embed="rId2"/>
          <a:stretch>
            <a:fillRect/>
          </a:stretch>
        </p:blipFill>
        <p:spPr>
          <a:xfrm>
            <a:off x="5412494" y="1456883"/>
            <a:ext cx="6592693" cy="4550627"/>
          </a:xfrm>
          <a:prstGeom prst="rect">
            <a:avLst/>
          </a:prstGeom>
          <a:ln>
            <a:solidFill>
              <a:schemeClr val="accent1"/>
            </a:solidFill>
          </a:ln>
        </p:spPr>
      </p:pic>
    </p:spTree>
    <p:extLst>
      <p:ext uri="{BB962C8B-B14F-4D97-AF65-F5344CB8AC3E}">
        <p14:creationId xmlns:p14="http://schemas.microsoft.com/office/powerpoint/2010/main" val="2839389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517CA-8F7C-843F-ECBF-FDFC847F05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06C9D8-99F6-0B94-7E44-2E781AF15798}"/>
              </a:ext>
            </a:extLst>
          </p:cNvPr>
          <p:cNvSpPr>
            <a:spLocks noGrp="1"/>
          </p:cNvSpPr>
          <p:nvPr>
            <p:ph type="title"/>
          </p:nvPr>
        </p:nvSpPr>
        <p:spPr>
          <a:xfrm>
            <a:off x="154694" y="1"/>
            <a:ext cx="11575190" cy="850490"/>
          </a:xfrm>
        </p:spPr>
        <p:txBody>
          <a:bodyPr>
            <a:noAutofit/>
          </a:bodyPr>
          <a:lstStyle/>
          <a:p>
            <a:pPr algn="ctr"/>
            <a:r>
              <a:rPr lang="en-US" sz="3200" b="1" dirty="0">
                <a:solidFill>
                  <a:srgbClr val="FF0000"/>
                </a:solidFill>
                <a:latin typeface="Bookman Old Style" panose="02050604050505020204" pitchFamily="18" charset="0"/>
              </a:rPr>
              <a:t>Discussion Question</a:t>
            </a:r>
            <a:endParaRPr lang="en-IN" sz="3200" b="1" dirty="0">
              <a:solidFill>
                <a:srgbClr val="FF0000"/>
              </a:solidFill>
              <a:latin typeface="Bookman Old Style" panose="02050604050505020204" pitchFamily="18" charset="0"/>
            </a:endParaRPr>
          </a:p>
        </p:txBody>
      </p:sp>
      <p:sp>
        <p:nvSpPr>
          <p:cNvPr id="6" name="Content Placeholder 5">
            <a:extLst>
              <a:ext uri="{FF2B5EF4-FFF2-40B4-BE49-F238E27FC236}">
                <a16:creationId xmlns:a16="http://schemas.microsoft.com/office/drawing/2014/main" id="{E6F89E98-0A05-00C0-373D-887FADA33BC9}"/>
              </a:ext>
            </a:extLst>
          </p:cNvPr>
          <p:cNvSpPr>
            <a:spLocks noGrp="1"/>
          </p:cNvSpPr>
          <p:nvPr>
            <p:ph idx="1"/>
          </p:nvPr>
        </p:nvSpPr>
        <p:spPr>
          <a:xfrm>
            <a:off x="154694" y="934065"/>
            <a:ext cx="11199106" cy="5242898"/>
          </a:xfrm>
        </p:spPr>
        <p:txBody>
          <a:bodyPr>
            <a:normAutofit lnSpcReduction="10000"/>
          </a:bodyPr>
          <a:lstStyle/>
          <a:p>
            <a:pPr algn="just">
              <a:lnSpc>
                <a:spcPct val="150000"/>
              </a:lnSpc>
            </a:pPr>
            <a:r>
              <a:rPr lang="en-US" sz="2400" b="0" i="0" dirty="0">
                <a:solidFill>
                  <a:srgbClr val="000000"/>
                </a:solidFill>
                <a:effectLst/>
                <a:latin typeface="Bookman Old Style" panose="02050604050505020204" pitchFamily="18" charset="0"/>
              </a:rPr>
              <a:t>Do you think advanced information technology affecting interpersonal communication in organizations. Justify your answer</a:t>
            </a:r>
          </a:p>
          <a:p>
            <a:pPr algn="just">
              <a:lnSpc>
                <a:spcPct val="150000"/>
              </a:lnSpc>
            </a:pPr>
            <a:endParaRPr lang="en-US" sz="2400" b="0" i="0" dirty="0">
              <a:solidFill>
                <a:srgbClr val="000000"/>
              </a:solidFill>
              <a:effectLst/>
              <a:latin typeface="Bookman Old Style" panose="02050604050505020204" pitchFamily="18" charset="0"/>
            </a:endParaRPr>
          </a:p>
          <a:p>
            <a:pPr algn="just">
              <a:lnSpc>
                <a:spcPct val="150000"/>
              </a:lnSpc>
            </a:pPr>
            <a:r>
              <a:rPr lang="en-US" sz="2400" b="0" i="0" dirty="0">
                <a:solidFill>
                  <a:srgbClr val="000000"/>
                </a:solidFill>
                <a:effectLst/>
                <a:latin typeface="Bookman Old Style" panose="02050604050505020204" pitchFamily="18" charset="0"/>
              </a:rPr>
              <a:t>Suppose you are employed in an entry-level management position in a large bank. What specific considerations (contingencies) would you identify of sending an e-mail versus talking in person to someone else in the bank?</a:t>
            </a:r>
          </a:p>
          <a:p>
            <a:pPr marL="0" indent="0" algn="just">
              <a:lnSpc>
                <a:spcPct val="150000"/>
              </a:lnSpc>
              <a:buNone/>
            </a:pPr>
            <a:br>
              <a:rPr lang="en-US" sz="2400" dirty="0">
                <a:latin typeface="Bookman Old Style" panose="02050604050505020204" pitchFamily="18" charset="0"/>
              </a:rPr>
            </a:br>
            <a:endParaRPr lang="en-IN" sz="2400" dirty="0">
              <a:latin typeface="Bookman Old Style" panose="02050604050505020204" pitchFamily="18" charset="0"/>
            </a:endParaRPr>
          </a:p>
        </p:txBody>
      </p:sp>
    </p:spTree>
    <p:extLst>
      <p:ext uri="{BB962C8B-B14F-4D97-AF65-F5344CB8AC3E}">
        <p14:creationId xmlns:p14="http://schemas.microsoft.com/office/powerpoint/2010/main" val="3440274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C3426D-A967-8A9D-245B-14C05F4D8BF4}"/>
              </a:ext>
            </a:extLst>
          </p:cNvPr>
          <p:cNvSpPr>
            <a:spLocks noGrp="1"/>
          </p:cNvSpPr>
          <p:nvPr>
            <p:ph idx="1"/>
          </p:nvPr>
        </p:nvSpPr>
        <p:spPr>
          <a:xfrm>
            <a:off x="337456" y="258081"/>
            <a:ext cx="11625943" cy="6501947"/>
          </a:xfrm>
        </p:spPr>
        <p:txBody>
          <a:bodyPr>
            <a:normAutofit fontScale="85000" lnSpcReduction="20000"/>
          </a:bodyPr>
          <a:lstStyle/>
          <a:p>
            <a:r>
              <a:rPr lang="en-US" dirty="0"/>
              <a:t>Advanced information technology significantly affects interpersonal communication—both positively and negatively.</a:t>
            </a:r>
          </a:p>
          <a:p>
            <a:pPr marL="0" indent="0">
              <a:buNone/>
            </a:pPr>
            <a:r>
              <a:rPr lang="en-US" b="1" dirty="0"/>
              <a:t>Positive effects</a:t>
            </a:r>
          </a:p>
          <a:p>
            <a:pPr>
              <a:buFont typeface="Arial" panose="020B0604020202020204" pitchFamily="34" charset="0"/>
              <a:buChar char="•"/>
            </a:pPr>
            <a:r>
              <a:rPr lang="en-US" b="1" dirty="0"/>
              <a:t>Faster communication:</a:t>
            </a:r>
            <a:r>
              <a:rPr lang="en-US" dirty="0"/>
              <a:t> Email, instant messaging, and collaboration tools enable real-time information sharing across levels and locations.</a:t>
            </a:r>
          </a:p>
          <a:p>
            <a:pPr>
              <a:buFont typeface="Arial" panose="020B0604020202020204" pitchFamily="34" charset="0"/>
              <a:buChar char="•"/>
            </a:pPr>
            <a:r>
              <a:rPr lang="en-US" b="1" dirty="0"/>
              <a:t>Improved accessibility:</a:t>
            </a:r>
            <a:r>
              <a:rPr lang="en-US" dirty="0"/>
              <a:t> Managers and employees can communicate regardless of time and place (remote work, global teams).</a:t>
            </a:r>
          </a:p>
          <a:p>
            <a:pPr>
              <a:buFont typeface="Arial" panose="020B0604020202020204" pitchFamily="34" charset="0"/>
              <a:buChar char="•"/>
            </a:pPr>
            <a:r>
              <a:rPr lang="en-US" b="1" dirty="0"/>
              <a:t>Better documentation:</a:t>
            </a:r>
            <a:r>
              <a:rPr lang="en-US" dirty="0"/>
              <a:t> Written digital communication provides records, accountability, and clarity.</a:t>
            </a:r>
          </a:p>
          <a:p>
            <a:pPr>
              <a:buFont typeface="Arial" panose="020B0604020202020204" pitchFamily="34" charset="0"/>
              <a:buChar char="•"/>
            </a:pPr>
            <a:r>
              <a:rPr lang="en-US" b="1" dirty="0"/>
              <a:t>Enhanced collaboration:</a:t>
            </a:r>
            <a:r>
              <a:rPr lang="en-US" dirty="0"/>
              <a:t> Tools like video conferencing and shared platforms promote teamwork and coordination.</a:t>
            </a:r>
          </a:p>
          <a:p>
            <a:pPr marL="0" indent="0">
              <a:buNone/>
            </a:pPr>
            <a:r>
              <a:rPr lang="en-US" b="1" dirty="0"/>
              <a:t>Negative effects</a:t>
            </a:r>
          </a:p>
          <a:p>
            <a:pPr>
              <a:buFont typeface="Arial" panose="020B0604020202020204" pitchFamily="34" charset="0"/>
              <a:buChar char="•"/>
            </a:pPr>
            <a:r>
              <a:rPr lang="en-US" b="1" dirty="0"/>
              <a:t>Reduced face-to-face interaction:</a:t>
            </a:r>
            <a:r>
              <a:rPr lang="en-US" dirty="0"/>
              <a:t> Overreliance on digital tools can weaken personal relationships and trust.</a:t>
            </a:r>
          </a:p>
          <a:p>
            <a:pPr>
              <a:buFont typeface="Arial" panose="020B0604020202020204" pitchFamily="34" charset="0"/>
              <a:buChar char="•"/>
            </a:pPr>
            <a:r>
              <a:rPr lang="en-US" b="1" dirty="0"/>
              <a:t>Loss of non-verbal cues:</a:t>
            </a:r>
            <a:r>
              <a:rPr lang="en-US" dirty="0"/>
              <a:t> Tone, emotions, and body language are often missing, leading to misunderstandings.</a:t>
            </a:r>
          </a:p>
          <a:p>
            <a:pPr>
              <a:buFont typeface="Arial" panose="020B0604020202020204" pitchFamily="34" charset="0"/>
              <a:buChar char="•"/>
            </a:pPr>
            <a:r>
              <a:rPr lang="en-US" b="1" dirty="0"/>
              <a:t>Information overload:</a:t>
            </a:r>
            <a:r>
              <a:rPr lang="en-US" dirty="0"/>
              <a:t> Excessive emails and messages reduce attention and communication quality.</a:t>
            </a:r>
          </a:p>
          <a:p>
            <a:pPr>
              <a:buFont typeface="Arial" panose="020B0604020202020204" pitchFamily="34" charset="0"/>
              <a:buChar char="•"/>
            </a:pPr>
            <a:r>
              <a:rPr lang="en-US" b="1" dirty="0"/>
              <a:t>Impersonal communication:</a:t>
            </a:r>
            <a:r>
              <a:rPr lang="en-US" dirty="0"/>
              <a:t> Technology may encourage mechanical, less empathetic interactions.</a:t>
            </a:r>
          </a:p>
          <a:p>
            <a:endParaRPr lang="en-IN" dirty="0"/>
          </a:p>
        </p:txBody>
      </p:sp>
    </p:spTree>
    <p:extLst>
      <p:ext uri="{BB962C8B-B14F-4D97-AF65-F5344CB8AC3E}">
        <p14:creationId xmlns:p14="http://schemas.microsoft.com/office/powerpoint/2010/main" val="27390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A9871-1A6F-64CC-08D9-AE62EEFD5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64B9C-DB38-E4B6-B18E-F8DA0629BE36}"/>
              </a:ext>
            </a:extLst>
          </p:cNvPr>
          <p:cNvSpPr>
            <a:spLocks noGrp="1"/>
          </p:cNvSpPr>
          <p:nvPr>
            <p:ph type="title"/>
          </p:nvPr>
        </p:nvSpPr>
        <p:spPr>
          <a:xfrm>
            <a:off x="154694" y="1"/>
            <a:ext cx="11575190" cy="850490"/>
          </a:xfrm>
        </p:spPr>
        <p:txBody>
          <a:bodyPr>
            <a:noAutofit/>
          </a:bodyPr>
          <a:lstStyle/>
          <a:p>
            <a:pPr algn="ctr"/>
            <a:r>
              <a:rPr lang="en-US" sz="3200" b="1" dirty="0">
                <a:solidFill>
                  <a:srgbClr val="FF0000"/>
                </a:solidFill>
                <a:latin typeface="Bookman Old Style" panose="02050604050505020204" pitchFamily="18" charset="0"/>
              </a:rPr>
              <a:t>Continuum of Communication in Organizational Behavior</a:t>
            </a:r>
            <a:endParaRPr lang="en-IN" sz="3200" b="1" dirty="0">
              <a:solidFill>
                <a:srgbClr val="FF0000"/>
              </a:solidFill>
              <a:latin typeface="Bookman Old Style" panose="02050604050505020204" pitchFamily="18" charset="0"/>
            </a:endParaRPr>
          </a:p>
        </p:txBody>
      </p:sp>
      <p:pic>
        <p:nvPicPr>
          <p:cNvPr id="8" name="Picture 7">
            <a:extLst>
              <a:ext uri="{FF2B5EF4-FFF2-40B4-BE49-F238E27FC236}">
                <a16:creationId xmlns:a16="http://schemas.microsoft.com/office/drawing/2014/main" id="{3AC11E46-2857-C8B2-3E8C-F44FFCC9D6B5}"/>
              </a:ext>
            </a:extLst>
          </p:cNvPr>
          <p:cNvPicPr>
            <a:picLocks noChangeAspect="1"/>
          </p:cNvPicPr>
          <p:nvPr/>
        </p:nvPicPr>
        <p:blipFill>
          <a:blip r:embed="rId2"/>
          <a:stretch>
            <a:fillRect/>
          </a:stretch>
        </p:blipFill>
        <p:spPr>
          <a:xfrm>
            <a:off x="568803" y="1659139"/>
            <a:ext cx="11161081" cy="2480241"/>
          </a:xfrm>
          <a:prstGeom prst="rect">
            <a:avLst/>
          </a:prstGeom>
          <a:ln>
            <a:solidFill>
              <a:schemeClr val="accent1"/>
            </a:solidFill>
          </a:ln>
        </p:spPr>
      </p:pic>
    </p:spTree>
    <p:extLst>
      <p:ext uri="{BB962C8B-B14F-4D97-AF65-F5344CB8AC3E}">
        <p14:creationId xmlns:p14="http://schemas.microsoft.com/office/powerpoint/2010/main" val="905760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14286-2CC0-76DB-96D5-58895410A6BD}"/>
              </a:ext>
            </a:extLst>
          </p:cNvPr>
          <p:cNvSpPr>
            <a:spLocks noGrp="1"/>
          </p:cNvSpPr>
          <p:nvPr>
            <p:ph type="title"/>
          </p:nvPr>
        </p:nvSpPr>
        <p:spPr>
          <a:xfrm>
            <a:off x="86032" y="58994"/>
            <a:ext cx="10638503" cy="603378"/>
          </a:xfrm>
        </p:spPr>
        <p:txBody>
          <a:bodyPr>
            <a:normAutofit/>
          </a:bodyPr>
          <a:lstStyle/>
          <a:p>
            <a:r>
              <a:rPr lang="en-IN" sz="3600" b="1" dirty="0" err="1">
                <a:solidFill>
                  <a:srgbClr val="FF0000"/>
                </a:solidFill>
                <a:latin typeface="Bookman Old Style" panose="02050604050505020204" pitchFamily="18" charset="0"/>
              </a:rPr>
              <a:t>NonVerbal</a:t>
            </a:r>
            <a:r>
              <a:rPr lang="en-IN" sz="3600" b="1" dirty="0">
                <a:solidFill>
                  <a:srgbClr val="FF0000"/>
                </a:solidFill>
                <a:latin typeface="Bookman Old Style" panose="02050604050505020204" pitchFamily="18" charset="0"/>
              </a:rPr>
              <a:t> Communication</a:t>
            </a:r>
          </a:p>
        </p:txBody>
      </p:sp>
      <p:sp>
        <p:nvSpPr>
          <p:cNvPr id="3" name="Content Placeholder 2">
            <a:extLst>
              <a:ext uri="{FF2B5EF4-FFF2-40B4-BE49-F238E27FC236}">
                <a16:creationId xmlns:a16="http://schemas.microsoft.com/office/drawing/2014/main" id="{1D1B936C-94A0-4FA1-A821-9B8B8CBB547B}"/>
              </a:ext>
            </a:extLst>
          </p:cNvPr>
          <p:cNvSpPr>
            <a:spLocks noGrp="1"/>
          </p:cNvSpPr>
          <p:nvPr>
            <p:ph idx="1"/>
          </p:nvPr>
        </p:nvSpPr>
        <p:spPr>
          <a:xfrm>
            <a:off x="208935" y="662372"/>
            <a:ext cx="11570110" cy="5925241"/>
          </a:xfrm>
        </p:spPr>
        <p:txBody>
          <a:bodyPr>
            <a:normAutofit/>
          </a:bodyPr>
          <a:lstStyle/>
          <a:p>
            <a:pPr algn="just">
              <a:lnSpc>
                <a:spcPct val="150000"/>
              </a:lnSpc>
            </a:pPr>
            <a:r>
              <a:rPr lang="en-US" sz="3000" b="0" i="0" u="none" strike="noStrike" baseline="0" dirty="0">
                <a:latin typeface="Bookman Old Style" panose="02050604050505020204" pitchFamily="18" charset="0"/>
              </a:rPr>
              <a:t>Nonword human responses (such as gestures, facial expressions)</a:t>
            </a:r>
            <a:endParaRPr lang="en-US" sz="3000" dirty="0">
              <a:latin typeface="Bookman Old Style" panose="02050604050505020204" pitchFamily="18" charset="0"/>
            </a:endParaRPr>
          </a:p>
          <a:p>
            <a:pPr algn="just">
              <a:lnSpc>
                <a:spcPct val="150000"/>
              </a:lnSpc>
            </a:pPr>
            <a:r>
              <a:rPr lang="en-US" sz="2800" b="1" i="1" u="none" strike="noStrike" baseline="0" dirty="0">
                <a:latin typeface="Bookman Old Style" panose="02050604050505020204" pitchFamily="18" charset="0"/>
              </a:rPr>
              <a:t>Body Language: </a:t>
            </a:r>
            <a:r>
              <a:rPr lang="en-US" sz="2800" b="0" i="0" u="none" strike="noStrike" baseline="0" dirty="0">
                <a:latin typeface="Bookman Old Style" panose="02050604050505020204" pitchFamily="18" charset="0"/>
              </a:rPr>
              <a:t>Body movements convey meanings and messages. </a:t>
            </a:r>
            <a:endParaRPr lang="en-US" sz="2800" dirty="0">
              <a:latin typeface="Bookman Old Style" panose="02050604050505020204" pitchFamily="18" charset="0"/>
            </a:endParaRPr>
          </a:p>
          <a:p>
            <a:pPr algn="just">
              <a:lnSpc>
                <a:spcPct val="150000"/>
              </a:lnSpc>
            </a:pPr>
            <a:r>
              <a:rPr lang="en-IN" sz="2800" b="0" i="0" u="none" strike="noStrike" baseline="0" dirty="0">
                <a:latin typeface="Bookman Old Style" panose="02050604050505020204" pitchFamily="18" charset="0"/>
              </a:rPr>
              <a:t>Facial expressions, handshakes, attire, physical appearance.</a:t>
            </a:r>
          </a:p>
          <a:p>
            <a:pPr algn="just">
              <a:lnSpc>
                <a:spcPct val="150000"/>
              </a:lnSpc>
            </a:pPr>
            <a:r>
              <a:rPr lang="en-US" sz="3200" b="1" i="1" u="none" strike="noStrike" baseline="0" dirty="0">
                <a:latin typeface="Bookman Old Style" panose="02050604050505020204" pitchFamily="18" charset="0"/>
              </a:rPr>
              <a:t>Paralanguage</a:t>
            </a:r>
            <a:r>
              <a:rPr lang="en-US" i="1" dirty="0">
                <a:latin typeface="Bookman Old Style" panose="02050604050505020204" pitchFamily="18" charset="0"/>
              </a:rPr>
              <a:t>: </a:t>
            </a:r>
            <a:r>
              <a:rPr lang="en-US" sz="2800" b="0" i="1" u="none" strike="noStrike" baseline="0" dirty="0">
                <a:latin typeface="Bookman Old Style" panose="02050604050505020204" pitchFamily="18" charset="0"/>
              </a:rPr>
              <a:t> V</a:t>
            </a:r>
            <a:r>
              <a:rPr lang="en-US" sz="2800" b="0" i="0" u="none" strike="noStrike" baseline="0" dirty="0">
                <a:latin typeface="Bookman Old Style" panose="02050604050505020204" pitchFamily="18" charset="0"/>
              </a:rPr>
              <a:t>oice quality, tone, volume, speech rate, pitch, </a:t>
            </a:r>
            <a:r>
              <a:rPr lang="en-US" sz="2800" b="0" i="0" u="none" strike="noStrike" baseline="0" dirty="0" err="1">
                <a:latin typeface="Bookman Old Style" panose="02050604050505020204" pitchFamily="18" charset="0"/>
              </a:rPr>
              <a:t>nonfluencies</a:t>
            </a:r>
            <a:r>
              <a:rPr lang="en-US" sz="2800" b="0" i="0" u="none" strike="noStrike" baseline="0" dirty="0">
                <a:latin typeface="Bookman Old Style" panose="02050604050505020204" pitchFamily="18" charset="0"/>
              </a:rPr>
              <a:t> (saying “ah,” “um,” or “uh”), laughing, and yawning. </a:t>
            </a:r>
            <a:endParaRPr lang="en-IN" sz="2800" dirty="0">
              <a:latin typeface="Bookman Old Style" panose="02050604050505020204" pitchFamily="18" charset="0"/>
            </a:endParaRPr>
          </a:p>
          <a:p>
            <a:pPr algn="just">
              <a:lnSpc>
                <a:spcPct val="150000"/>
              </a:lnSpc>
            </a:pPr>
            <a:endParaRPr lang="en-IN" sz="2800" b="0" i="0" u="none" strike="noStrike" baseline="0" dirty="0">
              <a:latin typeface="Bookman Old Style" panose="02050604050505020204" pitchFamily="18" charset="0"/>
            </a:endParaRPr>
          </a:p>
          <a:p>
            <a:pPr algn="just">
              <a:lnSpc>
                <a:spcPct val="150000"/>
              </a:lnSpc>
            </a:pPr>
            <a:endParaRPr lang="en-IN" dirty="0"/>
          </a:p>
        </p:txBody>
      </p:sp>
    </p:spTree>
    <p:extLst>
      <p:ext uri="{BB962C8B-B14F-4D97-AF65-F5344CB8AC3E}">
        <p14:creationId xmlns:p14="http://schemas.microsoft.com/office/powerpoint/2010/main" val="3116886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40B37-72F6-23B4-D7BD-478984576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737AF-B49D-18E7-59B0-B43DAFB75414}"/>
              </a:ext>
            </a:extLst>
          </p:cNvPr>
          <p:cNvSpPr>
            <a:spLocks noGrp="1"/>
          </p:cNvSpPr>
          <p:nvPr>
            <p:ph type="title"/>
          </p:nvPr>
        </p:nvSpPr>
        <p:spPr>
          <a:xfrm>
            <a:off x="86032" y="58994"/>
            <a:ext cx="10638503" cy="603378"/>
          </a:xfrm>
        </p:spPr>
        <p:txBody>
          <a:bodyPr>
            <a:normAutofit/>
          </a:bodyPr>
          <a:lstStyle/>
          <a:p>
            <a:r>
              <a:rPr lang="en-IN" sz="3600" b="1" dirty="0">
                <a:solidFill>
                  <a:srgbClr val="FF0000"/>
                </a:solidFill>
                <a:latin typeface="Bookman Old Style" panose="02050604050505020204" pitchFamily="18" charset="0"/>
              </a:rPr>
              <a:t>Improving Nonverbal Effectiveness</a:t>
            </a:r>
          </a:p>
        </p:txBody>
      </p:sp>
      <p:sp>
        <p:nvSpPr>
          <p:cNvPr id="3" name="Content Placeholder 2">
            <a:extLst>
              <a:ext uri="{FF2B5EF4-FFF2-40B4-BE49-F238E27FC236}">
                <a16:creationId xmlns:a16="http://schemas.microsoft.com/office/drawing/2014/main" id="{13F5E6D8-024B-86DE-DE22-D959047BB5FF}"/>
              </a:ext>
            </a:extLst>
          </p:cNvPr>
          <p:cNvSpPr>
            <a:spLocks noGrp="1"/>
          </p:cNvSpPr>
          <p:nvPr>
            <p:ph idx="1"/>
          </p:nvPr>
        </p:nvSpPr>
        <p:spPr>
          <a:xfrm>
            <a:off x="159774" y="1124488"/>
            <a:ext cx="11570110" cy="5925241"/>
          </a:xfrm>
        </p:spPr>
        <p:txBody>
          <a:bodyPr>
            <a:normAutofit/>
          </a:bodyPr>
          <a:lstStyle/>
          <a:p>
            <a:pPr marL="514350" indent="-514350" algn="just">
              <a:lnSpc>
                <a:spcPct val="150000"/>
              </a:lnSpc>
              <a:buAutoNum type="arabicPeriod"/>
            </a:pPr>
            <a:r>
              <a:rPr lang="en-US" sz="3000" dirty="0">
                <a:latin typeface="Bookman Old Style" panose="02050604050505020204" pitchFamily="18" charset="0"/>
              </a:rPr>
              <a:t>Look at what is happening in the situation</a:t>
            </a:r>
          </a:p>
          <a:p>
            <a:pPr marL="514350" indent="-514350" algn="just">
              <a:lnSpc>
                <a:spcPct val="150000"/>
              </a:lnSpc>
              <a:buAutoNum type="arabicPeriod"/>
            </a:pPr>
            <a:endParaRPr lang="en-US" sz="3000" dirty="0">
              <a:latin typeface="Bookman Old Style" panose="02050604050505020204" pitchFamily="18" charset="0"/>
            </a:endParaRPr>
          </a:p>
          <a:p>
            <a:pPr marL="514350" indent="-514350" algn="just">
              <a:lnSpc>
                <a:spcPct val="150000"/>
              </a:lnSpc>
              <a:buAutoNum type="arabicPeriod"/>
            </a:pPr>
            <a:r>
              <a:rPr lang="en-US" dirty="0">
                <a:latin typeface="Bookman Old Style" panose="02050604050505020204" pitchFamily="18" charset="0"/>
              </a:rPr>
              <a:t>Consider the discrepancies between the nonverbal behavior and the verbal statements</a:t>
            </a:r>
          </a:p>
          <a:p>
            <a:pPr marL="514350" indent="-514350" algn="just">
              <a:lnSpc>
                <a:spcPct val="150000"/>
              </a:lnSpc>
              <a:buAutoNum type="arabicPeriod"/>
            </a:pPr>
            <a:endParaRPr lang="en-US" dirty="0">
              <a:latin typeface="Bookman Old Style" panose="02050604050505020204" pitchFamily="18" charset="0"/>
            </a:endParaRPr>
          </a:p>
          <a:p>
            <a:pPr marL="514350" indent="-514350" algn="just">
              <a:lnSpc>
                <a:spcPct val="150000"/>
              </a:lnSpc>
              <a:buAutoNum type="arabicPeriod"/>
            </a:pPr>
            <a:r>
              <a:rPr lang="en-US" dirty="0">
                <a:latin typeface="Bookman Old Style" panose="02050604050505020204" pitchFamily="18" charset="0"/>
              </a:rPr>
              <a:t>Watch for subtleties in the nonverbal behavior</a:t>
            </a:r>
            <a:endParaRPr lang="en-IN" sz="2800" b="0" i="0" u="none" strike="noStrike" baseline="0" dirty="0">
              <a:latin typeface="Bookman Old Style" panose="02050604050505020204" pitchFamily="18" charset="0"/>
            </a:endParaRPr>
          </a:p>
          <a:p>
            <a:pPr algn="just">
              <a:lnSpc>
                <a:spcPct val="150000"/>
              </a:lnSpc>
            </a:pPr>
            <a:endParaRPr lang="en-IN" dirty="0"/>
          </a:p>
        </p:txBody>
      </p:sp>
    </p:spTree>
    <p:extLst>
      <p:ext uri="{BB962C8B-B14F-4D97-AF65-F5344CB8AC3E}">
        <p14:creationId xmlns:p14="http://schemas.microsoft.com/office/powerpoint/2010/main" val="4021393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DB939-FF69-0C86-D422-41A50A39D601}"/>
              </a:ext>
            </a:extLst>
          </p:cNvPr>
          <p:cNvSpPr>
            <a:spLocks noGrp="1"/>
          </p:cNvSpPr>
          <p:nvPr>
            <p:ph type="title"/>
          </p:nvPr>
        </p:nvSpPr>
        <p:spPr>
          <a:xfrm>
            <a:off x="169606" y="180206"/>
            <a:ext cx="10515600" cy="630674"/>
          </a:xfrm>
        </p:spPr>
        <p:txBody>
          <a:bodyPr>
            <a:normAutofit/>
          </a:bodyPr>
          <a:lstStyle/>
          <a:p>
            <a:r>
              <a:rPr lang="en-IN" sz="2800" b="1" i="0" u="none" strike="noStrike" baseline="0" dirty="0">
                <a:solidFill>
                  <a:srgbClr val="FF0000"/>
                </a:solidFill>
                <a:latin typeface="Bookman Old Style" panose="02050604050505020204" pitchFamily="18" charset="0"/>
              </a:rPr>
              <a:t>INTERPERSONAL COMMUNICATION</a:t>
            </a:r>
            <a:endParaRPr lang="en-IN" sz="2800"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97E277D3-EF96-10E7-2736-2E127E14C1D7}"/>
              </a:ext>
            </a:extLst>
          </p:cNvPr>
          <p:cNvSpPr>
            <a:spLocks noGrp="1"/>
          </p:cNvSpPr>
          <p:nvPr>
            <p:ph idx="1"/>
          </p:nvPr>
        </p:nvSpPr>
        <p:spPr>
          <a:xfrm>
            <a:off x="169606" y="978028"/>
            <a:ext cx="11287432" cy="5580087"/>
          </a:xfrm>
        </p:spPr>
        <p:txBody>
          <a:bodyPr>
            <a:noAutofit/>
          </a:bodyPr>
          <a:lstStyle/>
          <a:p>
            <a:pPr algn="just">
              <a:lnSpc>
                <a:spcPct val="150000"/>
              </a:lnSpc>
            </a:pPr>
            <a:r>
              <a:rPr lang="en-US" b="0" i="0" u="none" strike="noStrike" baseline="0" dirty="0">
                <a:latin typeface="Bookman Old Style" panose="02050604050505020204" pitchFamily="18" charset="0"/>
              </a:rPr>
              <a:t>Middle ground between electronic media and information technology on the one extreme and nonverbal communication on the other</a:t>
            </a:r>
          </a:p>
          <a:p>
            <a:pPr algn="l">
              <a:lnSpc>
                <a:spcPct val="150000"/>
              </a:lnSpc>
            </a:pPr>
            <a:r>
              <a:rPr lang="en-IN" dirty="0">
                <a:latin typeface="Bookman Old Style" panose="02050604050505020204" pitchFamily="18" charset="0"/>
              </a:rPr>
              <a:t>Focus o</a:t>
            </a:r>
            <a:r>
              <a:rPr lang="en-IN" b="0" i="0" u="none" strike="noStrike" baseline="0" dirty="0">
                <a:latin typeface="Bookman Old Style" panose="02050604050505020204" pitchFamily="18" charset="0"/>
              </a:rPr>
              <a:t>n </a:t>
            </a:r>
            <a:r>
              <a:rPr lang="en-IN" b="1" i="0" u="none" strike="noStrike" baseline="0" dirty="0">
                <a:solidFill>
                  <a:srgbClr val="FF0000"/>
                </a:solidFill>
                <a:latin typeface="Bookman Old Style" panose="02050604050505020204" pitchFamily="18" charset="0"/>
              </a:rPr>
              <a:t>transferring information </a:t>
            </a:r>
            <a:r>
              <a:rPr lang="en-US" b="1" i="0" u="none" strike="noStrike" baseline="0" dirty="0">
                <a:solidFill>
                  <a:srgbClr val="FF0000"/>
                </a:solidFill>
                <a:latin typeface="Bookman Old Style" panose="02050604050505020204" pitchFamily="18" charset="0"/>
              </a:rPr>
              <a:t>from one person to another</a:t>
            </a:r>
          </a:p>
          <a:p>
            <a:pPr algn="l">
              <a:lnSpc>
                <a:spcPct val="150000"/>
              </a:lnSpc>
            </a:pPr>
            <a:r>
              <a:rPr lang="en-US" dirty="0">
                <a:latin typeface="Bookman Old Style" panose="02050604050505020204" pitchFamily="18" charset="0"/>
              </a:rPr>
              <a:t>K</a:t>
            </a:r>
            <a:r>
              <a:rPr lang="en-US" b="0" i="0" u="none" strike="noStrike" baseline="0" dirty="0">
                <a:latin typeface="Bookman Old Style" panose="02050604050505020204" pitchFamily="18" charset="0"/>
              </a:rPr>
              <a:t>nowing </a:t>
            </a:r>
            <a:r>
              <a:rPr lang="en-US" b="1" i="1" u="none" strike="noStrike" baseline="0" dirty="0">
                <a:solidFill>
                  <a:srgbClr val="FF0000"/>
                </a:solidFill>
                <a:latin typeface="Bookman Old Style" panose="02050604050505020204" pitchFamily="18" charset="0"/>
              </a:rPr>
              <a:t>how </a:t>
            </a:r>
            <a:r>
              <a:rPr lang="en-US" b="1" i="0" u="none" strike="noStrike" baseline="0" dirty="0">
                <a:solidFill>
                  <a:srgbClr val="FF0000"/>
                </a:solidFill>
                <a:latin typeface="Bookman Old Style" panose="02050604050505020204" pitchFamily="18" charset="0"/>
              </a:rPr>
              <a:t>to talk to others </a:t>
            </a:r>
            <a:r>
              <a:rPr lang="en-US" b="0" i="0" u="none" strike="noStrike" baseline="0" dirty="0">
                <a:latin typeface="Bookman Old Style" panose="02050604050505020204" pitchFamily="18" charset="0"/>
              </a:rPr>
              <a:t>can be very useful. </a:t>
            </a:r>
          </a:p>
        </p:txBody>
      </p:sp>
    </p:spTree>
    <p:extLst>
      <p:ext uri="{BB962C8B-B14F-4D97-AF65-F5344CB8AC3E}">
        <p14:creationId xmlns:p14="http://schemas.microsoft.com/office/powerpoint/2010/main" val="427087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11D0A-721E-BDD2-C31B-34836B451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37097-A412-2C14-A7E3-3E2391D5F163}"/>
              </a:ext>
            </a:extLst>
          </p:cNvPr>
          <p:cNvSpPr>
            <a:spLocks noGrp="1"/>
          </p:cNvSpPr>
          <p:nvPr>
            <p:ph type="title"/>
          </p:nvPr>
        </p:nvSpPr>
        <p:spPr>
          <a:xfrm>
            <a:off x="169606" y="180206"/>
            <a:ext cx="10515600" cy="630674"/>
          </a:xfrm>
        </p:spPr>
        <p:txBody>
          <a:bodyPr>
            <a:normAutofit/>
          </a:bodyPr>
          <a:lstStyle/>
          <a:p>
            <a:r>
              <a:rPr lang="en-US" sz="3200" b="1" dirty="0">
                <a:solidFill>
                  <a:srgbClr val="FF0000"/>
                </a:solidFill>
                <a:latin typeface="Bookman Old Style" panose="02050604050505020204" pitchFamily="18" charset="0"/>
              </a:rPr>
              <a:t>Importance of How to Talk to Others</a:t>
            </a:r>
            <a:endParaRPr lang="en-IN" sz="3200"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7864765C-C1AB-A637-69B3-897DDF957E14}"/>
              </a:ext>
            </a:extLst>
          </p:cNvPr>
          <p:cNvSpPr>
            <a:spLocks noGrp="1"/>
          </p:cNvSpPr>
          <p:nvPr>
            <p:ph idx="1"/>
          </p:nvPr>
        </p:nvSpPr>
        <p:spPr>
          <a:xfrm>
            <a:off x="169606" y="810880"/>
            <a:ext cx="12022394" cy="5747235"/>
          </a:xfrm>
        </p:spPr>
        <p:txBody>
          <a:bodyPr>
            <a:noAutofit/>
          </a:bodyPr>
          <a:lstStyle/>
          <a:p>
            <a:pPr marL="457200" indent="-457200">
              <a:lnSpc>
                <a:spcPct val="150000"/>
              </a:lnSpc>
              <a:buAutoNum type="arabicPeriod"/>
            </a:pPr>
            <a:r>
              <a:rPr lang="en-US" sz="2400" b="1" i="1" dirty="0">
                <a:solidFill>
                  <a:srgbClr val="FF0000"/>
                </a:solidFill>
                <a:latin typeface="Bookman Old Style" panose="02050604050505020204" pitchFamily="18" charset="0"/>
              </a:rPr>
              <a:t>The Director: </a:t>
            </a:r>
            <a:r>
              <a:rPr lang="en-US" sz="2400" dirty="0">
                <a:latin typeface="Bookman Old Style" panose="02050604050505020204" pitchFamily="18" charset="0"/>
              </a:rPr>
              <a:t>Person with short attention span, processes information very quickly, needs only the final result, forgets all  the background information</a:t>
            </a:r>
          </a:p>
          <a:p>
            <a:pPr marL="457200" indent="-457200">
              <a:lnSpc>
                <a:spcPct val="150000"/>
              </a:lnSpc>
              <a:buAutoNum type="arabicPeriod"/>
            </a:pPr>
            <a:r>
              <a:rPr lang="en-US" sz="2400" b="1" i="1" dirty="0">
                <a:solidFill>
                  <a:srgbClr val="FF0000"/>
                </a:solidFill>
                <a:latin typeface="Bookman Old Style" panose="02050604050505020204" pitchFamily="18" charset="0"/>
              </a:rPr>
              <a:t>The Free Spirit:</a:t>
            </a:r>
            <a:r>
              <a:rPr lang="en-US" sz="2400" b="1" dirty="0">
                <a:solidFill>
                  <a:srgbClr val="FF0000"/>
                </a:solidFill>
                <a:latin typeface="Bookman Old Style" panose="02050604050505020204" pitchFamily="18" charset="0"/>
              </a:rPr>
              <a:t> </a:t>
            </a:r>
            <a:r>
              <a:rPr lang="en-US" sz="2400" dirty="0">
                <a:latin typeface="Bookman Old Style" panose="02050604050505020204" pitchFamily="18" charset="0"/>
              </a:rPr>
              <a:t>Creative, considers alternative approaches before making a decision, not very good on follow-through</a:t>
            </a:r>
          </a:p>
          <a:p>
            <a:pPr marL="457200" indent="-457200">
              <a:lnSpc>
                <a:spcPct val="150000"/>
              </a:lnSpc>
              <a:buAutoNum type="arabicPeriod"/>
            </a:pPr>
            <a:r>
              <a:rPr lang="en-US" sz="2400" b="1" i="1" dirty="0">
                <a:solidFill>
                  <a:srgbClr val="FF0000"/>
                </a:solidFill>
                <a:latin typeface="Bookman Old Style" panose="02050604050505020204" pitchFamily="18" charset="0"/>
              </a:rPr>
              <a:t>The Humanist</a:t>
            </a:r>
            <a:r>
              <a:rPr lang="en-US" sz="2400" i="1" dirty="0">
                <a:latin typeface="Bookman Old Style" panose="02050604050505020204" pitchFamily="18" charset="0"/>
              </a:rPr>
              <a:t>: M</a:t>
            </a:r>
            <a:r>
              <a:rPr lang="en-US" sz="2400" dirty="0">
                <a:latin typeface="Bookman Old Style" panose="02050604050505020204" pitchFamily="18" charset="0"/>
              </a:rPr>
              <a:t>anager likes everyone to be happy and is very concerned with the feelings of others; more patience needed to deal with</a:t>
            </a:r>
          </a:p>
          <a:p>
            <a:pPr marL="457200" indent="-457200">
              <a:lnSpc>
                <a:spcPct val="150000"/>
              </a:lnSpc>
              <a:buAutoNum type="arabicPeriod"/>
            </a:pPr>
            <a:r>
              <a:rPr lang="en-US" sz="2400" b="1" i="1" dirty="0">
                <a:solidFill>
                  <a:srgbClr val="FF0000"/>
                </a:solidFill>
                <a:latin typeface="Bookman Old Style" panose="02050604050505020204" pitchFamily="18" charset="0"/>
              </a:rPr>
              <a:t>The Historian: </a:t>
            </a:r>
            <a:r>
              <a:rPr lang="en-US" sz="2400" b="1" dirty="0">
                <a:solidFill>
                  <a:srgbClr val="FF0000"/>
                </a:solidFill>
                <a:latin typeface="Bookman Old Style" panose="02050604050505020204" pitchFamily="18" charset="0"/>
              </a:rPr>
              <a:t> </a:t>
            </a:r>
            <a:r>
              <a:rPr lang="en-US" sz="2400" dirty="0">
                <a:latin typeface="Bookman Old Style" panose="02050604050505020204" pitchFamily="18" charset="0"/>
              </a:rPr>
              <a:t>thrives on details and background information, remains focused on the topic under consideration until it is  reviewed and a decision is made</a:t>
            </a:r>
          </a:p>
          <a:p>
            <a:pPr algn="l">
              <a:lnSpc>
                <a:spcPct val="150000"/>
              </a:lnSpc>
            </a:pPr>
            <a:endParaRPr lang="en-US" sz="2400" b="0" i="0" u="none" strike="noStrike" baseline="0" dirty="0">
              <a:latin typeface="Bookman Old Style" panose="02050604050505020204" pitchFamily="18" charset="0"/>
            </a:endParaRPr>
          </a:p>
        </p:txBody>
      </p:sp>
    </p:spTree>
    <p:extLst>
      <p:ext uri="{BB962C8B-B14F-4D97-AF65-F5344CB8AC3E}">
        <p14:creationId xmlns:p14="http://schemas.microsoft.com/office/powerpoint/2010/main" val="265287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95DE7-70B5-AD94-EA18-67B01E0B5107}"/>
              </a:ext>
            </a:extLst>
          </p:cNvPr>
          <p:cNvSpPr>
            <a:spLocks noGrp="1"/>
          </p:cNvSpPr>
          <p:nvPr>
            <p:ph type="title"/>
          </p:nvPr>
        </p:nvSpPr>
        <p:spPr>
          <a:xfrm>
            <a:off x="98323" y="90282"/>
            <a:ext cx="11255477" cy="905387"/>
          </a:xfrm>
        </p:spPr>
        <p:txBody>
          <a:bodyPr>
            <a:normAutofit/>
          </a:bodyPr>
          <a:lstStyle/>
          <a:p>
            <a:r>
              <a:rPr lang="en-IN" sz="2800" b="1" i="0" u="none" strike="noStrike" baseline="0" dirty="0">
                <a:solidFill>
                  <a:srgbClr val="FF0000"/>
                </a:solidFill>
                <a:latin typeface="Bookman Old Style" panose="02050604050505020204" pitchFamily="18" charset="0"/>
              </a:rPr>
              <a:t>Importance of Feedback</a:t>
            </a:r>
            <a:endParaRPr lang="en-IN" sz="2800"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4E121392-A0A0-AC5C-6235-E9EF68AC163E}"/>
              </a:ext>
            </a:extLst>
          </p:cNvPr>
          <p:cNvSpPr>
            <a:spLocks noGrp="1"/>
          </p:cNvSpPr>
          <p:nvPr>
            <p:ph idx="1"/>
          </p:nvPr>
        </p:nvSpPr>
        <p:spPr>
          <a:xfrm>
            <a:off x="196645" y="3903406"/>
            <a:ext cx="11769213" cy="2733367"/>
          </a:xfrm>
        </p:spPr>
        <p:txBody>
          <a:bodyPr>
            <a:normAutofit fontScale="92500" lnSpcReduction="10000"/>
          </a:bodyPr>
          <a:lstStyle/>
          <a:p>
            <a:pPr algn="just">
              <a:lnSpc>
                <a:spcPct val="150000"/>
              </a:lnSpc>
            </a:pPr>
            <a:r>
              <a:rPr lang="en-IN" sz="2400" b="0" i="0" u="none" strike="noStrike" baseline="0" dirty="0">
                <a:latin typeface="Bookman Old Style" panose="02050604050505020204" pitchFamily="18" charset="0"/>
              </a:rPr>
              <a:t>Both sender and </a:t>
            </a:r>
            <a:r>
              <a:rPr lang="en-US" sz="2400" dirty="0">
                <a:latin typeface="Bookman Old Style" panose="02050604050505020204" pitchFamily="18" charset="0"/>
              </a:rPr>
              <a:t>the </a:t>
            </a:r>
            <a:r>
              <a:rPr lang="en-US" sz="2400" b="0" i="0" u="none" strike="noStrike" baseline="0" dirty="0">
                <a:latin typeface="Bookman Old Style" panose="02050604050505020204" pitchFamily="18" charset="0"/>
              </a:rPr>
              <a:t>receiver  required  for an interpersonal communication to take place</a:t>
            </a:r>
          </a:p>
          <a:p>
            <a:pPr algn="l">
              <a:lnSpc>
                <a:spcPct val="150000"/>
              </a:lnSpc>
            </a:pPr>
            <a:r>
              <a:rPr lang="en-US" sz="2400" b="0" i="0" u="none" strike="noStrike" baseline="0" dirty="0">
                <a:latin typeface="Bookman Old Style" panose="02050604050505020204" pitchFamily="18" charset="0"/>
              </a:rPr>
              <a:t>Proper follow-up and feedback is required  </a:t>
            </a:r>
            <a:r>
              <a:rPr lang="en-US" sz="2400" dirty="0">
                <a:latin typeface="Bookman Old Style" panose="02050604050505020204" pitchFamily="18" charset="0"/>
              </a:rPr>
              <a:t>so that </a:t>
            </a:r>
            <a:r>
              <a:rPr lang="en-US" sz="2400" b="0" i="0" u="none" strike="noStrike" baseline="0" dirty="0">
                <a:latin typeface="Bookman Old Style" panose="02050604050505020204" pitchFamily="18" charset="0"/>
              </a:rPr>
              <a:t>the sender can check on how the message </a:t>
            </a:r>
            <a:r>
              <a:rPr lang="en-IN" sz="2400" b="0" i="0" u="none" strike="noStrike" baseline="0" dirty="0">
                <a:latin typeface="Bookman Old Style" panose="02050604050505020204" pitchFamily="18" charset="0"/>
              </a:rPr>
              <a:t>was actually interpreted</a:t>
            </a:r>
          </a:p>
          <a:p>
            <a:pPr>
              <a:lnSpc>
                <a:spcPct val="150000"/>
              </a:lnSpc>
            </a:pPr>
            <a:r>
              <a:rPr lang="en-US" sz="2400" dirty="0">
                <a:latin typeface="Bookman Old Style" panose="02050604050505020204" pitchFamily="18" charset="0"/>
              </a:rPr>
              <a:t>F</a:t>
            </a:r>
            <a:r>
              <a:rPr lang="en-US" sz="2400" b="0" i="0" u="none" strike="noStrike" baseline="0" dirty="0">
                <a:latin typeface="Bookman Old Style" panose="02050604050505020204" pitchFamily="18" charset="0"/>
              </a:rPr>
              <a:t>eedback makes communication a two-way process</a:t>
            </a:r>
            <a:endParaRPr lang="en-IN" sz="2400" dirty="0">
              <a:latin typeface="Bookman Old Style" panose="02050604050505020204" pitchFamily="18" charset="0"/>
            </a:endParaRPr>
          </a:p>
        </p:txBody>
      </p:sp>
      <p:sp>
        <p:nvSpPr>
          <p:cNvPr id="4" name="Oval 3">
            <a:extLst>
              <a:ext uri="{FF2B5EF4-FFF2-40B4-BE49-F238E27FC236}">
                <a16:creationId xmlns:a16="http://schemas.microsoft.com/office/drawing/2014/main" id="{16161460-11DE-BE4C-3F56-6A0191001D8A}"/>
              </a:ext>
            </a:extLst>
          </p:cNvPr>
          <p:cNvSpPr/>
          <p:nvPr/>
        </p:nvSpPr>
        <p:spPr>
          <a:xfrm>
            <a:off x="1651818" y="1101213"/>
            <a:ext cx="9409472" cy="23277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i="1" u="none" strike="noStrike" baseline="0" dirty="0">
                <a:latin typeface="Bookman Old Style" panose="02050604050505020204" pitchFamily="18" charset="0"/>
              </a:rPr>
              <a:t>Is there a noise in the forest if a tree crashes to the ground but no one is there to hear it???</a:t>
            </a:r>
          </a:p>
          <a:p>
            <a:pPr algn="ctr"/>
            <a:endParaRPr lang="en-IN" dirty="0"/>
          </a:p>
        </p:txBody>
      </p:sp>
    </p:spTree>
    <p:extLst>
      <p:ext uri="{BB962C8B-B14F-4D97-AF65-F5344CB8AC3E}">
        <p14:creationId xmlns:p14="http://schemas.microsoft.com/office/powerpoint/2010/main" val="2411066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85AE-A357-2EF5-961D-3E830EECADFE}"/>
              </a:ext>
            </a:extLst>
          </p:cNvPr>
          <p:cNvSpPr>
            <a:spLocks noGrp="1"/>
          </p:cNvSpPr>
          <p:nvPr>
            <p:ph type="title"/>
          </p:nvPr>
        </p:nvSpPr>
        <p:spPr>
          <a:xfrm>
            <a:off x="216310" y="51770"/>
            <a:ext cx="11661058" cy="823301"/>
          </a:xfrm>
        </p:spPr>
        <p:txBody>
          <a:bodyPr>
            <a:normAutofit/>
          </a:bodyPr>
          <a:lstStyle/>
          <a:p>
            <a:r>
              <a:rPr lang="en-US" sz="3200" b="1" dirty="0">
                <a:solidFill>
                  <a:srgbClr val="FF0000"/>
                </a:solidFill>
                <a:latin typeface="Bookman Old Style" panose="02050604050505020204" pitchFamily="18" charset="0"/>
              </a:rPr>
              <a:t>C</a:t>
            </a:r>
            <a:r>
              <a:rPr lang="en-US" sz="3200" b="1" i="0" u="none" strike="noStrike" baseline="0" dirty="0">
                <a:solidFill>
                  <a:srgbClr val="FF0000"/>
                </a:solidFill>
                <a:latin typeface="Bookman Old Style" panose="02050604050505020204" pitchFamily="18" charset="0"/>
              </a:rPr>
              <a:t>haracteristics of effective and ineffective feedback</a:t>
            </a:r>
            <a:endParaRPr lang="en-IN" sz="3200" b="1"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8A5CE121-C26B-C548-A78D-594CD2063525}"/>
              </a:ext>
            </a:extLst>
          </p:cNvPr>
          <p:cNvSpPr>
            <a:spLocks noGrp="1"/>
          </p:cNvSpPr>
          <p:nvPr>
            <p:ph idx="1"/>
          </p:nvPr>
        </p:nvSpPr>
        <p:spPr>
          <a:xfrm>
            <a:off x="1073379" y="5314899"/>
            <a:ext cx="10515600" cy="1398486"/>
          </a:xfrm>
        </p:spPr>
        <p:txBody>
          <a:bodyPr>
            <a:normAutofit/>
          </a:bodyPr>
          <a:lstStyle/>
          <a:p>
            <a:pPr marL="0" indent="0" algn="ctr">
              <a:buNone/>
            </a:pPr>
            <a:r>
              <a:rPr lang="en-IN" sz="1800" b="1" i="0" u="none" strike="noStrike" baseline="0" dirty="0">
                <a:latin typeface="Times New Roman" panose="02020603050405020304" pitchFamily="18" charset="0"/>
              </a:rPr>
              <a:t>Luthans and Martinko’s</a:t>
            </a:r>
            <a:r>
              <a:rPr lang="en-IN" sz="1800" b="1" dirty="0">
                <a:latin typeface="Times New Roman" panose="02020603050405020304" pitchFamily="18" charset="0"/>
              </a:rPr>
              <a:t> </a:t>
            </a:r>
            <a:r>
              <a:rPr lang="en-IN" sz="1800" b="1" i="0" u="none" strike="noStrike" baseline="0" dirty="0">
                <a:latin typeface="Times New Roman" panose="02020603050405020304" pitchFamily="18" charset="0"/>
              </a:rPr>
              <a:t>Characteristics of Feedback for Effective and Ineffective Interpersonal</a:t>
            </a:r>
          </a:p>
          <a:p>
            <a:pPr marL="0" indent="0" algn="ctr">
              <a:buNone/>
            </a:pPr>
            <a:r>
              <a:rPr lang="en-IN" sz="1800" b="1" i="0" u="none" strike="noStrike" baseline="0" dirty="0">
                <a:latin typeface="Times New Roman" panose="02020603050405020304" pitchFamily="18" charset="0"/>
              </a:rPr>
              <a:t>    Communication in Human Resource Management</a:t>
            </a:r>
            <a:endParaRPr lang="en-IN" dirty="0"/>
          </a:p>
        </p:txBody>
      </p:sp>
      <p:pic>
        <p:nvPicPr>
          <p:cNvPr id="5" name="Picture 4">
            <a:extLst>
              <a:ext uri="{FF2B5EF4-FFF2-40B4-BE49-F238E27FC236}">
                <a16:creationId xmlns:a16="http://schemas.microsoft.com/office/drawing/2014/main" id="{912F16B3-9491-55FD-37B2-163AA5D613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021" y="963561"/>
            <a:ext cx="10612331" cy="4351338"/>
          </a:xfrm>
          <a:prstGeom prst="rect">
            <a:avLst/>
          </a:prstGeom>
        </p:spPr>
      </p:pic>
    </p:spTree>
    <p:extLst>
      <p:ext uri="{BB962C8B-B14F-4D97-AF65-F5344CB8AC3E}">
        <p14:creationId xmlns:p14="http://schemas.microsoft.com/office/powerpoint/2010/main" val="3185685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921B2-DFEA-83C4-3BC5-5D239B9F96B7}"/>
              </a:ext>
            </a:extLst>
          </p:cNvPr>
          <p:cNvSpPr>
            <a:spLocks noGrp="1"/>
          </p:cNvSpPr>
          <p:nvPr>
            <p:ph type="title"/>
          </p:nvPr>
        </p:nvSpPr>
        <p:spPr>
          <a:xfrm>
            <a:off x="0" y="-273972"/>
            <a:ext cx="11353800" cy="1325563"/>
          </a:xfrm>
        </p:spPr>
        <p:txBody>
          <a:bodyPr>
            <a:normAutofit/>
          </a:bodyPr>
          <a:lstStyle/>
          <a:p>
            <a:r>
              <a:rPr lang="en-IN" sz="3600" b="1" i="0" u="none" strike="noStrike" baseline="0" dirty="0">
                <a:solidFill>
                  <a:srgbClr val="FF0000"/>
                </a:solidFill>
                <a:latin typeface="Bookman Old Style" panose="02050604050505020204" pitchFamily="18" charset="0"/>
              </a:rPr>
              <a:t>Interactive communication</a:t>
            </a:r>
            <a:endParaRPr lang="en-IN" sz="3600" b="1"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E26DF472-32C5-7349-D443-3E50347C6CD4}"/>
              </a:ext>
            </a:extLst>
          </p:cNvPr>
          <p:cNvSpPr>
            <a:spLocks noGrp="1"/>
          </p:cNvSpPr>
          <p:nvPr>
            <p:ph idx="1"/>
          </p:nvPr>
        </p:nvSpPr>
        <p:spPr>
          <a:xfrm>
            <a:off x="344129" y="958364"/>
            <a:ext cx="11009671" cy="5599752"/>
          </a:xfrm>
        </p:spPr>
        <p:txBody>
          <a:bodyPr>
            <a:noAutofit/>
          </a:bodyPr>
          <a:lstStyle/>
          <a:p>
            <a:pPr marL="0" indent="0" algn="just">
              <a:lnSpc>
                <a:spcPct val="150000"/>
              </a:lnSpc>
              <a:buNone/>
            </a:pPr>
            <a:r>
              <a:rPr lang="en-US" sz="2400" b="0" i="1" u="none" strike="noStrike" baseline="0" dirty="0">
                <a:latin typeface="Bookman Old Style" panose="02050604050505020204" pitchFamily="18" charset="0"/>
              </a:rPr>
              <a:t>1. </a:t>
            </a:r>
            <a:r>
              <a:rPr lang="en-US" sz="2400" b="1" i="1" u="none" strike="noStrike" baseline="0" dirty="0">
                <a:solidFill>
                  <a:srgbClr val="FF0000"/>
                </a:solidFill>
                <a:latin typeface="Bookman Old Style" panose="02050604050505020204" pitchFamily="18" charset="0"/>
              </a:rPr>
              <a:t>Task coordination: </a:t>
            </a:r>
            <a:r>
              <a:rPr lang="en-US" sz="2400" b="0" i="0" u="none" strike="noStrike" baseline="0" dirty="0">
                <a:latin typeface="Bookman Old Style" panose="02050604050505020204" pitchFamily="18" charset="0"/>
              </a:rPr>
              <a:t>Department heads may meet monthly to discuss how each department is contributing  to the system’s goals</a:t>
            </a:r>
          </a:p>
          <a:p>
            <a:pPr marL="0" indent="0" algn="just">
              <a:lnSpc>
                <a:spcPct val="150000"/>
              </a:lnSpc>
              <a:buNone/>
            </a:pPr>
            <a:r>
              <a:rPr lang="en-US" sz="2400" b="0" i="0" u="none" strike="noStrike" baseline="0" dirty="0">
                <a:latin typeface="Bookman Old Style" panose="02050604050505020204" pitchFamily="18" charset="0"/>
              </a:rPr>
              <a:t>2. </a:t>
            </a:r>
            <a:r>
              <a:rPr lang="en-US" sz="2400" b="1" i="1" u="none" strike="noStrike" baseline="0" dirty="0">
                <a:solidFill>
                  <a:srgbClr val="FF0000"/>
                </a:solidFill>
                <a:latin typeface="Bookman Old Style" panose="02050604050505020204" pitchFamily="18" charset="0"/>
              </a:rPr>
              <a:t>Problem solving:  </a:t>
            </a:r>
            <a:r>
              <a:rPr lang="en-US" sz="2400" u="none" strike="noStrike" baseline="0" dirty="0">
                <a:latin typeface="Bookman Old Style" panose="02050604050505020204" pitchFamily="18" charset="0"/>
              </a:rPr>
              <a:t>M</a:t>
            </a:r>
            <a:r>
              <a:rPr lang="en-US" sz="2400" b="0" i="0" u="none" strike="noStrike" baseline="0" dirty="0">
                <a:latin typeface="Bookman Old Style" panose="02050604050505020204" pitchFamily="18" charset="0"/>
              </a:rPr>
              <a:t>embers of a department may assemble to discuss how they will handle a threatened budget cut</a:t>
            </a:r>
          </a:p>
          <a:p>
            <a:pPr marL="0" indent="0" algn="just">
              <a:lnSpc>
                <a:spcPct val="150000"/>
              </a:lnSpc>
              <a:buNone/>
            </a:pPr>
            <a:r>
              <a:rPr lang="en-US" sz="2400" b="0" i="0" u="none" strike="noStrike" baseline="0" dirty="0">
                <a:latin typeface="Bookman Old Style" panose="02050604050505020204" pitchFamily="18" charset="0"/>
              </a:rPr>
              <a:t>3. </a:t>
            </a:r>
            <a:r>
              <a:rPr lang="en-US" sz="2400" b="1" i="1" u="none" strike="noStrike" baseline="0" dirty="0">
                <a:solidFill>
                  <a:srgbClr val="FF0000"/>
                </a:solidFill>
                <a:latin typeface="Bookman Old Style" panose="02050604050505020204" pitchFamily="18" charset="0"/>
              </a:rPr>
              <a:t>Information sharing:  </a:t>
            </a:r>
            <a:r>
              <a:rPr lang="en-US" sz="2400" u="none" strike="noStrike" baseline="0" dirty="0">
                <a:latin typeface="Bookman Old Style" panose="02050604050505020204" pitchFamily="18" charset="0"/>
              </a:rPr>
              <a:t>M</a:t>
            </a:r>
            <a:r>
              <a:rPr lang="en-US" sz="2400" b="0" i="0" u="none" strike="noStrike" baseline="0" dirty="0">
                <a:latin typeface="Bookman Old Style" panose="02050604050505020204" pitchFamily="18" charset="0"/>
              </a:rPr>
              <a:t>embers of one department may meet with the members of another department to give them some new data</a:t>
            </a:r>
          </a:p>
          <a:p>
            <a:pPr marL="0" indent="0" algn="just">
              <a:lnSpc>
                <a:spcPct val="150000"/>
              </a:lnSpc>
              <a:buNone/>
            </a:pPr>
            <a:r>
              <a:rPr lang="en-US" sz="2400" b="0" i="0" u="none" strike="noStrike" baseline="0" dirty="0">
                <a:latin typeface="Bookman Old Style" panose="02050604050505020204" pitchFamily="18" charset="0"/>
              </a:rPr>
              <a:t>4. </a:t>
            </a:r>
            <a:r>
              <a:rPr lang="en-US" sz="2400" b="1" i="1" u="none" strike="noStrike" baseline="0" dirty="0">
                <a:solidFill>
                  <a:srgbClr val="FF0000"/>
                </a:solidFill>
                <a:latin typeface="Bookman Old Style" panose="02050604050505020204" pitchFamily="18" charset="0"/>
              </a:rPr>
              <a:t>Conflict resolution: </a:t>
            </a:r>
            <a:r>
              <a:rPr lang="en-US" sz="2400" b="0" i="0" u="none" strike="noStrike" baseline="0" dirty="0">
                <a:latin typeface="Bookman Old Style" panose="02050604050505020204" pitchFamily="18" charset="0"/>
              </a:rPr>
              <a:t>Members of one department may meet to discuss a conflict inherent in the department or between departments</a:t>
            </a:r>
          </a:p>
        </p:txBody>
      </p:sp>
    </p:spTree>
    <p:extLst>
      <p:ext uri="{BB962C8B-B14F-4D97-AF65-F5344CB8AC3E}">
        <p14:creationId xmlns:p14="http://schemas.microsoft.com/office/powerpoint/2010/main" val="3120762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F2B3D-6531-6FAF-368C-80BD87CC8274}"/>
              </a:ext>
            </a:extLst>
          </p:cNvPr>
          <p:cNvSpPr>
            <a:spLocks noGrp="1"/>
          </p:cNvSpPr>
          <p:nvPr>
            <p:ph type="title"/>
          </p:nvPr>
        </p:nvSpPr>
        <p:spPr>
          <a:xfrm>
            <a:off x="0" y="-126487"/>
            <a:ext cx="11353800" cy="1325563"/>
          </a:xfrm>
        </p:spPr>
        <p:txBody>
          <a:bodyPr>
            <a:normAutofit/>
          </a:bodyPr>
          <a:lstStyle/>
          <a:p>
            <a:r>
              <a:rPr lang="en-IN" sz="3200" b="1" i="0" u="none" strike="noStrike" baseline="0" dirty="0">
                <a:solidFill>
                  <a:srgbClr val="FF0000"/>
                </a:solidFill>
                <a:latin typeface="Bookman Old Style" panose="02050604050505020204" pitchFamily="18" charset="0"/>
              </a:rPr>
              <a:t>DECISION-MAKING PROCESS</a:t>
            </a:r>
            <a:endParaRPr lang="en-IN" sz="3200"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6BB3904A-2000-0D7F-ACB9-3A5EA790D6B7}"/>
              </a:ext>
            </a:extLst>
          </p:cNvPr>
          <p:cNvSpPr>
            <a:spLocks noGrp="1"/>
          </p:cNvSpPr>
          <p:nvPr>
            <p:ph idx="1"/>
          </p:nvPr>
        </p:nvSpPr>
        <p:spPr>
          <a:xfrm>
            <a:off x="176981" y="786581"/>
            <a:ext cx="11611896" cy="5643715"/>
          </a:xfrm>
        </p:spPr>
        <p:txBody>
          <a:bodyPr>
            <a:noAutofit/>
          </a:bodyPr>
          <a:lstStyle/>
          <a:p>
            <a:pPr algn="just">
              <a:lnSpc>
                <a:spcPct val="150000"/>
              </a:lnSpc>
            </a:pPr>
            <a:r>
              <a:rPr lang="en-US" sz="2400" b="0" i="0" u="none" strike="noStrike" baseline="0" dirty="0">
                <a:latin typeface="Bookman Old Style" panose="02050604050505020204" pitchFamily="18" charset="0"/>
              </a:rPr>
              <a:t>Choosing between alternatives</a:t>
            </a:r>
            <a:endParaRPr lang="en-IN" sz="2400" dirty="0">
              <a:latin typeface="Bookman Old Style" panose="02050604050505020204" pitchFamily="18" charset="0"/>
            </a:endParaRPr>
          </a:p>
          <a:p>
            <a:pPr algn="just">
              <a:lnSpc>
                <a:spcPct val="150000"/>
              </a:lnSpc>
            </a:pPr>
            <a:r>
              <a:rPr lang="en-US" sz="2400" b="1" i="0" u="none" strike="noStrike" baseline="0" dirty="0">
                <a:solidFill>
                  <a:srgbClr val="FF0000"/>
                </a:solidFill>
                <a:latin typeface="Bookman Old Style" panose="02050604050505020204" pitchFamily="18" charset="0"/>
              </a:rPr>
              <a:t>Herbert A. Simon’s (decision theorist):</a:t>
            </a:r>
            <a:r>
              <a:rPr lang="en-US" sz="2400" b="1" i="0" u="none" strike="noStrike" dirty="0">
                <a:solidFill>
                  <a:srgbClr val="FF0000"/>
                </a:solidFill>
                <a:latin typeface="Bookman Old Style" panose="02050604050505020204" pitchFamily="18" charset="0"/>
              </a:rPr>
              <a:t> </a:t>
            </a:r>
            <a:r>
              <a:rPr lang="en-US" sz="2400" b="1" i="0" u="none" strike="noStrike" dirty="0">
                <a:latin typeface="Bookman Old Style" panose="02050604050505020204" pitchFamily="18" charset="0"/>
              </a:rPr>
              <a:t>3</a:t>
            </a:r>
            <a:r>
              <a:rPr lang="en-US" sz="2400" dirty="0">
                <a:latin typeface="Bookman Old Style" panose="02050604050505020204" pitchFamily="18" charset="0"/>
              </a:rPr>
              <a:t> </a:t>
            </a:r>
            <a:r>
              <a:rPr lang="en-US" sz="2400" b="0" i="0" u="none" strike="noStrike" baseline="0" dirty="0">
                <a:latin typeface="Bookman Old Style" panose="02050604050505020204" pitchFamily="18" charset="0"/>
              </a:rPr>
              <a:t>major phases in the decision-making process:</a:t>
            </a:r>
          </a:p>
          <a:p>
            <a:pPr marL="0" indent="0" algn="just">
              <a:lnSpc>
                <a:spcPct val="150000"/>
              </a:lnSpc>
              <a:buNone/>
            </a:pPr>
            <a:r>
              <a:rPr lang="en-US" sz="2400" b="0" i="0" u="none" strike="noStrike" baseline="0" dirty="0">
                <a:latin typeface="Bookman Old Style" panose="02050604050505020204" pitchFamily="18" charset="0"/>
              </a:rPr>
              <a:t> 1. </a:t>
            </a:r>
            <a:r>
              <a:rPr lang="en-US" sz="2400" b="1" i="1" u="none" strike="noStrike" baseline="0" dirty="0">
                <a:solidFill>
                  <a:srgbClr val="FF0000"/>
                </a:solidFill>
                <a:latin typeface="Bookman Old Style" panose="02050604050505020204" pitchFamily="18" charset="0"/>
              </a:rPr>
              <a:t>Intelligence activity </a:t>
            </a:r>
            <a:r>
              <a:rPr lang="en-US" sz="2400" b="0" i="1" u="none" strike="noStrike" baseline="0" dirty="0">
                <a:latin typeface="Bookman Old Style" panose="02050604050505020204" pitchFamily="18" charset="0"/>
              </a:rPr>
              <a:t>- </a:t>
            </a:r>
            <a:r>
              <a:rPr lang="en-US" sz="2400" b="0" i="0" u="none" strike="noStrike" baseline="0" dirty="0">
                <a:latin typeface="Bookman Old Style" panose="02050604050505020204" pitchFamily="18" charset="0"/>
              </a:rPr>
              <a:t>Searching the environment for</a:t>
            </a:r>
            <a:r>
              <a:rPr lang="en-US" sz="2400" b="0" i="0" u="none" strike="noStrike" dirty="0">
                <a:latin typeface="Bookman Old Style" panose="02050604050505020204" pitchFamily="18" charset="0"/>
              </a:rPr>
              <a:t> </a:t>
            </a:r>
            <a:r>
              <a:rPr lang="en-US" sz="2400" b="0" i="0" u="none" strike="noStrike" baseline="0" dirty="0">
                <a:latin typeface="Bookman Old Style" panose="02050604050505020204" pitchFamily="18" charset="0"/>
              </a:rPr>
              <a:t>conditions</a:t>
            </a:r>
            <a:r>
              <a:rPr lang="en-US" sz="2400" b="0" i="0" u="none" strike="noStrike" dirty="0">
                <a:latin typeface="Bookman Old Style" panose="02050604050505020204" pitchFamily="18" charset="0"/>
              </a:rPr>
              <a:t> </a:t>
            </a:r>
            <a:r>
              <a:rPr lang="en-IN" sz="2400" b="0" i="0" u="none" strike="noStrike" baseline="0" dirty="0">
                <a:latin typeface="Bookman Old Style" panose="02050604050505020204" pitchFamily="18" charset="0"/>
              </a:rPr>
              <a:t>calling for decision making</a:t>
            </a:r>
          </a:p>
          <a:p>
            <a:pPr marL="0" indent="0" algn="just">
              <a:lnSpc>
                <a:spcPct val="150000"/>
              </a:lnSpc>
              <a:buNone/>
            </a:pPr>
            <a:r>
              <a:rPr lang="en-US" sz="2400" b="0" i="0" u="none" strike="noStrike" baseline="0" dirty="0">
                <a:latin typeface="Bookman Old Style" panose="02050604050505020204" pitchFamily="18" charset="0"/>
              </a:rPr>
              <a:t> 2. </a:t>
            </a:r>
            <a:r>
              <a:rPr lang="en-US" sz="2400" b="1" i="1" u="none" strike="noStrike" baseline="0" dirty="0">
                <a:solidFill>
                  <a:srgbClr val="FF0000"/>
                </a:solidFill>
                <a:latin typeface="Bookman Old Style" panose="02050604050505020204" pitchFamily="18" charset="0"/>
              </a:rPr>
              <a:t>Design activity </a:t>
            </a:r>
            <a:r>
              <a:rPr lang="en-US" sz="2400" b="0" i="1" u="none" strike="noStrike" baseline="0" dirty="0">
                <a:latin typeface="Bookman Old Style" panose="02050604050505020204" pitchFamily="18" charset="0"/>
              </a:rPr>
              <a:t>- I</a:t>
            </a:r>
            <a:r>
              <a:rPr lang="en-US" sz="2400" b="0" i="0" u="none" strike="noStrike" baseline="0" dirty="0">
                <a:latin typeface="Bookman Old Style" panose="02050604050505020204" pitchFamily="18" charset="0"/>
              </a:rPr>
              <a:t>nventing, developing, and analyzing possible courses of action  take place</a:t>
            </a:r>
          </a:p>
          <a:p>
            <a:pPr marL="0" indent="0" algn="just">
              <a:lnSpc>
                <a:spcPct val="150000"/>
              </a:lnSpc>
              <a:buNone/>
            </a:pPr>
            <a:r>
              <a:rPr lang="en-US" sz="2400" b="0" i="0" u="none" strike="noStrike" baseline="0" dirty="0">
                <a:latin typeface="Bookman Old Style" panose="02050604050505020204" pitchFamily="18" charset="0"/>
              </a:rPr>
              <a:t>3. </a:t>
            </a:r>
            <a:r>
              <a:rPr lang="en-US" sz="2400" b="1" i="1" u="none" strike="noStrike" baseline="0" dirty="0">
                <a:solidFill>
                  <a:srgbClr val="FF0000"/>
                </a:solidFill>
                <a:latin typeface="Bookman Old Style" panose="02050604050505020204" pitchFamily="18" charset="0"/>
              </a:rPr>
              <a:t>Choice activity</a:t>
            </a:r>
            <a:r>
              <a:rPr lang="en-US" sz="2400" b="1" dirty="0">
                <a:solidFill>
                  <a:srgbClr val="FF0000"/>
                </a:solidFill>
                <a:latin typeface="Bookman Old Style" panose="02050604050505020204" pitchFamily="18" charset="0"/>
              </a:rPr>
              <a:t> </a:t>
            </a:r>
            <a:r>
              <a:rPr lang="en-US" sz="2400" dirty="0">
                <a:latin typeface="Bookman Old Style" panose="02050604050505020204" pitchFamily="18" charset="0"/>
              </a:rPr>
              <a:t>- A</a:t>
            </a:r>
            <a:r>
              <a:rPr lang="en-US" sz="2400" b="0" i="0" u="none" strike="noStrike" baseline="0" dirty="0">
                <a:latin typeface="Bookman Old Style" panose="02050604050505020204" pitchFamily="18" charset="0"/>
              </a:rPr>
              <a:t>ctual choice:</a:t>
            </a:r>
            <a:r>
              <a:rPr lang="en-US" sz="2400" b="0" i="0" u="none" strike="noStrike" dirty="0">
                <a:latin typeface="Bookman Old Style" panose="02050604050505020204" pitchFamily="18" charset="0"/>
              </a:rPr>
              <a:t> </a:t>
            </a:r>
            <a:r>
              <a:rPr lang="en-US" sz="2400" b="0" i="0" u="none" strike="noStrike" baseline="0" dirty="0">
                <a:latin typeface="Bookman Old Style" panose="02050604050505020204" pitchFamily="18" charset="0"/>
              </a:rPr>
              <a:t>selecting a  particular course of action from among those available</a:t>
            </a:r>
            <a:endParaRPr lang="en-IN" sz="2400" dirty="0">
              <a:latin typeface="Bookman Old Style" panose="02050604050505020204" pitchFamily="18" charset="0"/>
            </a:endParaRPr>
          </a:p>
        </p:txBody>
      </p:sp>
    </p:spTree>
    <p:extLst>
      <p:ext uri="{BB962C8B-B14F-4D97-AF65-F5344CB8AC3E}">
        <p14:creationId xmlns:p14="http://schemas.microsoft.com/office/powerpoint/2010/main" val="2312415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D451C-80FB-D3E7-67AC-6B6599B8D4C4}"/>
              </a:ext>
            </a:extLst>
          </p:cNvPr>
          <p:cNvSpPr>
            <a:spLocks noGrp="1"/>
          </p:cNvSpPr>
          <p:nvPr>
            <p:ph type="title"/>
          </p:nvPr>
        </p:nvSpPr>
        <p:spPr/>
        <p:txBody>
          <a:bodyPr>
            <a:normAutofit/>
          </a:bodyPr>
          <a:lstStyle/>
          <a:p>
            <a:r>
              <a:rPr lang="en-IN" sz="2400" b="1" i="0" u="none" strike="noStrike" baseline="0" dirty="0">
                <a:solidFill>
                  <a:srgbClr val="FF0000"/>
                </a:solidFill>
                <a:latin typeface="Bookman Old Style" panose="02050604050505020204" pitchFamily="18" charset="0"/>
              </a:rPr>
              <a:t>Mintzberg’s Empirically Based</a:t>
            </a:r>
            <a:r>
              <a:rPr lang="en-IN" sz="2400" b="1" dirty="0">
                <a:solidFill>
                  <a:srgbClr val="FF0000"/>
                </a:solidFill>
                <a:latin typeface="Bookman Old Style" panose="02050604050505020204" pitchFamily="18" charset="0"/>
              </a:rPr>
              <a:t> </a:t>
            </a:r>
            <a:r>
              <a:rPr lang="en-IN" sz="2400" b="1" i="0" u="none" strike="noStrike" baseline="0" dirty="0">
                <a:solidFill>
                  <a:srgbClr val="FF0000"/>
                </a:solidFill>
                <a:latin typeface="Bookman Old Style" panose="02050604050505020204" pitchFamily="18" charset="0"/>
              </a:rPr>
              <a:t>Phases of Decision Making in Organizations</a:t>
            </a:r>
            <a:endParaRPr lang="en-IN" sz="2400" dirty="0">
              <a:solidFill>
                <a:srgbClr val="FF0000"/>
              </a:solidFill>
              <a:latin typeface="Bookman Old Style" panose="02050604050505020204" pitchFamily="18" charset="0"/>
            </a:endParaRPr>
          </a:p>
        </p:txBody>
      </p:sp>
      <p:pic>
        <p:nvPicPr>
          <p:cNvPr id="5" name="Content Placeholder 4">
            <a:extLst>
              <a:ext uri="{FF2B5EF4-FFF2-40B4-BE49-F238E27FC236}">
                <a16:creationId xmlns:a16="http://schemas.microsoft.com/office/drawing/2014/main" id="{ED8C2CE4-C58D-64C1-F29B-164C702B0A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12030"/>
            <a:ext cx="11946614" cy="3874370"/>
          </a:xfrm>
        </p:spPr>
      </p:pic>
    </p:spTree>
    <p:extLst>
      <p:ext uri="{BB962C8B-B14F-4D97-AF65-F5344CB8AC3E}">
        <p14:creationId xmlns:p14="http://schemas.microsoft.com/office/powerpoint/2010/main" val="3515870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8B09C-B367-DF88-9DD4-D5779EAD0958}"/>
              </a:ext>
            </a:extLst>
          </p:cNvPr>
          <p:cNvSpPr>
            <a:spLocks noGrp="1"/>
          </p:cNvSpPr>
          <p:nvPr>
            <p:ph type="title"/>
          </p:nvPr>
        </p:nvSpPr>
        <p:spPr>
          <a:xfrm>
            <a:off x="127819" y="109488"/>
            <a:ext cx="11117826" cy="500112"/>
          </a:xfrm>
        </p:spPr>
        <p:txBody>
          <a:bodyPr>
            <a:normAutofit/>
          </a:bodyPr>
          <a:lstStyle/>
          <a:p>
            <a:r>
              <a:rPr lang="en-US" sz="2800" b="1" i="0" u="none" strike="noStrike" baseline="0" dirty="0">
                <a:solidFill>
                  <a:srgbClr val="FF0000"/>
                </a:solidFill>
                <a:latin typeface="Bookman Old Style" panose="02050604050505020204" pitchFamily="18" charset="0"/>
              </a:rPr>
              <a:t>Three phases of decision making: Mintzberg’s research</a:t>
            </a:r>
            <a:endParaRPr lang="en-IN" sz="2800" b="1"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1CDE5F28-63D2-C49B-2C05-97EF155F6EA1}"/>
              </a:ext>
            </a:extLst>
          </p:cNvPr>
          <p:cNvSpPr>
            <a:spLocks noGrp="1"/>
          </p:cNvSpPr>
          <p:nvPr>
            <p:ph idx="1"/>
          </p:nvPr>
        </p:nvSpPr>
        <p:spPr>
          <a:xfrm>
            <a:off x="127818" y="619432"/>
            <a:ext cx="12064181" cy="6138913"/>
          </a:xfrm>
        </p:spPr>
        <p:txBody>
          <a:bodyPr>
            <a:noAutofit/>
          </a:bodyPr>
          <a:lstStyle/>
          <a:p>
            <a:pPr marL="0" indent="0" algn="l">
              <a:lnSpc>
                <a:spcPct val="150000"/>
              </a:lnSpc>
              <a:buNone/>
            </a:pPr>
            <a:r>
              <a:rPr lang="en-US" sz="2400" b="0" i="0" u="none" strike="noStrike" baseline="0" dirty="0">
                <a:latin typeface="Bookman Old Style" panose="02050604050505020204" pitchFamily="18" charset="0"/>
              </a:rPr>
              <a:t>1. </a:t>
            </a:r>
            <a:r>
              <a:rPr lang="en-US" sz="2400" b="1" i="1" u="none" strike="noStrike" baseline="0" dirty="0">
                <a:solidFill>
                  <a:srgbClr val="FF0000"/>
                </a:solidFill>
                <a:latin typeface="Bookman Old Style" panose="02050604050505020204" pitchFamily="18" charset="0"/>
              </a:rPr>
              <a:t>Identification phase </a:t>
            </a:r>
            <a:r>
              <a:rPr lang="en-US" sz="2400" b="0" i="1" u="none" strike="noStrike" baseline="0" dirty="0">
                <a:latin typeface="Bookman Old Style" panose="02050604050505020204" pitchFamily="18" charset="0"/>
              </a:rPr>
              <a:t>- </a:t>
            </a:r>
            <a:r>
              <a:rPr lang="en-US" sz="2400" b="0" i="0" u="none" strike="noStrike" baseline="0" dirty="0">
                <a:latin typeface="Bookman Old Style" panose="02050604050505020204" pitchFamily="18" charset="0"/>
              </a:rPr>
              <a:t> </a:t>
            </a:r>
            <a:r>
              <a:rPr lang="en-US" sz="2400" b="1" i="1" dirty="0">
                <a:solidFill>
                  <a:schemeClr val="accent5">
                    <a:lumMod val="75000"/>
                  </a:schemeClr>
                </a:solidFill>
                <a:latin typeface="Bookman Old Style" panose="02050604050505020204" pitchFamily="18" charset="0"/>
              </a:rPr>
              <a:t>R</a:t>
            </a:r>
            <a:r>
              <a:rPr lang="en-US" sz="2400" b="1" i="1" u="none" strike="noStrike" baseline="0" dirty="0">
                <a:solidFill>
                  <a:schemeClr val="accent5">
                    <a:lumMod val="75000"/>
                  </a:schemeClr>
                </a:solidFill>
                <a:latin typeface="Bookman Old Style" panose="02050604050505020204" pitchFamily="18" charset="0"/>
              </a:rPr>
              <a:t>ecognition</a:t>
            </a:r>
            <a:r>
              <a:rPr lang="en-US" sz="2400" b="0" i="1" u="none" strike="noStrike" baseline="0" dirty="0">
                <a:latin typeface="Bookman Old Style" panose="02050604050505020204" pitchFamily="18" charset="0"/>
              </a:rPr>
              <a:t> </a:t>
            </a:r>
            <a:r>
              <a:rPr lang="en-US" sz="2400" b="0" i="0" u="none" strike="noStrike" baseline="0" dirty="0">
                <a:latin typeface="Bookman Old Style" panose="02050604050505020204" pitchFamily="18" charset="0"/>
              </a:rPr>
              <a:t>of a problem</a:t>
            </a:r>
            <a:r>
              <a:rPr lang="en-US" sz="2400" dirty="0">
                <a:latin typeface="Bookman Old Style" panose="02050604050505020204" pitchFamily="18" charset="0"/>
              </a:rPr>
              <a:t>/</a:t>
            </a:r>
            <a:r>
              <a:rPr lang="en-US" sz="2400" b="0" i="0" u="none" strike="noStrike" baseline="0" dirty="0">
                <a:latin typeface="Bookman Old Style" panose="02050604050505020204" pitchFamily="18" charset="0"/>
              </a:rPr>
              <a:t>opportunity arises and a </a:t>
            </a:r>
            <a:r>
              <a:rPr lang="en-US" sz="2400" b="1" i="1" u="none" strike="noStrike" baseline="0" dirty="0">
                <a:solidFill>
                  <a:schemeClr val="accent5">
                    <a:lumMod val="75000"/>
                  </a:schemeClr>
                </a:solidFill>
                <a:latin typeface="Bookman Old Style" panose="02050604050505020204" pitchFamily="18" charset="0"/>
              </a:rPr>
              <a:t>diagnosis</a:t>
            </a:r>
            <a:r>
              <a:rPr lang="en-US" sz="2400" b="0" i="1" u="none" strike="noStrike" baseline="0" dirty="0">
                <a:latin typeface="Bookman Old Style" panose="02050604050505020204" pitchFamily="18" charset="0"/>
              </a:rPr>
              <a:t> </a:t>
            </a:r>
            <a:r>
              <a:rPr lang="en-US" sz="2400" b="0" i="0" u="none" strike="noStrike" baseline="0" dirty="0">
                <a:latin typeface="Bookman Old Style" panose="02050604050505020204" pitchFamily="18" charset="0"/>
              </a:rPr>
              <a:t>is made</a:t>
            </a:r>
          </a:p>
          <a:p>
            <a:pPr marL="0" indent="0" algn="l">
              <a:lnSpc>
                <a:spcPct val="150000"/>
              </a:lnSpc>
              <a:buNone/>
            </a:pPr>
            <a:r>
              <a:rPr lang="en-US" sz="2400" b="0" i="0" u="none" strike="noStrike" baseline="0" dirty="0">
                <a:latin typeface="Bookman Old Style" panose="02050604050505020204" pitchFamily="18" charset="0"/>
              </a:rPr>
              <a:t>2. </a:t>
            </a:r>
            <a:r>
              <a:rPr lang="en-US" sz="2400" b="1" i="1" u="none" strike="noStrike" baseline="0" dirty="0">
                <a:solidFill>
                  <a:srgbClr val="FF0000"/>
                </a:solidFill>
                <a:latin typeface="Bookman Old Style" panose="02050604050505020204" pitchFamily="18" charset="0"/>
              </a:rPr>
              <a:t>Development phase </a:t>
            </a:r>
            <a:r>
              <a:rPr lang="en-US" sz="2400" b="0" i="1" u="none" strike="noStrike" baseline="0" dirty="0">
                <a:latin typeface="Bookman Old Style" panose="02050604050505020204" pitchFamily="18" charset="0"/>
              </a:rPr>
              <a:t>- </a:t>
            </a:r>
            <a:r>
              <a:rPr lang="en-US" sz="2400" b="1" dirty="0">
                <a:solidFill>
                  <a:schemeClr val="accent5">
                    <a:lumMod val="75000"/>
                  </a:schemeClr>
                </a:solidFill>
                <a:latin typeface="Bookman Old Style" panose="02050604050505020204" pitchFamily="18" charset="0"/>
              </a:rPr>
              <a:t>S</a:t>
            </a:r>
            <a:r>
              <a:rPr lang="en-US" sz="2400" b="1" i="1" u="none" strike="noStrike" baseline="0" dirty="0">
                <a:solidFill>
                  <a:schemeClr val="accent5">
                    <a:lumMod val="75000"/>
                  </a:schemeClr>
                </a:solidFill>
                <a:latin typeface="Bookman Old Style" panose="02050604050505020204" pitchFamily="18" charset="0"/>
              </a:rPr>
              <a:t>earch</a:t>
            </a:r>
            <a:r>
              <a:rPr lang="en-US" sz="2400" b="0" i="1" u="none" strike="noStrike" baseline="0" dirty="0">
                <a:latin typeface="Bookman Old Style" panose="02050604050505020204" pitchFamily="18" charset="0"/>
              </a:rPr>
              <a:t> </a:t>
            </a:r>
            <a:r>
              <a:rPr lang="en-US" sz="2400" b="0" i="0" u="none" strike="noStrike" baseline="0" dirty="0">
                <a:latin typeface="Bookman Old Style" panose="02050604050505020204" pitchFamily="18" charset="0"/>
              </a:rPr>
              <a:t>for existing standard procedures or solutions already in place or the </a:t>
            </a:r>
            <a:r>
              <a:rPr lang="en-US" sz="2400" b="1" i="1" u="none" strike="noStrike" baseline="0" dirty="0">
                <a:solidFill>
                  <a:schemeClr val="accent5">
                    <a:lumMod val="75000"/>
                  </a:schemeClr>
                </a:solidFill>
                <a:latin typeface="Bookman Old Style" panose="02050604050505020204" pitchFamily="18" charset="0"/>
              </a:rPr>
              <a:t>design </a:t>
            </a:r>
            <a:r>
              <a:rPr lang="en-US" sz="2400" b="0" i="0" u="none" strike="noStrike" baseline="0" dirty="0">
                <a:latin typeface="Bookman Old Style" panose="02050604050505020204" pitchFamily="18" charset="0"/>
              </a:rPr>
              <a:t>of a new, tailor-made solution</a:t>
            </a:r>
            <a:endParaRPr lang="en-US" sz="2400" dirty="0">
              <a:latin typeface="Bookman Old Style" panose="02050604050505020204" pitchFamily="18" charset="0"/>
            </a:endParaRPr>
          </a:p>
          <a:p>
            <a:pPr marL="0" indent="0" algn="l">
              <a:lnSpc>
                <a:spcPct val="150000"/>
              </a:lnSpc>
              <a:buNone/>
            </a:pPr>
            <a:r>
              <a:rPr lang="en-US" sz="2400" b="0" i="0" u="none" strike="noStrike" baseline="0" dirty="0">
                <a:latin typeface="Bookman Old Style" panose="02050604050505020204" pitchFamily="18" charset="0"/>
              </a:rPr>
              <a:t>3. </a:t>
            </a:r>
            <a:r>
              <a:rPr lang="en-US" sz="2400" b="1" i="1" dirty="0">
                <a:solidFill>
                  <a:srgbClr val="FF0000"/>
                </a:solidFill>
                <a:latin typeface="Bookman Old Style" panose="02050604050505020204" pitchFamily="18" charset="0"/>
              </a:rPr>
              <a:t>S</a:t>
            </a:r>
            <a:r>
              <a:rPr lang="en-US" sz="2400" b="1" i="1" u="none" strike="noStrike" baseline="0" dirty="0">
                <a:solidFill>
                  <a:srgbClr val="FF0000"/>
                </a:solidFill>
                <a:latin typeface="Bookman Old Style" panose="02050604050505020204" pitchFamily="18" charset="0"/>
              </a:rPr>
              <a:t>election phase </a:t>
            </a:r>
            <a:r>
              <a:rPr lang="en-US" sz="2400" b="0" i="1" u="none" strike="noStrike" baseline="0" dirty="0">
                <a:latin typeface="Bookman Old Style" panose="02050604050505020204" pitchFamily="18" charset="0"/>
              </a:rPr>
              <a:t>- </a:t>
            </a:r>
            <a:r>
              <a:rPr lang="en-US" sz="2400" dirty="0">
                <a:latin typeface="Bookman Old Style" panose="02050604050505020204" pitchFamily="18" charset="0"/>
              </a:rPr>
              <a:t>C</a:t>
            </a:r>
            <a:r>
              <a:rPr lang="en-US" sz="2400" b="0" i="0" u="none" strike="noStrike" baseline="0" dirty="0">
                <a:latin typeface="Bookman Old Style" panose="02050604050505020204" pitchFamily="18" charset="0"/>
              </a:rPr>
              <a:t>hoice of a solution is made</a:t>
            </a:r>
            <a:endParaRPr lang="en-US" sz="2400" dirty="0">
              <a:latin typeface="Bookman Old Style" panose="02050604050505020204" pitchFamily="18" charset="0"/>
            </a:endParaRPr>
          </a:p>
          <a:p>
            <a:pPr>
              <a:lnSpc>
                <a:spcPct val="150000"/>
              </a:lnSpc>
            </a:pPr>
            <a:r>
              <a:rPr lang="en-US" sz="2400" b="0" i="0" u="none" strike="noStrike" baseline="0" dirty="0">
                <a:latin typeface="Bookman Old Style" panose="02050604050505020204" pitchFamily="18" charset="0"/>
              </a:rPr>
              <a:t>Three ways of making this selection </a:t>
            </a:r>
          </a:p>
          <a:p>
            <a:pPr lvl="1">
              <a:lnSpc>
                <a:spcPct val="150000"/>
              </a:lnSpc>
            </a:pPr>
            <a:r>
              <a:rPr lang="en-US" dirty="0">
                <a:latin typeface="Bookman Old Style" panose="02050604050505020204" pitchFamily="18" charset="0"/>
              </a:rPr>
              <a:t>B</a:t>
            </a:r>
            <a:r>
              <a:rPr lang="en-US" i="0" u="none" strike="noStrike" baseline="0" dirty="0">
                <a:latin typeface="Bookman Old Style" panose="02050604050505020204" pitchFamily="18" charset="0"/>
              </a:rPr>
              <a:t>y the </a:t>
            </a:r>
            <a:r>
              <a:rPr lang="en-US" b="1" i="1" u="none" strike="noStrike" baseline="0" dirty="0">
                <a:solidFill>
                  <a:srgbClr val="7030A0"/>
                </a:solidFill>
                <a:latin typeface="Bookman Old Style" panose="02050604050505020204" pitchFamily="18" charset="0"/>
              </a:rPr>
              <a:t>judgment</a:t>
            </a:r>
            <a:r>
              <a:rPr lang="en-US" i="1" u="none" strike="noStrike" baseline="0" dirty="0">
                <a:latin typeface="Bookman Old Style" panose="02050604050505020204" pitchFamily="18" charset="0"/>
              </a:rPr>
              <a:t> </a:t>
            </a:r>
            <a:r>
              <a:rPr lang="en-US" i="0" u="none" strike="noStrike" baseline="0" dirty="0">
                <a:latin typeface="Bookman Old Style" panose="02050604050505020204" pitchFamily="18" charset="0"/>
              </a:rPr>
              <a:t>of the decision maker on the basis of experience </a:t>
            </a:r>
          </a:p>
          <a:p>
            <a:pPr lvl="1">
              <a:lnSpc>
                <a:spcPct val="150000"/>
              </a:lnSpc>
            </a:pPr>
            <a:r>
              <a:rPr lang="en-US" dirty="0">
                <a:latin typeface="Bookman Old Style" panose="02050604050505020204" pitchFamily="18" charset="0"/>
              </a:rPr>
              <a:t>B</a:t>
            </a:r>
            <a:r>
              <a:rPr lang="en-US" i="0" u="none" strike="noStrike" baseline="0" dirty="0">
                <a:latin typeface="Bookman Old Style" panose="02050604050505020204" pitchFamily="18" charset="0"/>
              </a:rPr>
              <a:t>y </a:t>
            </a:r>
            <a:r>
              <a:rPr lang="en-US" b="1" i="1" u="none" strike="noStrike" baseline="0" dirty="0">
                <a:solidFill>
                  <a:srgbClr val="7030A0"/>
                </a:solidFill>
                <a:latin typeface="Bookman Old Style" panose="02050604050505020204" pitchFamily="18" charset="0"/>
              </a:rPr>
              <a:t>analysis</a:t>
            </a:r>
            <a:r>
              <a:rPr lang="en-US" i="1" u="none" strike="noStrike" baseline="0" dirty="0">
                <a:latin typeface="Bookman Old Style" panose="02050604050505020204" pitchFamily="18" charset="0"/>
              </a:rPr>
              <a:t> </a:t>
            </a:r>
            <a:r>
              <a:rPr lang="en-US" i="0" u="none" strike="noStrike" baseline="0" dirty="0">
                <a:latin typeface="Bookman Old Style" panose="02050604050505020204" pitchFamily="18" charset="0"/>
              </a:rPr>
              <a:t>of the alternatives on a logical, systematic basis</a:t>
            </a:r>
            <a:endParaRPr lang="en-US" dirty="0">
              <a:latin typeface="Bookman Old Style" panose="02050604050505020204" pitchFamily="18" charset="0"/>
            </a:endParaRPr>
          </a:p>
          <a:p>
            <a:pPr lvl="1">
              <a:lnSpc>
                <a:spcPct val="150000"/>
              </a:lnSpc>
            </a:pPr>
            <a:r>
              <a:rPr lang="en-US" b="1" i="1" u="none" strike="noStrike" baseline="0" dirty="0">
                <a:solidFill>
                  <a:srgbClr val="7030A0"/>
                </a:solidFill>
                <a:latin typeface="Bookman Old Style" panose="02050604050505020204" pitchFamily="18" charset="0"/>
              </a:rPr>
              <a:t>Bargaining</a:t>
            </a:r>
            <a:r>
              <a:rPr lang="en-US" i="1" u="none" strike="noStrike" baseline="0" dirty="0">
                <a:latin typeface="Bookman Old Style" panose="02050604050505020204" pitchFamily="18" charset="0"/>
              </a:rPr>
              <a:t> </a:t>
            </a:r>
            <a:r>
              <a:rPr lang="en-US" b="0" i="0" u="none" strike="noStrike" baseline="0" dirty="0">
                <a:latin typeface="Bookman Old Style" panose="02050604050505020204" pitchFamily="18" charset="0"/>
              </a:rPr>
              <a:t>when the selection involves  a group of decision makers</a:t>
            </a:r>
          </a:p>
          <a:p>
            <a:pPr>
              <a:lnSpc>
                <a:spcPct val="150000"/>
              </a:lnSpc>
            </a:pPr>
            <a:r>
              <a:rPr lang="en-US" sz="2400" b="0" i="0" u="none" strike="noStrike" baseline="0" dirty="0">
                <a:latin typeface="Bookman Old Style" panose="02050604050505020204" pitchFamily="18" charset="0"/>
              </a:rPr>
              <a:t> Once the decision is formally accepted, an </a:t>
            </a:r>
            <a:r>
              <a:rPr lang="en-US" sz="2400" b="0" i="1" u="none" strike="noStrike" baseline="0" dirty="0">
                <a:latin typeface="Bookman Old Style" panose="02050604050505020204" pitchFamily="18" charset="0"/>
              </a:rPr>
              <a:t>authorization </a:t>
            </a:r>
            <a:r>
              <a:rPr lang="en-US" sz="2400" b="0" i="0" u="none" strike="noStrike" baseline="0" dirty="0">
                <a:latin typeface="Bookman Old Style" panose="02050604050505020204" pitchFamily="18" charset="0"/>
              </a:rPr>
              <a:t>is made.</a:t>
            </a:r>
            <a:endParaRPr lang="en-IN" sz="2400" dirty="0">
              <a:latin typeface="Bookman Old Style" panose="02050604050505020204" pitchFamily="18" charset="0"/>
            </a:endParaRPr>
          </a:p>
        </p:txBody>
      </p:sp>
    </p:spTree>
    <p:extLst>
      <p:ext uri="{BB962C8B-B14F-4D97-AF65-F5344CB8AC3E}">
        <p14:creationId xmlns:p14="http://schemas.microsoft.com/office/powerpoint/2010/main" val="2396928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C8FFA-BF85-E1CC-2D11-4FE9E1A3FB96}"/>
              </a:ext>
            </a:extLst>
          </p:cNvPr>
          <p:cNvSpPr>
            <a:spLocks noGrp="1"/>
          </p:cNvSpPr>
          <p:nvPr>
            <p:ph type="title"/>
          </p:nvPr>
        </p:nvSpPr>
        <p:spPr>
          <a:xfrm>
            <a:off x="100780" y="99654"/>
            <a:ext cx="11619271" cy="844243"/>
          </a:xfrm>
        </p:spPr>
        <p:txBody>
          <a:bodyPr/>
          <a:lstStyle/>
          <a:p>
            <a:r>
              <a:rPr lang="en-IN" sz="3200" b="1" dirty="0" err="1">
                <a:solidFill>
                  <a:srgbClr val="FF0000"/>
                </a:solidFill>
                <a:latin typeface="Bookman Old Style" panose="02050604050505020204" pitchFamily="18" charset="0"/>
              </a:rPr>
              <a:t>Behavioral</a:t>
            </a:r>
            <a:r>
              <a:rPr lang="en-IN" sz="3200" b="1" dirty="0">
                <a:solidFill>
                  <a:srgbClr val="FF0000"/>
                </a:solidFill>
                <a:latin typeface="Bookman Old Style" panose="02050604050505020204" pitchFamily="18" charset="0"/>
              </a:rPr>
              <a:t> Decision Making</a:t>
            </a:r>
          </a:p>
        </p:txBody>
      </p:sp>
      <p:sp>
        <p:nvSpPr>
          <p:cNvPr id="3" name="Content Placeholder 2">
            <a:extLst>
              <a:ext uri="{FF2B5EF4-FFF2-40B4-BE49-F238E27FC236}">
                <a16:creationId xmlns:a16="http://schemas.microsoft.com/office/drawing/2014/main" id="{4BE9539B-8C33-118C-57E9-90D6CC75B8E5}"/>
              </a:ext>
            </a:extLst>
          </p:cNvPr>
          <p:cNvSpPr>
            <a:spLocks noGrp="1"/>
          </p:cNvSpPr>
          <p:nvPr>
            <p:ph idx="1"/>
          </p:nvPr>
        </p:nvSpPr>
        <p:spPr>
          <a:xfrm>
            <a:off x="100779" y="943897"/>
            <a:ext cx="11894575" cy="5233066"/>
          </a:xfrm>
        </p:spPr>
        <p:txBody>
          <a:bodyPr>
            <a:normAutofit/>
          </a:bodyPr>
          <a:lstStyle/>
          <a:p>
            <a:pPr algn="just">
              <a:lnSpc>
                <a:spcPct val="200000"/>
              </a:lnSpc>
            </a:pPr>
            <a:r>
              <a:rPr lang="en-IN" sz="2400" dirty="0">
                <a:latin typeface="Bookman Old Style" panose="02050604050505020204" pitchFamily="18" charset="0"/>
              </a:rPr>
              <a:t>How people make </a:t>
            </a:r>
            <a:r>
              <a:rPr lang="en-IN" sz="2400" b="1" dirty="0">
                <a:solidFill>
                  <a:srgbClr val="7030A0"/>
                </a:solidFill>
                <a:latin typeface="Bookman Old Style" panose="02050604050505020204" pitchFamily="18" charset="0"/>
              </a:rPr>
              <a:t>decisions by considering their values, beliefs </a:t>
            </a:r>
            <a:r>
              <a:rPr lang="en-IN" sz="2400" dirty="0">
                <a:latin typeface="Bookman Old Style" panose="02050604050505020204" pitchFamily="18" charset="0"/>
              </a:rPr>
              <a:t>and preferences</a:t>
            </a:r>
          </a:p>
          <a:p>
            <a:pPr algn="just">
              <a:lnSpc>
                <a:spcPct val="200000"/>
              </a:lnSpc>
            </a:pPr>
            <a:r>
              <a:rPr lang="en-IN" sz="2400" dirty="0">
                <a:latin typeface="Bookman Old Style" panose="02050604050505020204" pitchFamily="18" charset="0"/>
              </a:rPr>
              <a:t>People don’t always make “rational” decisions</a:t>
            </a:r>
          </a:p>
          <a:p>
            <a:pPr algn="just">
              <a:lnSpc>
                <a:spcPct val="200000"/>
              </a:lnSpc>
            </a:pPr>
            <a:r>
              <a:rPr lang="en-IN" sz="2400" b="1" dirty="0">
                <a:solidFill>
                  <a:srgbClr val="7030A0"/>
                </a:solidFill>
                <a:latin typeface="Bookman Old Style" panose="02050604050505020204" pitchFamily="18" charset="0"/>
              </a:rPr>
              <a:t>Decision Rationality: </a:t>
            </a:r>
            <a:r>
              <a:rPr lang="en-US" sz="2400" b="0" i="0" u="none" strike="noStrike" baseline="0" dirty="0">
                <a:latin typeface="Bookman Old Style" panose="02050604050505020204" pitchFamily="18" charset="0"/>
              </a:rPr>
              <a:t>If appropriate means are chosen to reach desired ends, the decision is said to be </a:t>
            </a:r>
            <a:r>
              <a:rPr lang="en-IN" sz="2400" b="0" i="0" u="none" strike="noStrike" baseline="0" dirty="0">
                <a:latin typeface="Bookman Old Style" panose="02050604050505020204" pitchFamily="18" charset="0"/>
              </a:rPr>
              <a:t>rational</a:t>
            </a:r>
            <a:endParaRPr lang="en-IN" sz="2400" dirty="0">
              <a:latin typeface="Bookman Old Style" panose="02050604050505020204" pitchFamily="18" charset="0"/>
            </a:endParaRPr>
          </a:p>
        </p:txBody>
      </p:sp>
    </p:spTree>
    <p:extLst>
      <p:ext uri="{BB962C8B-B14F-4D97-AF65-F5344CB8AC3E}">
        <p14:creationId xmlns:p14="http://schemas.microsoft.com/office/powerpoint/2010/main" val="207425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5DB45-B756-5CC2-2D91-DB3DE7B0645A}"/>
              </a:ext>
            </a:extLst>
          </p:cNvPr>
          <p:cNvSpPr>
            <a:spLocks noGrp="1"/>
          </p:cNvSpPr>
          <p:nvPr>
            <p:ph type="title"/>
          </p:nvPr>
        </p:nvSpPr>
        <p:spPr>
          <a:xfrm>
            <a:off x="0" y="18255"/>
            <a:ext cx="11039168" cy="679835"/>
          </a:xfrm>
        </p:spPr>
        <p:txBody>
          <a:bodyPr>
            <a:normAutofit/>
          </a:bodyPr>
          <a:lstStyle/>
          <a:p>
            <a:r>
              <a:rPr lang="en-IN" sz="4000" b="1" dirty="0">
                <a:solidFill>
                  <a:srgbClr val="FF0000"/>
                </a:solidFill>
                <a:latin typeface="Bookman Old Style" panose="02050604050505020204" pitchFamily="18" charset="0"/>
              </a:rPr>
              <a:t>Decision- Making Styles</a:t>
            </a:r>
          </a:p>
        </p:txBody>
      </p:sp>
      <p:sp>
        <p:nvSpPr>
          <p:cNvPr id="3" name="Content Placeholder 2">
            <a:extLst>
              <a:ext uri="{FF2B5EF4-FFF2-40B4-BE49-F238E27FC236}">
                <a16:creationId xmlns:a16="http://schemas.microsoft.com/office/drawing/2014/main" id="{A31D450A-ACFC-A5B2-7892-31486DE2D2DF}"/>
              </a:ext>
            </a:extLst>
          </p:cNvPr>
          <p:cNvSpPr>
            <a:spLocks noGrp="1"/>
          </p:cNvSpPr>
          <p:nvPr>
            <p:ph idx="1"/>
          </p:nvPr>
        </p:nvSpPr>
        <p:spPr>
          <a:xfrm>
            <a:off x="147484" y="599769"/>
            <a:ext cx="11906864" cy="5751870"/>
          </a:xfrm>
        </p:spPr>
        <p:txBody>
          <a:bodyPr>
            <a:noAutofit/>
          </a:bodyPr>
          <a:lstStyle/>
          <a:p>
            <a:pPr algn="just">
              <a:lnSpc>
                <a:spcPct val="170000"/>
              </a:lnSpc>
            </a:pPr>
            <a:r>
              <a:rPr lang="en-IN" sz="2400" dirty="0">
                <a:latin typeface="Bookman Old Style" panose="02050604050505020204" pitchFamily="18" charset="0"/>
              </a:rPr>
              <a:t>Common decision-style topologies for managers:</a:t>
            </a:r>
          </a:p>
          <a:p>
            <a:pPr marL="0" indent="0" algn="just">
              <a:lnSpc>
                <a:spcPct val="150000"/>
              </a:lnSpc>
              <a:buNone/>
            </a:pPr>
            <a:r>
              <a:rPr lang="en-US" sz="2400" b="0" i="0" u="none" strike="noStrike" baseline="0" dirty="0">
                <a:latin typeface="Bookman Old Style" panose="02050604050505020204" pitchFamily="18" charset="0"/>
              </a:rPr>
              <a:t>(1) </a:t>
            </a:r>
            <a:r>
              <a:rPr lang="en-US" sz="2400" b="1" i="1" u="none" strike="noStrike" baseline="0" dirty="0">
                <a:latin typeface="Bookman Old Style" panose="02050604050505020204" pitchFamily="18" charset="0"/>
              </a:rPr>
              <a:t>Charismatics</a:t>
            </a:r>
            <a:r>
              <a:rPr lang="en-US" sz="2400" b="0" i="1" u="none" strike="noStrike" baseline="0" dirty="0">
                <a:latin typeface="Bookman Old Style" panose="02050604050505020204" pitchFamily="18" charset="0"/>
              </a:rPr>
              <a:t> </a:t>
            </a:r>
            <a:r>
              <a:rPr lang="en-US" sz="2400" b="0" i="0" u="none" strike="noStrike" baseline="0" dirty="0">
                <a:latin typeface="Bookman Old Style" panose="02050604050505020204" pitchFamily="18" charset="0"/>
              </a:rPr>
              <a:t>(enthusiastic, captivating, talkative, dominant)</a:t>
            </a:r>
          </a:p>
          <a:p>
            <a:pPr marL="0" indent="0" algn="just">
              <a:lnSpc>
                <a:spcPct val="150000"/>
              </a:lnSpc>
              <a:buNone/>
            </a:pPr>
            <a:r>
              <a:rPr lang="en-US" sz="2400" b="0" i="0" u="none" strike="noStrike" baseline="0" dirty="0">
                <a:latin typeface="Bookman Old Style" panose="02050604050505020204" pitchFamily="18" charset="0"/>
              </a:rPr>
              <a:t>(2) </a:t>
            </a:r>
            <a:r>
              <a:rPr lang="en-US" sz="2400" b="1" i="1" u="none" strike="noStrike" baseline="0" dirty="0">
                <a:latin typeface="Bookman Old Style" panose="02050604050505020204" pitchFamily="18" charset="0"/>
              </a:rPr>
              <a:t>Thinkers </a:t>
            </a:r>
            <a:r>
              <a:rPr lang="en-US" sz="2400" b="0" i="0" u="none" strike="noStrike" baseline="0" dirty="0">
                <a:latin typeface="Bookman Old Style" panose="02050604050505020204" pitchFamily="18" charset="0"/>
              </a:rPr>
              <a:t>(cerebral, intelligent, logical, academic)</a:t>
            </a:r>
          </a:p>
          <a:p>
            <a:pPr marL="0" indent="0" algn="just">
              <a:lnSpc>
                <a:spcPct val="150000"/>
              </a:lnSpc>
              <a:buNone/>
            </a:pPr>
            <a:r>
              <a:rPr lang="en-US" sz="2400" b="0" i="0" u="none" strike="noStrike" baseline="0" dirty="0">
                <a:latin typeface="Bookman Old Style" panose="02050604050505020204" pitchFamily="18" charset="0"/>
              </a:rPr>
              <a:t>(3) </a:t>
            </a:r>
            <a:r>
              <a:rPr lang="en-US" sz="2400" b="1" i="1" u="none" strike="noStrike" baseline="0" dirty="0">
                <a:latin typeface="Bookman Old Style" panose="02050604050505020204" pitchFamily="18" charset="0"/>
              </a:rPr>
              <a:t>Skeptics</a:t>
            </a:r>
            <a:r>
              <a:rPr lang="en-US" sz="2400" b="0" i="1" u="none" strike="noStrike" baseline="0" dirty="0">
                <a:latin typeface="Bookman Old Style" panose="02050604050505020204" pitchFamily="18" charset="0"/>
              </a:rPr>
              <a:t> </a:t>
            </a:r>
            <a:r>
              <a:rPr lang="en-US" sz="2400" b="0" i="0" u="none" strike="noStrike" baseline="0" dirty="0">
                <a:latin typeface="Bookman Old Style" panose="02050604050505020204" pitchFamily="18" charset="0"/>
              </a:rPr>
              <a:t>(demanding, disruptive, disagreeable, rebellious)</a:t>
            </a:r>
          </a:p>
          <a:p>
            <a:pPr marL="0" indent="0" algn="just">
              <a:lnSpc>
                <a:spcPct val="150000"/>
              </a:lnSpc>
              <a:buNone/>
            </a:pPr>
            <a:r>
              <a:rPr lang="en-US" sz="2400" b="0" i="0" u="none" strike="noStrike" baseline="0" dirty="0">
                <a:latin typeface="Bookman Old Style" panose="02050604050505020204" pitchFamily="18" charset="0"/>
              </a:rPr>
              <a:t>(4) </a:t>
            </a:r>
            <a:r>
              <a:rPr lang="en-US" sz="2400" b="1" i="1" u="none" strike="noStrike" baseline="0" dirty="0">
                <a:latin typeface="Bookman Old Style" panose="02050604050505020204" pitchFamily="18" charset="0"/>
              </a:rPr>
              <a:t>Followers</a:t>
            </a:r>
            <a:r>
              <a:rPr lang="en-US" sz="2400" b="0" i="1" u="none" strike="noStrike" baseline="0" dirty="0">
                <a:latin typeface="Bookman Old Style" panose="02050604050505020204" pitchFamily="18" charset="0"/>
              </a:rPr>
              <a:t> </a:t>
            </a:r>
            <a:r>
              <a:rPr lang="en-US" sz="2400" b="0" i="0" u="none" strike="noStrike" baseline="0" dirty="0">
                <a:latin typeface="Bookman Old Style" panose="02050604050505020204" pitchFamily="18" charset="0"/>
              </a:rPr>
              <a:t>(responsible, cautious, brand-driven, bargain-conscious)</a:t>
            </a:r>
          </a:p>
          <a:p>
            <a:pPr marL="0" indent="0" algn="just">
              <a:lnSpc>
                <a:spcPct val="150000"/>
              </a:lnSpc>
              <a:buNone/>
            </a:pPr>
            <a:r>
              <a:rPr lang="en-US" sz="2400" b="0" i="0" u="none" strike="noStrike" baseline="0" dirty="0">
                <a:latin typeface="Bookman Old Style" panose="02050604050505020204" pitchFamily="18" charset="0"/>
              </a:rPr>
              <a:t>(5)</a:t>
            </a:r>
            <a:r>
              <a:rPr lang="en-US" sz="2400" b="0" i="0" u="none" strike="noStrike" dirty="0">
                <a:latin typeface="Bookman Old Style" panose="02050604050505020204" pitchFamily="18" charset="0"/>
              </a:rPr>
              <a:t> </a:t>
            </a:r>
            <a:r>
              <a:rPr lang="en-US" sz="2400" b="1" i="1" u="none" strike="noStrike" baseline="0" dirty="0">
                <a:latin typeface="Bookman Old Style" panose="02050604050505020204" pitchFamily="18" charset="0"/>
              </a:rPr>
              <a:t>Controllers</a:t>
            </a:r>
            <a:r>
              <a:rPr lang="en-US" sz="2400" b="0" i="1" u="none" strike="noStrike" baseline="0" dirty="0">
                <a:latin typeface="Bookman Old Style" panose="02050604050505020204" pitchFamily="18" charset="0"/>
              </a:rPr>
              <a:t> </a:t>
            </a:r>
            <a:r>
              <a:rPr lang="en-US" sz="2400" b="0" i="0" u="none" strike="noStrike" baseline="0" dirty="0">
                <a:latin typeface="Bookman Old Style" panose="02050604050505020204" pitchFamily="18" charset="0"/>
              </a:rPr>
              <a:t>(logical,</a:t>
            </a:r>
            <a:r>
              <a:rPr lang="en-IN" sz="2400" b="0" i="0" u="none" strike="noStrike" baseline="0" dirty="0">
                <a:latin typeface="Bookman Old Style" panose="02050604050505020204" pitchFamily="18" charset="0"/>
              </a:rPr>
              <a:t>unemotional, sensible, detail oriented, accurate, analytical)</a:t>
            </a:r>
            <a:endParaRPr lang="en-IN" sz="2400" dirty="0">
              <a:latin typeface="Bookman Old Style" panose="02050604050505020204" pitchFamily="18" charset="0"/>
            </a:endParaRPr>
          </a:p>
          <a:p>
            <a:pPr algn="just">
              <a:lnSpc>
                <a:spcPct val="170000"/>
              </a:lnSpc>
              <a:buFont typeface="Wingdings" panose="05000000000000000000" pitchFamily="2" charset="2"/>
              <a:buChar char="Ø"/>
            </a:pPr>
            <a:r>
              <a:rPr lang="en-US" sz="2400" b="0" i="0" u="none" strike="noStrike" baseline="0" dirty="0">
                <a:latin typeface="Bookman Old Style" panose="02050604050505020204" pitchFamily="18" charset="0"/>
              </a:rPr>
              <a:t>Reflect how decision makers perceive what is happening around them and how they process information</a:t>
            </a:r>
            <a:endParaRPr lang="en-IN" sz="2400" dirty="0">
              <a:latin typeface="Bookman Old Style" panose="02050604050505020204" pitchFamily="18" charset="0"/>
            </a:endParaRPr>
          </a:p>
          <a:p>
            <a:pPr algn="just"/>
            <a:endParaRPr lang="en-IN" sz="800" dirty="0"/>
          </a:p>
        </p:txBody>
      </p:sp>
    </p:spTree>
    <p:extLst>
      <p:ext uri="{BB962C8B-B14F-4D97-AF65-F5344CB8AC3E}">
        <p14:creationId xmlns:p14="http://schemas.microsoft.com/office/powerpoint/2010/main" val="397676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57C1B-4E1D-9373-1188-4609C8CC4E45}"/>
              </a:ext>
            </a:extLst>
          </p:cNvPr>
          <p:cNvSpPr>
            <a:spLocks noGrp="1"/>
          </p:cNvSpPr>
          <p:nvPr>
            <p:ph type="title"/>
          </p:nvPr>
        </p:nvSpPr>
        <p:spPr>
          <a:xfrm>
            <a:off x="6550744" y="119215"/>
            <a:ext cx="5225924" cy="652335"/>
          </a:xfrm>
        </p:spPr>
        <p:txBody>
          <a:bodyPr>
            <a:normAutofit fontScale="90000"/>
          </a:bodyPr>
          <a:lstStyle/>
          <a:p>
            <a:r>
              <a:rPr lang="en-IN" sz="3200" b="1" dirty="0">
                <a:solidFill>
                  <a:srgbClr val="FF0000"/>
                </a:solidFill>
                <a:latin typeface="Bookman Old Style" panose="02050604050505020204" pitchFamily="18" charset="0"/>
              </a:rPr>
              <a:t>Decision- Making Styles</a:t>
            </a:r>
            <a:endParaRPr lang="en-IN" sz="3200" dirty="0"/>
          </a:p>
        </p:txBody>
      </p:sp>
      <p:sp>
        <p:nvSpPr>
          <p:cNvPr id="3" name="Content Placeholder 2">
            <a:extLst>
              <a:ext uri="{FF2B5EF4-FFF2-40B4-BE49-F238E27FC236}">
                <a16:creationId xmlns:a16="http://schemas.microsoft.com/office/drawing/2014/main" id="{DFDED597-4D68-7EC8-91AA-63B602121245}"/>
              </a:ext>
            </a:extLst>
          </p:cNvPr>
          <p:cNvSpPr>
            <a:spLocks noGrp="1"/>
          </p:cNvSpPr>
          <p:nvPr>
            <p:ph idx="1"/>
          </p:nvPr>
        </p:nvSpPr>
        <p:spPr>
          <a:xfrm>
            <a:off x="159775" y="41057"/>
            <a:ext cx="5936225" cy="5737405"/>
          </a:xfrm>
        </p:spPr>
        <p:txBody>
          <a:bodyPr>
            <a:noAutofit/>
          </a:bodyPr>
          <a:lstStyle/>
          <a:p>
            <a:pPr algn="just">
              <a:lnSpc>
                <a:spcPct val="150000"/>
              </a:lnSpc>
            </a:pPr>
            <a:r>
              <a:rPr lang="en-US" sz="2400" dirty="0">
                <a:latin typeface="Bookman Old Style" panose="02050604050505020204" pitchFamily="18" charset="0"/>
              </a:rPr>
              <a:t>S</a:t>
            </a:r>
            <a:r>
              <a:rPr lang="en-US" sz="2400" b="0" i="0" u="none" strike="noStrike" baseline="0" dirty="0">
                <a:latin typeface="Bookman Old Style" panose="02050604050505020204" pitchFamily="18" charset="0"/>
              </a:rPr>
              <a:t>imple 2 x 2 behavioral decision-making style matrix in 2</a:t>
            </a:r>
            <a:r>
              <a:rPr lang="en-US" sz="2400" dirty="0">
                <a:latin typeface="Bookman Old Style" panose="02050604050505020204" pitchFamily="18" charset="0"/>
              </a:rPr>
              <a:t> </a:t>
            </a:r>
            <a:r>
              <a:rPr lang="en-IN" sz="2400" b="0" i="0" u="none" strike="noStrike" baseline="0" dirty="0">
                <a:latin typeface="Bookman Old Style" panose="02050604050505020204" pitchFamily="18" charset="0"/>
              </a:rPr>
              <a:t>dimensions: </a:t>
            </a:r>
            <a:r>
              <a:rPr lang="en-IN" sz="2400" b="1" i="1" u="none" strike="noStrike" baseline="0" dirty="0">
                <a:solidFill>
                  <a:srgbClr val="FF0000"/>
                </a:solidFill>
                <a:latin typeface="Bookman Old Style" panose="02050604050505020204" pitchFamily="18" charset="0"/>
              </a:rPr>
              <a:t>value orientation and tolerance for ambiguity.</a:t>
            </a:r>
          </a:p>
          <a:p>
            <a:pPr algn="just">
              <a:lnSpc>
                <a:spcPct val="150000"/>
              </a:lnSpc>
            </a:pPr>
            <a:r>
              <a:rPr lang="en-US" sz="2400" b="1" i="0" u="none" strike="noStrike" baseline="0" dirty="0">
                <a:latin typeface="Bookman Old Style" panose="02050604050505020204" pitchFamily="18" charset="0"/>
              </a:rPr>
              <a:t>Value orientation:</a:t>
            </a:r>
            <a:r>
              <a:rPr lang="en-US" sz="2400" b="1" i="0" u="none" strike="noStrike" dirty="0">
                <a:latin typeface="Bookman Old Style" panose="02050604050505020204" pitchFamily="18" charset="0"/>
              </a:rPr>
              <a:t> D</a:t>
            </a:r>
            <a:r>
              <a:rPr lang="en-US" sz="2400" b="1" i="1" u="none" strike="noStrike" baseline="0" dirty="0">
                <a:solidFill>
                  <a:srgbClr val="FF0000"/>
                </a:solidFill>
                <a:latin typeface="Bookman Old Style" panose="02050604050505020204" pitchFamily="18" charset="0"/>
              </a:rPr>
              <a:t>ecision maker’s concern for task and technical matters</a:t>
            </a:r>
            <a:r>
              <a:rPr lang="en-US" sz="2400" b="0" i="0" u="none" strike="noStrike" baseline="0" dirty="0">
                <a:latin typeface="Bookman Old Style" panose="02050604050505020204" pitchFamily="18" charset="0"/>
              </a:rPr>
              <a:t> as opposed to people and social </a:t>
            </a:r>
            <a:r>
              <a:rPr lang="en-IN" sz="2400" b="0" i="0" u="none" strike="noStrike" baseline="0" dirty="0">
                <a:latin typeface="Bookman Old Style" panose="02050604050505020204" pitchFamily="18" charset="0"/>
              </a:rPr>
              <a:t>concerns.</a:t>
            </a:r>
            <a:endParaRPr lang="en-IN" sz="2400" dirty="0">
              <a:latin typeface="Bookman Old Style" panose="02050604050505020204" pitchFamily="18" charset="0"/>
            </a:endParaRPr>
          </a:p>
          <a:p>
            <a:pPr algn="just">
              <a:lnSpc>
                <a:spcPct val="150000"/>
              </a:lnSpc>
            </a:pPr>
            <a:r>
              <a:rPr lang="en-US" sz="2400" b="1" i="0" u="none" strike="noStrike" baseline="0" dirty="0">
                <a:latin typeface="Bookman Old Style" panose="02050604050505020204" pitchFamily="18" charset="0"/>
              </a:rPr>
              <a:t>Tolerance for ambiguity orientation: H</a:t>
            </a:r>
            <a:r>
              <a:rPr lang="en-US" sz="2400" b="1" i="1" u="none" strike="noStrike" baseline="0" dirty="0">
                <a:solidFill>
                  <a:srgbClr val="FF0000"/>
                </a:solidFill>
                <a:latin typeface="Bookman Old Style" panose="02050604050505020204" pitchFamily="18" charset="0"/>
              </a:rPr>
              <a:t>ow much the decision maker</a:t>
            </a:r>
            <a:r>
              <a:rPr lang="en-IN" sz="2400" b="1" i="1" dirty="0">
                <a:solidFill>
                  <a:srgbClr val="FF0000"/>
                </a:solidFill>
                <a:latin typeface="Bookman Old Style" panose="02050604050505020204" pitchFamily="18" charset="0"/>
              </a:rPr>
              <a:t> </a:t>
            </a:r>
            <a:r>
              <a:rPr lang="en-US" sz="2400" b="1" i="1" u="none" strike="noStrike" baseline="0" dirty="0">
                <a:solidFill>
                  <a:srgbClr val="FF0000"/>
                </a:solidFill>
                <a:latin typeface="Bookman Old Style" panose="02050604050505020204" pitchFamily="18" charset="0"/>
              </a:rPr>
              <a:t>needs structure and control </a:t>
            </a:r>
            <a:endParaRPr lang="en-US" sz="2400" b="0" i="0" u="none" strike="noStrike" baseline="0" dirty="0">
              <a:latin typeface="Bookman Old Style" panose="02050604050505020204" pitchFamily="18" charset="0"/>
            </a:endParaRPr>
          </a:p>
        </p:txBody>
      </p:sp>
      <p:pic>
        <p:nvPicPr>
          <p:cNvPr id="5" name="Picture 4">
            <a:extLst>
              <a:ext uri="{FF2B5EF4-FFF2-40B4-BE49-F238E27FC236}">
                <a16:creationId xmlns:a16="http://schemas.microsoft.com/office/drawing/2014/main" id="{86F8DC5C-32F5-040A-981A-71FB41BD8D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4323" y="771550"/>
            <a:ext cx="5949732" cy="5387860"/>
          </a:xfrm>
          <a:prstGeom prst="rect">
            <a:avLst/>
          </a:prstGeom>
        </p:spPr>
      </p:pic>
    </p:spTree>
    <p:extLst>
      <p:ext uri="{BB962C8B-B14F-4D97-AF65-F5344CB8AC3E}">
        <p14:creationId xmlns:p14="http://schemas.microsoft.com/office/powerpoint/2010/main" val="2536457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098A7-1B2F-36DD-B641-C07245E71D19}"/>
              </a:ext>
            </a:extLst>
          </p:cNvPr>
          <p:cNvSpPr>
            <a:spLocks noGrp="1"/>
          </p:cNvSpPr>
          <p:nvPr>
            <p:ph type="title"/>
          </p:nvPr>
        </p:nvSpPr>
        <p:spPr>
          <a:xfrm>
            <a:off x="435076" y="-350480"/>
            <a:ext cx="10515600" cy="1325563"/>
          </a:xfrm>
        </p:spPr>
        <p:txBody>
          <a:bodyPr>
            <a:normAutofit/>
          </a:bodyPr>
          <a:lstStyle/>
          <a:p>
            <a:r>
              <a:rPr lang="en-IN" sz="3600" b="1" dirty="0">
                <a:solidFill>
                  <a:srgbClr val="FF0000"/>
                </a:solidFill>
                <a:latin typeface="Bookman Old Style" panose="02050604050505020204" pitchFamily="18" charset="0"/>
              </a:rPr>
              <a:t>Decision- Making Styles</a:t>
            </a:r>
            <a:endParaRPr lang="en-IN" sz="3600" dirty="0"/>
          </a:p>
        </p:txBody>
      </p:sp>
      <p:sp>
        <p:nvSpPr>
          <p:cNvPr id="4" name="Rectangle 3">
            <a:extLst>
              <a:ext uri="{FF2B5EF4-FFF2-40B4-BE49-F238E27FC236}">
                <a16:creationId xmlns:a16="http://schemas.microsoft.com/office/drawing/2014/main" id="{41C1E49D-1736-500E-1922-756AC6625C19}"/>
              </a:ext>
            </a:extLst>
          </p:cNvPr>
          <p:cNvSpPr/>
          <p:nvPr/>
        </p:nvSpPr>
        <p:spPr>
          <a:xfrm>
            <a:off x="130276" y="670283"/>
            <a:ext cx="5454446" cy="58829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buFont typeface="Wingdings" panose="05000000000000000000" pitchFamily="2" charset="2"/>
              <a:buChar char="v"/>
            </a:pPr>
            <a:r>
              <a:rPr lang="en-IN" sz="2400" b="1" i="1" u="none" strike="noStrike" baseline="0" dirty="0">
                <a:solidFill>
                  <a:schemeClr val="bg1"/>
                </a:solidFill>
                <a:latin typeface="Bookman Old Style" panose="02050604050505020204" pitchFamily="18" charset="0"/>
              </a:rPr>
              <a:t>Directive Style decision makers:</a:t>
            </a:r>
          </a:p>
          <a:p>
            <a:pPr marL="0" indent="0" algn="just">
              <a:lnSpc>
                <a:spcPct val="150000"/>
              </a:lnSpc>
              <a:buNone/>
            </a:pPr>
            <a:r>
              <a:rPr lang="en-US" sz="2400" dirty="0">
                <a:latin typeface="Bookman Old Style" panose="02050604050505020204" pitchFamily="18" charset="0"/>
                <a:sym typeface="Wingdings" panose="05000000000000000000" pitchFamily="2" charset="2"/>
              </a:rPr>
              <a:t></a:t>
            </a:r>
            <a:r>
              <a:rPr lang="en-US" sz="2400" b="0" i="0" u="none" strike="noStrike" baseline="0" dirty="0">
                <a:latin typeface="Bookman Old Style" panose="02050604050505020204" pitchFamily="18" charset="0"/>
              </a:rPr>
              <a:t>Low tolerance for ambiguity </a:t>
            </a:r>
          </a:p>
          <a:p>
            <a:pPr marL="0" indent="0" algn="just">
              <a:lnSpc>
                <a:spcPct val="150000"/>
              </a:lnSpc>
              <a:buNone/>
            </a:pPr>
            <a:r>
              <a:rPr lang="en-US" sz="2400" dirty="0">
                <a:latin typeface="Bookman Old Style" panose="02050604050505020204" pitchFamily="18" charset="0"/>
                <a:sym typeface="Wingdings" panose="05000000000000000000" pitchFamily="2" charset="2"/>
              </a:rPr>
              <a:t></a:t>
            </a:r>
            <a:r>
              <a:rPr lang="en-US" sz="2400" b="0" i="0" u="none" strike="noStrike" baseline="0" dirty="0">
                <a:latin typeface="Bookman Old Style" panose="02050604050505020204" pitchFamily="18" charset="0"/>
              </a:rPr>
              <a:t>Oriented toward task and the technical concerns</a:t>
            </a:r>
          </a:p>
          <a:p>
            <a:pPr marL="0" indent="0" algn="just">
              <a:lnSpc>
                <a:spcPct val="150000"/>
              </a:lnSpc>
              <a:buNone/>
            </a:pPr>
            <a:r>
              <a:rPr lang="en-US" sz="2400" dirty="0">
                <a:latin typeface="Bookman Old Style" panose="02050604050505020204" pitchFamily="18" charset="0"/>
                <a:sym typeface="Wingdings" panose="05000000000000000000" pitchFamily="2" charset="2"/>
              </a:rPr>
              <a:t> E</a:t>
            </a:r>
            <a:r>
              <a:rPr lang="en-US" sz="2400" b="0" i="0" u="none" strike="noStrike" baseline="0" dirty="0">
                <a:latin typeface="Bookman Old Style" panose="02050604050505020204" pitchFamily="18" charset="0"/>
              </a:rPr>
              <a:t>fficient, logical and systematic </a:t>
            </a:r>
            <a:endParaRPr lang="en-US" sz="2400" dirty="0">
              <a:latin typeface="Bookman Old Style" panose="02050604050505020204" pitchFamily="18" charset="0"/>
            </a:endParaRPr>
          </a:p>
          <a:p>
            <a:pPr marL="0" indent="0" algn="just">
              <a:lnSpc>
                <a:spcPct val="150000"/>
              </a:lnSpc>
              <a:buNone/>
            </a:pPr>
            <a:r>
              <a:rPr lang="en-US" sz="2400" dirty="0">
                <a:latin typeface="Bookman Old Style" panose="02050604050505020204" pitchFamily="18" charset="0"/>
                <a:sym typeface="Wingdings" panose="05000000000000000000" pitchFamily="2" charset="2"/>
              </a:rPr>
              <a:t>F</a:t>
            </a:r>
            <a:r>
              <a:rPr lang="en-US" sz="2400" b="0" i="0" u="none" strike="noStrike" baseline="0" dirty="0">
                <a:latin typeface="Bookman Old Style" panose="02050604050505020204" pitchFamily="18" charset="0"/>
              </a:rPr>
              <a:t>ocus on facts and get things done quickly, action oriented, display an autocratic leadership style.</a:t>
            </a:r>
          </a:p>
          <a:p>
            <a:pPr algn="ctr"/>
            <a:endParaRPr lang="en-IN" dirty="0"/>
          </a:p>
        </p:txBody>
      </p:sp>
      <p:sp>
        <p:nvSpPr>
          <p:cNvPr id="5" name="Content Placeholder 5">
            <a:extLst>
              <a:ext uri="{FF2B5EF4-FFF2-40B4-BE49-F238E27FC236}">
                <a16:creationId xmlns:a16="http://schemas.microsoft.com/office/drawing/2014/main" id="{5615802C-F1B3-E3AE-0888-AA62EDF733B5}"/>
              </a:ext>
            </a:extLst>
          </p:cNvPr>
          <p:cNvSpPr>
            <a:spLocks noGrp="1"/>
          </p:cNvSpPr>
          <p:nvPr>
            <p:ph idx="1"/>
          </p:nvPr>
        </p:nvSpPr>
        <p:spPr>
          <a:xfrm>
            <a:off x="5761702" y="670283"/>
            <a:ext cx="5995222" cy="58829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10000"/>
          </a:bodyPr>
          <a:lstStyle/>
          <a:p>
            <a:pPr>
              <a:lnSpc>
                <a:spcPct val="150000"/>
              </a:lnSpc>
              <a:buFont typeface="Wingdings" panose="05000000000000000000" pitchFamily="2" charset="2"/>
              <a:buChar char="v"/>
            </a:pPr>
            <a:r>
              <a:rPr lang="en-IN" b="1" i="1" u="none" strike="noStrike" baseline="0" dirty="0">
                <a:latin typeface="Bookman Old Style" panose="02050604050505020204" pitchFamily="18" charset="0"/>
              </a:rPr>
              <a:t>Analytical Style decision makers:</a:t>
            </a:r>
          </a:p>
          <a:p>
            <a:pPr>
              <a:lnSpc>
                <a:spcPct val="150000"/>
              </a:lnSpc>
              <a:buFont typeface="Wingdings" panose="05000000000000000000" pitchFamily="2" charset="2"/>
              <a:buChar char="à"/>
            </a:pPr>
            <a:r>
              <a:rPr lang="en-US" dirty="0">
                <a:latin typeface="Bookman Old Style" panose="02050604050505020204" pitchFamily="18" charset="0"/>
              </a:rPr>
              <a:t>H</a:t>
            </a:r>
            <a:r>
              <a:rPr lang="en-US" b="0" i="0" u="none" strike="noStrike" baseline="0" dirty="0">
                <a:latin typeface="Bookman Old Style" panose="02050604050505020204" pitchFamily="18" charset="0"/>
              </a:rPr>
              <a:t>igh tolerance for ambiguity </a:t>
            </a:r>
            <a:endParaRPr lang="en-US" dirty="0">
              <a:latin typeface="Bookman Old Style" panose="02050604050505020204" pitchFamily="18" charset="0"/>
            </a:endParaRPr>
          </a:p>
          <a:p>
            <a:pPr algn="just">
              <a:lnSpc>
                <a:spcPct val="150000"/>
              </a:lnSpc>
              <a:buFont typeface="Wingdings" panose="05000000000000000000" pitchFamily="2" charset="2"/>
              <a:buChar char="à"/>
            </a:pPr>
            <a:r>
              <a:rPr lang="en-US" b="0" i="0" u="none" strike="noStrike" baseline="0" dirty="0">
                <a:latin typeface="Bookman Old Style" panose="02050604050505020204" pitchFamily="18" charset="0"/>
              </a:rPr>
              <a:t>Strong task and technical orientation. </a:t>
            </a:r>
          </a:p>
          <a:p>
            <a:pPr algn="just">
              <a:lnSpc>
                <a:spcPct val="150000"/>
              </a:lnSpc>
              <a:buFont typeface="Wingdings" panose="05000000000000000000" pitchFamily="2" charset="2"/>
              <a:buChar char="à"/>
            </a:pPr>
            <a:r>
              <a:rPr lang="en-US" dirty="0">
                <a:latin typeface="Bookman Old Style" panose="02050604050505020204" pitchFamily="18" charset="0"/>
              </a:rPr>
              <a:t>A</a:t>
            </a:r>
            <a:r>
              <a:rPr lang="en-US" b="0" i="0" u="none" strike="noStrike" baseline="0" dirty="0">
                <a:latin typeface="Bookman Old Style" panose="02050604050505020204" pitchFamily="18" charset="0"/>
              </a:rPr>
              <a:t>nalyze situations </a:t>
            </a:r>
          </a:p>
          <a:p>
            <a:pPr algn="just">
              <a:lnSpc>
                <a:spcPct val="150000"/>
              </a:lnSpc>
              <a:buFont typeface="Wingdings" panose="05000000000000000000" pitchFamily="2" charset="2"/>
              <a:buChar char="à"/>
            </a:pPr>
            <a:r>
              <a:rPr lang="en-US" dirty="0">
                <a:latin typeface="Bookman Old Style" panose="02050604050505020204" pitchFamily="18" charset="0"/>
              </a:rPr>
              <a:t>T</a:t>
            </a:r>
            <a:r>
              <a:rPr lang="en-US" b="0" i="0" u="none" strike="noStrike" baseline="0" dirty="0">
                <a:latin typeface="Bookman Old Style" panose="02050604050505020204" pitchFamily="18" charset="0"/>
              </a:rPr>
              <a:t>akes  long time to make decisions</a:t>
            </a:r>
          </a:p>
          <a:p>
            <a:pPr algn="just">
              <a:lnSpc>
                <a:spcPct val="150000"/>
              </a:lnSpc>
              <a:buFont typeface="Wingdings" panose="05000000000000000000" pitchFamily="2" charset="2"/>
              <a:buChar char="à"/>
            </a:pPr>
            <a:r>
              <a:rPr lang="en-US" dirty="0">
                <a:latin typeface="Bookman Old Style" panose="02050604050505020204" pitchFamily="18" charset="0"/>
              </a:rPr>
              <a:t>R</a:t>
            </a:r>
            <a:r>
              <a:rPr lang="en-US" b="0" i="0" u="none" strike="noStrike" baseline="0" dirty="0">
                <a:latin typeface="Bookman Old Style" panose="02050604050505020204" pitchFamily="18" charset="0"/>
              </a:rPr>
              <a:t>esponds well to new or uncertain situations</a:t>
            </a:r>
          </a:p>
          <a:p>
            <a:pPr algn="just">
              <a:lnSpc>
                <a:spcPct val="150000"/>
              </a:lnSpc>
              <a:buFont typeface="Wingdings" panose="05000000000000000000" pitchFamily="2" charset="2"/>
              <a:buChar char="à"/>
            </a:pPr>
            <a:r>
              <a:rPr lang="en-US" b="0" i="0" u="none" strike="noStrike" baseline="0" dirty="0">
                <a:latin typeface="Bookman Old Style" panose="02050604050505020204" pitchFamily="18" charset="0"/>
              </a:rPr>
              <a:t>Autocratic leadership style</a:t>
            </a:r>
            <a:endParaRPr lang="en-IN" dirty="0">
              <a:latin typeface="Bookman Old Style" panose="02050604050505020204" pitchFamily="18" charset="0"/>
            </a:endParaRPr>
          </a:p>
        </p:txBody>
      </p:sp>
    </p:spTree>
    <p:extLst>
      <p:ext uri="{BB962C8B-B14F-4D97-AF65-F5344CB8AC3E}">
        <p14:creationId xmlns:p14="http://schemas.microsoft.com/office/powerpoint/2010/main" val="355156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1F3072-2A70-0DF7-0587-5BC3C839B4F5}"/>
              </a:ext>
            </a:extLst>
          </p:cNvPr>
          <p:cNvSpPr/>
          <p:nvPr/>
        </p:nvSpPr>
        <p:spPr>
          <a:xfrm>
            <a:off x="452283" y="0"/>
            <a:ext cx="11257936" cy="67547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buFont typeface="Wingdings" panose="05000000000000000000" pitchFamily="2" charset="2"/>
              <a:buChar char="v"/>
            </a:pPr>
            <a:r>
              <a:rPr lang="en-IN" sz="2800" b="1" i="1" u="none" strike="noStrike" baseline="0" dirty="0">
                <a:latin typeface="Bookman Old Style" panose="02050604050505020204" pitchFamily="18" charset="0"/>
              </a:rPr>
              <a:t>Conceptual Style Decision makers:</a:t>
            </a:r>
          </a:p>
          <a:p>
            <a:pPr algn="just">
              <a:lnSpc>
                <a:spcPct val="150000"/>
              </a:lnSpc>
              <a:buFont typeface="Wingdings" panose="05000000000000000000" pitchFamily="2" charset="2"/>
              <a:buChar char="à"/>
            </a:pPr>
            <a:r>
              <a:rPr lang="en-US" sz="2800" dirty="0">
                <a:latin typeface="Bookman Old Style" panose="02050604050505020204" pitchFamily="18" charset="0"/>
              </a:rPr>
              <a:t>H</a:t>
            </a:r>
            <a:r>
              <a:rPr lang="en-US" sz="2800" b="0" i="0" u="none" strike="noStrike" baseline="0" dirty="0">
                <a:latin typeface="Bookman Old Style" panose="02050604050505020204" pitchFamily="18" charset="0"/>
              </a:rPr>
              <a:t>igh tolerance for ambiguity </a:t>
            </a:r>
          </a:p>
          <a:p>
            <a:pPr algn="just">
              <a:lnSpc>
                <a:spcPct val="150000"/>
              </a:lnSpc>
              <a:buFont typeface="Wingdings" panose="05000000000000000000" pitchFamily="2" charset="2"/>
              <a:buChar char="à"/>
            </a:pPr>
            <a:r>
              <a:rPr lang="en-US" sz="2800" b="0" i="0" u="none" strike="noStrike" baseline="0" dirty="0">
                <a:latin typeface="Bookman Old Style" panose="02050604050505020204" pitchFamily="18" charset="0"/>
              </a:rPr>
              <a:t>Strong people and social concerns</a:t>
            </a:r>
          </a:p>
          <a:p>
            <a:pPr algn="just">
              <a:lnSpc>
                <a:spcPct val="150000"/>
              </a:lnSpc>
              <a:buFont typeface="Wingdings" panose="05000000000000000000" pitchFamily="2" charset="2"/>
              <a:buChar char="à"/>
            </a:pPr>
            <a:r>
              <a:rPr lang="en-US" sz="2800" dirty="0">
                <a:latin typeface="Bookman Old Style" panose="02050604050505020204" pitchFamily="18" charset="0"/>
              </a:rPr>
              <a:t>T</a:t>
            </a:r>
            <a:r>
              <a:rPr lang="en-US" sz="2800" b="0" i="0" u="none" strike="noStrike" baseline="0" dirty="0">
                <a:latin typeface="Bookman Old Style" panose="02050604050505020204" pitchFamily="18" charset="0"/>
              </a:rPr>
              <a:t>akes a broad perspective in solving problems and likes to consider many options and future possibilities</a:t>
            </a:r>
          </a:p>
          <a:p>
            <a:pPr algn="just">
              <a:lnSpc>
                <a:spcPct val="150000"/>
              </a:lnSpc>
              <a:buFont typeface="Wingdings" panose="05000000000000000000" pitchFamily="2" charset="2"/>
              <a:buChar char="à"/>
            </a:pPr>
            <a:r>
              <a:rPr lang="en-US" sz="2800" dirty="0">
                <a:latin typeface="Bookman Old Style" panose="02050604050505020204" pitchFamily="18" charset="0"/>
              </a:rPr>
              <a:t>G</a:t>
            </a:r>
            <a:r>
              <a:rPr lang="en-US" sz="2800" b="0" i="0" u="none" strike="noStrike" baseline="0" dirty="0">
                <a:latin typeface="Bookman Old Style" panose="02050604050505020204" pitchFamily="18" charset="0"/>
              </a:rPr>
              <a:t>ather a great deal of information by discussion with many people.</a:t>
            </a:r>
            <a:endParaRPr lang="en-US" sz="2800" dirty="0">
              <a:latin typeface="Bookman Old Style" panose="02050604050505020204" pitchFamily="18" charset="0"/>
            </a:endParaRPr>
          </a:p>
          <a:p>
            <a:pPr algn="just">
              <a:lnSpc>
                <a:spcPct val="150000"/>
              </a:lnSpc>
              <a:buFont typeface="Wingdings" panose="05000000000000000000" pitchFamily="2" charset="2"/>
              <a:buChar char="à"/>
            </a:pPr>
            <a:r>
              <a:rPr lang="en-US" sz="2800" dirty="0">
                <a:latin typeface="Bookman Old Style" panose="02050604050505020204" pitchFamily="18" charset="0"/>
              </a:rPr>
              <a:t>W</a:t>
            </a:r>
            <a:r>
              <a:rPr lang="en-US" sz="2800" b="0" i="0" u="none" strike="noStrike" baseline="0" dirty="0">
                <a:latin typeface="Bookman Old Style" panose="02050604050505020204" pitchFamily="18" charset="0"/>
              </a:rPr>
              <a:t>illing to take risks and tend to be good at discovering creative solutions to problems</a:t>
            </a:r>
            <a:endParaRPr lang="en-US" sz="2800" dirty="0">
              <a:latin typeface="Bookman Old Style" panose="02050604050505020204" pitchFamily="18" charset="0"/>
            </a:endParaRPr>
          </a:p>
          <a:p>
            <a:pPr algn="just">
              <a:lnSpc>
                <a:spcPct val="150000"/>
              </a:lnSpc>
              <a:buFont typeface="Wingdings" panose="05000000000000000000" pitchFamily="2" charset="2"/>
              <a:buChar char="à"/>
            </a:pPr>
            <a:r>
              <a:rPr lang="en-US" sz="2800" dirty="0">
                <a:latin typeface="Bookman Old Style" panose="02050604050505020204" pitchFamily="18" charset="0"/>
              </a:rPr>
              <a:t>I</a:t>
            </a:r>
            <a:r>
              <a:rPr lang="en-US" sz="2800" b="0" i="0" u="none" strike="noStrike" baseline="0" dirty="0">
                <a:latin typeface="Bookman Old Style" panose="02050604050505020204" pitchFamily="18" charset="0"/>
              </a:rPr>
              <a:t>dealistic and indecisive approach to decision making</a:t>
            </a:r>
            <a:endParaRPr lang="en-IN" sz="2800" dirty="0">
              <a:latin typeface="Bookman Old Style" panose="02050604050505020204" pitchFamily="18" charset="0"/>
            </a:endParaRPr>
          </a:p>
        </p:txBody>
      </p:sp>
    </p:spTree>
    <p:extLst>
      <p:ext uri="{BB962C8B-B14F-4D97-AF65-F5344CB8AC3E}">
        <p14:creationId xmlns:p14="http://schemas.microsoft.com/office/powerpoint/2010/main" val="383962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CB7A08-81B5-5E36-C362-AE4905D53B0F}"/>
              </a:ext>
            </a:extLst>
          </p:cNvPr>
          <p:cNvSpPr/>
          <p:nvPr/>
        </p:nvSpPr>
        <p:spPr>
          <a:xfrm>
            <a:off x="285468" y="153405"/>
            <a:ext cx="11695249" cy="5663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IN" sz="2800" b="1" i="1" u="none" strike="noStrike" baseline="0" dirty="0" err="1">
                <a:latin typeface="Bookman Old Style" panose="02050604050505020204" pitchFamily="18" charset="0"/>
              </a:rPr>
              <a:t>Behavioral</a:t>
            </a:r>
            <a:r>
              <a:rPr lang="en-IN" sz="2800" b="1" i="1" u="none" strike="noStrike" baseline="0" dirty="0">
                <a:latin typeface="Bookman Old Style" panose="02050604050505020204" pitchFamily="18" charset="0"/>
              </a:rPr>
              <a:t> Style Decision makers</a:t>
            </a:r>
          </a:p>
          <a:p>
            <a:pPr algn="just">
              <a:lnSpc>
                <a:spcPct val="150000"/>
              </a:lnSpc>
              <a:buFont typeface="Wingdings" panose="05000000000000000000" pitchFamily="2" charset="2"/>
              <a:buChar char="à"/>
            </a:pPr>
            <a:r>
              <a:rPr lang="en-US" sz="2800" dirty="0">
                <a:latin typeface="Bookman Old Style" panose="02050604050505020204" pitchFamily="18" charset="0"/>
              </a:rPr>
              <a:t>L</a:t>
            </a:r>
            <a:r>
              <a:rPr lang="en-US" sz="2800" b="0" i="0" u="none" strike="noStrike" baseline="0" dirty="0">
                <a:latin typeface="Bookman Old Style" panose="02050604050505020204" pitchFamily="18" charset="0"/>
              </a:rPr>
              <a:t>ow tolerance for ambiguity and strong people and social concerns</a:t>
            </a:r>
          </a:p>
          <a:p>
            <a:pPr algn="just">
              <a:lnSpc>
                <a:spcPct val="150000"/>
              </a:lnSpc>
              <a:buFont typeface="Wingdings" panose="05000000000000000000" pitchFamily="2" charset="2"/>
              <a:buChar char="à"/>
            </a:pPr>
            <a:r>
              <a:rPr lang="en-US" sz="2800" dirty="0">
                <a:latin typeface="Bookman Old Style" panose="02050604050505020204" pitchFamily="18" charset="0"/>
              </a:rPr>
              <a:t>O</a:t>
            </a:r>
            <a:r>
              <a:rPr lang="en-US" sz="2800" b="0" i="0" u="none" strike="noStrike" baseline="0" dirty="0">
                <a:latin typeface="Bookman Old Style" panose="02050604050505020204" pitchFamily="18" charset="0"/>
              </a:rPr>
              <a:t>pinions are openly exchanged</a:t>
            </a:r>
          </a:p>
          <a:p>
            <a:pPr algn="just">
              <a:lnSpc>
                <a:spcPct val="150000"/>
              </a:lnSpc>
              <a:buFont typeface="Wingdings" panose="05000000000000000000" pitchFamily="2" charset="2"/>
              <a:buChar char="à"/>
            </a:pPr>
            <a:r>
              <a:rPr lang="en-US" sz="2800" b="0" i="0" u="none" strike="noStrike" baseline="0" dirty="0">
                <a:latin typeface="Bookman Old Style" panose="02050604050505020204" pitchFamily="18" charset="0"/>
              </a:rPr>
              <a:t>Receptive to suggestions</a:t>
            </a:r>
          </a:p>
          <a:p>
            <a:pPr algn="just">
              <a:lnSpc>
                <a:spcPct val="150000"/>
              </a:lnSpc>
              <a:buFont typeface="Wingdings" panose="05000000000000000000" pitchFamily="2" charset="2"/>
              <a:buChar char="à"/>
            </a:pPr>
            <a:r>
              <a:rPr lang="en-US" sz="2800" b="0" i="0" u="none" strike="noStrike" baseline="0" dirty="0">
                <a:latin typeface="Bookman Old Style" panose="02050604050505020204" pitchFamily="18" charset="0"/>
              </a:rPr>
              <a:t>Avoid conflict </a:t>
            </a:r>
          </a:p>
          <a:p>
            <a:pPr algn="just">
              <a:lnSpc>
                <a:spcPct val="150000"/>
              </a:lnSpc>
              <a:buFont typeface="Wingdings" panose="05000000000000000000" pitchFamily="2" charset="2"/>
              <a:buChar char="à"/>
            </a:pPr>
            <a:r>
              <a:rPr lang="en-US" sz="2800" b="0" i="0" u="none" strike="noStrike" baseline="0" dirty="0">
                <a:latin typeface="Bookman Old Style" panose="02050604050505020204" pitchFamily="18" charset="0"/>
              </a:rPr>
              <a:t>Overly concerned with keeping everyone happy</a:t>
            </a:r>
          </a:p>
          <a:p>
            <a:pPr algn="just">
              <a:lnSpc>
                <a:spcPct val="150000"/>
              </a:lnSpc>
              <a:buFont typeface="Wingdings" panose="05000000000000000000" pitchFamily="2" charset="2"/>
              <a:buChar char="à"/>
            </a:pPr>
            <a:r>
              <a:rPr lang="en-US" sz="2800" dirty="0">
                <a:latin typeface="Bookman Old Style" panose="02050604050505020204" pitchFamily="18" charset="0"/>
              </a:rPr>
              <a:t>D</a:t>
            </a:r>
            <a:r>
              <a:rPr lang="en-US" sz="2800" b="0" i="0" u="none" strike="noStrike" baseline="0" dirty="0">
                <a:latin typeface="Bookman Old Style" panose="02050604050505020204" pitchFamily="18" charset="0"/>
              </a:rPr>
              <a:t>ifficult time saying no to people</a:t>
            </a:r>
          </a:p>
          <a:p>
            <a:pPr algn="just">
              <a:lnSpc>
                <a:spcPct val="150000"/>
              </a:lnSpc>
              <a:buFont typeface="Wingdings" panose="05000000000000000000" pitchFamily="2" charset="2"/>
              <a:buChar char="à"/>
            </a:pPr>
            <a:r>
              <a:rPr lang="en-US" sz="2800" dirty="0">
                <a:latin typeface="Bookman Old Style" panose="02050604050505020204" pitchFamily="18" charset="0"/>
              </a:rPr>
              <a:t>D</a:t>
            </a:r>
            <a:r>
              <a:rPr lang="en-US" sz="2800" b="0" i="0" u="none" strike="noStrike" baseline="0" dirty="0">
                <a:latin typeface="Bookman Old Style" panose="02050604050505020204" pitchFamily="18" charset="0"/>
              </a:rPr>
              <a:t>o not like making tough decisions, making someone upset</a:t>
            </a:r>
            <a:endParaRPr lang="en-IN" sz="2800" dirty="0">
              <a:latin typeface="Bookman Old Style" panose="02050604050505020204" pitchFamily="18" charset="0"/>
            </a:endParaRPr>
          </a:p>
        </p:txBody>
      </p:sp>
      <p:sp>
        <p:nvSpPr>
          <p:cNvPr id="5" name="TextBox 4">
            <a:extLst>
              <a:ext uri="{FF2B5EF4-FFF2-40B4-BE49-F238E27FC236}">
                <a16:creationId xmlns:a16="http://schemas.microsoft.com/office/drawing/2014/main" id="{AEC08343-AF0C-1F9D-4336-A58CF071D038}"/>
              </a:ext>
            </a:extLst>
          </p:cNvPr>
          <p:cNvSpPr txBox="1"/>
          <p:nvPr/>
        </p:nvSpPr>
        <p:spPr>
          <a:xfrm>
            <a:off x="285468" y="6260799"/>
            <a:ext cx="10697497" cy="400110"/>
          </a:xfrm>
          <a:prstGeom prst="rect">
            <a:avLst/>
          </a:prstGeom>
          <a:noFill/>
        </p:spPr>
        <p:txBody>
          <a:bodyPr wrap="square" rtlCol="0">
            <a:spAutoFit/>
          </a:bodyPr>
          <a:lstStyle/>
          <a:p>
            <a:pPr algn="just"/>
            <a:r>
              <a:rPr lang="en-IN" sz="2000" dirty="0">
                <a:latin typeface="Bookman Old Style" panose="02050604050505020204" pitchFamily="18" charset="0"/>
              </a:rPr>
              <a:t>Note: Decision makers may have more than one dominant style.</a:t>
            </a:r>
          </a:p>
        </p:txBody>
      </p:sp>
    </p:spTree>
    <p:extLst>
      <p:ext uri="{BB962C8B-B14F-4D97-AF65-F5344CB8AC3E}">
        <p14:creationId xmlns:p14="http://schemas.microsoft.com/office/powerpoint/2010/main" val="1553977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57FED-6EF2-B6BF-555E-C9DDC3BE4BFC}"/>
              </a:ext>
            </a:extLst>
          </p:cNvPr>
          <p:cNvSpPr>
            <a:spLocks noGrp="1"/>
          </p:cNvSpPr>
          <p:nvPr>
            <p:ph type="title"/>
          </p:nvPr>
        </p:nvSpPr>
        <p:spPr>
          <a:xfrm>
            <a:off x="124691" y="105353"/>
            <a:ext cx="11052463" cy="403802"/>
          </a:xfrm>
        </p:spPr>
        <p:txBody>
          <a:bodyPr>
            <a:normAutofit fontScale="90000"/>
          </a:bodyPr>
          <a:lstStyle/>
          <a:p>
            <a:r>
              <a:rPr lang="en-IN" dirty="0"/>
              <a:t>Exercise</a:t>
            </a:r>
          </a:p>
        </p:txBody>
      </p:sp>
      <p:sp>
        <p:nvSpPr>
          <p:cNvPr id="3" name="Content Placeholder 2">
            <a:extLst>
              <a:ext uri="{FF2B5EF4-FFF2-40B4-BE49-F238E27FC236}">
                <a16:creationId xmlns:a16="http://schemas.microsoft.com/office/drawing/2014/main" id="{19B49842-2EFC-05A2-B88F-7D487C8D28FF}"/>
              </a:ext>
            </a:extLst>
          </p:cNvPr>
          <p:cNvSpPr>
            <a:spLocks noGrp="1"/>
          </p:cNvSpPr>
          <p:nvPr>
            <p:ph idx="1"/>
          </p:nvPr>
        </p:nvSpPr>
        <p:spPr>
          <a:xfrm>
            <a:off x="0" y="1174173"/>
            <a:ext cx="11970327" cy="5002790"/>
          </a:xfrm>
        </p:spPr>
        <p:txBody>
          <a:bodyPr>
            <a:noAutofit/>
          </a:bodyPr>
          <a:lstStyle/>
          <a:p>
            <a:pPr algn="just">
              <a:lnSpc>
                <a:spcPct val="150000"/>
              </a:lnSpc>
            </a:pPr>
            <a:r>
              <a:rPr lang="en-US" sz="2400" b="0" i="0" dirty="0">
                <a:solidFill>
                  <a:srgbClr val="000000"/>
                </a:solidFill>
                <a:effectLst/>
                <a:latin typeface="Bookman Old Style" panose="02050604050505020204" pitchFamily="18" charset="0"/>
              </a:rPr>
              <a:t>Although decisions are made in organizations every day, it is oftentimes either the large decisions, such as laying off many workers, or bad decisions, such as evidenced in the corporate scandals involving Enron, Arthur Andersen, or WorldCom, that receive all the attention. Using your search engine, come up with several organizations that have recently had a decision with negative or positive outcomes in the national news. Then, take these decisions, and consider the following:</a:t>
            </a:r>
          </a:p>
          <a:p>
            <a:pPr marL="0" indent="0" algn="just">
              <a:lnSpc>
                <a:spcPct val="150000"/>
              </a:lnSpc>
              <a:buNone/>
            </a:pPr>
            <a:br>
              <a:rPr lang="en-US" sz="2400" b="0" i="0" dirty="0">
                <a:solidFill>
                  <a:srgbClr val="000000"/>
                </a:solidFill>
                <a:effectLst/>
                <a:latin typeface="Bookman Old Style" panose="02050604050505020204" pitchFamily="18" charset="0"/>
              </a:rPr>
            </a:br>
            <a:endParaRPr lang="en-IN" sz="2400" dirty="0">
              <a:latin typeface="Bookman Old Style" panose="02050604050505020204" pitchFamily="18" charset="0"/>
            </a:endParaRPr>
          </a:p>
        </p:txBody>
      </p:sp>
    </p:spTree>
    <p:extLst>
      <p:ext uri="{BB962C8B-B14F-4D97-AF65-F5344CB8AC3E}">
        <p14:creationId xmlns:p14="http://schemas.microsoft.com/office/powerpoint/2010/main" val="11220927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6F45B-0B6E-B6B8-5497-86156C7D27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AE65C-8312-F1A7-1EA6-662E8B98BF59}"/>
              </a:ext>
            </a:extLst>
          </p:cNvPr>
          <p:cNvSpPr>
            <a:spLocks noGrp="1"/>
          </p:cNvSpPr>
          <p:nvPr>
            <p:ph type="title"/>
          </p:nvPr>
        </p:nvSpPr>
        <p:spPr>
          <a:xfrm>
            <a:off x="124691" y="105353"/>
            <a:ext cx="11052463" cy="403802"/>
          </a:xfrm>
        </p:spPr>
        <p:txBody>
          <a:bodyPr>
            <a:normAutofit fontScale="90000"/>
          </a:bodyPr>
          <a:lstStyle/>
          <a:p>
            <a:r>
              <a:rPr lang="en-IN" dirty="0"/>
              <a:t>Exercise</a:t>
            </a:r>
          </a:p>
        </p:txBody>
      </p:sp>
      <p:sp>
        <p:nvSpPr>
          <p:cNvPr id="3" name="Content Placeholder 2">
            <a:extLst>
              <a:ext uri="{FF2B5EF4-FFF2-40B4-BE49-F238E27FC236}">
                <a16:creationId xmlns:a16="http://schemas.microsoft.com/office/drawing/2014/main" id="{9544812A-F800-700F-12B0-642A0DF060B9}"/>
              </a:ext>
            </a:extLst>
          </p:cNvPr>
          <p:cNvSpPr>
            <a:spLocks noGrp="1"/>
          </p:cNvSpPr>
          <p:nvPr>
            <p:ph idx="1"/>
          </p:nvPr>
        </p:nvSpPr>
        <p:spPr>
          <a:xfrm>
            <a:off x="0" y="748145"/>
            <a:ext cx="11970327" cy="5428818"/>
          </a:xfrm>
        </p:spPr>
        <p:txBody>
          <a:bodyPr>
            <a:noAutofit/>
          </a:bodyPr>
          <a:lstStyle/>
          <a:p>
            <a:pPr marL="0" indent="0" algn="just">
              <a:lnSpc>
                <a:spcPct val="150000"/>
              </a:lnSpc>
              <a:buNone/>
            </a:pPr>
            <a:r>
              <a:rPr lang="en-US" sz="2400" b="0" i="0" dirty="0">
                <a:solidFill>
                  <a:srgbClr val="000000"/>
                </a:solidFill>
                <a:effectLst/>
                <a:latin typeface="Bookman Old Style" panose="02050604050505020204" pitchFamily="18" charset="0"/>
              </a:rPr>
              <a:t>1. What were the reasons behind the poor decisions? Which framework did the poor decisions fall under (rational or social)? Were the poor decisions the result of using an incorrect decision-making model? Analyze the same issues for the good decisions that you found.</a:t>
            </a:r>
          </a:p>
          <a:p>
            <a:pPr marL="0" indent="0" algn="just">
              <a:lnSpc>
                <a:spcPct val="150000"/>
              </a:lnSpc>
              <a:buNone/>
            </a:pPr>
            <a:r>
              <a:rPr lang="en-US" sz="2400" b="0" i="0" dirty="0">
                <a:solidFill>
                  <a:srgbClr val="000000"/>
                </a:solidFill>
                <a:effectLst/>
                <a:latin typeface="Bookman Old Style" panose="02050604050505020204" pitchFamily="18" charset="0"/>
              </a:rPr>
              <a:t>2. Could the decisions be improved by using one of the group decision-making techniques discussed in your text? Don’t forget to consider the downside to this, such as increased time to make the decision.</a:t>
            </a:r>
          </a:p>
          <a:p>
            <a:pPr marL="0" indent="0" algn="just">
              <a:lnSpc>
                <a:spcPct val="150000"/>
              </a:lnSpc>
              <a:buNone/>
            </a:pPr>
            <a:r>
              <a:rPr lang="en-US" sz="2400" b="0" i="0" dirty="0">
                <a:solidFill>
                  <a:srgbClr val="000000"/>
                </a:solidFill>
                <a:effectLst/>
                <a:latin typeface="Bookman Old Style" panose="02050604050505020204" pitchFamily="18" charset="0"/>
              </a:rPr>
              <a:t> 3. Did you find any specific organizations that had a pattern of wrong decisions? If so, discuss the possible reasons for this.</a:t>
            </a:r>
          </a:p>
          <a:p>
            <a:pPr marL="0" indent="0" algn="just">
              <a:lnSpc>
                <a:spcPct val="150000"/>
              </a:lnSpc>
              <a:buNone/>
            </a:pPr>
            <a:r>
              <a:rPr lang="en-US" sz="2400" dirty="0">
                <a:latin typeface="Bookman Old Style" panose="02050604050505020204" pitchFamily="18" charset="0"/>
              </a:rPr>
              <a:t> </a:t>
            </a:r>
            <a:br>
              <a:rPr lang="en-US" sz="2400" dirty="0">
                <a:latin typeface="Bookman Old Style" panose="02050604050505020204" pitchFamily="18" charset="0"/>
              </a:rPr>
            </a:br>
            <a:endParaRPr lang="en-IN" sz="2400" dirty="0">
              <a:latin typeface="Bookman Old Style" panose="02050604050505020204" pitchFamily="18" charset="0"/>
            </a:endParaRPr>
          </a:p>
          <a:p>
            <a:pPr marL="0" indent="0" algn="just">
              <a:lnSpc>
                <a:spcPct val="150000"/>
              </a:lnSpc>
              <a:buNone/>
            </a:pPr>
            <a:br>
              <a:rPr lang="en-US" sz="2400" b="0" i="0" dirty="0">
                <a:solidFill>
                  <a:srgbClr val="000000"/>
                </a:solidFill>
                <a:effectLst/>
                <a:latin typeface="Bookman Old Style" panose="02050604050505020204" pitchFamily="18" charset="0"/>
              </a:rPr>
            </a:br>
            <a:endParaRPr lang="en-IN" sz="2400" dirty="0">
              <a:latin typeface="Bookman Old Style" panose="02050604050505020204" pitchFamily="18" charset="0"/>
            </a:endParaRPr>
          </a:p>
        </p:txBody>
      </p:sp>
    </p:spTree>
    <p:extLst>
      <p:ext uri="{BB962C8B-B14F-4D97-AF65-F5344CB8AC3E}">
        <p14:creationId xmlns:p14="http://schemas.microsoft.com/office/powerpoint/2010/main" val="2271799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A81BB-D8C6-E911-A362-03236CEB58D2}"/>
              </a:ext>
            </a:extLst>
          </p:cNvPr>
          <p:cNvSpPr>
            <a:spLocks noGrp="1"/>
          </p:cNvSpPr>
          <p:nvPr>
            <p:ph type="title"/>
          </p:nvPr>
        </p:nvSpPr>
        <p:spPr/>
        <p:txBody>
          <a:bodyPr/>
          <a:lstStyle/>
          <a:p>
            <a:r>
              <a:rPr lang="en-IN" b="1" dirty="0">
                <a:solidFill>
                  <a:srgbClr val="FF0000"/>
                </a:solidFill>
                <a:latin typeface="Bookman Old Style" panose="02050604050505020204" pitchFamily="18" charset="0"/>
              </a:rPr>
              <a:t>Stress and Conflict</a:t>
            </a:r>
          </a:p>
        </p:txBody>
      </p:sp>
      <p:sp>
        <p:nvSpPr>
          <p:cNvPr id="3" name="Content Placeholder 2">
            <a:extLst>
              <a:ext uri="{FF2B5EF4-FFF2-40B4-BE49-F238E27FC236}">
                <a16:creationId xmlns:a16="http://schemas.microsoft.com/office/drawing/2014/main" id="{313CD097-0EAD-5098-B6A0-763599B8B7DC}"/>
              </a:ext>
            </a:extLst>
          </p:cNvPr>
          <p:cNvSpPr>
            <a:spLocks noGrp="1"/>
          </p:cNvSpPr>
          <p:nvPr>
            <p:ph idx="1"/>
          </p:nvPr>
        </p:nvSpPr>
        <p:spPr/>
        <p:txBody>
          <a:bodyPr/>
          <a:lstStyle/>
          <a:p>
            <a:r>
              <a:rPr lang="en-IN" dirty="0">
                <a:latin typeface="Bookman Old Style" panose="02050604050505020204" pitchFamily="18" charset="0"/>
              </a:rPr>
              <a:t>What stress is and is not??</a:t>
            </a:r>
          </a:p>
          <a:p>
            <a:pPr>
              <a:buFontTx/>
              <a:buChar char="-"/>
            </a:pPr>
            <a:r>
              <a:rPr lang="en-IN" dirty="0">
                <a:latin typeface="Bookman Old Style" panose="02050604050505020204" pitchFamily="18" charset="0"/>
              </a:rPr>
              <a:t>Stress is usually thought in negative terms.</a:t>
            </a:r>
          </a:p>
          <a:p>
            <a:pPr>
              <a:buFontTx/>
              <a:buChar char="-"/>
            </a:pPr>
            <a:r>
              <a:rPr lang="en-IN" dirty="0">
                <a:latin typeface="Bookman Old Style" panose="02050604050505020204" pitchFamily="18" charset="0"/>
              </a:rPr>
              <a:t>Caused by something bad </a:t>
            </a:r>
            <a:r>
              <a:rPr lang="en-IN" dirty="0">
                <a:latin typeface="Bookman Old Style" panose="02050604050505020204" pitchFamily="18" charset="0"/>
                <a:sym typeface="Wingdings" panose="05000000000000000000" pitchFamily="2" charset="2"/>
              </a:rPr>
              <a:t> distress</a:t>
            </a:r>
          </a:p>
          <a:p>
            <a:pPr>
              <a:buFontTx/>
              <a:buChar char="-"/>
            </a:pPr>
            <a:r>
              <a:rPr lang="en-IN" dirty="0">
                <a:latin typeface="Bookman Old Style" panose="02050604050505020204" pitchFamily="18" charset="0"/>
                <a:sym typeface="Wingdings" panose="05000000000000000000" pitchFamily="2" charset="2"/>
              </a:rPr>
              <a:t>Positive, pleasant side caused by good things eustress.</a:t>
            </a:r>
          </a:p>
          <a:p>
            <a:pPr>
              <a:buFontTx/>
              <a:buChar char="-"/>
            </a:pPr>
            <a:r>
              <a:rPr lang="en-IN" dirty="0">
                <a:latin typeface="Bookman Old Style" panose="02050604050505020204" pitchFamily="18" charset="0"/>
                <a:sym typeface="Wingdings" panose="05000000000000000000" pitchFamily="2" charset="2"/>
              </a:rPr>
              <a:t>Hindrance stressors  demands affecting negatively on personal growth and goal attainment.</a:t>
            </a:r>
          </a:p>
          <a:p>
            <a:pPr>
              <a:buFontTx/>
              <a:buChar char="-"/>
            </a:pPr>
            <a:r>
              <a:rPr lang="en-IN" dirty="0">
                <a:latin typeface="Bookman Old Style" panose="02050604050505020204" pitchFamily="18" charset="0"/>
                <a:sym typeface="Wingdings" panose="05000000000000000000" pitchFamily="2" charset="2"/>
              </a:rPr>
              <a:t>Challenge stressors  high workload, time pressure, high responsibility etc:-  helps to learn and achieve (positive effect).</a:t>
            </a:r>
            <a:endParaRPr lang="en-IN" dirty="0">
              <a:latin typeface="Bookman Old Style" panose="02050604050505020204" pitchFamily="18" charset="0"/>
            </a:endParaRPr>
          </a:p>
          <a:p>
            <a:pPr>
              <a:buFontTx/>
              <a:buChar char="-"/>
            </a:pPr>
            <a:endParaRPr lang="en-IN" dirty="0"/>
          </a:p>
        </p:txBody>
      </p:sp>
    </p:spTree>
    <p:extLst>
      <p:ext uri="{BB962C8B-B14F-4D97-AF65-F5344CB8AC3E}">
        <p14:creationId xmlns:p14="http://schemas.microsoft.com/office/powerpoint/2010/main" val="3923475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39977-11F4-6219-4021-3D86619B5818}"/>
              </a:ext>
            </a:extLst>
          </p:cNvPr>
          <p:cNvSpPr>
            <a:spLocks noGrp="1"/>
          </p:cNvSpPr>
          <p:nvPr>
            <p:ph type="title"/>
          </p:nvPr>
        </p:nvSpPr>
        <p:spPr/>
        <p:txBody>
          <a:bodyPr/>
          <a:lstStyle/>
          <a:p>
            <a:r>
              <a:rPr lang="en-IN" dirty="0"/>
              <a:t>Activity – Handling Stress in Organization.</a:t>
            </a:r>
          </a:p>
        </p:txBody>
      </p:sp>
      <p:sp>
        <p:nvSpPr>
          <p:cNvPr id="3" name="Content Placeholder 2">
            <a:extLst>
              <a:ext uri="{FF2B5EF4-FFF2-40B4-BE49-F238E27FC236}">
                <a16:creationId xmlns:a16="http://schemas.microsoft.com/office/drawing/2014/main" id="{D8576931-B7BE-5685-63DF-B464DBAF4FDA}"/>
              </a:ext>
            </a:extLst>
          </p:cNvPr>
          <p:cNvSpPr>
            <a:spLocks noGrp="1"/>
          </p:cNvSpPr>
          <p:nvPr>
            <p:ph idx="1"/>
          </p:nvPr>
        </p:nvSpPr>
        <p:spPr>
          <a:xfrm>
            <a:off x="838200" y="1690688"/>
            <a:ext cx="10515600" cy="4486275"/>
          </a:xfrm>
        </p:spPr>
        <p:txBody>
          <a:bodyPr>
            <a:normAutofit fontScale="92500" lnSpcReduction="10000"/>
          </a:bodyPr>
          <a:lstStyle/>
          <a:p>
            <a:pPr marL="0" indent="0" algn="just">
              <a:buNone/>
            </a:pPr>
            <a:r>
              <a:rPr lang="en-IN" dirty="0">
                <a:latin typeface="Bookman Old Style" panose="02050604050505020204" pitchFamily="18" charset="0"/>
              </a:rPr>
              <a:t>Analyse the following case studies and answer the following:</a:t>
            </a:r>
          </a:p>
          <a:p>
            <a:pPr marL="514350" indent="-514350" algn="just">
              <a:buAutoNum type="arabicParenR"/>
            </a:pPr>
            <a:r>
              <a:rPr lang="en-IN" dirty="0">
                <a:latin typeface="Bookman Old Style" panose="02050604050505020204" pitchFamily="18" charset="0"/>
              </a:rPr>
              <a:t>ABC marketing agency has a team of 10 employees who are responsible for managing multiple client accounts. The team has experiencing heavy workload due to  this increase in client demand.</a:t>
            </a:r>
          </a:p>
          <a:p>
            <a:pPr marL="514350" indent="-514350" algn="just">
              <a:buAutoNum type="arabicParenR"/>
            </a:pPr>
            <a:r>
              <a:rPr lang="en-IN" dirty="0">
                <a:latin typeface="Bookman Old Style" panose="02050604050505020204" pitchFamily="18" charset="0"/>
              </a:rPr>
              <a:t>XYZ corporation is undergoing significant organizational changes like restructuring and layoffs. Employees are experiencing uncertainty in their jobs and future of the company.</a:t>
            </a:r>
          </a:p>
          <a:p>
            <a:pPr marL="514350" indent="-514350" algn="just">
              <a:buAutoNum type="arabicParenR"/>
            </a:pPr>
            <a:r>
              <a:rPr lang="en-IN" dirty="0">
                <a:latin typeface="Bookman Old Style" panose="02050604050505020204" pitchFamily="18" charset="0"/>
              </a:rPr>
              <a:t>MNZ healthcare has a team of nurses who are required to follow strict protocols and procedures and have a limited autonomy to make decisions.</a:t>
            </a:r>
          </a:p>
          <a:p>
            <a:pPr marL="0" indent="0">
              <a:buNone/>
            </a:pPr>
            <a:endParaRPr lang="en-IN" dirty="0"/>
          </a:p>
        </p:txBody>
      </p:sp>
    </p:spTree>
    <p:extLst>
      <p:ext uri="{BB962C8B-B14F-4D97-AF65-F5344CB8AC3E}">
        <p14:creationId xmlns:p14="http://schemas.microsoft.com/office/powerpoint/2010/main" val="3401472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9B717E-3F7C-6185-AA17-7B5E82FD9F8B}"/>
              </a:ext>
            </a:extLst>
          </p:cNvPr>
          <p:cNvSpPr>
            <a:spLocks noGrp="1"/>
          </p:cNvSpPr>
          <p:nvPr>
            <p:ph idx="1"/>
          </p:nvPr>
        </p:nvSpPr>
        <p:spPr>
          <a:xfrm>
            <a:off x="488372" y="1139825"/>
            <a:ext cx="10938164" cy="4351338"/>
          </a:xfrm>
        </p:spPr>
        <p:txBody>
          <a:bodyPr>
            <a:normAutofit/>
          </a:bodyPr>
          <a:lstStyle/>
          <a:p>
            <a:pPr marL="0" indent="0" algn="just">
              <a:buNone/>
            </a:pPr>
            <a:r>
              <a:rPr lang="en-IN" sz="3200" dirty="0">
                <a:latin typeface="Bookman Old Style" panose="02050604050505020204" pitchFamily="18" charset="0"/>
              </a:rPr>
              <a:t>Q.1. What are the potential sources of stress in each of the above scenario?</a:t>
            </a:r>
          </a:p>
          <a:p>
            <a:pPr marL="0" indent="0" algn="just">
              <a:buNone/>
            </a:pPr>
            <a:r>
              <a:rPr lang="en-IN" sz="3200" dirty="0">
                <a:latin typeface="Bookman Old Style" panose="02050604050505020204" pitchFamily="18" charset="0"/>
              </a:rPr>
              <a:t>Q.2. How the given scenario affect the employee work-life balance , well being and productivity?</a:t>
            </a:r>
          </a:p>
          <a:p>
            <a:pPr marL="0" indent="0" algn="just">
              <a:buNone/>
            </a:pPr>
            <a:r>
              <a:rPr lang="en-IN" sz="3200" dirty="0">
                <a:latin typeface="Bookman Old Style" panose="02050604050505020204" pitchFamily="18" charset="0"/>
              </a:rPr>
              <a:t>Q.3. What strategies the organization implement to address these scenario and support their employees?</a:t>
            </a:r>
          </a:p>
        </p:txBody>
      </p:sp>
    </p:spTree>
    <p:extLst>
      <p:ext uri="{BB962C8B-B14F-4D97-AF65-F5344CB8AC3E}">
        <p14:creationId xmlns:p14="http://schemas.microsoft.com/office/powerpoint/2010/main" val="2768966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64A38-36C9-BA62-3535-E88C188D166C}"/>
              </a:ext>
            </a:extLst>
          </p:cNvPr>
          <p:cNvSpPr>
            <a:spLocks noGrp="1"/>
          </p:cNvSpPr>
          <p:nvPr>
            <p:ph type="title"/>
          </p:nvPr>
        </p:nvSpPr>
        <p:spPr>
          <a:xfrm>
            <a:off x="703119" y="86200"/>
            <a:ext cx="10515600" cy="1325563"/>
          </a:xfrm>
        </p:spPr>
        <p:txBody>
          <a:bodyPr/>
          <a:lstStyle/>
          <a:p>
            <a:r>
              <a:rPr lang="en-IN" b="1" dirty="0">
                <a:solidFill>
                  <a:srgbClr val="FF0000"/>
                </a:solidFill>
                <a:latin typeface="Bookman Old Style" panose="02050604050505020204" pitchFamily="18" charset="0"/>
              </a:rPr>
              <a:t>Definitions of Stress:</a:t>
            </a:r>
          </a:p>
        </p:txBody>
      </p:sp>
      <p:sp>
        <p:nvSpPr>
          <p:cNvPr id="3" name="Content Placeholder 2">
            <a:extLst>
              <a:ext uri="{FF2B5EF4-FFF2-40B4-BE49-F238E27FC236}">
                <a16:creationId xmlns:a16="http://schemas.microsoft.com/office/drawing/2014/main" id="{1B96CA80-5904-AAB8-34D3-301737B5B315}"/>
              </a:ext>
            </a:extLst>
          </p:cNvPr>
          <p:cNvSpPr>
            <a:spLocks noGrp="1"/>
          </p:cNvSpPr>
          <p:nvPr>
            <p:ph idx="1"/>
          </p:nvPr>
        </p:nvSpPr>
        <p:spPr>
          <a:xfrm>
            <a:off x="609600" y="1108652"/>
            <a:ext cx="10515600" cy="5177848"/>
          </a:xfrm>
        </p:spPr>
        <p:txBody>
          <a:bodyPr>
            <a:normAutofit/>
          </a:bodyPr>
          <a:lstStyle/>
          <a:p>
            <a:pPr algn="l">
              <a:lnSpc>
                <a:spcPct val="150000"/>
              </a:lnSpc>
            </a:pPr>
            <a:r>
              <a:rPr lang="en-US" sz="2200" b="0" i="0" u="none" strike="noStrike" baseline="0" dirty="0">
                <a:latin typeface="Bookman Old Style" panose="02050604050505020204" pitchFamily="18" charset="0"/>
              </a:rPr>
              <a:t>Ivancevich and Matteson define stress simply as </a:t>
            </a:r>
            <a:r>
              <a:rPr lang="en-US" sz="2200" i="0" u="none" strike="noStrike" baseline="0" dirty="0">
                <a:solidFill>
                  <a:srgbClr val="FF0000"/>
                </a:solidFill>
                <a:latin typeface="Bookman Old Style" panose="02050604050505020204" pitchFamily="18" charset="0"/>
              </a:rPr>
              <a:t>“the interaction of the individual with the environment”</a:t>
            </a:r>
          </a:p>
          <a:p>
            <a:pPr algn="l">
              <a:lnSpc>
                <a:spcPct val="150000"/>
              </a:lnSpc>
            </a:pPr>
            <a:r>
              <a:rPr lang="en-US" sz="2200" b="0" i="0" u="none" strike="noStrike" baseline="0" dirty="0" err="1">
                <a:latin typeface="Bookman Old Style" panose="02050604050505020204" pitchFamily="18" charset="0"/>
              </a:rPr>
              <a:t>Beehr</a:t>
            </a:r>
            <a:r>
              <a:rPr lang="en-US" sz="2200" b="0" i="0" u="none" strike="noStrike" baseline="0" dirty="0">
                <a:latin typeface="Bookman Old Style" panose="02050604050505020204" pitchFamily="18" charset="0"/>
              </a:rPr>
              <a:t> and Newman define </a:t>
            </a:r>
            <a:r>
              <a:rPr lang="en-US" sz="2200" b="0" i="1" u="none" strike="noStrike" baseline="0" dirty="0">
                <a:latin typeface="Bookman Old Style" panose="02050604050505020204" pitchFamily="18" charset="0"/>
              </a:rPr>
              <a:t>job stress </a:t>
            </a:r>
            <a:r>
              <a:rPr lang="en-US" sz="2200" b="0" i="0" u="none" strike="noStrike" baseline="0" dirty="0">
                <a:latin typeface="Bookman Old Style" panose="02050604050505020204" pitchFamily="18" charset="0"/>
              </a:rPr>
              <a:t>as </a:t>
            </a:r>
            <a:r>
              <a:rPr lang="en-US" sz="2200" b="0" i="0" u="none" strike="noStrike" baseline="0" dirty="0">
                <a:solidFill>
                  <a:srgbClr val="FF0000"/>
                </a:solidFill>
                <a:latin typeface="Bookman Old Style" panose="02050604050505020204" pitchFamily="18" charset="0"/>
              </a:rPr>
              <a:t>“a condition arising from the interaction of people and their jobs and characterized by changes within people that force them to deviate from their normal functioning.”</a:t>
            </a:r>
          </a:p>
          <a:p>
            <a:pPr algn="l">
              <a:lnSpc>
                <a:spcPct val="150000"/>
              </a:lnSpc>
            </a:pPr>
            <a:endParaRPr lang="en-IN" sz="2200" dirty="0">
              <a:latin typeface="Bookman Old Style" panose="02050604050505020204" pitchFamily="18" charset="0"/>
            </a:endParaRPr>
          </a:p>
          <a:p>
            <a:pPr algn="l">
              <a:lnSpc>
                <a:spcPct val="150000"/>
              </a:lnSpc>
            </a:pPr>
            <a:endParaRPr lang="en-IN" sz="2200" dirty="0">
              <a:latin typeface="Bookman Old Style" panose="02050604050505020204" pitchFamily="18" charset="0"/>
            </a:endParaRPr>
          </a:p>
          <a:p>
            <a:pPr algn="l">
              <a:lnSpc>
                <a:spcPct val="150000"/>
              </a:lnSpc>
            </a:pPr>
            <a:endParaRPr lang="en-IN" sz="2200" dirty="0">
              <a:latin typeface="Bookman Old Style" panose="02050604050505020204" pitchFamily="18" charset="0"/>
            </a:endParaRPr>
          </a:p>
          <a:p>
            <a:pPr algn="l"/>
            <a:endParaRPr lang="en-IN" dirty="0"/>
          </a:p>
          <a:p>
            <a:pPr algn="l"/>
            <a:endParaRPr lang="en-IN" dirty="0"/>
          </a:p>
          <a:p>
            <a:pPr algn="l"/>
            <a:endParaRPr lang="en-IN" dirty="0"/>
          </a:p>
          <a:p>
            <a:pPr algn="l"/>
            <a:endParaRPr lang="en-IN" dirty="0"/>
          </a:p>
          <a:p>
            <a:pPr algn="l"/>
            <a:endParaRPr lang="en-IN" sz="4600" dirty="0">
              <a:latin typeface="Bookman Old Style" panose="02050604050505020204" pitchFamily="18" charset="0"/>
            </a:endParaRPr>
          </a:p>
        </p:txBody>
      </p:sp>
      <p:sp>
        <p:nvSpPr>
          <p:cNvPr id="4" name="Oval 3">
            <a:extLst>
              <a:ext uri="{FF2B5EF4-FFF2-40B4-BE49-F238E27FC236}">
                <a16:creationId xmlns:a16="http://schemas.microsoft.com/office/drawing/2014/main" id="{7BA15ADF-6A26-418D-9ED7-9BFC9D58E26D}"/>
              </a:ext>
            </a:extLst>
          </p:cNvPr>
          <p:cNvSpPr/>
          <p:nvPr/>
        </p:nvSpPr>
        <p:spPr>
          <a:xfrm>
            <a:off x="1207769" y="3844637"/>
            <a:ext cx="9796204" cy="27639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2400" b="0" i="1" u="none" strike="noStrike" baseline="0" dirty="0">
                <a:latin typeface="Times New Roman" panose="02020603050405020304" pitchFamily="18" charset="0"/>
              </a:rPr>
              <a:t>stress </a:t>
            </a:r>
            <a:r>
              <a:rPr lang="en-US" sz="2400" b="0" i="0" u="none" strike="noStrike" baseline="0" dirty="0">
                <a:latin typeface="Times New Roman" panose="02020603050405020304" pitchFamily="18" charset="0"/>
              </a:rPr>
              <a:t>is defined as an adaptive response to an external situation that results in physical, psychological, and/or behavioral deviations </a:t>
            </a:r>
            <a:r>
              <a:rPr lang="en-IN" sz="2400" b="0" i="0" u="none" strike="noStrike" baseline="0" dirty="0">
                <a:latin typeface="Times New Roman" panose="02020603050405020304" pitchFamily="18" charset="0"/>
              </a:rPr>
              <a:t>for organizational participants.</a:t>
            </a:r>
            <a:endParaRPr lang="en-IN" sz="2400" dirty="0"/>
          </a:p>
        </p:txBody>
      </p:sp>
    </p:spTree>
    <p:extLst>
      <p:ext uri="{BB962C8B-B14F-4D97-AF65-F5344CB8AC3E}">
        <p14:creationId xmlns:p14="http://schemas.microsoft.com/office/powerpoint/2010/main" val="2253695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BD5E2-5786-D6DD-3FA9-F6AA7BA7EA2E}"/>
              </a:ext>
            </a:extLst>
          </p:cNvPr>
          <p:cNvSpPr>
            <a:spLocks noGrp="1"/>
          </p:cNvSpPr>
          <p:nvPr>
            <p:ph type="title"/>
          </p:nvPr>
        </p:nvSpPr>
        <p:spPr>
          <a:xfrm>
            <a:off x="426720" y="2308080"/>
            <a:ext cx="10515600" cy="1325563"/>
          </a:xfrm>
        </p:spPr>
        <p:txBody>
          <a:bodyPr>
            <a:normAutofit/>
          </a:bodyPr>
          <a:lstStyle/>
          <a:p>
            <a:r>
              <a:rPr lang="en-IN" sz="4000" b="1" dirty="0">
                <a:solidFill>
                  <a:srgbClr val="FF0000"/>
                </a:solidFill>
                <a:latin typeface="Bookman Old Style" panose="02050604050505020204" pitchFamily="18" charset="0"/>
              </a:rPr>
              <a:t>Burnout:</a:t>
            </a:r>
          </a:p>
        </p:txBody>
      </p:sp>
      <p:sp>
        <p:nvSpPr>
          <p:cNvPr id="3" name="Content Placeholder 2">
            <a:extLst>
              <a:ext uri="{FF2B5EF4-FFF2-40B4-BE49-F238E27FC236}">
                <a16:creationId xmlns:a16="http://schemas.microsoft.com/office/drawing/2014/main" id="{E7E79AD6-2422-EA10-264A-671CA9A51119}"/>
              </a:ext>
            </a:extLst>
          </p:cNvPr>
          <p:cNvSpPr>
            <a:spLocks noGrp="1"/>
          </p:cNvSpPr>
          <p:nvPr>
            <p:ph idx="1"/>
          </p:nvPr>
        </p:nvSpPr>
        <p:spPr>
          <a:xfrm>
            <a:off x="426720" y="3304309"/>
            <a:ext cx="10515600" cy="4351338"/>
          </a:xfrm>
        </p:spPr>
        <p:txBody>
          <a:bodyPr/>
          <a:lstStyle/>
          <a:p>
            <a:pPr marL="0" indent="0" algn="l">
              <a:buNone/>
            </a:pPr>
            <a:r>
              <a:rPr lang="en-US" sz="1800" b="0" i="0" u="none" strike="noStrike" baseline="0" dirty="0">
                <a:latin typeface="Times New Roman" panose="02020603050405020304" pitchFamily="18" charset="0"/>
                <a:sym typeface="Wingdings" panose="05000000000000000000" pitchFamily="2" charset="2"/>
              </a:rPr>
              <a:t></a:t>
            </a:r>
            <a:r>
              <a:rPr lang="en-US" b="0" i="0" u="none" strike="noStrike" baseline="0" dirty="0">
                <a:latin typeface="Bookman Old Style" panose="02050604050505020204" pitchFamily="18" charset="0"/>
              </a:rPr>
              <a:t>consequence of “losing a sense of the basic purpose and fulfillment of </a:t>
            </a:r>
            <a:r>
              <a:rPr lang="en-IN" b="0" i="0" u="none" strike="noStrike" baseline="0" dirty="0">
                <a:latin typeface="Bookman Old Style" panose="02050604050505020204" pitchFamily="18" charset="0"/>
              </a:rPr>
              <a:t>your work.”</a:t>
            </a:r>
          </a:p>
          <a:p>
            <a:pPr marL="0" indent="0" algn="l">
              <a:buNone/>
            </a:pPr>
            <a:r>
              <a:rPr lang="en-IN" dirty="0">
                <a:latin typeface="Bookman Old Style" panose="02050604050505020204" pitchFamily="18" charset="0"/>
                <a:sym typeface="Wingdings" panose="05000000000000000000" pitchFamily="2" charset="2"/>
              </a:rPr>
              <a:t></a:t>
            </a:r>
            <a:r>
              <a:rPr lang="en-IN" b="0" i="0" u="none" strike="noStrike" baseline="0" dirty="0">
                <a:latin typeface="Bookman Old Style" panose="02050604050505020204" pitchFamily="18" charset="0"/>
              </a:rPr>
              <a:t>burnout is not a </a:t>
            </a:r>
            <a:r>
              <a:rPr lang="en-US" b="0" i="0" u="none" strike="noStrike" baseline="0" dirty="0">
                <a:latin typeface="Bookman Old Style" panose="02050604050505020204" pitchFamily="18" charset="0"/>
              </a:rPr>
              <a:t>problem of the people themselves but of the social environment in which people work.</a:t>
            </a:r>
          </a:p>
          <a:p>
            <a:pPr marL="0" indent="0" algn="l">
              <a:buNone/>
            </a:pPr>
            <a:r>
              <a:rPr lang="en-US" dirty="0">
                <a:latin typeface="Bookman Old Style" panose="02050604050505020204" pitchFamily="18" charset="0"/>
                <a:sym typeface="Wingdings" panose="05000000000000000000" pitchFamily="2" charset="2"/>
              </a:rPr>
              <a:t></a:t>
            </a:r>
            <a:r>
              <a:rPr lang="en-US" b="0" i="0" u="none" strike="noStrike" baseline="0" dirty="0">
                <a:latin typeface="Bookman Old Style" panose="02050604050505020204" pitchFamily="18" charset="0"/>
              </a:rPr>
              <a:t>closely associated with the so-called helping professions such as nursing, education, </a:t>
            </a:r>
            <a:r>
              <a:rPr lang="en-IN" b="0" i="0" u="none" strike="noStrike" baseline="0" dirty="0">
                <a:latin typeface="Bookman Old Style" panose="02050604050505020204" pitchFamily="18" charset="0"/>
              </a:rPr>
              <a:t>and social work.</a:t>
            </a:r>
          </a:p>
          <a:p>
            <a:pPr marL="0" indent="0" algn="l">
              <a:buNone/>
            </a:pPr>
            <a:r>
              <a:rPr lang="en-IN" dirty="0">
                <a:latin typeface="Bookman Old Style" panose="02050604050505020204" pitchFamily="18" charset="0"/>
                <a:sym typeface="Wingdings" panose="05000000000000000000" pitchFamily="2" charset="2"/>
              </a:rPr>
              <a:t> examples??? </a:t>
            </a:r>
            <a:endParaRPr lang="en-IN" dirty="0">
              <a:latin typeface="Bookman Old Style" panose="02050604050505020204" pitchFamily="18" charset="0"/>
            </a:endParaRPr>
          </a:p>
        </p:txBody>
      </p:sp>
      <p:sp>
        <p:nvSpPr>
          <p:cNvPr id="4" name="TextBox 3">
            <a:extLst>
              <a:ext uri="{FF2B5EF4-FFF2-40B4-BE49-F238E27FC236}">
                <a16:creationId xmlns:a16="http://schemas.microsoft.com/office/drawing/2014/main" id="{6FE2CA98-87AD-0E1C-6120-08565091320C}"/>
              </a:ext>
            </a:extLst>
          </p:cNvPr>
          <p:cNvSpPr txBox="1"/>
          <p:nvPr/>
        </p:nvSpPr>
        <p:spPr>
          <a:xfrm>
            <a:off x="426720" y="416560"/>
            <a:ext cx="11134898" cy="1938992"/>
          </a:xfrm>
          <a:prstGeom prst="rect">
            <a:avLst/>
          </a:prstGeom>
          <a:noFill/>
        </p:spPr>
        <p:txBody>
          <a:bodyPr wrap="square" rtlCol="0">
            <a:spAutoFit/>
          </a:bodyPr>
          <a:lstStyle/>
          <a:p>
            <a:pPr algn="l"/>
            <a:r>
              <a:rPr lang="en-IN" sz="3600" b="1" dirty="0">
                <a:solidFill>
                  <a:srgbClr val="FF0000"/>
                </a:solidFill>
                <a:latin typeface="Bookman Old Style" panose="02050604050505020204" pitchFamily="18" charset="0"/>
              </a:rPr>
              <a:t>What stress is not: </a:t>
            </a:r>
          </a:p>
          <a:p>
            <a:pPr marL="0" indent="0" algn="l">
              <a:buNone/>
            </a:pPr>
            <a:r>
              <a:rPr lang="en-IN" sz="2800" dirty="0">
                <a:latin typeface="Bookman Old Style" panose="02050604050505020204" pitchFamily="18" charset="0"/>
                <a:sym typeface="Wingdings" panose="05000000000000000000" pitchFamily="2" charset="2"/>
              </a:rPr>
              <a:t> not simply anxiety</a:t>
            </a:r>
          </a:p>
          <a:p>
            <a:pPr marL="0" indent="0" algn="l">
              <a:buNone/>
            </a:pPr>
            <a:r>
              <a:rPr lang="en-IN" sz="2800" dirty="0">
                <a:latin typeface="Bookman Old Style" panose="02050604050505020204" pitchFamily="18" charset="0"/>
                <a:sym typeface="Wingdings" panose="05000000000000000000" pitchFamily="2" charset="2"/>
              </a:rPr>
              <a:t>not simply nervous tension</a:t>
            </a:r>
          </a:p>
          <a:p>
            <a:pPr marL="0" indent="0" algn="l">
              <a:buNone/>
            </a:pPr>
            <a:r>
              <a:rPr lang="en-IN" sz="2800" dirty="0">
                <a:latin typeface="Bookman Old Style" panose="02050604050505020204" pitchFamily="18" charset="0"/>
                <a:sym typeface="Wingdings" panose="05000000000000000000" pitchFamily="2" charset="2"/>
              </a:rPr>
              <a:t>not necessarily something damaging ,bad or to be avoided</a:t>
            </a:r>
            <a:endParaRPr lang="en-IN" sz="2800" dirty="0"/>
          </a:p>
        </p:txBody>
      </p:sp>
    </p:spTree>
    <p:extLst>
      <p:ext uri="{BB962C8B-B14F-4D97-AF65-F5344CB8AC3E}">
        <p14:creationId xmlns:p14="http://schemas.microsoft.com/office/powerpoint/2010/main" val="1475671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B5740-5397-33A7-DE3E-49194D288B50}"/>
              </a:ext>
            </a:extLst>
          </p:cNvPr>
          <p:cNvSpPr>
            <a:spLocks noGrp="1"/>
          </p:cNvSpPr>
          <p:nvPr>
            <p:ph type="title"/>
          </p:nvPr>
        </p:nvSpPr>
        <p:spPr/>
        <p:txBody>
          <a:bodyPr>
            <a:normAutofit/>
          </a:bodyPr>
          <a:lstStyle/>
          <a:p>
            <a:r>
              <a:rPr lang="en-IN" sz="3600" b="1" dirty="0">
                <a:solidFill>
                  <a:srgbClr val="FF0000"/>
                </a:solidFill>
                <a:latin typeface="Bookman Old Style" panose="02050604050505020204" pitchFamily="18" charset="0"/>
              </a:rPr>
              <a:t>The Causes of Stress:</a:t>
            </a:r>
          </a:p>
        </p:txBody>
      </p:sp>
      <p:pic>
        <p:nvPicPr>
          <p:cNvPr id="5" name="Content Placeholder 4">
            <a:extLst>
              <a:ext uri="{FF2B5EF4-FFF2-40B4-BE49-F238E27FC236}">
                <a16:creationId xmlns:a16="http://schemas.microsoft.com/office/drawing/2014/main" id="{0CB74CA6-77A8-B423-8854-CBE6410305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72200" y="629371"/>
            <a:ext cx="6296891" cy="5599257"/>
          </a:xfrm>
        </p:spPr>
      </p:pic>
      <p:sp>
        <p:nvSpPr>
          <p:cNvPr id="6" name="TextBox 5">
            <a:extLst>
              <a:ext uri="{FF2B5EF4-FFF2-40B4-BE49-F238E27FC236}">
                <a16:creationId xmlns:a16="http://schemas.microsoft.com/office/drawing/2014/main" id="{6617C6ED-C6AD-53D8-3D87-E7490471902F}"/>
              </a:ext>
            </a:extLst>
          </p:cNvPr>
          <p:cNvSpPr txBox="1"/>
          <p:nvPr/>
        </p:nvSpPr>
        <p:spPr>
          <a:xfrm>
            <a:off x="838200" y="1877724"/>
            <a:ext cx="5175827" cy="3970318"/>
          </a:xfrm>
          <a:prstGeom prst="rect">
            <a:avLst/>
          </a:prstGeom>
          <a:noFill/>
        </p:spPr>
        <p:txBody>
          <a:bodyPr wrap="square" rtlCol="0">
            <a:spAutoFit/>
          </a:bodyPr>
          <a:lstStyle/>
          <a:p>
            <a:r>
              <a:rPr lang="en-IN" sz="2800" dirty="0">
                <a:latin typeface="Bookman Old Style" panose="02050604050505020204" pitchFamily="18" charset="0"/>
              </a:rPr>
              <a:t>Categories of stressors affecting occupational stress:</a:t>
            </a:r>
          </a:p>
          <a:p>
            <a:endParaRPr lang="en-IN" sz="2800" dirty="0">
              <a:latin typeface="Bookman Old Style" panose="02050604050505020204" pitchFamily="18" charset="0"/>
            </a:endParaRPr>
          </a:p>
          <a:p>
            <a:pPr marL="285750" indent="-285750">
              <a:buFont typeface="Wingdings" panose="05000000000000000000" pitchFamily="2" charset="2"/>
              <a:buChar char="à"/>
            </a:pPr>
            <a:r>
              <a:rPr lang="en-IN" sz="2800" dirty="0">
                <a:latin typeface="Bookman Old Style" panose="02050604050505020204" pitchFamily="18" charset="0"/>
                <a:sym typeface="Wingdings" panose="05000000000000000000" pitchFamily="2" charset="2"/>
              </a:rPr>
              <a:t>Extra organizational stressors</a:t>
            </a:r>
          </a:p>
          <a:p>
            <a:pPr marL="285750" indent="-285750">
              <a:buFont typeface="Wingdings" panose="05000000000000000000" pitchFamily="2" charset="2"/>
              <a:buChar char="à"/>
            </a:pPr>
            <a:r>
              <a:rPr lang="en-IN" sz="2800" dirty="0">
                <a:latin typeface="Bookman Old Style" panose="02050604050505020204" pitchFamily="18" charset="0"/>
                <a:sym typeface="Wingdings" panose="05000000000000000000" pitchFamily="2" charset="2"/>
              </a:rPr>
              <a:t>Organizational stressors</a:t>
            </a:r>
          </a:p>
          <a:p>
            <a:pPr marL="285750" indent="-285750">
              <a:buFont typeface="Wingdings" panose="05000000000000000000" pitchFamily="2" charset="2"/>
              <a:buChar char="à"/>
            </a:pPr>
            <a:r>
              <a:rPr lang="en-IN" sz="2800" dirty="0">
                <a:latin typeface="Bookman Old Style" panose="02050604050505020204" pitchFamily="18" charset="0"/>
                <a:sym typeface="Wingdings" panose="05000000000000000000" pitchFamily="2" charset="2"/>
              </a:rPr>
              <a:t>Group stressors</a:t>
            </a:r>
          </a:p>
          <a:p>
            <a:pPr marL="285750" indent="-285750">
              <a:buFont typeface="Wingdings" panose="05000000000000000000" pitchFamily="2" charset="2"/>
              <a:buChar char="à"/>
            </a:pPr>
            <a:r>
              <a:rPr lang="en-IN" sz="2800" dirty="0">
                <a:latin typeface="Bookman Old Style" panose="02050604050505020204" pitchFamily="18" charset="0"/>
                <a:sym typeface="Wingdings" panose="05000000000000000000" pitchFamily="2" charset="2"/>
              </a:rPr>
              <a:t>Individual stressors</a:t>
            </a:r>
            <a:endParaRPr lang="en-IN" sz="2800" dirty="0">
              <a:latin typeface="Bookman Old Style" panose="02050604050505020204" pitchFamily="18" charset="0"/>
            </a:endParaRPr>
          </a:p>
        </p:txBody>
      </p:sp>
    </p:spTree>
    <p:extLst>
      <p:ext uri="{BB962C8B-B14F-4D97-AF65-F5344CB8AC3E}">
        <p14:creationId xmlns:p14="http://schemas.microsoft.com/office/powerpoint/2010/main" val="1419061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C093F-6C7D-35B0-9CE5-190F03809139}"/>
              </a:ext>
            </a:extLst>
          </p:cNvPr>
          <p:cNvSpPr>
            <a:spLocks noGrp="1"/>
          </p:cNvSpPr>
          <p:nvPr>
            <p:ph type="title"/>
          </p:nvPr>
        </p:nvSpPr>
        <p:spPr>
          <a:xfrm>
            <a:off x="630382" y="0"/>
            <a:ext cx="10515600" cy="1325563"/>
          </a:xfrm>
        </p:spPr>
        <p:txBody>
          <a:bodyPr>
            <a:normAutofit/>
          </a:bodyPr>
          <a:lstStyle/>
          <a:p>
            <a:r>
              <a:rPr lang="en-IN" sz="2800" b="1" i="0" u="none" strike="noStrike" baseline="0" dirty="0" err="1">
                <a:latin typeface="Bookman Old Style" panose="02050604050505020204" pitchFamily="18" charset="0"/>
              </a:rPr>
              <a:t>Extraorganizational</a:t>
            </a:r>
            <a:r>
              <a:rPr lang="en-IN" sz="2800" b="1" i="0" u="none" strike="noStrike" baseline="0" dirty="0">
                <a:latin typeface="Bookman Old Style" panose="02050604050505020204" pitchFamily="18" charset="0"/>
              </a:rPr>
              <a:t> Stressors</a:t>
            </a:r>
            <a:endParaRPr lang="en-IN" sz="2800"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08226154-72E9-37F8-5E26-F2A8FA93A8A7}"/>
              </a:ext>
            </a:extLst>
          </p:cNvPr>
          <p:cNvSpPr>
            <a:spLocks noGrp="1"/>
          </p:cNvSpPr>
          <p:nvPr>
            <p:ph idx="1"/>
          </p:nvPr>
        </p:nvSpPr>
        <p:spPr>
          <a:xfrm>
            <a:off x="484910" y="1123227"/>
            <a:ext cx="10515600" cy="5204836"/>
          </a:xfrm>
        </p:spPr>
        <p:txBody>
          <a:bodyPr>
            <a:normAutofit fontScale="92500"/>
          </a:bodyPr>
          <a:lstStyle/>
          <a:p>
            <a:pPr marL="0" indent="0" algn="just">
              <a:buNone/>
            </a:pPr>
            <a:r>
              <a:rPr lang="en-US" sz="1800" b="0" i="0" u="none" strike="noStrike" baseline="0" dirty="0">
                <a:latin typeface="Times New Roman" panose="02020603050405020304" pitchFamily="18" charset="0"/>
                <a:sym typeface="Wingdings" panose="05000000000000000000" pitchFamily="2" charset="2"/>
              </a:rPr>
              <a:t></a:t>
            </a:r>
            <a:r>
              <a:rPr lang="en-US" sz="2200" b="0" i="0" u="none" strike="noStrike" baseline="0" dirty="0">
                <a:latin typeface="Bookman Old Style" panose="02050604050505020204" pitchFamily="18" charset="0"/>
              </a:rPr>
              <a:t>the organization is greatly affected by the </a:t>
            </a:r>
            <a:r>
              <a:rPr lang="en-IN" sz="2200" b="0" i="0" u="none" strike="noStrike" baseline="0" dirty="0">
                <a:latin typeface="Bookman Old Style" panose="02050604050505020204" pitchFamily="18" charset="0"/>
              </a:rPr>
              <a:t>external environment; job stress is not limited to things inside the organization during working hours.</a:t>
            </a:r>
          </a:p>
          <a:p>
            <a:pPr marL="0" indent="0" algn="just">
              <a:buNone/>
            </a:pPr>
            <a:r>
              <a:rPr lang="en-US" sz="2200" b="0" i="0" u="none" strike="noStrike" baseline="0" dirty="0">
                <a:latin typeface="Bookman Old Style" panose="02050604050505020204" pitchFamily="18" charset="0"/>
                <a:sym typeface="Wingdings" panose="05000000000000000000" pitchFamily="2" charset="2"/>
              </a:rPr>
              <a:t></a:t>
            </a:r>
            <a:r>
              <a:rPr lang="en-US" sz="2200" b="0" i="0" u="none" strike="noStrike" baseline="0" dirty="0" err="1">
                <a:latin typeface="Bookman Old Style" panose="02050604050505020204" pitchFamily="18" charset="0"/>
              </a:rPr>
              <a:t>Extraorganizational</a:t>
            </a:r>
            <a:r>
              <a:rPr lang="en-US" sz="2200" b="0" i="0" u="none" strike="noStrike" baseline="0" dirty="0">
                <a:latin typeface="Bookman Old Style" panose="02050604050505020204" pitchFamily="18" charset="0"/>
              </a:rPr>
              <a:t> stressors include things such as societal/technological change, globalization, the family, relocation, economic and financial conditions, race and gender, and residential </a:t>
            </a:r>
            <a:r>
              <a:rPr lang="en-IN" sz="2200" b="0" i="0" u="none" strike="noStrike" baseline="0" dirty="0">
                <a:latin typeface="Bookman Old Style" panose="02050604050505020204" pitchFamily="18" charset="0"/>
              </a:rPr>
              <a:t>or community conditions.</a:t>
            </a:r>
          </a:p>
          <a:p>
            <a:pPr algn="just">
              <a:buFont typeface="Wingdings" panose="05000000000000000000" pitchFamily="2" charset="2"/>
              <a:buChar char="à"/>
            </a:pPr>
            <a:r>
              <a:rPr lang="en-US" sz="2200" b="0" i="0" u="none" strike="noStrike" baseline="0" dirty="0">
                <a:latin typeface="Bookman Old Style" panose="02050604050505020204" pitchFamily="18" charset="0"/>
              </a:rPr>
              <a:t>person’s family has a big impact on one’s stress level; </a:t>
            </a:r>
            <a:r>
              <a:rPr lang="en-US" sz="2200" dirty="0">
                <a:latin typeface="Bookman Old Style" panose="02050604050505020204" pitchFamily="18" charset="0"/>
              </a:rPr>
              <a:t>situations in family act as stressor for employees. </a:t>
            </a:r>
          </a:p>
          <a:p>
            <a:pPr algn="just">
              <a:buFont typeface="Wingdings" panose="05000000000000000000" pitchFamily="2" charset="2"/>
              <a:buChar char="à"/>
            </a:pPr>
            <a:r>
              <a:rPr lang="en-US" sz="2200" dirty="0" err="1">
                <a:latin typeface="Bookman Old Style" panose="02050604050505020204" pitchFamily="18" charset="0"/>
                <a:sym typeface="Wingdings" panose="05000000000000000000" pitchFamily="2" charset="2"/>
              </a:rPr>
              <a:t>eg</a:t>
            </a:r>
            <a:r>
              <a:rPr lang="en-US" sz="2200" dirty="0">
                <a:latin typeface="Bookman Old Style" panose="02050604050505020204" pitchFamily="18" charset="0"/>
                <a:sym typeface="Wingdings" panose="05000000000000000000" pitchFamily="2" charset="2"/>
              </a:rPr>
              <a:t>: crisis, </a:t>
            </a:r>
            <a:r>
              <a:rPr lang="en-US" sz="2200" dirty="0" err="1">
                <a:latin typeface="Bookman Old Style" panose="02050604050505020204" pitchFamily="18" charset="0"/>
                <a:sym typeface="Wingdings" panose="05000000000000000000" pitchFamily="2" charset="2"/>
              </a:rPr>
              <a:t>illeness</a:t>
            </a:r>
            <a:r>
              <a:rPr lang="en-US" sz="2200" dirty="0">
                <a:latin typeface="Bookman Old Style" panose="02050604050505020204" pitchFamily="18" charset="0"/>
                <a:sym typeface="Wingdings" panose="05000000000000000000" pitchFamily="2" charset="2"/>
              </a:rPr>
              <a:t>, relocation due to promotion.</a:t>
            </a:r>
          </a:p>
          <a:p>
            <a:pPr algn="just">
              <a:buFont typeface="Wingdings" panose="05000000000000000000" pitchFamily="2" charset="2"/>
              <a:buChar char="à"/>
            </a:pPr>
            <a:r>
              <a:rPr lang="en-US" sz="2200" b="0" i="0" u="none" strike="noStrike" baseline="0" dirty="0">
                <a:latin typeface="Bookman Old Style" panose="02050604050505020204" pitchFamily="18" charset="0"/>
              </a:rPr>
              <a:t>Sociological-demographic variables such as race and gender can also become stressors.</a:t>
            </a:r>
            <a:endParaRPr lang="en-US" sz="2200" b="0" i="0" u="none" strike="noStrike" baseline="0" dirty="0">
              <a:latin typeface="Bookman Old Style" panose="02050604050505020204" pitchFamily="18" charset="0"/>
              <a:sym typeface="Wingdings" panose="05000000000000000000" pitchFamily="2" charset="2"/>
            </a:endParaRPr>
          </a:p>
          <a:p>
            <a:pPr marL="0" indent="0" algn="just">
              <a:buNone/>
            </a:pPr>
            <a:r>
              <a:rPr lang="en-IN" sz="2200" b="0" i="0" u="none" strike="noStrike" baseline="0" dirty="0">
                <a:latin typeface="Bookman Old Style" panose="02050604050505020204" pitchFamily="18" charset="0"/>
                <a:sym typeface="Wingdings" panose="05000000000000000000" pitchFamily="2" charset="2"/>
              </a:rPr>
              <a:t></a:t>
            </a:r>
            <a:r>
              <a:rPr lang="en-IN" sz="2200" b="0" i="0" u="none" strike="noStrike" baseline="0" dirty="0">
                <a:latin typeface="Bookman Old Style" panose="02050604050505020204" pitchFamily="18" charset="0"/>
              </a:rPr>
              <a:t>potential stress-related </a:t>
            </a:r>
            <a:r>
              <a:rPr lang="en-US" sz="2200" b="0" i="0" u="none" strike="noStrike" baseline="0" dirty="0">
                <a:latin typeface="Bookman Old Style" panose="02050604050505020204" pitchFamily="18" charset="0"/>
              </a:rPr>
              <a:t>issues include differences in beliefs and values, differences in opportunities for rewards or promotions, and perceptions by minority employees.</a:t>
            </a:r>
          </a:p>
          <a:p>
            <a:pPr marL="0" indent="0" algn="just">
              <a:buNone/>
            </a:pPr>
            <a:r>
              <a:rPr lang="en-US" sz="2200" dirty="0">
                <a:latin typeface="Bookman Old Style" panose="02050604050505020204" pitchFamily="18" charset="0"/>
                <a:sym typeface="Wingdings" panose="05000000000000000000" pitchFamily="2" charset="2"/>
              </a:rPr>
              <a:t> Country culture and economic system also considered for analyzing extra org stressors.</a:t>
            </a:r>
            <a:endParaRPr lang="en-IN" sz="2200" dirty="0">
              <a:latin typeface="Bookman Old Style" panose="02050604050505020204" pitchFamily="18" charset="0"/>
            </a:endParaRPr>
          </a:p>
        </p:txBody>
      </p:sp>
    </p:spTree>
    <p:extLst>
      <p:ext uri="{BB962C8B-B14F-4D97-AF65-F5344CB8AC3E}">
        <p14:creationId xmlns:p14="http://schemas.microsoft.com/office/powerpoint/2010/main" val="5708467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7B1AF-9ABA-B867-209E-9D77D59D1C95}"/>
              </a:ext>
            </a:extLst>
          </p:cNvPr>
          <p:cNvSpPr>
            <a:spLocks noGrp="1"/>
          </p:cNvSpPr>
          <p:nvPr>
            <p:ph type="title"/>
          </p:nvPr>
        </p:nvSpPr>
        <p:spPr/>
        <p:txBody>
          <a:bodyPr/>
          <a:lstStyle/>
          <a:p>
            <a:r>
              <a:rPr lang="en-IN" sz="2400" b="1" i="0" u="none" strike="noStrike" baseline="0" dirty="0">
                <a:latin typeface="Bookman Old Style" panose="02050604050505020204" pitchFamily="18" charset="0"/>
              </a:rPr>
              <a:t>Organizational Stressors</a:t>
            </a:r>
            <a:br>
              <a:rPr lang="en-IN" sz="1800" b="1" i="0" u="none" strike="noStrike" baseline="0" dirty="0">
                <a:latin typeface="Frutiger-Bold"/>
              </a:rPr>
            </a:br>
            <a:endParaRPr lang="en-IN" dirty="0"/>
          </a:p>
        </p:txBody>
      </p:sp>
      <p:sp>
        <p:nvSpPr>
          <p:cNvPr id="3" name="Content Placeholder 2">
            <a:extLst>
              <a:ext uri="{FF2B5EF4-FFF2-40B4-BE49-F238E27FC236}">
                <a16:creationId xmlns:a16="http://schemas.microsoft.com/office/drawing/2014/main" id="{DEAE8F23-5BAB-9695-810C-4072B837125A}"/>
              </a:ext>
            </a:extLst>
          </p:cNvPr>
          <p:cNvSpPr>
            <a:spLocks noGrp="1"/>
          </p:cNvSpPr>
          <p:nvPr>
            <p:ph idx="1"/>
          </p:nvPr>
        </p:nvSpPr>
        <p:spPr>
          <a:xfrm>
            <a:off x="547254" y="1253331"/>
            <a:ext cx="10515600" cy="4351338"/>
          </a:xfrm>
        </p:spPr>
        <p:txBody>
          <a:bodyPr>
            <a:normAutofit/>
          </a:bodyPr>
          <a:lstStyle/>
          <a:p>
            <a:r>
              <a:rPr lang="en-US" sz="1800" b="0" i="0" u="none" strike="noStrike" baseline="0" dirty="0">
                <a:latin typeface="Bookman Old Style" panose="02050604050505020204" pitchFamily="18" charset="0"/>
              </a:rPr>
              <a:t>Stress associated with the organization itself.</a:t>
            </a:r>
          </a:p>
          <a:p>
            <a:pPr algn="l">
              <a:buFont typeface="Wingdings" panose="05000000000000000000" pitchFamily="2" charset="2"/>
              <a:buChar char="à"/>
            </a:pPr>
            <a:r>
              <a:rPr lang="en-US" sz="1800" b="0" i="0" u="none" strike="noStrike" baseline="0" dirty="0">
                <a:latin typeface="Bookman Old Style" panose="02050604050505020204" pitchFamily="18" charset="0"/>
              </a:rPr>
              <a:t>job stressors especially related to performance </a:t>
            </a:r>
          </a:p>
          <a:p>
            <a:pPr marL="0" indent="0" algn="l">
              <a:buNone/>
            </a:pPr>
            <a:r>
              <a:rPr lang="en-US" sz="1800" b="0" i="0" u="none" strike="noStrike" baseline="0" dirty="0">
                <a:latin typeface="Bookman Old Style" panose="02050604050505020204" pitchFamily="18" charset="0"/>
              </a:rPr>
              <a:t>includes role ambiguity, conflict and overload,</a:t>
            </a:r>
          </a:p>
          <a:p>
            <a:pPr marL="0" indent="0" algn="l">
              <a:buNone/>
            </a:pPr>
            <a:r>
              <a:rPr lang="en-US" sz="1800" b="0" i="0" u="none" strike="noStrike" baseline="0" dirty="0">
                <a:latin typeface="Bookman Old Style" panose="02050604050505020204" pitchFamily="18" charset="0"/>
              </a:rPr>
              <a:t> job insecurity, work-family conflict, environmental</a:t>
            </a:r>
          </a:p>
          <a:p>
            <a:pPr marL="0" indent="0" algn="l">
              <a:buNone/>
            </a:pPr>
            <a:r>
              <a:rPr lang="en-US" sz="1800" b="0" i="0" u="none" strike="noStrike" baseline="0" dirty="0">
                <a:latin typeface="Bookman Old Style" panose="02050604050505020204" pitchFamily="18" charset="0"/>
              </a:rPr>
              <a:t> uncertainty </a:t>
            </a:r>
            <a:r>
              <a:rPr lang="en-US" sz="1800" b="0" i="0" u="none" strike="noStrike" baseline="0" dirty="0" err="1">
                <a:latin typeface="Bookman Old Style" panose="02050604050505020204" pitchFamily="18" charset="0"/>
              </a:rPr>
              <a:t>etc</a:t>
            </a:r>
            <a:r>
              <a:rPr lang="en-US" sz="1800" b="0" i="0" u="none" strike="noStrike" baseline="0" dirty="0">
                <a:latin typeface="Bookman Old Style" panose="02050604050505020204" pitchFamily="18" charset="0"/>
              </a:rPr>
              <a:t>:</a:t>
            </a:r>
          </a:p>
          <a:p>
            <a:pPr marL="0" indent="0" algn="l">
              <a:buNone/>
            </a:pPr>
            <a:endParaRPr lang="en-US" sz="1800" dirty="0">
              <a:latin typeface="Bookman Old Style" panose="02050604050505020204" pitchFamily="18" charset="0"/>
            </a:endParaRPr>
          </a:p>
          <a:p>
            <a:pPr marL="0" indent="0" algn="l">
              <a:buNone/>
            </a:pPr>
            <a:endParaRPr lang="en-US" sz="1800" b="0" i="0" u="none" strike="noStrike" baseline="0" dirty="0">
              <a:latin typeface="Times New Roman" panose="02020603050405020304" pitchFamily="18" charset="0"/>
            </a:endParaRPr>
          </a:p>
          <a:p>
            <a:pPr marL="0" indent="0" algn="l">
              <a:buNone/>
            </a:pPr>
            <a:endParaRPr lang="en-US" sz="2000" dirty="0">
              <a:latin typeface="Times New Roman" panose="02020603050405020304" pitchFamily="18" charset="0"/>
            </a:endParaRPr>
          </a:p>
          <a:p>
            <a:pPr marL="0" indent="0" algn="l">
              <a:buNone/>
            </a:pPr>
            <a:endParaRPr lang="en-US" sz="2000" b="0" i="0" u="none" strike="noStrike" baseline="0" dirty="0">
              <a:latin typeface="Times New Roman" panose="02020603050405020304" pitchFamily="18" charset="0"/>
            </a:endParaRPr>
          </a:p>
          <a:p>
            <a:pPr marL="0" indent="0" algn="l">
              <a:buNone/>
            </a:pPr>
            <a:endParaRPr lang="en-US" sz="2000" dirty="0">
              <a:latin typeface="Times New Roman" panose="02020603050405020304" pitchFamily="18" charset="0"/>
            </a:endParaRPr>
          </a:p>
          <a:p>
            <a:pPr algn="l"/>
            <a:r>
              <a:rPr lang="en-US" sz="2000" b="0" i="0" u="none" strike="noStrike" baseline="0" dirty="0">
                <a:latin typeface="Times New Roman" panose="02020603050405020304" pitchFamily="18" charset="0"/>
              </a:rPr>
              <a:t>Fig: </a:t>
            </a:r>
            <a:r>
              <a:rPr lang="en-IN" sz="2000" b="1" i="0" u="none" strike="noStrike" baseline="0" dirty="0">
                <a:latin typeface="Times New Roman" panose="02020603050405020304" pitchFamily="18" charset="0"/>
              </a:rPr>
              <a:t>Macrolevel Organizational</a:t>
            </a:r>
            <a:r>
              <a:rPr lang="en-IN" sz="2000" b="1" dirty="0">
                <a:latin typeface="Times New Roman" panose="02020603050405020304" pitchFamily="18" charset="0"/>
              </a:rPr>
              <a:t> </a:t>
            </a:r>
            <a:r>
              <a:rPr lang="en-IN" sz="2000" b="1" i="0" u="none" strike="noStrike" baseline="0" dirty="0">
                <a:latin typeface="Times New Roman" panose="02020603050405020304" pitchFamily="18" charset="0"/>
              </a:rPr>
              <a:t>Stressors </a:t>
            </a:r>
            <a:endParaRPr lang="en-US" sz="2000" b="0" i="0" u="none" strike="noStrike" baseline="0" dirty="0">
              <a:latin typeface="Times New Roman" panose="02020603050405020304" pitchFamily="18" charset="0"/>
            </a:endParaRPr>
          </a:p>
          <a:p>
            <a:pPr algn="l">
              <a:buFont typeface="Wingdings" panose="05000000000000000000" pitchFamily="2" charset="2"/>
              <a:buChar char="à"/>
            </a:pPr>
            <a:endParaRPr lang="en-US" sz="1800" b="0" i="0" u="none" strike="noStrike" baseline="0" dirty="0">
              <a:latin typeface="Times New Roman" panose="02020603050405020304" pitchFamily="18" charset="0"/>
            </a:endParaRPr>
          </a:p>
        </p:txBody>
      </p:sp>
      <p:pic>
        <p:nvPicPr>
          <p:cNvPr id="5" name="Picture 4">
            <a:extLst>
              <a:ext uri="{FF2B5EF4-FFF2-40B4-BE49-F238E27FC236}">
                <a16:creationId xmlns:a16="http://schemas.microsoft.com/office/drawing/2014/main" id="{109755E2-8511-8A88-E63F-1572B54B76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5772" y="-155864"/>
            <a:ext cx="5432961" cy="6858000"/>
          </a:xfrm>
          <a:prstGeom prst="rect">
            <a:avLst/>
          </a:prstGeom>
        </p:spPr>
      </p:pic>
    </p:spTree>
    <p:extLst>
      <p:ext uri="{BB962C8B-B14F-4D97-AF65-F5344CB8AC3E}">
        <p14:creationId xmlns:p14="http://schemas.microsoft.com/office/powerpoint/2010/main" val="5157057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DEC48-6928-7E95-D5F4-75C257F194BB}"/>
              </a:ext>
            </a:extLst>
          </p:cNvPr>
          <p:cNvSpPr>
            <a:spLocks noGrp="1"/>
          </p:cNvSpPr>
          <p:nvPr>
            <p:ph type="title"/>
          </p:nvPr>
        </p:nvSpPr>
        <p:spPr>
          <a:xfrm>
            <a:off x="838200" y="-237547"/>
            <a:ext cx="10515600" cy="1325563"/>
          </a:xfrm>
        </p:spPr>
        <p:txBody>
          <a:bodyPr>
            <a:normAutofit/>
          </a:bodyPr>
          <a:lstStyle/>
          <a:p>
            <a:r>
              <a:rPr lang="en-IN" sz="2800" b="1" i="0" u="none" strike="noStrike" baseline="0" dirty="0">
                <a:latin typeface="Bookman Old Style" panose="02050604050505020204" pitchFamily="18" charset="0"/>
              </a:rPr>
              <a:t>Group Stressors</a:t>
            </a:r>
            <a:endParaRPr lang="en-IN" sz="2800"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3F2EAB2C-11DD-14CD-EC21-6DDCA04EF6A5}"/>
              </a:ext>
            </a:extLst>
          </p:cNvPr>
          <p:cNvSpPr>
            <a:spLocks noGrp="1"/>
          </p:cNvSpPr>
          <p:nvPr>
            <p:ph idx="1"/>
          </p:nvPr>
        </p:nvSpPr>
        <p:spPr>
          <a:xfrm>
            <a:off x="692726" y="703551"/>
            <a:ext cx="10515600" cy="6008975"/>
          </a:xfrm>
        </p:spPr>
        <p:txBody>
          <a:bodyPr>
            <a:noAutofit/>
          </a:bodyPr>
          <a:lstStyle/>
          <a:p>
            <a:pPr algn="l">
              <a:lnSpc>
                <a:spcPct val="150000"/>
              </a:lnSpc>
            </a:pPr>
            <a:r>
              <a:rPr lang="en-US" sz="1800" b="0" i="0" u="none" strike="noStrike" baseline="0" dirty="0">
                <a:latin typeface="Bookman Old Style" panose="02050604050505020204" pitchFamily="18" charset="0"/>
              </a:rPr>
              <a:t>bullying is defined as </a:t>
            </a:r>
            <a:r>
              <a:rPr lang="en-US" sz="1800" b="1" i="0" u="none" strike="noStrike" baseline="0" dirty="0">
                <a:solidFill>
                  <a:srgbClr val="FF0000"/>
                </a:solidFill>
                <a:latin typeface="Bookman Old Style" panose="02050604050505020204" pitchFamily="18" charset="0"/>
              </a:rPr>
              <a:t>“repeated, health-harming mistreatment that could involve verbal abuse, threatening, humiliating, or offensive behavior or actions; or work interference.</a:t>
            </a:r>
          </a:p>
          <a:p>
            <a:pPr algn="l">
              <a:lnSpc>
                <a:spcPct val="150000"/>
              </a:lnSpc>
            </a:pPr>
            <a:r>
              <a:rPr lang="en-US" sz="1800" b="0" i="0" u="none" strike="noStrike" baseline="0" dirty="0">
                <a:latin typeface="Bookman Old Style" panose="02050604050505020204" pitchFamily="18" charset="0"/>
              </a:rPr>
              <a:t>Obviously, bullying leads to tremendous stress for a victim and even those who </a:t>
            </a:r>
            <a:r>
              <a:rPr lang="en-IN" sz="1800" b="0" i="0" u="none" strike="noStrike" baseline="0" dirty="0">
                <a:latin typeface="Bookman Old Style" panose="02050604050505020204" pitchFamily="18" charset="0"/>
              </a:rPr>
              <a:t>witness this problem.</a:t>
            </a:r>
            <a:endParaRPr lang="en-US" sz="1800" b="0" i="0" u="none" strike="noStrike" baseline="0" dirty="0">
              <a:latin typeface="Bookman Old Style" panose="02050604050505020204" pitchFamily="18" charset="0"/>
            </a:endParaRPr>
          </a:p>
          <a:p>
            <a:pPr algn="l">
              <a:lnSpc>
                <a:spcPct val="150000"/>
              </a:lnSpc>
            </a:pPr>
            <a:r>
              <a:rPr lang="en-US" sz="1800" b="0" i="0" u="none" strike="noStrike" baseline="0" dirty="0">
                <a:latin typeface="Bookman Old Style" panose="02050604050505020204" pitchFamily="18" charset="0"/>
              </a:rPr>
              <a:t>group stressors can be categorized into two areas:</a:t>
            </a:r>
            <a:endParaRPr lang="en-US" sz="1800" dirty="0">
              <a:latin typeface="Bookman Old Style" panose="02050604050505020204" pitchFamily="18" charset="0"/>
            </a:endParaRPr>
          </a:p>
          <a:p>
            <a:pPr marL="0" indent="0" algn="l">
              <a:lnSpc>
                <a:spcPct val="150000"/>
              </a:lnSpc>
              <a:buNone/>
            </a:pPr>
            <a:r>
              <a:rPr lang="en-US" sz="1800" dirty="0">
                <a:latin typeface="Bookman Old Style" panose="02050604050505020204" pitchFamily="18" charset="0"/>
                <a:sym typeface="Wingdings" panose="05000000000000000000" pitchFamily="2" charset="2"/>
              </a:rPr>
              <a:t> </a:t>
            </a:r>
            <a:r>
              <a:rPr lang="en-IN" sz="1800" b="1" i="1" u="none" strike="noStrike" baseline="0" dirty="0">
                <a:solidFill>
                  <a:srgbClr val="FF0000"/>
                </a:solidFill>
                <a:latin typeface="Bookman Old Style" panose="02050604050505020204" pitchFamily="18" charset="0"/>
              </a:rPr>
              <a:t>Lack of group cohesiveness</a:t>
            </a:r>
            <a:r>
              <a:rPr lang="en-IN" sz="1800" b="0" i="1" u="none" strike="noStrike" baseline="0" dirty="0">
                <a:latin typeface="Bookman Old Style" panose="02050604050505020204" pitchFamily="18" charset="0"/>
              </a:rPr>
              <a:t>: </a:t>
            </a:r>
            <a:r>
              <a:rPr lang="en-IN" sz="1800" b="0" i="0" u="none" strike="noStrike" baseline="0" dirty="0">
                <a:latin typeface="Bookman Old Style" panose="02050604050505020204" pitchFamily="18" charset="0"/>
              </a:rPr>
              <a:t>cohesiveness, or “togetherness,” is </a:t>
            </a:r>
            <a:r>
              <a:rPr lang="en-US" sz="1800" b="0" i="0" u="none" strike="noStrike" baseline="0" dirty="0">
                <a:latin typeface="Bookman Old Style" panose="02050604050505020204" pitchFamily="18" charset="0"/>
              </a:rPr>
              <a:t>very important to employees, especially at the lower levels of organizations.</a:t>
            </a:r>
          </a:p>
          <a:p>
            <a:pPr marL="0" indent="0" algn="l">
              <a:lnSpc>
                <a:spcPct val="150000"/>
              </a:lnSpc>
              <a:buNone/>
            </a:pPr>
            <a:r>
              <a:rPr lang="en-US" sz="1800" dirty="0">
                <a:latin typeface="Bookman Old Style" panose="02050604050505020204" pitchFamily="18" charset="0"/>
                <a:sym typeface="Wingdings" panose="05000000000000000000" pitchFamily="2" charset="2"/>
              </a:rPr>
              <a:t> </a:t>
            </a:r>
            <a:r>
              <a:rPr lang="en-US" sz="1800" b="0" i="0" u="none" strike="noStrike" baseline="0" dirty="0">
                <a:latin typeface="Bookman Old Style" panose="02050604050505020204" pitchFamily="18" charset="0"/>
              </a:rPr>
              <a:t>lack of cohesiveness leads to  stress</a:t>
            </a:r>
            <a:r>
              <a:rPr lang="en-IN" sz="1800" b="0" i="0" u="none" strike="noStrike" baseline="0" dirty="0">
                <a:latin typeface="Bookman Old Style" panose="02050604050505020204" pitchFamily="18" charset="0"/>
              </a:rPr>
              <a:t>.</a:t>
            </a:r>
            <a:endParaRPr lang="en-US" sz="1800" b="0" i="1" u="none" strike="noStrike" baseline="0" dirty="0">
              <a:latin typeface="Bookman Old Style" panose="02050604050505020204" pitchFamily="18" charset="0"/>
            </a:endParaRPr>
          </a:p>
          <a:p>
            <a:pPr marL="0" indent="0" algn="l">
              <a:lnSpc>
                <a:spcPct val="150000"/>
              </a:lnSpc>
              <a:buNone/>
            </a:pPr>
            <a:r>
              <a:rPr lang="en-US" sz="1800" i="1" dirty="0">
                <a:latin typeface="Bookman Old Style" panose="02050604050505020204" pitchFamily="18" charset="0"/>
                <a:sym typeface="Wingdings" panose="05000000000000000000" pitchFamily="2" charset="2"/>
              </a:rPr>
              <a:t></a:t>
            </a:r>
            <a:r>
              <a:rPr lang="en-IN" sz="1800" b="1" i="1" u="none" strike="noStrike" baseline="0" dirty="0">
                <a:solidFill>
                  <a:srgbClr val="FF0000"/>
                </a:solidFill>
                <a:latin typeface="Bookman Old Style" panose="02050604050505020204" pitchFamily="18" charset="0"/>
              </a:rPr>
              <a:t>Lack of social support</a:t>
            </a:r>
            <a:r>
              <a:rPr lang="en-IN" sz="1800" b="0" i="1" u="none" strike="noStrike" baseline="0" dirty="0">
                <a:latin typeface="Bookman Old Style" panose="02050604050505020204" pitchFamily="18" charset="0"/>
              </a:rPr>
              <a:t>: </a:t>
            </a:r>
            <a:r>
              <a:rPr lang="en-US" sz="1800" b="0" i="0" u="none" strike="noStrike" baseline="0" dirty="0">
                <a:latin typeface="Bookman Old Style" panose="02050604050505020204" pitchFamily="18" charset="0"/>
              </a:rPr>
              <a:t>Employees are greatly affected by the support of one or more members of a cohesive group.</a:t>
            </a:r>
          </a:p>
          <a:p>
            <a:pPr marL="0" indent="0" algn="l">
              <a:lnSpc>
                <a:spcPct val="150000"/>
              </a:lnSpc>
              <a:buNone/>
            </a:pPr>
            <a:r>
              <a:rPr lang="en-US" sz="1800" dirty="0">
                <a:latin typeface="Bookman Old Style" panose="02050604050505020204" pitchFamily="18" charset="0"/>
                <a:sym typeface="Wingdings" panose="05000000000000000000" pitchFamily="2" charset="2"/>
              </a:rPr>
              <a:t> </a:t>
            </a:r>
            <a:r>
              <a:rPr lang="en-IN" sz="1800" b="0" i="0" u="none" strike="noStrike" baseline="0" dirty="0">
                <a:latin typeface="Bookman Old Style" panose="02050604050505020204" pitchFamily="18" charset="0"/>
              </a:rPr>
              <a:t>lack of social support is  stressful.</a:t>
            </a:r>
            <a:endParaRPr lang="en-IN" sz="1800" dirty="0">
              <a:latin typeface="Bookman Old Style" panose="02050604050505020204" pitchFamily="18" charset="0"/>
            </a:endParaRPr>
          </a:p>
        </p:txBody>
      </p:sp>
    </p:spTree>
    <p:extLst>
      <p:ext uri="{BB962C8B-B14F-4D97-AF65-F5344CB8AC3E}">
        <p14:creationId xmlns:p14="http://schemas.microsoft.com/office/powerpoint/2010/main" val="13998248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193C7-65AD-96A0-BCCD-0591E573EAE9}"/>
              </a:ext>
            </a:extLst>
          </p:cNvPr>
          <p:cNvSpPr>
            <a:spLocks noGrp="1"/>
          </p:cNvSpPr>
          <p:nvPr>
            <p:ph type="title"/>
          </p:nvPr>
        </p:nvSpPr>
        <p:spPr>
          <a:xfrm>
            <a:off x="838200" y="18255"/>
            <a:ext cx="10515600" cy="1325563"/>
          </a:xfrm>
        </p:spPr>
        <p:txBody>
          <a:bodyPr>
            <a:normAutofit/>
          </a:bodyPr>
          <a:lstStyle/>
          <a:p>
            <a:r>
              <a:rPr lang="en-US" sz="2800" b="1" i="0" u="none" strike="noStrike" baseline="0" dirty="0">
                <a:latin typeface="Bookman Old Style" panose="02050604050505020204" pitchFamily="18" charset="0"/>
              </a:rPr>
              <a:t>Individual Stressors: The Role of Dispositions</a:t>
            </a:r>
            <a:endParaRPr lang="en-IN" sz="2800" dirty="0">
              <a:latin typeface="Bookman Old Style" panose="02050604050505020204" pitchFamily="18" charset="0"/>
            </a:endParaRPr>
          </a:p>
        </p:txBody>
      </p:sp>
      <p:sp>
        <p:nvSpPr>
          <p:cNvPr id="4" name="Content Placeholder 3">
            <a:extLst>
              <a:ext uri="{FF2B5EF4-FFF2-40B4-BE49-F238E27FC236}">
                <a16:creationId xmlns:a16="http://schemas.microsoft.com/office/drawing/2014/main" id="{4C766663-897A-A4EC-E572-8BF725A2FF05}"/>
              </a:ext>
            </a:extLst>
          </p:cNvPr>
          <p:cNvSpPr>
            <a:spLocks noGrp="1"/>
          </p:cNvSpPr>
          <p:nvPr>
            <p:ph idx="1"/>
          </p:nvPr>
        </p:nvSpPr>
        <p:spPr>
          <a:xfrm>
            <a:off x="838200" y="1194955"/>
            <a:ext cx="10515600" cy="5559136"/>
          </a:xfrm>
        </p:spPr>
        <p:txBody>
          <a:bodyPr>
            <a:normAutofit/>
          </a:bodyPr>
          <a:lstStyle/>
          <a:p>
            <a:pPr algn="just"/>
            <a:r>
              <a:rPr lang="en-US" sz="1800" b="0" i="0" u="none" strike="noStrike" baseline="0" dirty="0">
                <a:latin typeface="Bookman Old Style" panose="02050604050505020204" pitchFamily="18" charset="0"/>
              </a:rPr>
              <a:t>the stressors discussed so far (</a:t>
            </a:r>
            <a:r>
              <a:rPr lang="en-US" sz="1800" b="0" i="0" u="none" strike="noStrike" baseline="0" dirty="0" err="1">
                <a:latin typeface="Bookman Old Style" panose="02050604050505020204" pitchFamily="18" charset="0"/>
              </a:rPr>
              <a:t>extraorganizational</a:t>
            </a:r>
            <a:r>
              <a:rPr lang="en-US" sz="1800" b="0" i="0" u="none" strike="noStrike" baseline="0" dirty="0">
                <a:latin typeface="Bookman Old Style" panose="02050604050505020204" pitchFamily="18" charset="0"/>
              </a:rPr>
              <a:t>, organizational, and group) all eventually get down to the individual level.</a:t>
            </a:r>
          </a:p>
          <a:p>
            <a:pPr algn="just"/>
            <a:r>
              <a:rPr lang="en-US" sz="1800" b="0" i="0" u="none" strike="noStrike" baseline="0" dirty="0">
                <a:latin typeface="Bookman Old Style" panose="02050604050505020204" pitchFamily="18" charset="0"/>
              </a:rPr>
              <a:t>situational dimensions and individual dispositions  affect stress outcomes</a:t>
            </a:r>
            <a:r>
              <a:rPr lang="en-US" sz="1800" dirty="0">
                <a:latin typeface="Bookman Old Style" panose="02050604050505020204" pitchFamily="18" charset="0"/>
              </a:rPr>
              <a:t>.</a:t>
            </a:r>
          </a:p>
          <a:p>
            <a:pPr algn="just"/>
            <a:r>
              <a:rPr lang="en-US" sz="1800" b="0" i="0" u="none" strike="noStrike" baseline="0" dirty="0">
                <a:latin typeface="Bookman Old Style" panose="02050604050505020204" pitchFamily="18" charset="0"/>
              </a:rPr>
              <a:t>individual dispositions such as Type A personality patterns, personal control, learned helplessness, and psychological hardiness all affect the level of stress someone experiences.</a:t>
            </a:r>
          </a:p>
          <a:p>
            <a:pPr algn="just"/>
            <a:r>
              <a:rPr lang="en-US" sz="1800" b="0" i="0" u="none" strike="noStrike" baseline="0" dirty="0">
                <a:latin typeface="Bookman Old Style" panose="02050604050505020204" pitchFamily="18" charset="0"/>
              </a:rPr>
              <a:t>the intraindividual level of conflict from frustration, goals, and roles definitely has implications as individual stressors</a:t>
            </a:r>
          </a:p>
          <a:p>
            <a:pPr algn="just"/>
            <a:r>
              <a:rPr lang="en-IN" sz="1800" b="1" i="1" u="none" strike="noStrike" baseline="0" dirty="0">
                <a:latin typeface="Bookman Old Style" panose="02050604050505020204" pitchFamily="18" charset="0"/>
              </a:rPr>
              <a:t>Type A Characteristics</a:t>
            </a:r>
            <a:r>
              <a:rPr lang="en-US" sz="1800" b="1" i="1" dirty="0">
                <a:latin typeface="Bookman Old Style" panose="02050604050505020204" pitchFamily="18" charset="0"/>
              </a:rPr>
              <a:t> and B Characteristics</a:t>
            </a:r>
            <a:r>
              <a:rPr lang="en-US" sz="1800" b="0" i="0" u="none" strike="noStrike" baseline="0" dirty="0">
                <a:latin typeface="Bookman Old Style" panose="02050604050505020204" pitchFamily="18" charset="0"/>
              </a:rPr>
              <a:t>. </a:t>
            </a:r>
          </a:p>
          <a:p>
            <a:pPr algn="just">
              <a:buFont typeface="Wingdings" panose="05000000000000000000" pitchFamily="2" charset="2"/>
              <a:buChar char="à"/>
            </a:pPr>
            <a:r>
              <a:rPr lang="en-US" sz="1800" b="0" i="0" u="none" strike="noStrike" baseline="0" dirty="0">
                <a:latin typeface="Bookman Old Style" panose="02050604050505020204" pitchFamily="18" charset="0"/>
              </a:rPr>
              <a:t>Type A employees (managers, salespersons, staff specialists, secretaries, or rank-and-file operating employees) experience considerable stress.</a:t>
            </a:r>
          </a:p>
          <a:p>
            <a:pPr algn="just"/>
            <a:r>
              <a:rPr lang="en-US" sz="1800" b="0" i="0" u="none" strike="noStrike" baseline="0" dirty="0">
                <a:latin typeface="Bookman Old Style" panose="02050604050505020204" pitchFamily="18" charset="0"/>
              </a:rPr>
              <a:t>They are the ones who:</a:t>
            </a:r>
          </a:p>
          <a:p>
            <a:pPr algn="just"/>
            <a:r>
              <a:rPr lang="en-US" sz="1800" b="0" i="0" u="none" strike="noStrike" baseline="0" dirty="0">
                <a:latin typeface="Bookman Old Style" panose="02050604050505020204" pitchFamily="18" charset="0"/>
              </a:rPr>
              <a:t>1. Work long, hard hours under constant deadline pressures and conditions for overload.</a:t>
            </a:r>
          </a:p>
          <a:p>
            <a:pPr algn="just"/>
            <a:r>
              <a:rPr lang="en-US" sz="1800" b="0" i="0" u="none" strike="noStrike" baseline="0" dirty="0">
                <a:latin typeface="Bookman Old Style" panose="02050604050505020204" pitchFamily="18" charset="0"/>
              </a:rPr>
              <a:t>2. Often take work home at night or on weekends and are unable to relax.</a:t>
            </a:r>
          </a:p>
          <a:p>
            <a:pPr algn="just"/>
            <a:r>
              <a:rPr lang="en-US" sz="1800" b="0" i="0" u="none" strike="noStrike" baseline="0" dirty="0">
                <a:latin typeface="Bookman Old Style" panose="02050604050505020204" pitchFamily="18" charset="0"/>
              </a:rPr>
              <a:t>3. Constantly compete with themselves, setting high standards of productivity that they</a:t>
            </a:r>
          </a:p>
          <a:p>
            <a:pPr algn="just"/>
            <a:r>
              <a:rPr lang="en-IN" sz="1800" b="0" i="0" u="none" strike="noStrike" baseline="0" dirty="0">
                <a:latin typeface="Bookman Old Style" panose="02050604050505020204" pitchFamily="18" charset="0"/>
              </a:rPr>
              <a:t>seem driven to maintain</a:t>
            </a:r>
            <a:r>
              <a:rPr lang="en-IN" sz="1800" b="0" i="0" u="none" strike="noStrike" baseline="0" dirty="0">
                <a:latin typeface="Times New Roman" panose="02020603050405020304" pitchFamily="18" charset="0"/>
              </a:rPr>
              <a:t>.</a:t>
            </a:r>
            <a:endParaRPr lang="en-IN" dirty="0"/>
          </a:p>
        </p:txBody>
      </p:sp>
    </p:spTree>
    <p:extLst>
      <p:ext uri="{BB962C8B-B14F-4D97-AF65-F5344CB8AC3E}">
        <p14:creationId xmlns:p14="http://schemas.microsoft.com/office/powerpoint/2010/main" val="28012922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97EBB-7EDE-300F-0848-CA53C3F50E0C}"/>
              </a:ext>
            </a:extLst>
          </p:cNvPr>
          <p:cNvSpPr>
            <a:spLocks noGrp="1"/>
          </p:cNvSpPr>
          <p:nvPr>
            <p:ph type="title"/>
          </p:nvPr>
        </p:nvSpPr>
        <p:spPr>
          <a:xfrm>
            <a:off x="252164" y="1123661"/>
            <a:ext cx="4814456" cy="1879312"/>
          </a:xfrm>
        </p:spPr>
        <p:txBody>
          <a:bodyPr>
            <a:noAutofit/>
          </a:bodyPr>
          <a:lstStyle/>
          <a:p>
            <a:r>
              <a:rPr lang="en-IN" sz="3600" dirty="0">
                <a:latin typeface="Bookman Old Style" panose="02050604050505020204" pitchFamily="18" charset="0"/>
              </a:rPr>
              <a:t>Class Activity .</a:t>
            </a:r>
            <a:br>
              <a:rPr lang="en-IN" sz="3600" dirty="0">
                <a:latin typeface="Bookman Old Style" panose="02050604050505020204" pitchFamily="18" charset="0"/>
              </a:rPr>
            </a:br>
            <a:r>
              <a:rPr lang="en-IN" sz="2800" dirty="0">
                <a:latin typeface="Bookman Old Style" panose="02050604050505020204" pitchFamily="18" charset="0"/>
              </a:rPr>
              <a:t>Determine your Personality type and </a:t>
            </a:r>
            <a:r>
              <a:rPr lang="en-IN" sz="2800" dirty="0" err="1">
                <a:latin typeface="Bookman Old Style" panose="02050604050505020204" pitchFamily="18" charset="0"/>
              </a:rPr>
              <a:t>analyze</a:t>
            </a:r>
            <a:r>
              <a:rPr lang="en-IN" sz="2800" dirty="0">
                <a:latin typeface="Bookman Old Style" panose="02050604050505020204" pitchFamily="18" charset="0"/>
              </a:rPr>
              <a:t> the pros and cons in each profile type</a:t>
            </a:r>
            <a:r>
              <a:rPr lang="en-IN" sz="3600" dirty="0">
                <a:latin typeface="Bookman Old Style" panose="02050604050505020204" pitchFamily="18" charset="0"/>
              </a:rPr>
              <a:t>.</a:t>
            </a:r>
          </a:p>
        </p:txBody>
      </p:sp>
      <p:pic>
        <p:nvPicPr>
          <p:cNvPr id="5" name="Content Placeholder 4">
            <a:extLst>
              <a:ext uri="{FF2B5EF4-FFF2-40B4-BE49-F238E27FC236}">
                <a16:creationId xmlns:a16="http://schemas.microsoft.com/office/drawing/2014/main" id="{6B2E75DB-7DA3-84B6-2B49-4D8EBF4E2D9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66620" y="359208"/>
            <a:ext cx="6529634" cy="6139584"/>
          </a:xfrm>
        </p:spPr>
      </p:pic>
    </p:spTree>
    <p:extLst>
      <p:ext uri="{BB962C8B-B14F-4D97-AF65-F5344CB8AC3E}">
        <p14:creationId xmlns:p14="http://schemas.microsoft.com/office/powerpoint/2010/main" val="26375182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F9186-DF92-F8DB-269A-C0811054C017}"/>
              </a:ext>
            </a:extLst>
          </p:cNvPr>
          <p:cNvSpPr>
            <a:spLocks noGrp="1"/>
          </p:cNvSpPr>
          <p:nvPr>
            <p:ph type="title"/>
          </p:nvPr>
        </p:nvSpPr>
        <p:spPr/>
        <p:txBody>
          <a:bodyPr/>
          <a:lstStyle/>
          <a:p>
            <a:r>
              <a:rPr lang="en-IN" dirty="0"/>
              <a:t>Profiles of Type A and Type B Personalities.</a:t>
            </a:r>
          </a:p>
        </p:txBody>
      </p:sp>
      <p:pic>
        <p:nvPicPr>
          <p:cNvPr id="5" name="Content Placeholder 4">
            <a:extLst>
              <a:ext uri="{FF2B5EF4-FFF2-40B4-BE49-F238E27FC236}">
                <a16:creationId xmlns:a16="http://schemas.microsoft.com/office/drawing/2014/main" id="{2D5D6696-7A76-91AC-F0CF-2D8A734BA2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3718" y="1527463"/>
            <a:ext cx="8406246" cy="4965411"/>
          </a:xfrm>
        </p:spPr>
      </p:pic>
    </p:spTree>
    <p:extLst>
      <p:ext uri="{BB962C8B-B14F-4D97-AF65-F5344CB8AC3E}">
        <p14:creationId xmlns:p14="http://schemas.microsoft.com/office/powerpoint/2010/main" val="4220898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096553-BDA6-0C1C-019B-B4C0794D7BCC}"/>
              </a:ext>
            </a:extLst>
          </p:cNvPr>
          <p:cNvSpPr>
            <a:spLocks noGrp="1"/>
          </p:cNvSpPr>
          <p:nvPr>
            <p:ph idx="1"/>
          </p:nvPr>
        </p:nvSpPr>
        <p:spPr>
          <a:xfrm>
            <a:off x="838200" y="789709"/>
            <a:ext cx="10515600" cy="5387254"/>
          </a:xfrm>
        </p:spPr>
        <p:txBody>
          <a:bodyPr>
            <a:normAutofit/>
          </a:bodyPr>
          <a:lstStyle/>
          <a:p>
            <a:pPr algn="just"/>
            <a:r>
              <a:rPr lang="en-US" sz="2000" b="0" i="0" u="none" strike="noStrike" baseline="0" dirty="0">
                <a:latin typeface="Bookman Old Style" panose="02050604050505020204" pitchFamily="18" charset="0"/>
              </a:rPr>
              <a:t>Type B personalities are very laid back, are patient, and take a very relaxed, low-key approach to life and their job.</a:t>
            </a:r>
          </a:p>
          <a:p>
            <a:pPr algn="just"/>
            <a:r>
              <a:rPr lang="en-IN" sz="2000" b="0" i="0" u="none" strike="noStrike" baseline="0" dirty="0">
                <a:latin typeface="Bookman Old Style" panose="02050604050505020204" pitchFamily="18" charset="0"/>
              </a:rPr>
              <a:t>Type </a:t>
            </a:r>
            <a:r>
              <a:rPr lang="en-US" sz="2000" b="0" i="0" u="none" strike="noStrike" baseline="0" dirty="0">
                <a:latin typeface="Bookman Old Style" panose="02050604050505020204" pitchFamily="18" charset="0"/>
              </a:rPr>
              <a:t>A s may release and better cope with their stress than do Type B s.</a:t>
            </a:r>
          </a:p>
          <a:p>
            <a:pPr algn="just"/>
            <a:r>
              <a:rPr lang="en-US" sz="2000" b="0" i="0" u="none" strike="noStrike" baseline="0" dirty="0">
                <a:latin typeface="Bookman Old Style" panose="02050604050505020204" pitchFamily="18" charset="0"/>
              </a:rPr>
              <a:t>how workers handle their own aggression is the key factor in determining whether they will experience the kind of stress that can lead to heart attacks, high blood pressure and other health problems.</a:t>
            </a:r>
          </a:p>
          <a:p>
            <a:pPr algn="just"/>
            <a:r>
              <a:rPr lang="en-IN" sz="2000" b="1" i="1" u="none" strike="noStrike" baseline="0" dirty="0">
                <a:latin typeface="Bookman Old Style" panose="02050604050505020204" pitchFamily="18" charset="0"/>
              </a:rPr>
              <a:t>Personal Control</a:t>
            </a:r>
            <a:r>
              <a:rPr lang="en-US" sz="2000" dirty="0">
                <a:latin typeface="Bookman Old Style" panose="02050604050505020204" pitchFamily="18" charset="0"/>
              </a:rPr>
              <a:t>:</a:t>
            </a:r>
          </a:p>
          <a:p>
            <a:pPr algn="just"/>
            <a:r>
              <a:rPr lang="en-IN" sz="2000" b="0" i="0" u="none" strike="noStrike" baseline="0" dirty="0">
                <a:latin typeface="Bookman Old Style" panose="02050604050505020204" pitchFamily="18" charset="0"/>
              </a:rPr>
              <a:t>Depends on an individual’s perception of control</a:t>
            </a:r>
          </a:p>
          <a:p>
            <a:pPr algn="just"/>
            <a:r>
              <a:rPr lang="en-IN" sz="2000" b="0" i="0" u="none" strike="noStrike" baseline="0" dirty="0">
                <a:latin typeface="Bookman Old Style" panose="02050604050505020204" pitchFamily="18" charset="0"/>
              </a:rPr>
              <a:t>job satisfaction, people’s </a:t>
            </a:r>
            <a:r>
              <a:rPr lang="en-US" sz="2000" b="0" i="0" u="none" strike="noStrike" baseline="0" dirty="0">
                <a:latin typeface="Bookman Old Style" panose="02050604050505020204" pitchFamily="18" charset="0"/>
              </a:rPr>
              <a:t>feelings about their ability to control a situation are important in determining their</a:t>
            </a:r>
            <a:r>
              <a:rPr lang="en-US" sz="2000" dirty="0">
                <a:latin typeface="Bookman Old Style" panose="02050604050505020204" pitchFamily="18" charset="0"/>
              </a:rPr>
              <a:t> </a:t>
            </a:r>
            <a:r>
              <a:rPr lang="en-IN" sz="2000" b="0" i="0" u="none" strike="noStrike" baseline="0" dirty="0">
                <a:latin typeface="Bookman Old Style" panose="02050604050505020204" pitchFamily="18" charset="0"/>
              </a:rPr>
              <a:t>level of stress.  </a:t>
            </a:r>
            <a:r>
              <a:rPr lang="en-IN" sz="2000" b="0" i="0" u="none" strike="noStrike" baseline="0" dirty="0" err="1">
                <a:latin typeface="Bookman Old Style" panose="02050604050505020204" pitchFamily="18" charset="0"/>
              </a:rPr>
              <a:t>Eg</a:t>
            </a:r>
            <a:r>
              <a:rPr lang="en-IN" sz="2000" b="0" i="0" u="none" strike="noStrike" baseline="0" dirty="0">
                <a:latin typeface="Bookman Old Style" panose="02050604050505020204" pitchFamily="18" charset="0"/>
              </a:rPr>
              <a:t>: </a:t>
            </a:r>
            <a:r>
              <a:rPr lang="en-US" sz="2000" b="0" i="0" u="none" strike="noStrike" baseline="0" dirty="0">
                <a:latin typeface="Bookman Old Style" panose="02050604050505020204" pitchFamily="18" charset="0"/>
              </a:rPr>
              <a:t>if employees feel that they have little control over the work environment and over their own job, they will experience stress.</a:t>
            </a:r>
          </a:p>
          <a:p>
            <a:pPr algn="just"/>
            <a:r>
              <a:rPr lang="en-US" sz="2000" b="0" i="0" u="none" strike="noStrike" baseline="0" dirty="0">
                <a:latin typeface="Bookman Old Style" panose="02050604050505020204" pitchFamily="18" charset="0"/>
              </a:rPr>
              <a:t>lack of control turns stress into physical problems</a:t>
            </a:r>
            <a:r>
              <a:rPr lang="en-US" sz="2000" dirty="0">
                <a:latin typeface="Bookman Old Style" panose="02050604050505020204" pitchFamily="18" charset="0"/>
              </a:rPr>
              <a:t>, </a:t>
            </a:r>
            <a:r>
              <a:rPr lang="en-US" sz="2000" b="0" i="0" u="none" strike="noStrike" baseline="0" dirty="0">
                <a:latin typeface="Bookman Old Style" panose="02050604050505020204" pitchFamily="18" charset="0"/>
              </a:rPr>
              <a:t>job control has an impact on stress and </a:t>
            </a:r>
            <a:r>
              <a:rPr lang="en-IN" sz="2000" b="0" i="0" u="none" strike="noStrike" baseline="0" dirty="0">
                <a:latin typeface="Bookman Old Style" panose="02050604050505020204" pitchFamily="18" charset="0"/>
              </a:rPr>
              <a:t>strain</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28242158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AB9551-8330-8699-A0DB-DDFA90C7F394}"/>
              </a:ext>
            </a:extLst>
          </p:cNvPr>
          <p:cNvSpPr>
            <a:spLocks noGrp="1"/>
          </p:cNvSpPr>
          <p:nvPr>
            <p:ph idx="1"/>
          </p:nvPr>
        </p:nvSpPr>
        <p:spPr>
          <a:xfrm>
            <a:off x="838200" y="748145"/>
            <a:ext cx="10515600" cy="5428818"/>
          </a:xfrm>
        </p:spPr>
        <p:txBody>
          <a:bodyPr>
            <a:normAutofit/>
          </a:bodyPr>
          <a:lstStyle/>
          <a:p>
            <a:pPr algn="just"/>
            <a:r>
              <a:rPr lang="en-IN" sz="2400" b="1" i="1" u="none" strike="noStrike" baseline="0" dirty="0">
                <a:latin typeface="Bookman Old Style" panose="02050604050505020204" pitchFamily="18" charset="0"/>
              </a:rPr>
              <a:t>Learned Helplessness:  </a:t>
            </a:r>
            <a:r>
              <a:rPr lang="en-US" sz="2400" b="0" i="0" u="none" strike="noStrike" baseline="0" dirty="0">
                <a:latin typeface="Bookman Old Style" panose="02050604050505020204" pitchFamily="18" charset="0"/>
              </a:rPr>
              <a:t>people can learn to be helpless, which helps  employees just seem to have given up and seem to accept stressors in their work environment, even when a change for the better is possible.</a:t>
            </a:r>
          </a:p>
          <a:p>
            <a:pPr algn="just"/>
            <a:r>
              <a:rPr lang="en-IN" sz="2400" b="1" i="1" u="none" strike="noStrike" baseline="0" dirty="0">
                <a:latin typeface="Bookman Old Style" panose="02050604050505020204" pitchFamily="18" charset="0"/>
              </a:rPr>
              <a:t>Psychological Hardiness</a:t>
            </a:r>
            <a:r>
              <a:rPr lang="en-US" sz="2400" dirty="0">
                <a:latin typeface="Bookman Old Style" panose="02050604050505020204" pitchFamily="18" charset="0"/>
              </a:rPr>
              <a:t>: People </a:t>
            </a:r>
            <a:r>
              <a:rPr lang="en-US" sz="2400" b="0" i="0" u="none" strike="noStrike" baseline="0" dirty="0">
                <a:latin typeface="Bookman Old Style" panose="02050604050505020204" pitchFamily="18" charset="0"/>
              </a:rPr>
              <a:t>able to cope successfully with extreme stressors seem to have a “hardiness” disposition.</a:t>
            </a:r>
          </a:p>
          <a:p>
            <a:pPr algn="just"/>
            <a:r>
              <a:rPr lang="en-US" sz="2400" b="0" i="0" u="none" strike="noStrike" baseline="0" dirty="0">
                <a:latin typeface="Bookman Old Style" panose="02050604050505020204" pitchFamily="18" charset="0"/>
              </a:rPr>
              <a:t>hardy executives had a lower rate of stress-related illness and were characterized as having commitment (they became very involved in what they were doing); welcoming challenge (they believed that change rather than stability was normal); and feeling in control (they felt they could influence the events around them).</a:t>
            </a:r>
          </a:p>
          <a:p>
            <a:pPr algn="just"/>
            <a:r>
              <a:rPr lang="en-US" sz="2400" b="0" i="0" u="none" strike="noStrike" baseline="0" dirty="0">
                <a:latin typeface="Bookman Old Style" panose="02050604050505020204" pitchFamily="18" charset="0"/>
              </a:rPr>
              <a:t>Employees with positive psychological resources (i.e., efficacy, hope, optimism, resiliency, and overall psychological capital)  combat the stressors that they face at work.</a:t>
            </a:r>
            <a:endParaRPr lang="en-IN" sz="2400" dirty="0">
              <a:latin typeface="Bookman Old Style" panose="02050604050505020204" pitchFamily="18" charset="0"/>
            </a:endParaRPr>
          </a:p>
        </p:txBody>
      </p:sp>
    </p:spTree>
    <p:extLst>
      <p:ext uri="{BB962C8B-B14F-4D97-AF65-F5344CB8AC3E}">
        <p14:creationId xmlns:p14="http://schemas.microsoft.com/office/powerpoint/2010/main" val="10479463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7519C-9BB1-442C-1C34-9E6D43467853}"/>
              </a:ext>
            </a:extLst>
          </p:cNvPr>
          <p:cNvSpPr>
            <a:spLocks noGrp="1"/>
          </p:cNvSpPr>
          <p:nvPr>
            <p:ph type="title"/>
          </p:nvPr>
        </p:nvSpPr>
        <p:spPr/>
        <p:txBody>
          <a:bodyPr/>
          <a:lstStyle/>
          <a:p>
            <a:r>
              <a:rPr lang="en-IN" dirty="0" err="1">
                <a:solidFill>
                  <a:srgbClr val="FF0000"/>
                </a:solidFill>
                <a:latin typeface="Bookman Old Style" panose="02050604050505020204" pitchFamily="18" charset="0"/>
              </a:rPr>
              <a:t>IntraIndividual</a:t>
            </a:r>
            <a:r>
              <a:rPr lang="en-IN" dirty="0">
                <a:solidFill>
                  <a:srgbClr val="FF0000"/>
                </a:solidFill>
                <a:latin typeface="Bookman Old Style" panose="02050604050505020204" pitchFamily="18" charset="0"/>
              </a:rPr>
              <a:t> Conflict</a:t>
            </a:r>
          </a:p>
        </p:txBody>
      </p:sp>
      <p:sp>
        <p:nvSpPr>
          <p:cNvPr id="3" name="Content Placeholder 2">
            <a:extLst>
              <a:ext uri="{FF2B5EF4-FFF2-40B4-BE49-F238E27FC236}">
                <a16:creationId xmlns:a16="http://schemas.microsoft.com/office/drawing/2014/main" id="{70BC8CFA-CC4D-D620-3D47-713C0D2DAF54}"/>
              </a:ext>
            </a:extLst>
          </p:cNvPr>
          <p:cNvSpPr>
            <a:spLocks noGrp="1"/>
          </p:cNvSpPr>
          <p:nvPr>
            <p:ph idx="1"/>
          </p:nvPr>
        </p:nvSpPr>
        <p:spPr/>
        <p:txBody>
          <a:bodyPr>
            <a:normAutofit/>
          </a:bodyPr>
          <a:lstStyle/>
          <a:p>
            <a:pPr marL="0" indent="0">
              <a:buNone/>
            </a:pPr>
            <a:r>
              <a:rPr lang="en-IN" dirty="0">
                <a:latin typeface="Bookman Old Style" panose="02050604050505020204" pitchFamily="18" charset="0"/>
              </a:rPr>
              <a:t>Conflict: a disagreement</a:t>
            </a:r>
          </a:p>
          <a:p>
            <a:pPr marL="0" indent="0">
              <a:buNone/>
            </a:pPr>
            <a:r>
              <a:rPr lang="en-IN" dirty="0">
                <a:latin typeface="Bookman Old Style" panose="02050604050505020204" pitchFamily="18" charset="0"/>
              </a:rPr>
              <a:t> in ideas</a:t>
            </a:r>
          </a:p>
          <a:p>
            <a:pPr marL="0" indent="0">
              <a:buNone/>
            </a:pPr>
            <a:r>
              <a:rPr lang="en-IN" dirty="0">
                <a:latin typeface="Bookman Old Style" panose="02050604050505020204" pitchFamily="18" charset="0"/>
              </a:rPr>
              <a:t>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Fig: level of conflict in OB</a:t>
            </a:r>
          </a:p>
        </p:txBody>
      </p:sp>
      <p:pic>
        <p:nvPicPr>
          <p:cNvPr id="5" name="Picture 4">
            <a:extLst>
              <a:ext uri="{FF2B5EF4-FFF2-40B4-BE49-F238E27FC236}">
                <a16:creationId xmlns:a16="http://schemas.microsoft.com/office/drawing/2014/main" id="{5023F64D-492C-39C1-FE72-80040119D5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8051" y="1458054"/>
            <a:ext cx="6392167" cy="4351337"/>
          </a:xfrm>
          <a:prstGeom prst="rect">
            <a:avLst/>
          </a:prstGeom>
        </p:spPr>
      </p:pic>
    </p:spTree>
    <p:extLst>
      <p:ext uri="{BB962C8B-B14F-4D97-AF65-F5344CB8AC3E}">
        <p14:creationId xmlns:p14="http://schemas.microsoft.com/office/powerpoint/2010/main" val="26686828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3EEB9-5467-71B5-CA73-993C68E95431}"/>
              </a:ext>
            </a:extLst>
          </p:cNvPr>
          <p:cNvSpPr>
            <a:spLocks noGrp="1"/>
          </p:cNvSpPr>
          <p:nvPr>
            <p:ph type="title"/>
          </p:nvPr>
        </p:nvSpPr>
        <p:spPr/>
        <p:txBody>
          <a:bodyPr>
            <a:normAutofit/>
          </a:bodyPr>
          <a:lstStyle/>
          <a:p>
            <a:r>
              <a:rPr lang="en-IN" sz="2800" b="1" i="0" u="none" strike="noStrike" baseline="0" dirty="0">
                <a:latin typeface="Bookman Old Style" panose="02050604050505020204" pitchFamily="18" charset="0"/>
              </a:rPr>
              <a:t>Conflict Due to Frustration</a:t>
            </a:r>
            <a:endParaRPr lang="en-IN" sz="2800"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431713B6-B428-7D11-7C7A-99EE405C6DD7}"/>
              </a:ext>
            </a:extLst>
          </p:cNvPr>
          <p:cNvSpPr>
            <a:spLocks noGrp="1"/>
          </p:cNvSpPr>
          <p:nvPr>
            <p:ph idx="1"/>
          </p:nvPr>
        </p:nvSpPr>
        <p:spPr>
          <a:xfrm>
            <a:off x="838200" y="1267691"/>
            <a:ext cx="10515600" cy="4909272"/>
          </a:xfrm>
        </p:spPr>
        <p:txBody>
          <a:bodyPr/>
          <a:lstStyle/>
          <a:p>
            <a:pPr algn="l"/>
            <a:r>
              <a:rPr lang="en-US" sz="2000" b="0" i="0" u="none" strike="noStrike" baseline="0" dirty="0">
                <a:latin typeface="Bookman Old Style" panose="02050604050505020204" pitchFamily="18" charset="0"/>
              </a:rPr>
              <a:t>Frustration occurs when a motivated drive is blocked before a person reaches a desired </a:t>
            </a:r>
            <a:r>
              <a:rPr lang="en-IN" sz="2000" b="0" i="0" u="none" strike="noStrike" baseline="0" dirty="0">
                <a:latin typeface="Bookman Old Style" panose="02050604050505020204" pitchFamily="18" charset="0"/>
              </a:rPr>
              <a:t>goal.</a:t>
            </a:r>
          </a:p>
          <a:p>
            <a:pPr algn="l"/>
            <a:r>
              <a:rPr lang="en-US" sz="2000" b="0" i="0" u="none" strike="noStrike" baseline="0" dirty="0">
                <a:latin typeface="Bookman Old Style" panose="02050604050505020204" pitchFamily="18" charset="0"/>
              </a:rPr>
              <a:t>The barrier may be either overt (outward, or physical) or covert (inward, or mental-sociopsychological).</a:t>
            </a:r>
          </a:p>
          <a:p>
            <a:pPr algn="l"/>
            <a:endParaRPr lang="en-US" sz="2000" dirty="0">
              <a:latin typeface="Bookman Old Style" panose="02050604050505020204" pitchFamily="18" charset="0"/>
            </a:endParaRPr>
          </a:p>
          <a:p>
            <a:pPr algn="l"/>
            <a:endParaRPr lang="en-IN" dirty="0"/>
          </a:p>
        </p:txBody>
      </p:sp>
      <p:pic>
        <p:nvPicPr>
          <p:cNvPr id="5" name="Picture 4">
            <a:extLst>
              <a:ext uri="{FF2B5EF4-FFF2-40B4-BE49-F238E27FC236}">
                <a16:creationId xmlns:a16="http://schemas.microsoft.com/office/drawing/2014/main" id="{4835F29F-DDE8-C77C-908C-0B206B49C6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732809"/>
            <a:ext cx="9585379" cy="3855027"/>
          </a:xfrm>
          <a:prstGeom prst="rect">
            <a:avLst/>
          </a:prstGeom>
        </p:spPr>
      </p:pic>
    </p:spTree>
    <p:extLst>
      <p:ext uri="{BB962C8B-B14F-4D97-AF65-F5344CB8AC3E}">
        <p14:creationId xmlns:p14="http://schemas.microsoft.com/office/powerpoint/2010/main" val="5069539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A4285-75E5-931A-1B1B-5F9A73FE3282}"/>
              </a:ext>
            </a:extLst>
          </p:cNvPr>
          <p:cNvSpPr>
            <a:spLocks noGrp="1"/>
          </p:cNvSpPr>
          <p:nvPr>
            <p:ph type="title"/>
          </p:nvPr>
        </p:nvSpPr>
        <p:spPr/>
        <p:txBody>
          <a:bodyPr>
            <a:normAutofit/>
          </a:bodyPr>
          <a:lstStyle/>
          <a:p>
            <a:r>
              <a:rPr lang="en-IN" sz="2800" b="1" i="0" u="none" strike="noStrike" baseline="0" dirty="0">
                <a:latin typeface="Bookman Old Style" panose="02050604050505020204" pitchFamily="18" charset="0"/>
              </a:rPr>
              <a:t>Conflict Due to Frustration</a:t>
            </a:r>
            <a:endParaRPr lang="en-IN" sz="2800" dirty="0"/>
          </a:p>
        </p:txBody>
      </p:sp>
      <p:sp>
        <p:nvSpPr>
          <p:cNvPr id="3" name="Content Placeholder 2">
            <a:extLst>
              <a:ext uri="{FF2B5EF4-FFF2-40B4-BE49-F238E27FC236}">
                <a16:creationId xmlns:a16="http://schemas.microsoft.com/office/drawing/2014/main" id="{6305CA6E-769B-CBCE-7379-DC08195DAEE4}"/>
              </a:ext>
            </a:extLst>
          </p:cNvPr>
          <p:cNvSpPr>
            <a:spLocks noGrp="1"/>
          </p:cNvSpPr>
          <p:nvPr>
            <p:ph idx="1"/>
          </p:nvPr>
        </p:nvSpPr>
        <p:spPr/>
        <p:txBody>
          <a:bodyPr/>
          <a:lstStyle/>
          <a:p>
            <a:pPr marL="0" indent="0" algn="just">
              <a:buNone/>
            </a:pPr>
            <a:r>
              <a:rPr lang="en-US" sz="1800" b="0" i="0" u="none" strike="noStrike" baseline="0" dirty="0">
                <a:latin typeface="Times New Roman" panose="02020603050405020304" pitchFamily="18" charset="0"/>
                <a:sym typeface="Wingdings" panose="05000000000000000000" pitchFamily="2" charset="2"/>
              </a:rPr>
              <a:t></a:t>
            </a:r>
            <a:r>
              <a:rPr lang="en-US" sz="2000" b="0" i="0" u="none" strike="noStrike" baseline="0" dirty="0">
                <a:latin typeface="Bookman Old Style" panose="02050604050505020204" pitchFamily="18" charset="0"/>
              </a:rPr>
              <a:t>incidences of workplace aggression are a reaction to frustration</a:t>
            </a:r>
          </a:p>
          <a:p>
            <a:pPr algn="just">
              <a:buFont typeface="Wingdings" panose="05000000000000000000" pitchFamily="2" charset="2"/>
              <a:buChar char="à"/>
            </a:pPr>
            <a:r>
              <a:rPr lang="en-US" sz="2000" dirty="0">
                <a:latin typeface="Bookman Old Style" panose="02050604050505020204" pitchFamily="18" charset="0"/>
                <a:sym typeface="Wingdings" panose="05000000000000000000" pitchFamily="2" charset="2"/>
              </a:rPr>
              <a:t>Level of aggression depends on </a:t>
            </a:r>
            <a:r>
              <a:rPr lang="fr-FR" sz="2000" b="0" i="0" u="none" strike="noStrike" baseline="0" dirty="0" err="1">
                <a:latin typeface="Bookman Old Style" panose="02050604050505020204" pitchFamily="18" charset="0"/>
              </a:rPr>
              <a:t>individual</a:t>
            </a:r>
            <a:r>
              <a:rPr lang="fr-FR" sz="2000" b="0" i="0" u="none" strike="noStrike" baseline="0" dirty="0">
                <a:latin typeface="Bookman Old Style" panose="02050604050505020204" pitchFamily="18" charset="0"/>
              </a:rPr>
              <a:t> </a:t>
            </a:r>
            <a:r>
              <a:rPr lang="fr-FR" sz="2000" b="0" i="0" u="none" strike="noStrike" baseline="0" dirty="0" err="1">
                <a:latin typeface="Bookman Old Style" panose="02050604050505020204" pitchFamily="18" charset="0"/>
              </a:rPr>
              <a:t>differences</a:t>
            </a:r>
            <a:r>
              <a:rPr lang="fr-FR" sz="2000" b="0" i="0" u="none" strike="noStrike" baseline="0" dirty="0">
                <a:latin typeface="Bookman Old Style" panose="02050604050505020204" pitchFamily="18" charset="0"/>
              </a:rPr>
              <a:t> (e.g., trait </a:t>
            </a:r>
            <a:r>
              <a:rPr lang="fr-FR" sz="2000" b="0" i="0" u="none" strike="noStrike" baseline="0" dirty="0" err="1">
                <a:latin typeface="Bookman Old Style" panose="02050604050505020204" pitchFamily="18" charset="0"/>
              </a:rPr>
              <a:t>anger</a:t>
            </a:r>
            <a:r>
              <a:rPr lang="fr-FR" sz="2000" b="0" i="0" u="none" strike="noStrike" baseline="0" dirty="0">
                <a:latin typeface="Bookman Old Style" panose="02050604050505020204" pitchFamily="18" charset="0"/>
              </a:rPr>
              <a:t>, attribution style, </a:t>
            </a:r>
            <a:r>
              <a:rPr lang="en-US" sz="2000" b="0" i="0" u="none" strike="noStrike" baseline="0" dirty="0">
                <a:latin typeface="Bookman Old Style" panose="02050604050505020204" pitchFamily="18" charset="0"/>
              </a:rPr>
              <a:t>negative affectivity, attitudes toward revenge, self-control, and previous exposure to </a:t>
            </a:r>
            <a:r>
              <a:rPr lang="en-IN" sz="2000" b="0" i="0" u="none" strike="noStrike" baseline="0" dirty="0">
                <a:latin typeface="Bookman Old Style" panose="02050604050505020204" pitchFamily="18" charset="0"/>
              </a:rPr>
              <a:t>aggressive cultures)</a:t>
            </a:r>
          </a:p>
          <a:p>
            <a:pPr marL="0" indent="0" algn="just">
              <a:buNone/>
            </a:pPr>
            <a:r>
              <a:rPr lang="en-IN" sz="2000" b="0" i="0" u="none" strike="noStrike" baseline="0" dirty="0">
                <a:latin typeface="Bookman Old Style" panose="02050604050505020204" pitchFamily="18" charset="0"/>
                <a:sym typeface="Wingdings" panose="05000000000000000000" pitchFamily="2" charset="2"/>
              </a:rPr>
              <a:t></a:t>
            </a:r>
            <a:r>
              <a:rPr lang="en-IN" sz="2000" b="0" i="0" u="none" strike="noStrike" baseline="0" dirty="0">
                <a:latin typeface="Bookman Old Style" panose="02050604050505020204" pitchFamily="18" charset="0"/>
              </a:rPr>
              <a:t>Implementing </a:t>
            </a:r>
            <a:r>
              <a:rPr lang="en-US" sz="2000" b="0" i="0" u="none" strike="noStrike" baseline="0" dirty="0">
                <a:latin typeface="Bookman Old Style" panose="02050604050505020204" pitchFamily="18" charset="0"/>
              </a:rPr>
              <a:t>a violence-prevention policy and providing training to supervisors and employees in workplace-violence awareness seems to decrease the incidence rate for employee-on employee</a:t>
            </a:r>
            <a:r>
              <a:rPr lang="en-US" sz="2000" dirty="0">
                <a:latin typeface="Bookman Old Style" panose="02050604050505020204" pitchFamily="18" charset="0"/>
              </a:rPr>
              <a:t> </a:t>
            </a:r>
            <a:r>
              <a:rPr lang="en-IN" sz="2000" b="0" i="0" u="none" strike="noStrike" baseline="0" dirty="0">
                <a:latin typeface="Bookman Old Style" panose="02050604050505020204" pitchFamily="18" charset="0"/>
              </a:rPr>
              <a:t>violence.</a:t>
            </a:r>
          </a:p>
          <a:p>
            <a:pPr algn="just">
              <a:buFont typeface="Wingdings" panose="05000000000000000000" pitchFamily="2" charset="2"/>
              <a:buChar char="à"/>
            </a:pPr>
            <a:r>
              <a:rPr lang="en-US" sz="2000" b="0" i="0" u="none" strike="noStrike" baseline="0" dirty="0">
                <a:latin typeface="Bookman Old Style" panose="02050604050505020204" pitchFamily="18" charset="0"/>
              </a:rPr>
              <a:t>In addition to aggression and violence, the withdrawal reaction to frustration may lead to “motivational problem” of employees.</a:t>
            </a:r>
          </a:p>
          <a:p>
            <a:pPr algn="just"/>
            <a:r>
              <a:rPr lang="en-US" sz="2000" b="0" i="0" u="none" strike="noStrike" baseline="0" dirty="0">
                <a:latin typeface="Bookman Old Style" panose="02050604050505020204" pitchFamily="18" charset="0"/>
              </a:rPr>
              <a:t>In some cases frustration may actually result in a positive impact on individual performance and organizational goals. An example is the worker or manager who has high needs for competence and achievement and/or who has high self-efficacy  in being able to do a job well.</a:t>
            </a:r>
            <a:endParaRPr lang="en-IN" sz="2000" b="0" i="0" u="none" strike="noStrike" baseline="0" dirty="0">
              <a:latin typeface="Bookman Old Style" panose="02050604050505020204" pitchFamily="18" charset="0"/>
            </a:endParaRPr>
          </a:p>
          <a:p>
            <a:pPr algn="l"/>
            <a:endParaRPr lang="en-IN" dirty="0"/>
          </a:p>
        </p:txBody>
      </p:sp>
    </p:spTree>
    <p:extLst>
      <p:ext uri="{BB962C8B-B14F-4D97-AF65-F5344CB8AC3E}">
        <p14:creationId xmlns:p14="http://schemas.microsoft.com/office/powerpoint/2010/main" val="8506842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4667A-C2D9-88D3-A0ED-5BA73B279421}"/>
              </a:ext>
            </a:extLst>
          </p:cNvPr>
          <p:cNvSpPr>
            <a:spLocks noGrp="1"/>
          </p:cNvSpPr>
          <p:nvPr>
            <p:ph type="title"/>
          </p:nvPr>
        </p:nvSpPr>
        <p:spPr/>
        <p:txBody>
          <a:bodyPr>
            <a:normAutofit/>
          </a:bodyPr>
          <a:lstStyle/>
          <a:p>
            <a:r>
              <a:rPr lang="en-IN" sz="2800" b="1" i="0" u="none" strike="noStrike" baseline="0" dirty="0">
                <a:solidFill>
                  <a:srgbClr val="FF0000"/>
                </a:solidFill>
                <a:latin typeface="Bookman Old Style" panose="02050604050505020204" pitchFamily="18" charset="0"/>
              </a:rPr>
              <a:t>Goal Conflict</a:t>
            </a:r>
            <a:endParaRPr lang="en-IN" sz="2800"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D79188D7-B275-6651-DF17-ED0908814DE8}"/>
              </a:ext>
            </a:extLst>
          </p:cNvPr>
          <p:cNvSpPr>
            <a:spLocks noGrp="1"/>
          </p:cNvSpPr>
          <p:nvPr>
            <p:ph idx="1"/>
          </p:nvPr>
        </p:nvSpPr>
        <p:spPr>
          <a:xfrm>
            <a:off x="838200" y="1392382"/>
            <a:ext cx="10515600" cy="4784581"/>
          </a:xfrm>
        </p:spPr>
        <p:txBody>
          <a:bodyPr>
            <a:normAutofit/>
          </a:bodyPr>
          <a:lstStyle/>
          <a:p>
            <a:pPr algn="just"/>
            <a:r>
              <a:rPr lang="en-US" sz="2000" b="0" i="0" u="none" strike="noStrike" baseline="0" dirty="0">
                <a:latin typeface="Bookman Old Style" panose="02050604050505020204" pitchFamily="18" charset="0"/>
              </a:rPr>
              <a:t>Another common source of conflict for an individual is a goal that has both positive and negative features, or two or more competing goals.</a:t>
            </a:r>
          </a:p>
          <a:p>
            <a:pPr algn="just"/>
            <a:r>
              <a:rPr lang="en-US" sz="2000" b="0" i="0" u="none" strike="noStrike" baseline="0" dirty="0">
                <a:latin typeface="Bookman Old Style" panose="02050604050505020204" pitchFamily="18" charset="0"/>
              </a:rPr>
              <a:t> Whereas in frustration motives are blocked before the goal is reached, in goal conflict two or more motives block one another.</a:t>
            </a:r>
          </a:p>
          <a:p>
            <a:pPr algn="just"/>
            <a:r>
              <a:rPr lang="en-US" sz="2000" b="0" i="0" u="none" strike="noStrike" baseline="0" dirty="0">
                <a:latin typeface="Bookman Old Style" panose="02050604050505020204" pitchFamily="18" charset="0"/>
              </a:rPr>
              <a:t>three separate types of goal conflict</a:t>
            </a:r>
            <a:r>
              <a:rPr lang="en-US" sz="2000" dirty="0">
                <a:latin typeface="Bookman Old Style" panose="02050604050505020204" pitchFamily="18" charset="0"/>
              </a:rPr>
              <a:t>:</a:t>
            </a:r>
          </a:p>
          <a:p>
            <a:pPr marL="0" indent="0" algn="just">
              <a:buNone/>
            </a:pPr>
            <a:r>
              <a:rPr lang="en-US" sz="2000" b="0" i="0" u="none" strike="noStrike" baseline="0" dirty="0">
                <a:latin typeface="Bookman Old Style" panose="02050604050505020204" pitchFamily="18" charset="0"/>
              </a:rPr>
              <a:t>1. </a:t>
            </a:r>
            <a:r>
              <a:rPr lang="en-US" sz="2000" b="1" i="1" u="none" strike="noStrike" baseline="0" dirty="0">
                <a:solidFill>
                  <a:srgbClr val="FF0000"/>
                </a:solidFill>
                <a:latin typeface="Bookman Old Style" panose="02050604050505020204" pitchFamily="18" charset="0"/>
              </a:rPr>
              <a:t>Approach-approach </a:t>
            </a:r>
            <a:r>
              <a:rPr lang="en-US" sz="2000" b="1" i="0" u="none" strike="noStrike" baseline="0" dirty="0">
                <a:solidFill>
                  <a:srgbClr val="FF0000"/>
                </a:solidFill>
                <a:latin typeface="Bookman Old Style" panose="02050604050505020204" pitchFamily="18" charset="0"/>
              </a:rPr>
              <a:t>conflict</a:t>
            </a:r>
            <a:r>
              <a:rPr lang="en-US" sz="2000" b="0" i="0" u="none" strike="noStrike" baseline="0" dirty="0">
                <a:latin typeface="Bookman Old Style" panose="02050604050505020204" pitchFamily="18" charset="0"/>
              </a:rPr>
              <a:t>, where the individual is motivated to approach two or more positive but mutually exclusive goals.</a:t>
            </a:r>
          </a:p>
          <a:p>
            <a:pPr marL="0" indent="0" algn="just">
              <a:buNone/>
            </a:pPr>
            <a:r>
              <a:rPr lang="en-US" sz="2000" b="0" i="0" u="none" strike="noStrike" baseline="0" dirty="0">
                <a:latin typeface="Bookman Old Style" panose="02050604050505020204" pitchFamily="18" charset="0"/>
              </a:rPr>
              <a:t>2. </a:t>
            </a:r>
            <a:r>
              <a:rPr lang="en-US" sz="2000" b="1" i="1" u="none" strike="noStrike" baseline="0" dirty="0">
                <a:solidFill>
                  <a:srgbClr val="FF0000"/>
                </a:solidFill>
                <a:latin typeface="Bookman Old Style" panose="02050604050505020204" pitchFamily="18" charset="0"/>
              </a:rPr>
              <a:t>Approach-avoidance </a:t>
            </a:r>
            <a:r>
              <a:rPr lang="en-US" sz="2000" b="1" i="0" u="none" strike="noStrike" baseline="0" dirty="0">
                <a:solidFill>
                  <a:srgbClr val="FF0000"/>
                </a:solidFill>
                <a:latin typeface="Bookman Old Style" panose="02050604050505020204" pitchFamily="18" charset="0"/>
              </a:rPr>
              <a:t>conflict</a:t>
            </a:r>
            <a:r>
              <a:rPr lang="en-US" sz="2000" b="0" i="0" u="none" strike="noStrike" baseline="0" dirty="0">
                <a:latin typeface="Bookman Old Style" panose="02050604050505020204" pitchFamily="18" charset="0"/>
              </a:rPr>
              <a:t>, where the individual is motivated to approach a goal and at the same time is motivated to avoid it. The single goal contains both positive and negative </a:t>
            </a:r>
            <a:r>
              <a:rPr lang="en-IN" sz="2000" b="0" i="0" u="none" strike="noStrike" baseline="0" dirty="0">
                <a:latin typeface="Bookman Old Style" panose="02050604050505020204" pitchFamily="18" charset="0"/>
              </a:rPr>
              <a:t>characteristics for the individual.</a:t>
            </a:r>
          </a:p>
          <a:p>
            <a:pPr marL="0" indent="0" algn="just">
              <a:buNone/>
            </a:pPr>
            <a:r>
              <a:rPr lang="en-US" sz="2000" b="0" i="0" u="none" strike="noStrike" baseline="0" dirty="0">
                <a:latin typeface="Bookman Old Style" panose="02050604050505020204" pitchFamily="18" charset="0"/>
              </a:rPr>
              <a:t>3. </a:t>
            </a:r>
            <a:r>
              <a:rPr lang="en-US" sz="2000" b="1" i="1" u="none" strike="noStrike" baseline="0" dirty="0">
                <a:solidFill>
                  <a:srgbClr val="FF0000"/>
                </a:solidFill>
                <a:latin typeface="Bookman Old Style" panose="02050604050505020204" pitchFamily="18" charset="0"/>
              </a:rPr>
              <a:t>Avoidance-avoidance </a:t>
            </a:r>
            <a:r>
              <a:rPr lang="en-US" sz="2000" b="1" i="0" u="none" strike="noStrike" baseline="0" dirty="0">
                <a:solidFill>
                  <a:srgbClr val="FF0000"/>
                </a:solidFill>
                <a:latin typeface="Bookman Old Style" panose="02050604050505020204" pitchFamily="18" charset="0"/>
              </a:rPr>
              <a:t>conflict</a:t>
            </a:r>
            <a:r>
              <a:rPr lang="en-US" sz="2000" b="0" i="0" u="none" strike="noStrike" baseline="0" dirty="0">
                <a:latin typeface="Bookman Old Style" panose="02050604050505020204" pitchFamily="18" charset="0"/>
              </a:rPr>
              <a:t>, where the individual is motivated to avoid two or more negative but mutually exclusive goals.</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6460844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FFB5-3C6C-AEC3-7703-FF8448A2647D}"/>
              </a:ext>
            </a:extLst>
          </p:cNvPr>
          <p:cNvSpPr>
            <a:spLocks noGrp="1"/>
          </p:cNvSpPr>
          <p:nvPr>
            <p:ph type="title"/>
          </p:nvPr>
        </p:nvSpPr>
        <p:spPr/>
        <p:txBody>
          <a:bodyPr>
            <a:normAutofit/>
          </a:bodyPr>
          <a:lstStyle/>
          <a:p>
            <a:r>
              <a:rPr lang="en-IN" sz="2400" b="1" i="0" u="none" strike="noStrike" baseline="0" dirty="0">
                <a:solidFill>
                  <a:srgbClr val="FF0000"/>
                </a:solidFill>
                <a:latin typeface="Bookman Old Style" panose="02050604050505020204" pitchFamily="18" charset="0"/>
              </a:rPr>
              <a:t>Role Conflict and Ambiguity</a:t>
            </a:r>
            <a:endParaRPr lang="en-IN" sz="2400"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01462B07-DC73-F0C8-D1E4-532E0B9C0764}"/>
              </a:ext>
            </a:extLst>
          </p:cNvPr>
          <p:cNvSpPr>
            <a:spLocks noGrp="1"/>
          </p:cNvSpPr>
          <p:nvPr>
            <p:ph idx="1"/>
          </p:nvPr>
        </p:nvSpPr>
        <p:spPr>
          <a:xfrm>
            <a:off x="838200" y="1451552"/>
            <a:ext cx="10515600" cy="4351338"/>
          </a:xfrm>
        </p:spPr>
        <p:txBody>
          <a:bodyPr>
            <a:noAutofit/>
          </a:bodyPr>
          <a:lstStyle/>
          <a:p>
            <a:pPr algn="just"/>
            <a:r>
              <a:rPr lang="en-US" sz="2000" b="1" i="1" u="none" strike="noStrike" baseline="0" dirty="0">
                <a:solidFill>
                  <a:srgbClr val="FF0000"/>
                </a:solidFill>
                <a:latin typeface="Bookman Old Style" panose="02050604050505020204" pitchFamily="18" charset="0"/>
              </a:rPr>
              <a:t>role</a:t>
            </a:r>
            <a:r>
              <a:rPr lang="en-US" sz="2000" b="0" i="1" u="none" strike="noStrike" baseline="0" dirty="0">
                <a:latin typeface="Bookman Old Style" panose="02050604050505020204" pitchFamily="18" charset="0"/>
              </a:rPr>
              <a:t> </a:t>
            </a:r>
            <a:r>
              <a:rPr lang="en-US" sz="2000" b="0" i="0" u="none" strike="noStrike" baseline="0" dirty="0">
                <a:latin typeface="Bookman Old Style" panose="02050604050505020204" pitchFamily="18" charset="0"/>
              </a:rPr>
              <a:t>is defined as a position that has expectations evolving from established norms.</a:t>
            </a:r>
          </a:p>
          <a:p>
            <a:pPr algn="just"/>
            <a:r>
              <a:rPr lang="en-US" sz="2000" dirty="0">
                <a:latin typeface="Bookman Old Style" panose="02050604050505020204" pitchFamily="18" charset="0"/>
              </a:rPr>
              <a:t>People in society will have many roles to play. </a:t>
            </a:r>
          </a:p>
          <a:p>
            <a:pPr algn="just"/>
            <a:r>
              <a:rPr lang="en-US" sz="2000" b="0" i="0" u="none" strike="noStrike" baseline="0" dirty="0">
                <a:latin typeface="Bookman Old Style" panose="02050604050505020204" pitchFamily="18" charset="0"/>
              </a:rPr>
              <a:t>three major types of role conflict:</a:t>
            </a:r>
          </a:p>
          <a:p>
            <a:pPr algn="just"/>
            <a:r>
              <a:rPr lang="en-IN" sz="2000" b="0" i="0" u="none" strike="noStrike" baseline="0" dirty="0">
                <a:latin typeface="Bookman Old Style" panose="02050604050505020204" pitchFamily="18" charset="0"/>
              </a:rPr>
              <a:t>conflict between </a:t>
            </a:r>
            <a:r>
              <a:rPr lang="en-IN" sz="2000" b="1" i="1" u="none" strike="noStrike" baseline="0" dirty="0">
                <a:solidFill>
                  <a:srgbClr val="FF0000"/>
                </a:solidFill>
                <a:latin typeface="Bookman Old Style" panose="02050604050505020204" pitchFamily="18" charset="0"/>
              </a:rPr>
              <a:t>the person </a:t>
            </a:r>
            <a:r>
              <a:rPr lang="en-US" sz="2000" b="1" i="1" u="none" strike="noStrike" baseline="0" dirty="0">
                <a:solidFill>
                  <a:srgbClr val="FF0000"/>
                </a:solidFill>
                <a:latin typeface="Bookman Old Style" panose="02050604050505020204" pitchFamily="18" charset="0"/>
              </a:rPr>
              <a:t>and the role</a:t>
            </a:r>
            <a:r>
              <a:rPr lang="en-US" sz="2000" b="0" i="1" u="none" strike="noStrike" baseline="0" dirty="0">
                <a:latin typeface="Bookman Old Style" panose="02050604050505020204" pitchFamily="18" charset="0"/>
              </a:rPr>
              <a:t>. </a:t>
            </a:r>
            <a:r>
              <a:rPr lang="en-US" sz="2000" b="0" i="0" u="none" strike="noStrike" baseline="0" dirty="0">
                <a:latin typeface="Bookman Old Style" panose="02050604050505020204" pitchFamily="18" charset="0"/>
              </a:rPr>
              <a:t>There may be conflict between the person’s personality and the expectations of the role. For example, a production worker and member of the union is appointed to head up a new production team.</a:t>
            </a:r>
          </a:p>
          <a:p>
            <a:pPr algn="just"/>
            <a:r>
              <a:rPr lang="en-US" sz="2000" b="0" i="0" u="none" strike="noStrike" baseline="0" dirty="0">
                <a:latin typeface="Bookman Old Style" panose="02050604050505020204" pitchFamily="18" charset="0"/>
              </a:rPr>
              <a:t>A second type </a:t>
            </a:r>
            <a:r>
              <a:rPr lang="en-US" sz="2000" b="1" i="0" u="none" strike="noStrike" baseline="0" dirty="0">
                <a:solidFill>
                  <a:srgbClr val="FF0000"/>
                </a:solidFill>
                <a:latin typeface="Bookman Old Style" panose="02050604050505020204" pitchFamily="18" charset="0"/>
              </a:rPr>
              <a:t>is </a:t>
            </a:r>
            <a:r>
              <a:rPr lang="en-US" sz="2000" b="1" i="1" u="none" strike="noStrike" baseline="0" dirty="0" err="1">
                <a:solidFill>
                  <a:srgbClr val="FF0000"/>
                </a:solidFill>
                <a:latin typeface="Bookman Old Style" panose="02050604050505020204" pitchFamily="18" charset="0"/>
              </a:rPr>
              <a:t>intrarole</a:t>
            </a:r>
            <a:r>
              <a:rPr lang="en-US" sz="2000" b="1" i="1" u="none" strike="noStrike" baseline="0" dirty="0">
                <a:solidFill>
                  <a:srgbClr val="FF0000"/>
                </a:solidFill>
                <a:latin typeface="Bookman Old Style" panose="02050604050505020204" pitchFamily="18" charset="0"/>
              </a:rPr>
              <a:t> </a:t>
            </a:r>
            <a:r>
              <a:rPr lang="en-US" sz="2000" b="0" i="0" u="none" strike="noStrike" baseline="0" dirty="0">
                <a:latin typeface="Bookman Old Style" panose="02050604050505020204" pitchFamily="18" charset="0"/>
              </a:rPr>
              <a:t>conflict created by contradictory expectations about how a given role should be played. Should the new team leader be autocratic or democratic in dealing with the team members?</a:t>
            </a:r>
          </a:p>
          <a:p>
            <a:pPr algn="just"/>
            <a:r>
              <a:rPr lang="en-US" sz="2000" b="1" i="1" u="none" strike="noStrike" baseline="0" dirty="0" err="1">
                <a:solidFill>
                  <a:srgbClr val="FF0000"/>
                </a:solidFill>
                <a:latin typeface="Bookman Old Style" panose="02050604050505020204" pitchFamily="18" charset="0"/>
              </a:rPr>
              <a:t>interrole</a:t>
            </a:r>
            <a:r>
              <a:rPr lang="en-US" sz="2000" b="0" i="1" u="none" strike="noStrike" baseline="0" dirty="0">
                <a:latin typeface="Bookman Old Style" panose="02050604050505020204" pitchFamily="18" charset="0"/>
              </a:rPr>
              <a:t> </a:t>
            </a:r>
            <a:r>
              <a:rPr lang="en-US" sz="2000" b="0" i="0" u="none" strike="noStrike" baseline="0" dirty="0">
                <a:latin typeface="Bookman Old Style" panose="02050604050505020204" pitchFamily="18" charset="0"/>
              </a:rPr>
              <a:t>conflict results from the differing requirements of two or more roles that must be</a:t>
            </a:r>
            <a:r>
              <a:rPr lang="en-US" sz="2000" dirty="0">
                <a:latin typeface="Bookman Old Style" panose="02050604050505020204" pitchFamily="18" charset="0"/>
              </a:rPr>
              <a:t> </a:t>
            </a:r>
            <a:r>
              <a:rPr lang="en-US" sz="2000" b="0" i="0" u="none" strike="noStrike" baseline="0" dirty="0">
                <a:latin typeface="Bookman Old Style" panose="02050604050505020204" pitchFamily="18" charset="0"/>
              </a:rPr>
              <a:t>played at the same time</a:t>
            </a:r>
            <a:r>
              <a:rPr lang="en-US" sz="2000" dirty="0">
                <a:latin typeface="Bookman Old Style" panose="02050604050505020204" pitchFamily="18" charset="0"/>
              </a:rPr>
              <a:t>. </a:t>
            </a:r>
            <a:r>
              <a:rPr lang="en-IN" sz="2000" b="0" i="0" u="none" strike="noStrike" baseline="0" dirty="0">
                <a:latin typeface="Bookman Old Style" panose="02050604050505020204" pitchFamily="18" charset="0"/>
              </a:rPr>
              <a:t>For example, </a:t>
            </a:r>
            <a:r>
              <a:rPr lang="en-US" sz="2000" b="0" i="0" u="none" strike="noStrike" baseline="0" dirty="0">
                <a:latin typeface="Bookman Old Style" panose="02050604050505020204" pitchFamily="18" charset="0"/>
              </a:rPr>
              <a:t>a successful executive working for a computer company said that she often worked from 7:30 A.M. to 11:30 P.M. Her long hours led to the breakup of a relationship.</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18776287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D9C4D-5AFA-3546-34B3-98ABBD252933}"/>
              </a:ext>
            </a:extLst>
          </p:cNvPr>
          <p:cNvSpPr>
            <a:spLocks noGrp="1"/>
          </p:cNvSpPr>
          <p:nvPr>
            <p:ph type="title"/>
          </p:nvPr>
        </p:nvSpPr>
        <p:spPr>
          <a:xfrm>
            <a:off x="630382" y="577922"/>
            <a:ext cx="10515600" cy="1098405"/>
          </a:xfrm>
        </p:spPr>
        <p:txBody>
          <a:bodyPr>
            <a:normAutofit fontScale="90000"/>
          </a:bodyPr>
          <a:lstStyle/>
          <a:p>
            <a:r>
              <a:rPr lang="en-IN" sz="4000" b="1" dirty="0">
                <a:solidFill>
                  <a:srgbClr val="FF0000"/>
                </a:solidFill>
                <a:latin typeface="Bookman Old Style" panose="02050604050505020204" pitchFamily="18" charset="0"/>
              </a:rPr>
              <a:t>Interactive Conflict:</a:t>
            </a:r>
            <a:br>
              <a:rPr lang="en-IN" sz="4000" b="1" dirty="0">
                <a:solidFill>
                  <a:srgbClr val="FF0000"/>
                </a:solidFill>
                <a:latin typeface="Bookman Old Style" panose="02050604050505020204" pitchFamily="18" charset="0"/>
              </a:rPr>
            </a:br>
            <a:r>
              <a:rPr lang="en-IN" sz="3600" dirty="0">
                <a:latin typeface="Bookman Old Style" panose="02050604050505020204" pitchFamily="18" charset="0"/>
                <a:sym typeface="Wingdings" panose="05000000000000000000" pitchFamily="2" charset="2"/>
              </a:rPr>
              <a:t>Reflect in interpersonal and intergroup levels.</a:t>
            </a:r>
            <a:br>
              <a:rPr lang="en-IN" sz="3600" dirty="0">
                <a:latin typeface="Bookman Old Style" panose="02050604050505020204" pitchFamily="18" charset="0"/>
                <a:sym typeface="Wingdings" panose="05000000000000000000" pitchFamily="2" charset="2"/>
              </a:rPr>
            </a:br>
            <a:r>
              <a:rPr lang="en-IN" dirty="0"/>
              <a:t> </a:t>
            </a:r>
          </a:p>
        </p:txBody>
      </p:sp>
      <p:sp>
        <p:nvSpPr>
          <p:cNvPr id="3" name="Content Placeholder 2">
            <a:extLst>
              <a:ext uri="{FF2B5EF4-FFF2-40B4-BE49-F238E27FC236}">
                <a16:creationId xmlns:a16="http://schemas.microsoft.com/office/drawing/2014/main" id="{208BC8B7-3D16-26C3-E95B-6016655122E7}"/>
              </a:ext>
            </a:extLst>
          </p:cNvPr>
          <p:cNvSpPr>
            <a:spLocks noGrp="1"/>
          </p:cNvSpPr>
          <p:nvPr>
            <p:ph idx="1"/>
          </p:nvPr>
        </p:nvSpPr>
        <p:spPr>
          <a:xfrm>
            <a:off x="630382" y="1928740"/>
            <a:ext cx="10515600" cy="4351338"/>
          </a:xfrm>
        </p:spPr>
        <p:txBody>
          <a:bodyPr>
            <a:noAutofit/>
          </a:bodyPr>
          <a:lstStyle/>
          <a:p>
            <a:pPr marL="0" indent="0">
              <a:lnSpc>
                <a:spcPct val="150000"/>
              </a:lnSpc>
              <a:buNone/>
            </a:pPr>
            <a:r>
              <a:rPr lang="en-IN" b="1" i="0" u="none" strike="noStrike" baseline="0" dirty="0">
                <a:latin typeface="Bookman Old Style" panose="02050604050505020204" pitchFamily="18" charset="0"/>
              </a:rPr>
              <a:t>Interpersonal Conflict</a:t>
            </a:r>
            <a:r>
              <a:rPr lang="en-IN" b="1" i="0" u="none" strike="noStrike" baseline="0" dirty="0">
                <a:latin typeface="Bookman Old Style" panose="02050604050505020204" pitchFamily="18" charset="0"/>
                <a:sym typeface="Wingdings" panose="05000000000000000000" pitchFamily="2" charset="2"/>
              </a:rPr>
              <a:t>: </a:t>
            </a:r>
          </a:p>
          <a:p>
            <a:pPr algn="just">
              <a:lnSpc>
                <a:spcPct val="150000"/>
              </a:lnSpc>
            </a:pPr>
            <a:r>
              <a:rPr lang="en-US" sz="1800" b="0" i="0" u="none" strike="noStrike" baseline="0" dirty="0">
                <a:latin typeface="Bookman Old Style" panose="02050604050505020204" pitchFamily="18" charset="0"/>
              </a:rPr>
              <a:t>four major sources of interpersonal conflict</a:t>
            </a:r>
            <a:r>
              <a:rPr lang="en-IN" sz="1800" b="1" dirty="0">
                <a:latin typeface="Bookman Old Style" panose="02050604050505020204" pitchFamily="18" charset="0"/>
                <a:sym typeface="Wingdings" panose="05000000000000000000" pitchFamily="2" charset="2"/>
              </a:rPr>
              <a:t> are: </a:t>
            </a:r>
          </a:p>
          <a:p>
            <a:pPr marL="0" indent="0" algn="just">
              <a:lnSpc>
                <a:spcPct val="150000"/>
              </a:lnSpc>
              <a:buNone/>
            </a:pPr>
            <a:r>
              <a:rPr lang="en-IN" sz="1800" b="1" i="1" u="none" strike="noStrike" baseline="0" dirty="0">
                <a:latin typeface="Bookman Old Style" panose="02050604050505020204" pitchFamily="18" charset="0"/>
                <a:sym typeface="Wingdings" panose="05000000000000000000" pitchFamily="2" charset="2"/>
              </a:rPr>
              <a:t>1.</a:t>
            </a:r>
            <a:r>
              <a:rPr lang="en-US" sz="1800" b="1" i="1" u="none" strike="noStrike" baseline="0" dirty="0">
                <a:latin typeface="Bookman Old Style" panose="02050604050505020204" pitchFamily="18" charset="0"/>
              </a:rPr>
              <a:t>Personal differences</a:t>
            </a:r>
            <a:r>
              <a:rPr lang="en-US" sz="1800" i="1" dirty="0">
                <a:latin typeface="Bookman Old Style" panose="02050604050505020204" pitchFamily="18" charset="0"/>
              </a:rPr>
              <a:t>:</a:t>
            </a:r>
            <a:r>
              <a:rPr lang="en-US" sz="1800" b="0" i="1" u="none" strike="noStrike" baseline="0" dirty="0">
                <a:latin typeface="Bookman Old Style" panose="02050604050505020204" pitchFamily="18" charset="0"/>
              </a:rPr>
              <a:t> </a:t>
            </a:r>
            <a:r>
              <a:rPr lang="en-US" sz="1800" b="0" i="0" u="none" strike="noStrike" baseline="0" dirty="0">
                <a:latin typeface="Bookman Old Style" panose="02050604050505020204" pitchFamily="18" charset="0"/>
              </a:rPr>
              <a:t>Everyone has a unique background because of his or her upbringing, cultural and family traditions, and socialization processes. A disagreement about who is factually correct easily turns into a bitter argument over who is morally right.</a:t>
            </a:r>
          </a:p>
          <a:p>
            <a:pPr marL="0" indent="0" algn="just">
              <a:lnSpc>
                <a:spcPct val="150000"/>
              </a:lnSpc>
              <a:buNone/>
            </a:pPr>
            <a:r>
              <a:rPr lang="en-IN" sz="1800" dirty="0">
                <a:latin typeface="Bookman Old Style" panose="02050604050505020204" pitchFamily="18" charset="0"/>
              </a:rPr>
              <a:t>2.</a:t>
            </a:r>
            <a:r>
              <a:rPr lang="en-IN" sz="1800" b="0" i="1" u="none" strike="noStrike" baseline="0" dirty="0">
                <a:latin typeface="Bookman Old Style" panose="02050604050505020204" pitchFamily="18" charset="0"/>
              </a:rPr>
              <a:t> </a:t>
            </a:r>
            <a:r>
              <a:rPr lang="en-IN" sz="1800" b="1" i="1" u="none" strike="noStrike" baseline="0" dirty="0">
                <a:latin typeface="Bookman Old Style" panose="02050604050505020204" pitchFamily="18" charset="0"/>
              </a:rPr>
              <a:t>Information deficiency </a:t>
            </a:r>
            <a:r>
              <a:rPr lang="en-IN" sz="1800" b="0" i="1" u="none" strike="noStrike" baseline="0" dirty="0">
                <a:latin typeface="Bookman Old Style" panose="02050604050505020204" pitchFamily="18" charset="0"/>
              </a:rPr>
              <a:t>: due to the </a:t>
            </a:r>
            <a:r>
              <a:rPr lang="en-IN" sz="1800" b="0" i="0" u="none" strike="noStrike" baseline="0" dirty="0">
                <a:latin typeface="Bookman Old Style" panose="02050604050505020204" pitchFamily="18" charset="0"/>
              </a:rPr>
              <a:t>communication breakdown </a:t>
            </a:r>
            <a:r>
              <a:rPr lang="en-US" sz="1800" b="0" i="0" u="none" strike="noStrike" baseline="0" dirty="0">
                <a:latin typeface="Bookman Old Style" panose="02050604050505020204" pitchFamily="18" charset="0"/>
              </a:rPr>
              <a:t>in the organization. It may be that the two people in conflict are using different information or that one or both have misinformation.</a:t>
            </a:r>
          </a:p>
        </p:txBody>
      </p:sp>
    </p:spTree>
    <p:extLst>
      <p:ext uri="{BB962C8B-B14F-4D97-AF65-F5344CB8AC3E}">
        <p14:creationId xmlns:p14="http://schemas.microsoft.com/office/powerpoint/2010/main" val="16786756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2DB1DA-645E-8970-E314-EA3AD5315FE9}"/>
              </a:ext>
            </a:extLst>
          </p:cNvPr>
          <p:cNvSpPr>
            <a:spLocks noGrp="1"/>
          </p:cNvSpPr>
          <p:nvPr>
            <p:ph idx="1"/>
          </p:nvPr>
        </p:nvSpPr>
        <p:spPr>
          <a:xfrm>
            <a:off x="838200" y="893618"/>
            <a:ext cx="10515600" cy="5283345"/>
          </a:xfrm>
        </p:spPr>
        <p:txBody>
          <a:bodyPr>
            <a:normAutofit/>
          </a:bodyPr>
          <a:lstStyle/>
          <a:p>
            <a:pPr marL="0" indent="0" algn="just">
              <a:lnSpc>
                <a:spcPct val="150000"/>
              </a:lnSpc>
              <a:buNone/>
            </a:pPr>
            <a:r>
              <a:rPr lang="en-US" sz="2200" dirty="0">
                <a:latin typeface="Bookman Old Style" panose="02050604050505020204" pitchFamily="18" charset="0"/>
              </a:rPr>
              <a:t>3.</a:t>
            </a:r>
            <a:r>
              <a:rPr lang="en-US" sz="2200" b="0" i="1" u="none" strike="noStrike" baseline="0" dirty="0">
                <a:latin typeface="Bookman Old Style" panose="02050604050505020204" pitchFamily="18" charset="0"/>
              </a:rPr>
              <a:t> </a:t>
            </a:r>
            <a:r>
              <a:rPr lang="en-US" sz="2200" b="1" i="1" u="none" strike="noStrike" baseline="0" dirty="0">
                <a:latin typeface="Bookman Old Style" panose="02050604050505020204" pitchFamily="18" charset="0"/>
              </a:rPr>
              <a:t>Role incompatibility</a:t>
            </a:r>
            <a:r>
              <a:rPr lang="en-US" sz="2200" b="0" i="1" u="none" strike="noStrike" baseline="0" dirty="0">
                <a:latin typeface="Bookman Old Style" panose="02050604050505020204" pitchFamily="18" charset="0"/>
              </a:rPr>
              <a:t>: </a:t>
            </a:r>
            <a:r>
              <a:rPr lang="en-US" sz="2200" b="0" i="0" u="none" strike="noStrike" baseline="0" dirty="0">
                <a:latin typeface="Bookman Old Style" panose="02050604050505020204" pitchFamily="18" charset="0"/>
              </a:rPr>
              <a:t>draws from both intraindividual role conflict and intergroup conflict. </a:t>
            </a:r>
            <a:r>
              <a:rPr lang="en-US" sz="2200" dirty="0">
                <a:latin typeface="Bookman Old Style" panose="02050604050505020204" pitchFamily="18" charset="0"/>
              </a:rPr>
              <a:t>For </a:t>
            </a:r>
            <a:r>
              <a:rPr lang="en-US" sz="2200" dirty="0" err="1">
                <a:latin typeface="Bookman Old Style" panose="02050604050505020204" pitchFamily="18" charset="0"/>
              </a:rPr>
              <a:t>eg</a:t>
            </a:r>
            <a:r>
              <a:rPr lang="en-US" sz="2200" dirty="0">
                <a:latin typeface="Bookman Old Style" panose="02050604050505020204" pitchFamily="18" charset="0"/>
              </a:rPr>
              <a:t>: </a:t>
            </a:r>
            <a:r>
              <a:rPr lang="en-IN" sz="2200" b="0" i="0" u="none" strike="noStrike" baseline="0" dirty="0">
                <a:latin typeface="Bookman Old Style" panose="02050604050505020204" pitchFamily="18" charset="0"/>
              </a:rPr>
              <a:t>managers have functions a</a:t>
            </a:r>
            <a:r>
              <a:rPr lang="en-US" sz="2200" b="0" i="0" u="none" strike="noStrike" baseline="0" dirty="0" err="1">
                <a:latin typeface="Bookman Old Style" panose="02050604050505020204" pitchFamily="18" charset="0"/>
              </a:rPr>
              <a:t>nd</a:t>
            </a:r>
            <a:r>
              <a:rPr lang="en-US" sz="2200" b="0" i="0" u="none" strike="noStrike" baseline="0" dirty="0">
                <a:latin typeface="Bookman Old Style" panose="02050604050505020204" pitchFamily="18" charset="0"/>
              </a:rPr>
              <a:t> tasks that are highly interdependent. However, the individual roles of these</a:t>
            </a:r>
            <a:r>
              <a:rPr lang="en-IN" sz="2200" b="0" i="0" u="none" strike="noStrike" baseline="0" dirty="0">
                <a:latin typeface="Bookman Old Style" panose="02050604050505020204" pitchFamily="18" charset="0"/>
              </a:rPr>
              <a:t>managers may be incompatible.</a:t>
            </a:r>
          </a:p>
          <a:p>
            <a:pPr marL="0" indent="0" algn="just">
              <a:lnSpc>
                <a:spcPct val="150000"/>
              </a:lnSpc>
              <a:buNone/>
            </a:pPr>
            <a:r>
              <a:rPr lang="en-IN" sz="2200" dirty="0">
                <a:latin typeface="Bookman Old Style" panose="02050604050505020204" pitchFamily="18" charset="0"/>
              </a:rPr>
              <a:t>4.</a:t>
            </a:r>
            <a:r>
              <a:rPr lang="en-IN" sz="2200" b="0" i="1" u="none" strike="noStrike" baseline="0" dirty="0">
                <a:latin typeface="Bookman Old Style" panose="02050604050505020204" pitchFamily="18" charset="0"/>
              </a:rPr>
              <a:t> </a:t>
            </a:r>
            <a:r>
              <a:rPr lang="en-IN" sz="2200" b="1" i="1" u="none" strike="noStrike" baseline="0" dirty="0">
                <a:latin typeface="Bookman Old Style" panose="02050604050505020204" pitchFamily="18" charset="0"/>
              </a:rPr>
              <a:t>Environmental stress</a:t>
            </a:r>
            <a:r>
              <a:rPr lang="en-IN" sz="2200" b="0" i="1" u="none" strike="noStrike" baseline="0" dirty="0">
                <a:latin typeface="Bookman Old Style" panose="02050604050505020204" pitchFamily="18" charset="0"/>
              </a:rPr>
              <a:t>: caused </a:t>
            </a:r>
            <a:r>
              <a:rPr lang="en-IN" sz="2200" b="0" i="0" u="none" strike="noStrike" baseline="0" dirty="0">
                <a:latin typeface="Bookman Old Style" panose="02050604050505020204" pitchFamily="18" charset="0"/>
              </a:rPr>
              <a:t>by a stressful environment. </a:t>
            </a:r>
            <a:r>
              <a:rPr lang="en-US" sz="2200" b="0" i="0" u="none" strike="noStrike" baseline="0" dirty="0">
                <a:latin typeface="Bookman Old Style" panose="02050604050505020204" pitchFamily="18" charset="0"/>
              </a:rPr>
              <a:t>In environments characterized by scarce or shrinking resources, downsizing, competitive pressures, or high degrees of uncertainty, conflicts will arise.</a:t>
            </a:r>
          </a:p>
          <a:p>
            <a:pPr marL="0" indent="0" algn="just">
              <a:lnSpc>
                <a:spcPct val="150000"/>
              </a:lnSpc>
              <a:buNone/>
            </a:pPr>
            <a:r>
              <a:rPr lang="en-US" sz="2200" dirty="0">
                <a:latin typeface="Bookman Old Style" panose="02050604050505020204" pitchFamily="18" charset="0"/>
              </a:rPr>
              <a:t>Along with these sources, </a:t>
            </a:r>
            <a:r>
              <a:rPr lang="en-US" sz="2200" b="0" i="0" u="none" strike="noStrike" baseline="0" dirty="0">
                <a:latin typeface="Bookman Old Style" panose="02050604050505020204" pitchFamily="18" charset="0"/>
              </a:rPr>
              <a:t>it is useful to analyze the dynamics of individuals interacting with one another.</a:t>
            </a:r>
            <a:endParaRPr lang="en-US" sz="2200" dirty="0">
              <a:latin typeface="Bookman Old Style" panose="02050604050505020204" pitchFamily="18" charset="0"/>
            </a:endParaRPr>
          </a:p>
          <a:p>
            <a:pPr marL="0" indent="0" algn="l">
              <a:lnSpc>
                <a:spcPct val="150000"/>
              </a:lnSpc>
              <a:buNone/>
            </a:pPr>
            <a:endParaRPr lang="en-US" sz="2200" b="0" i="0" u="none" strike="noStrike" baseline="0" dirty="0">
              <a:latin typeface="Bookman Old Style" panose="02050604050505020204" pitchFamily="18" charset="0"/>
            </a:endParaRPr>
          </a:p>
          <a:p>
            <a:pPr marL="0" indent="0">
              <a:buNone/>
            </a:pPr>
            <a:endParaRPr lang="en-IN" dirty="0"/>
          </a:p>
        </p:txBody>
      </p:sp>
    </p:spTree>
    <p:extLst>
      <p:ext uri="{BB962C8B-B14F-4D97-AF65-F5344CB8AC3E}">
        <p14:creationId xmlns:p14="http://schemas.microsoft.com/office/powerpoint/2010/main" val="1834501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40E66-F590-7F85-E2F9-2BF4429B3563}"/>
              </a:ext>
            </a:extLst>
          </p:cNvPr>
          <p:cNvSpPr>
            <a:spLocks noGrp="1"/>
          </p:cNvSpPr>
          <p:nvPr>
            <p:ph type="title"/>
          </p:nvPr>
        </p:nvSpPr>
        <p:spPr/>
        <p:txBody>
          <a:bodyPr>
            <a:normAutofit/>
          </a:bodyPr>
          <a:lstStyle/>
          <a:p>
            <a:r>
              <a:rPr lang="en-IN" sz="2800" b="1" i="0" u="none" strike="noStrike" baseline="0" dirty="0">
                <a:solidFill>
                  <a:srgbClr val="FF0000"/>
                </a:solidFill>
                <a:latin typeface="Bookman Old Style" panose="02050604050505020204" pitchFamily="18" charset="0"/>
              </a:rPr>
              <a:t>Intergroup </a:t>
            </a:r>
            <a:r>
              <a:rPr lang="en-IN" sz="2800" b="1" i="0" u="none" strike="noStrike" baseline="0" dirty="0" err="1">
                <a:solidFill>
                  <a:srgbClr val="FF0000"/>
                </a:solidFill>
                <a:latin typeface="Bookman Old Style" panose="02050604050505020204" pitchFamily="18" charset="0"/>
              </a:rPr>
              <a:t>Behavior</a:t>
            </a:r>
            <a:r>
              <a:rPr lang="en-IN" sz="2800" b="1" i="0" u="none" strike="noStrike" baseline="0" dirty="0">
                <a:solidFill>
                  <a:srgbClr val="FF0000"/>
                </a:solidFill>
                <a:latin typeface="Bookman Old Style" panose="02050604050505020204" pitchFamily="18" charset="0"/>
              </a:rPr>
              <a:t> and Conflict</a:t>
            </a:r>
            <a:endParaRPr lang="en-IN" sz="2800"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017A934A-216A-5A3B-A6B0-640C9EBB537D}"/>
              </a:ext>
            </a:extLst>
          </p:cNvPr>
          <p:cNvSpPr>
            <a:spLocks noGrp="1"/>
          </p:cNvSpPr>
          <p:nvPr>
            <p:ph idx="1"/>
          </p:nvPr>
        </p:nvSpPr>
        <p:spPr>
          <a:xfrm>
            <a:off x="619991" y="1430771"/>
            <a:ext cx="10515600" cy="4351338"/>
          </a:xfrm>
        </p:spPr>
        <p:txBody>
          <a:bodyPr>
            <a:normAutofit lnSpcReduction="10000"/>
          </a:bodyPr>
          <a:lstStyle/>
          <a:p>
            <a:pPr marL="0" indent="0" algn="just">
              <a:buNone/>
            </a:pPr>
            <a:r>
              <a:rPr lang="en-US" sz="1800" b="0" i="0" u="none" strike="noStrike" baseline="0" dirty="0">
                <a:latin typeface="Times New Roman" panose="02020603050405020304" pitchFamily="18" charset="0"/>
                <a:sym typeface="Wingdings" panose="05000000000000000000" pitchFamily="2" charset="2"/>
              </a:rPr>
              <a:t></a:t>
            </a:r>
            <a:r>
              <a:rPr lang="en-US" sz="2000" b="0" i="0" u="none" strike="noStrike" baseline="0" dirty="0">
                <a:latin typeface="Bookman Old Style" panose="02050604050505020204" pitchFamily="18" charset="0"/>
              </a:rPr>
              <a:t>Intergroup behavior occurs whenever individuals belonging to one group interact, collectively or individually, with another group or its members in terms of their reference group identification.</a:t>
            </a:r>
          </a:p>
          <a:p>
            <a:pPr marL="0" indent="0" algn="just">
              <a:buNone/>
            </a:pPr>
            <a:r>
              <a:rPr lang="en-US" sz="2000" b="0" i="0" u="none" strike="noStrike" baseline="0" dirty="0">
                <a:latin typeface="Bookman Old Style" panose="02050604050505020204" pitchFamily="18" charset="0"/>
              </a:rPr>
              <a:t>Several antecedent conditions  identified for explaining intergroup conflict are:</a:t>
            </a:r>
          </a:p>
          <a:p>
            <a:pPr marL="0" indent="0" algn="just">
              <a:buNone/>
            </a:pPr>
            <a:r>
              <a:rPr lang="en-IN" sz="2000" b="1" i="1" u="none" strike="noStrike" baseline="0" dirty="0">
                <a:latin typeface="Bookman Old Style" panose="02050604050505020204" pitchFamily="18" charset="0"/>
              </a:rPr>
              <a:t>1.Competition for resources.</a:t>
            </a:r>
            <a:endParaRPr lang="en-US" sz="2000" b="1" dirty="0">
              <a:latin typeface="Bookman Old Style" panose="02050604050505020204" pitchFamily="18" charset="0"/>
            </a:endParaRPr>
          </a:p>
          <a:p>
            <a:pPr marL="0" indent="0" algn="just">
              <a:buNone/>
            </a:pPr>
            <a:r>
              <a:rPr lang="en-IN" sz="2000" b="1" i="1" u="none" strike="noStrike" baseline="0" dirty="0">
                <a:latin typeface="Bookman Old Style" panose="02050604050505020204" pitchFamily="18" charset="0"/>
              </a:rPr>
              <a:t>2.Task interdependence</a:t>
            </a:r>
            <a:endParaRPr lang="en-US" sz="2000" b="1" i="1" u="none" strike="noStrike" baseline="0" dirty="0">
              <a:latin typeface="Bookman Old Style" panose="02050604050505020204" pitchFamily="18" charset="0"/>
            </a:endParaRPr>
          </a:p>
          <a:p>
            <a:pPr marL="0" indent="0" algn="just">
              <a:buNone/>
            </a:pPr>
            <a:r>
              <a:rPr lang="en-IN" sz="2000" b="1" i="1" u="none" strike="noStrike" baseline="0" dirty="0">
                <a:latin typeface="Bookman Old Style" panose="02050604050505020204" pitchFamily="18" charset="0"/>
              </a:rPr>
              <a:t>3.Jurisdictional ambiguity</a:t>
            </a:r>
            <a:endParaRPr lang="en-US" sz="2000" b="1" i="1" dirty="0">
              <a:latin typeface="Bookman Old Style" panose="02050604050505020204" pitchFamily="18" charset="0"/>
            </a:endParaRPr>
          </a:p>
          <a:p>
            <a:pPr marL="0" indent="0" algn="just">
              <a:buNone/>
            </a:pPr>
            <a:r>
              <a:rPr lang="en-IN" sz="2000" b="1" i="1" u="none" strike="noStrike" baseline="0" dirty="0">
                <a:latin typeface="Bookman Old Style" panose="02050604050505020204" pitchFamily="18" charset="0"/>
              </a:rPr>
              <a:t>4.Status struggles</a:t>
            </a:r>
            <a:endParaRPr lang="en-US" sz="2000" b="1" i="1" u="none" strike="noStrike" baseline="0" dirty="0">
              <a:latin typeface="Bookman Old Style" panose="02050604050505020204" pitchFamily="18" charset="0"/>
            </a:endParaRPr>
          </a:p>
          <a:p>
            <a:pPr marL="0" indent="0" algn="just">
              <a:buNone/>
            </a:pPr>
            <a:endParaRPr lang="en-US" sz="2000" i="1" dirty="0">
              <a:latin typeface="Bookman Old Style" panose="02050604050505020204" pitchFamily="18" charset="0"/>
            </a:endParaRPr>
          </a:p>
          <a:p>
            <a:pPr marL="0" indent="0" algn="just">
              <a:buNone/>
            </a:pPr>
            <a:r>
              <a:rPr lang="en-US" sz="2000" i="1" dirty="0">
                <a:latin typeface="Bookman Old Style" panose="02050604050505020204" pitchFamily="18" charset="0"/>
                <a:sym typeface="Wingdings" panose="05000000000000000000" pitchFamily="2" charset="2"/>
              </a:rPr>
              <a:t></a:t>
            </a:r>
            <a:r>
              <a:rPr lang="en-IN" sz="2000" b="0" i="0" u="none" strike="noStrike" baseline="0" dirty="0">
                <a:latin typeface="Bookman Old Style" panose="02050604050505020204" pitchFamily="18" charset="0"/>
              </a:rPr>
              <a:t>low </a:t>
            </a:r>
            <a:r>
              <a:rPr lang="en-US" sz="2000" b="0" i="0" u="none" strike="noStrike" baseline="0" dirty="0">
                <a:latin typeface="Bookman Old Style" panose="02050604050505020204" pitchFamily="18" charset="0"/>
              </a:rPr>
              <a:t>intragroup cohesiveness and negative relationships across groups were significantly related to higher perceptions of intergroup conflict. </a:t>
            </a:r>
          </a:p>
          <a:p>
            <a:pPr marL="0" indent="0" algn="just">
              <a:buNone/>
            </a:pPr>
            <a:r>
              <a:rPr lang="en-US" sz="2000" dirty="0">
                <a:latin typeface="Bookman Old Style" panose="02050604050505020204" pitchFamily="18" charset="0"/>
                <a:sym typeface="Wingdings" panose="05000000000000000000" pitchFamily="2" charset="2"/>
              </a:rPr>
              <a:t> </a:t>
            </a:r>
            <a:r>
              <a:rPr lang="en-US" sz="2000" b="0" i="0" u="none" strike="noStrike" baseline="0" dirty="0">
                <a:latin typeface="Bookman Old Style" panose="02050604050505020204" pitchFamily="18" charset="0"/>
              </a:rPr>
              <a:t>make a cost-benefit analysis of the conflict situation at any level and then set up dispute resolution systems.</a:t>
            </a:r>
          </a:p>
        </p:txBody>
      </p:sp>
    </p:spTree>
    <p:extLst>
      <p:ext uri="{BB962C8B-B14F-4D97-AF65-F5344CB8AC3E}">
        <p14:creationId xmlns:p14="http://schemas.microsoft.com/office/powerpoint/2010/main" val="38873657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0975D-7D15-83C4-C631-814F1B9DD5EE}"/>
              </a:ext>
            </a:extLst>
          </p:cNvPr>
          <p:cNvSpPr>
            <a:spLocks noGrp="1"/>
          </p:cNvSpPr>
          <p:nvPr>
            <p:ph type="title"/>
          </p:nvPr>
        </p:nvSpPr>
        <p:spPr>
          <a:xfrm>
            <a:off x="412172" y="18255"/>
            <a:ext cx="13075227" cy="1325563"/>
          </a:xfrm>
        </p:spPr>
        <p:txBody>
          <a:bodyPr>
            <a:normAutofit/>
          </a:bodyPr>
          <a:lstStyle/>
          <a:p>
            <a:r>
              <a:rPr lang="en-IN" sz="3200" b="1" dirty="0">
                <a:solidFill>
                  <a:srgbClr val="FF0000"/>
                </a:solidFill>
                <a:latin typeface="Bookman Old Style" panose="02050604050505020204" pitchFamily="18" charset="0"/>
              </a:rPr>
              <a:t>The Effects of Stress and </a:t>
            </a:r>
            <a:r>
              <a:rPr lang="en-IN" sz="3200" b="1" dirty="0" err="1">
                <a:solidFill>
                  <a:srgbClr val="FF0000"/>
                </a:solidFill>
                <a:latin typeface="Bookman Old Style" panose="02050604050505020204" pitchFamily="18" charset="0"/>
              </a:rPr>
              <a:t>IntraIndividual</a:t>
            </a:r>
            <a:r>
              <a:rPr lang="en-IN" sz="3200" b="1" dirty="0">
                <a:solidFill>
                  <a:srgbClr val="FF0000"/>
                </a:solidFill>
                <a:latin typeface="Bookman Old Style" panose="02050604050505020204" pitchFamily="18" charset="0"/>
              </a:rPr>
              <a:t> Conflict</a:t>
            </a:r>
          </a:p>
        </p:txBody>
      </p:sp>
      <p:sp>
        <p:nvSpPr>
          <p:cNvPr id="3" name="Content Placeholder 2">
            <a:extLst>
              <a:ext uri="{FF2B5EF4-FFF2-40B4-BE49-F238E27FC236}">
                <a16:creationId xmlns:a16="http://schemas.microsoft.com/office/drawing/2014/main" id="{7E74BCEE-24B9-3006-3707-580E97740F14}"/>
              </a:ext>
            </a:extLst>
          </p:cNvPr>
          <p:cNvSpPr>
            <a:spLocks noGrp="1"/>
          </p:cNvSpPr>
          <p:nvPr>
            <p:ph idx="1"/>
          </p:nvPr>
        </p:nvSpPr>
        <p:spPr>
          <a:xfrm>
            <a:off x="329045" y="1012427"/>
            <a:ext cx="10941627" cy="4833145"/>
          </a:xfrm>
        </p:spPr>
        <p:txBody>
          <a:bodyPr>
            <a:normAutofit fontScale="25000" lnSpcReduction="20000"/>
          </a:bodyPr>
          <a:lstStyle/>
          <a:p>
            <a:pPr marL="0" indent="0" algn="just">
              <a:lnSpc>
                <a:spcPct val="150000"/>
              </a:lnSpc>
              <a:buNone/>
            </a:pPr>
            <a:r>
              <a:rPr lang="en-IN" dirty="0">
                <a:sym typeface="Wingdings" panose="05000000000000000000" pitchFamily="2" charset="2"/>
              </a:rPr>
              <a:t></a:t>
            </a:r>
            <a:r>
              <a:rPr lang="en-US" sz="7200" b="0" i="0" u="none" strike="noStrike" baseline="0" dirty="0">
                <a:latin typeface="Bookman Old Style" panose="02050604050505020204" pitchFamily="18" charset="0"/>
              </a:rPr>
              <a:t>The performance of many tasks is in fact strongly affected by stress.</a:t>
            </a:r>
          </a:p>
          <a:p>
            <a:pPr algn="just">
              <a:lnSpc>
                <a:spcPct val="150000"/>
              </a:lnSpc>
              <a:buFont typeface="Wingdings" panose="05000000000000000000" pitchFamily="2" charset="2"/>
              <a:buChar char="à"/>
            </a:pPr>
            <a:r>
              <a:rPr lang="en-US" sz="7200" b="0" i="0" u="none" strike="noStrike" baseline="0" dirty="0">
                <a:latin typeface="Bookman Old Style" panose="02050604050505020204" pitchFamily="18" charset="0"/>
              </a:rPr>
              <a:t>Performance usually drops off sharply when stress rises to very high levels</a:t>
            </a:r>
          </a:p>
          <a:p>
            <a:pPr marL="0" indent="0" algn="just">
              <a:lnSpc>
                <a:spcPct val="150000"/>
              </a:lnSpc>
              <a:buNone/>
            </a:pPr>
            <a:r>
              <a:rPr lang="en-US" sz="7200" b="1" i="0" u="none" strike="noStrike" baseline="0" dirty="0">
                <a:latin typeface="Bookman Old Style" panose="02050604050505020204" pitchFamily="18" charset="0"/>
              </a:rPr>
              <a:t>Physical Problems Due to Stress and Conflict</a:t>
            </a:r>
            <a:endParaRPr lang="en-IN" sz="7200" b="1" i="0" u="none" strike="noStrike" baseline="0" dirty="0">
              <a:latin typeface="Bookman Old Style" panose="02050604050505020204" pitchFamily="18" charset="0"/>
            </a:endParaRPr>
          </a:p>
          <a:p>
            <a:pPr algn="just">
              <a:lnSpc>
                <a:spcPct val="150000"/>
              </a:lnSpc>
              <a:buFont typeface="Wingdings" panose="05000000000000000000" pitchFamily="2" charset="2"/>
              <a:buChar char="à"/>
            </a:pPr>
            <a:r>
              <a:rPr lang="en-IN" sz="7200" b="1" dirty="0">
                <a:latin typeface="Bookman Old Style" panose="02050604050505020204" pitchFamily="18" charset="0"/>
                <a:sym typeface="Wingdings" panose="05000000000000000000" pitchFamily="2" charset="2"/>
              </a:rPr>
              <a:t>Includes 1) </a:t>
            </a:r>
            <a:r>
              <a:rPr lang="en-US" sz="7200" b="0" i="0" u="none" strike="noStrike" baseline="0" dirty="0">
                <a:latin typeface="Bookman Old Style" panose="02050604050505020204" pitchFamily="18" charset="0"/>
              </a:rPr>
              <a:t>immune system problems, where there is a lessened ability to fight off illness and infection; </a:t>
            </a:r>
          </a:p>
          <a:p>
            <a:pPr marL="0" indent="0" algn="just">
              <a:lnSpc>
                <a:spcPct val="150000"/>
              </a:lnSpc>
              <a:buNone/>
            </a:pPr>
            <a:r>
              <a:rPr lang="en-US" sz="7200" dirty="0">
                <a:latin typeface="Bookman Old Style" panose="02050604050505020204" pitchFamily="18" charset="0"/>
              </a:rPr>
              <a:t>  </a:t>
            </a:r>
            <a:r>
              <a:rPr lang="en-US" sz="7200" b="0" i="0" u="none" strike="noStrike" baseline="0" dirty="0">
                <a:latin typeface="Bookman Old Style" panose="02050604050505020204" pitchFamily="18" charset="0"/>
              </a:rPr>
              <a:t>(2) cardiovascular system problems, such as high blood pressure and heart disease; (3) musculoskeletal system problems, such as tension headaches and back pain; and (4) gastrointestinal system problems, such as diarrhea and </a:t>
            </a:r>
            <a:r>
              <a:rPr lang="en-IN" sz="7200" dirty="0">
                <a:latin typeface="Bookman Old Style" panose="02050604050505020204" pitchFamily="18" charset="0"/>
              </a:rPr>
              <a:t>co</a:t>
            </a:r>
            <a:r>
              <a:rPr lang="en-IN" sz="7200" b="0" i="0" u="none" strike="noStrike" baseline="0" dirty="0">
                <a:latin typeface="Bookman Old Style" panose="02050604050505020204" pitchFamily="18" charset="0"/>
              </a:rPr>
              <a:t>nstipation.</a:t>
            </a:r>
          </a:p>
          <a:p>
            <a:pPr marL="0" indent="0" algn="just">
              <a:lnSpc>
                <a:spcPct val="150000"/>
              </a:lnSpc>
              <a:buNone/>
            </a:pPr>
            <a:r>
              <a:rPr lang="en-US" sz="7200" b="1" i="0" u="none" strike="noStrike" baseline="0" dirty="0">
                <a:latin typeface="Bookman Old Style" panose="02050604050505020204" pitchFamily="18" charset="0"/>
              </a:rPr>
              <a:t>Psychological Problems Due to Stress and Conflict</a:t>
            </a:r>
            <a:endParaRPr lang="en-IN" sz="7200" dirty="0">
              <a:latin typeface="Bookman Old Style" panose="02050604050505020204" pitchFamily="18" charset="0"/>
            </a:endParaRPr>
          </a:p>
          <a:p>
            <a:pPr marL="0" indent="0" algn="just">
              <a:lnSpc>
                <a:spcPct val="150000"/>
              </a:lnSpc>
              <a:buNone/>
            </a:pPr>
            <a:r>
              <a:rPr lang="en-US" sz="7200" b="0" i="0" u="none" strike="noStrike" baseline="0" dirty="0">
                <a:latin typeface="Bookman Old Style" panose="02050604050505020204" pitchFamily="18" charset="0"/>
                <a:sym typeface="Wingdings" panose="05000000000000000000" pitchFamily="2" charset="2"/>
              </a:rPr>
              <a:t></a:t>
            </a:r>
            <a:r>
              <a:rPr lang="en-US" sz="7200" b="0" i="0" u="none" strike="noStrike" baseline="0" dirty="0">
                <a:latin typeface="Bookman Old Style" panose="02050604050505020204" pitchFamily="18" charset="0"/>
              </a:rPr>
              <a:t>High levels of stress may be accompanied by anger, anxiety, depression, nervousness, </a:t>
            </a:r>
            <a:r>
              <a:rPr lang="en-IN" sz="7200" b="0" i="0" u="none" strike="noStrike" baseline="0" dirty="0">
                <a:latin typeface="Bookman Old Style" panose="02050604050505020204" pitchFamily="18" charset="0"/>
              </a:rPr>
              <a:t>irritability, tension, and boredom.</a:t>
            </a:r>
          </a:p>
          <a:p>
            <a:pPr marL="0" indent="0" algn="just">
              <a:lnSpc>
                <a:spcPct val="150000"/>
              </a:lnSpc>
              <a:buNone/>
            </a:pPr>
            <a:r>
              <a:rPr lang="en-IN" sz="7200" dirty="0">
                <a:latin typeface="Bookman Old Style" panose="02050604050505020204" pitchFamily="18" charset="0"/>
                <a:sym typeface="Wingdings" panose="05000000000000000000" pitchFamily="2" charset="2"/>
              </a:rPr>
              <a:t></a:t>
            </a:r>
            <a:r>
              <a:rPr lang="en-US" sz="7200" b="0" i="0" u="none" strike="noStrike" baseline="0" dirty="0">
                <a:latin typeface="Bookman Old Style" panose="02050604050505020204" pitchFamily="18" charset="0"/>
              </a:rPr>
              <a:t>These types of psychological problems from stress results in poor</a:t>
            </a:r>
            <a:r>
              <a:rPr lang="en-US" sz="7200" dirty="0">
                <a:latin typeface="Bookman Old Style" panose="02050604050505020204" pitchFamily="18" charset="0"/>
              </a:rPr>
              <a:t> </a:t>
            </a:r>
            <a:r>
              <a:rPr lang="en-US" sz="7200" b="0" i="0" u="none" strike="noStrike" baseline="0" dirty="0">
                <a:latin typeface="Bookman Old Style" panose="02050604050505020204" pitchFamily="18" charset="0"/>
              </a:rPr>
              <a:t>job performance, lowered self-esteem, inability to concentrate and make decisions, and job dissatisfaction.</a:t>
            </a:r>
            <a:endParaRPr lang="en-US" sz="7200" dirty="0">
              <a:latin typeface="Bookman Old Style" panose="02050604050505020204" pitchFamily="18" charset="0"/>
            </a:endParaRPr>
          </a:p>
        </p:txBody>
      </p:sp>
    </p:spTree>
    <p:extLst>
      <p:ext uri="{BB962C8B-B14F-4D97-AF65-F5344CB8AC3E}">
        <p14:creationId xmlns:p14="http://schemas.microsoft.com/office/powerpoint/2010/main" val="37328955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73C433-2E39-206E-E026-906E9DC9A24F}"/>
              </a:ext>
            </a:extLst>
          </p:cNvPr>
          <p:cNvSpPr>
            <a:spLocks noGrp="1"/>
          </p:cNvSpPr>
          <p:nvPr>
            <p:ph idx="1"/>
          </p:nvPr>
        </p:nvSpPr>
        <p:spPr>
          <a:xfrm>
            <a:off x="838200" y="519545"/>
            <a:ext cx="10515600" cy="5657418"/>
          </a:xfrm>
        </p:spPr>
        <p:txBody>
          <a:bodyPr>
            <a:normAutofit/>
          </a:bodyPr>
          <a:lstStyle/>
          <a:p>
            <a:pPr marL="0" indent="0">
              <a:lnSpc>
                <a:spcPct val="150000"/>
              </a:lnSpc>
              <a:buNone/>
            </a:pPr>
            <a:r>
              <a:rPr lang="en-US" sz="2600" b="1" i="0" u="none" strike="noStrike" baseline="0" dirty="0">
                <a:solidFill>
                  <a:srgbClr val="FF0000"/>
                </a:solidFill>
                <a:latin typeface="Bookman Old Style" panose="02050604050505020204" pitchFamily="18" charset="0"/>
              </a:rPr>
              <a:t>Behavioral Problems Due to Stress and Conflict</a:t>
            </a:r>
          </a:p>
          <a:p>
            <a:pPr marL="0" indent="0" algn="just">
              <a:lnSpc>
                <a:spcPct val="150000"/>
              </a:lnSpc>
              <a:buNone/>
            </a:pPr>
            <a:r>
              <a:rPr lang="en-US" sz="2000" b="1" dirty="0">
                <a:latin typeface="Bookman Old Style" panose="02050604050505020204" pitchFamily="18" charset="0"/>
                <a:sym typeface="Wingdings" panose="05000000000000000000" pitchFamily="2" charset="2"/>
              </a:rPr>
              <a:t></a:t>
            </a:r>
            <a:r>
              <a:rPr lang="en-IN" sz="2000" b="0" i="0" u="none" strike="noStrike" baseline="0" dirty="0">
                <a:latin typeface="Bookman Old Style" panose="02050604050505020204" pitchFamily="18" charset="0"/>
              </a:rPr>
              <a:t>Direct </a:t>
            </a:r>
            <a:r>
              <a:rPr lang="en-US" sz="2000" b="0" i="0" u="none" strike="noStrike" baseline="0" dirty="0">
                <a:latin typeface="Bookman Old Style" panose="02050604050505020204" pitchFamily="18" charset="0"/>
              </a:rPr>
              <a:t>behaviors due to high levels of stress include undereating or overeating, sleeplessness, increased smoking and drinking, and drug abuse.</a:t>
            </a:r>
          </a:p>
          <a:p>
            <a:pPr algn="just">
              <a:lnSpc>
                <a:spcPct val="150000"/>
              </a:lnSpc>
              <a:buFont typeface="Wingdings" panose="05000000000000000000" pitchFamily="2" charset="2"/>
              <a:buChar char="à"/>
            </a:pPr>
            <a:r>
              <a:rPr lang="en-US" sz="2000" dirty="0">
                <a:latin typeface="Bookman Old Style" panose="02050604050505020204" pitchFamily="18" charset="0"/>
                <a:sym typeface="Wingdings" panose="05000000000000000000" pitchFamily="2" charset="2"/>
              </a:rPr>
              <a:t>There is</a:t>
            </a:r>
            <a:r>
              <a:rPr lang="en-US" sz="2000" b="0" i="0" u="none" strike="noStrike" baseline="0" dirty="0">
                <a:latin typeface="Bookman Old Style" panose="02050604050505020204" pitchFamily="18" charset="0"/>
              </a:rPr>
              <a:t> relationship between stress and  absenteeism and turnover. For example, workers may experience stress and react by getting drunk and staying home from work the next day with a hangover; results in absenteeism or quitting the job later on.</a:t>
            </a:r>
          </a:p>
          <a:p>
            <a:pPr marL="0" indent="0" algn="just">
              <a:lnSpc>
                <a:spcPct val="150000"/>
              </a:lnSpc>
              <a:buNone/>
            </a:pPr>
            <a:r>
              <a:rPr lang="en-IN" sz="2000" b="0" i="0" u="none" strike="noStrike" baseline="0" dirty="0">
                <a:latin typeface="Bookman Old Style" panose="02050604050505020204" pitchFamily="18" charset="0"/>
                <a:sym typeface="Wingdings" panose="05000000000000000000" pitchFamily="2" charset="2"/>
              </a:rPr>
              <a:t></a:t>
            </a:r>
            <a:r>
              <a:rPr lang="en-IN" sz="2000" b="0" i="0" u="none" strike="noStrike" baseline="0" dirty="0">
                <a:latin typeface="Bookman Old Style" panose="02050604050505020204" pitchFamily="18" charset="0"/>
              </a:rPr>
              <a:t>the </a:t>
            </a:r>
            <a:r>
              <a:rPr lang="en-IN" sz="2000" b="0" i="0" u="none" strike="noStrike" baseline="0" dirty="0" err="1">
                <a:latin typeface="Bookman Old Style" panose="02050604050505020204" pitchFamily="18" charset="0"/>
              </a:rPr>
              <a:t>behavioral</a:t>
            </a:r>
            <a:r>
              <a:rPr lang="en-IN" sz="2000" b="0" i="0" u="none" strike="noStrike" baseline="0" dirty="0">
                <a:latin typeface="Bookman Old Style" panose="02050604050505020204" pitchFamily="18" charset="0"/>
              </a:rPr>
              <a:t> problems </a:t>
            </a:r>
            <a:r>
              <a:rPr lang="en-US" sz="2000" b="0" i="0" u="none" strike="noStrike" baseline="0" dirty="0">
                <a:latin typeface="Bookman Old Style" panose="02050604050505020204" pitchFamily="18" charset="0"/>
              </a:rPr>
              <a:t>are often not attributed to stress by coworkers or supervisors.</a:t>
            </a:r>
          </a:p>
        </p:txBody>
      </p:sp>
    </p:spTree>
    <p:extLst>
      <p:ext uri="{BB962C8B-B14F-4D97-AF65-F5344CB8AC3E}">
        <p14:creationId xmlns:p14="http://schemas.microsoft.com/office/powerpoint/2010/main" val="16039216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CC281-212A-2B46-1D5F-5179C878453F}"/>
              </a:ext>
            </a:extLst>
          </p:cNvPr>
          <p:cNvSpPr>
            <a:spLocks noGrp="1"/>
          </p:cNvSpPr>
          <p:nvPr>
            <p:ph type="title"/>
          </p:nvPr>
        </p:nvSpPr>
        <p:spPr>
          <a:xfrm>
            <a:off x="514350" y="0"/>
            <a:ext cx="11163300" cy="1325563"/>
          </a:xfrm>
        </p:spPr>
        <p:txBody>
          <a:bodyPr>
            <a:normAutofit/>
          </a:bodyPr>
          <a:lstStyle/>
          <a:p>
            <a:r>
              <a:rPr lang="en-IN" sz="4000" b="1" dirty="0">
                <a:solidFill>
                  <a:srgbClr val="FF0000"/>
                </a:solidFill>
                <a:latin typeface="Bookman Old Style" panose="02050604050505020204" pitchFamily="18" charset="0"/>
              </a:rPr>
              <a:t>Coping strategies for Stress and Conflict</a:t>
            </a:r>
          </a:p>
        </p:txBody>
      </p:sp>
      <p:sp>
        <p:nvSpPr>
          <p:cNvPr id="3" name="Content Placeholder 2">
            <a:extLst>
              <a:ext uri="{FF2B5EF4-FFF2-40B4-BE49-F238E27FC236}">
                <a16:creationId xmlns:a16="http://schemas.microsoft.com/office/drawing/2014/main" id="{B5C2D224-2D54-4919-CDF4-8010311FDC2A}"/>
              </a:ext>
            </a:extLst>
          </p:cNvPr>
          <p:cNvSpPr>
            <a:spLocks noGrp="1"/>
          </p:cNvSpPr>
          <p:nvPr>
            <p:ph idx="1"/>
          </p:nvPr>
        </p:nvSpPr>
        <p:spPr>
          <a:xfrm>
            <a:off x="514349" y="1077479"/>
            <a:ext cx="11163299" cy="4351338"/>
          </a:xfrm>
        </p:spPr>
        <p:txBody>
          <a:bodyPr>
            <a:noAutofit/>
          </a:bodyPr>
          <a:lstStyle/>
          <a:p>
            <a:pPr marL="0" indent="0">
              <a:lnSpc>
                <a:spcPct val="150000"/>
              </a:lnSpc>
              <a:buNone/>
            </a:pPr>
            <a:r>
              <a:rPr lang="en-IN" sz="2400" b="1" i="0" u="none" strike="noStrike" baseline="0" dirty="0">
                <a:latin typeface="Bookman Old Style" panose="02050604050505020204" pitchFamily="18" charset="0"/>
              </a:rPr>
              <a:t>Individual Coping Strategies:</a:t>
            </a:r>
            <a:r>
              <a:rPr lang="en-US" sz="2400" b="0" i="0" u="none" strike="noStrike" baseline="0" dirty="0">
                <a:latin typeface="Bookman Old Style" panose="02050604050505020204" pitchFamily="18" charset="0"/>
              </a:rPr>
              <a:t>self-help remedies, do-it-yourself approaches, weight-loss clinics and diets, health </a:t>
            </a:r>
            <a:r>
              <a:rPr lang="en-IN" sz="2400" b="0" i="0" u="none" strike="noStrike" baseline="0" dirty="0">
                <a:latin typeface="Bookman Old Style" panose="02050604050505020204" pitchFamily="18" charset="0"/>
              </a:rPr>
              <a:t>foods, and physical exercise can help.</a:t>
            </a:r>
          </a:p>
          <a:p>
            <a:pPr marL="0" indent="0">
              <a:lnSpc>
                <a:spcPct val="150000"/>
              </a:lnSpc>
              <a:buNone/>
            </a:pPr>
            <a:r>
              <a:rPr lang="en-US" sz="2400" b="0" i="0" u="none" strike="noStrike" baseline="0" dirty="0">
                <a:latin typeface="Bookman Old Style" panose="02050604050505020204" pitchFamily="18" charset="0"/>
                <a:sym typeface="Wingdings" panose="05000000000000000000" pitchFamily="2" charset="2"/>
              </a:rPr>
              <a:t></a:t>
            </a:r>
            <a:r>
              <a:rPr lang="en-US" sz="2400" b="0" i="0" u="none" strike="noStrike" baseline="0" dirty="0">
                <a:latin typeface="Bookman Old Style" panose="02050604050505020204" pitchFamily="18" charset="0"/>
              </a:rPr>
              <a:t>techniques that individuals can use to eliminate or more effectively manage </a:t>
            </a:r>
            <a:r>
              <a:rPr lang="en-IN" sz="2400" b="0" i="0" u="none" strike="noStrike" baseline="0" dirty="0">
                <a:latin typeface="Bookman Old Style" panose="02050604050505020204" pitchFamily="18" charset="0"/>
              </a:rPr>
              <a:t>inevitable, prolonged stress are:</a:t>
            </a:r>
          </a:p>
          <a:p>
            <a:pPr marL="342900" indent="-342900" algn="l">
              <a:lnSpc>
                <a:spcPct val="100000"/>
              </a:lnSpc>
              <a:buAutoNum type="arabicPeriod"/>
            </a:pPr>
            <a:r>
              <a:rPr lang="en-IN" sz="2400" b="0" i="1" u="none" strike="noStrike" baseline="0" dirty="0">
                <a:latin typeface="Bookman Old Style" panose="02050604050505020204" pitchFamily="18" charset="0"/>
              </a:rPr>
              <a:t>Exercise.</a:t>
            </a:r>
            <a:r>
              <a:rPr lang="en-IN" sz="2400" dirty="0">
                <a:latin typeface="Bookman Old Style" panose="02050604050505020204" pitchFamily="18" charset="0"/>
              </a:rPr>
              <a:t>              </a:t>
            </a:r>
            <a:r>
              <a:rPr lang="en-IN" sz="2400" b="0" i="0" u="none" strike="noStrike" baseline="0" dirty="0">
                <a:latin typeface="Bookman Old Style" panose="02050604050505020204" pitchFamily="18" charset="0"/>
              </a:rPr>
              <a:t>2. </a:t>
            </a:r>
            <a:r>
              <a:rPr lang="en-IN" sz="2400" b="0" i="1" u="none" strike="noStrike" baseline="0" dirty="0">
                <a:latin typeface="Bookman Old Style" panose="02050604050505020204" pitchFamily="18" charset="0"/>
              </a:rPr>
              <a:t>Relaxation            </a:t>
            </a:r>
            <a:r>
              <a:rPr lang="en-IN" sz="2400" b="0" i="0" u="none" strike="noStrike" baseline="0" dirty="0">
                <a:latin typeface="Bookman Old Style" panose="02050604050505020204" pitchFamily="18" charset="0"/>
              </a:rPr>
              <a:t>3. </a:t>
            </a:r>
            <a:r>
              <a:rPr lang="en-IN" sz="2400" b="0" i="1" u="none" strike="noStrike" baseline="0" dirty="0" err="1">
                <a:latin typeface="Bookman Old Style" panose="02050604050505020204" pitchFamily="18" charset="0"/>
              </a:rPr>
              <a:t>Behavioral</a:t>
            </a:r>
            <a:r>
              <a:rPr lang="en-IN" sz="2400" b="0" i="1" u="none" strike="noStrike" baseline="0" dirty="0">
                <a:latin typeface="Bookman Old Style" panose="02050604050505020204" pitchFamily="18" charset="0"/>
              </a:rPr>
              <a:t> self-control.</a:t>
            </a:r>
          </a:p>
          <a:p>
            <a:pPr marL="0" indent="0" algn="l">
              <a:lnSpc>
                <a:spcPct val="100000"/>
              </a:lnSpc>
              <a:buNone/>
            </a:pPr>
            <a:r>
              <a:rPr lang="en-IN" sz="2400" b="0" i="0" u="none" strike="noStrike" baseline="0" dirty="0">
                <a:latin typeface="Bookman Old Style" panose="02050604050505020204" pitchFamily="18" charset="0"/>
              </a:rPr>
              <a:t>4. </a:t>
            </a:r>
            <a:r>
              <a:rPr lang="en-IN" sz="2400" b="0" i="1" u="none" strike="noStrike" baseline="0" dirty="0">
                <a:latin typeface="Bookman Old Style" panose="02050604050505020204" pitchFamily="18" charset="0"/>
              </a:rPr>
              <a:t>Cognitive therapy.               </a:t>
            </a:r>
            <a:r>
              <a:rPr lang="en-IN" sz="2400" b="0" i="0" u="none" strike="noStrike" baseline="0" dirty="0">
                <a:latin typeface="Bookman Old Style" panose="02050604050505020204" pitchFamily="18" charset="0"/>
              </a:rPr>
              <a:t>5. </a:t>
            </a:r>
            <a:r>
              <a:rPr lang="en-IN" sz="2400" b="0" i="1" u="none" strike="noStrike" baseline="0" dirty="0">
                <a:latin typeface="Bookman Old Style" panose="02050604050505020204" pitchFamily="18" charset="0"/>
              </a:rPr>
              <a:t>Networking.</a:t>
            </a:r>
            <a:endParaRPr lang="en-IN" sz="2400" dirty="0">
              <a:latin typeface="Bookman Old Style" panose="02050604050505020204" pitchFamily="18" charset="0"/>
            </a:endParaRPr>
          </a:p>
        </p:txBody>
      </p:sp>
    </p:spTree>
    <p:extLst>
      <p:ext uri="{BB962C8B-B14F-4D97-AF65-F5344CB8AC3E}">
        <p14:creationId xmlns:p14="http://schemas.microsoft.com/office/powerpoint/2010/main" val="10022417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1261-53D0-5D68-4EA0-91214B06E614}"/>
              </a:ext>
            </a:extLst>
          </p:cNvPr>
          <p:cNvSpPr>
            <a:spLocks noGrp="1"/>
          </p:cNvSpPr>
          <p:nvPr>
            <p:ph type="title"/>
          </p:nvPr>
        </p:nvSpPr>
        <p:spPr>
          <a:xfrm>
            <a:off x="547254" y="-247938"/>
            <a:ext cx="10515600" cy="1325563"/>
          </a:xfrm>
        </p:spPr>
        <p:txBody>
          <a:bodyPr>
            <a:normAutofit/>
          </a:bodyPr>
          <a:lstStyle/>
          <a:p>
            <a:r>
              <a:rPr lang="en-IN" sz="2400" b="1" i="0" u="none" strike="noStrike" baseline="0" dirty="0">
                <a:solidFill>
                  <a:srgbClr val="FF0000"/>
                </a:solidFill>
                <a:latin typeface="Bookman Old Style" panose="02050604050505020204" pitchFamily="18" charset="0"/>
              </a:rPr>
              <a:t>Organizational Coping Strategies</a:t>
            </a:r>
            <a:endParaRPr lang="en-IN" sz="2400"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FAD83348-74F1-843A-044B-A251470899C7}"/>
              </a:ext>
            </a:extLst>
          </p:cNvPr>
          <p:cNvSpPr>
            <a:spLocks noGrp="1"/>
          </p:cNvSpPr>
          <p:nvPr>
            <p:ph idx="1"/>
          </p:nvPr>
        </p:nvSpPr>
        <p:spPr>
          <a:xfrm>
            <a:off x="443345" y="641062"/>
            <a:ext cx="10515600" cy="4351338"/>
          </a:xfrm>
        </p:spPr>
        <p:txBody>
          <a:bodyPr>
            <a:noAutofit/>
          </a:bodyPr>
          <a:lstStyle/>
          <a:p>
            <a:pPr marL="0" indent="0" algn="just">
              <a:lnSpc>
                <a:spcPct val="170000"/>
              </a:lnSpc>
              <a:buNone/>
            </a:pPr>
            <a:r>
              <a:rPr lang="en-IN" sz="1600" dirty="0">
                <a:latin typeface="Bookman Old Style" panose="02050604050505020204" pitchFamily="18" charset="0"/>
                <a:sym typeface="Wingdings" panose="05000000000000000000" pitchFamily="2" charset="2"/>
              </a:rPr>
              <a:t></a:t>
            </a:r>
            <a:r>
              <a:rPr lang="en-US" sz="1600" b="0" i="0" u="none" strike="noStrike" baseline="0" dirty="0">
                <a:latin typeface="Bookman Old Style" panose="02050604050505020204" pitchFamily="18" charset="0"/>
              </a:rPr>
              <a:t>designed by management to eliminate or control organizational-level stressors in order to prevent or reduce job stress for individual employees.</a:t>
            </a:r>
          </a:p>
          <a:p>
            <a:pPr marL="0" indent="0" algn="just">
              <a:lnSpc>
                <a:spcPct val="170000"/>
              </a:lnSpc>
              <a:buNone/>
            </a:pPr>
            <a:r>
              <a:rPr lang="en-US" sz="1600" b="0" i="0" u="none" strike="noStrike" baseline="0" dirty="0">
                <a:latin typeface="Bookman Old Style" panose="02050604050505020204" pitchFamily="18" charset="0"/>
                <a:sym typeface="Wingdings" panose="05000000000000000000" pitchFamily="2" charset="2"/>
              </a:rPr>
              <a:t></a:t>
            </a:r>
            <a:r>
              <a:rPr lang="en-US" sz="1600" b="0" i="0" u="none" strike="noStrike" baseline="0" dirty="0">
                <a:latin typeface="Bookman Old Style" panose="02050604050505020204" pitchFamily="18" charset="0"/>
              </a:rPr>
              <a:t>most firms today are trying to reduce stress and conflict through work-family initiatives. These involve both reorganization initiatives (e.g., restructuring of jobs and job duties, telecommuting, part-time work and job sharing, and flexible scheduling) and work and life benefit policies and programs (e.g., on-site child care and/or elder care, paid family and medical leave, release time for personal/family events </a:t>
            </a:r>
            <a:r>
              <a:rPr lang="en-US" sz="1600" b="0" i="0" u="none" strike="noStrike" baseline="0" dirty="0" err="1">
                <a:latin typeface="Bookman Old Style" panose="02050604050505020204" pitchFamily="18" charset="0"/>
              </a:rPr>
              <a:t>etc</a:t>
            </a:r>
            <a:r>
              <a:rPr lang="en-US" sz="1600" b="0" i="0" u="none" strike="noStrike" baseline="0" dirty="0">
                <a:latin typeface="Bookman Old Style" panose="02050604050505020204" pitchFamily="18" charset="0"/>
              </a:rPr>
              <a:t>:)</a:t>
            </a:r>
          </a:p>
          <a:p>
            <a:pPr marL="0" indent="0" algn="just">
              <a:lnSpc>
                <a:spcPct val="170000"/>
              </a:lnSpc>
              <a:buNone/>
            </a:pPr>
            <a:r>
              <a:rPr lang="en-US" sz="1600" dirty="0">
                <a:latin typeface="Bookman Old Style" panose="02050604050505020204" pitchFamily="18" charset="0"/>
                <a:sym typeface="Wingdings" panose="05000000000000000000" pitchFamily="2" charset="2"/>
              </a:rPr>
              <a:t></a:t>
            </a:r>
            <a:r>
              <a:rPr lang="en-US" sz="1600" b="0" i="0" u="none" strike="noStrike" baseline="0" dirty="0">
                <a:latin typeface="Bookman Old Style" panose="02050604050505020204" pitchFamily="18" charset="0"/>
              </a:rPr>
              <a:t>Employee assistance programs (EAPs) have also become a very valuable organizational response to help employees cope with stress.</a:t>
            </a:r>
          </a:p>
          <a:p>
            <a:pPr algn="just">
              <a:lnSpc>
                <a:spcPct val="170000"/>
              </a:lnSpc>
              <a:buFont typeface="Wingdings" panose="05000000000000000000" pitchFamily="2" charset="2"/>
              <a:buChar char="à"/>
            </a:pPr>
            <a:r>
              <a:rPr lang="en-US" sz="1600" b="0" i="0" u="none" strike="noStrike" baseline="0" dirty="0">
                <a:latin typeface="Bookman Old Style" panose="02050604050505020204" pitchFamily="18" charset="0"/>
              </a:rPr>
              <a:t>guidelines to help downsized organizations combat the problems of survivor syndrome</a:t>
            </a:r>
            <a:r>
              <a:rPr lang="en-US" sz="1600" dirty="0">
                <a:latin typeface="Bookman Old Style" panose="02050604050505020204" pitchFamily="18" charset="0"/>
              </a:rPr>
              <a:t>: </a:t>
            </a:r>
          </a:p>
          <a:p>
            <a:pPr marL="342900" indent="-342900" algn="just">
              <a:lnSpc>
                <a:spcPct val="100000"/>
              </a:lnSpc>
              <a:buAutoNum type="arabicPeriod"/>
            </a:pPr>
            <a:r>
              <a:rPr lang="en-IN" sz="1600" b="0" i="1" u="none" strike="noStrike" baseline="0" dirty="0">
                <a:latin typeface="Bookman Old Style" panose="02050604050505020204" pitchFamily="18" charset="0"/>
              </a:rPr>
              <a:t>Be proactive</a:t>
            </a:r>
            <a:endParaRPr lang="en-US" sz="1600" b="0" i="1" u="none" strike="noStrike" baseline="0" dirty="0">
              <a:latin typeface="Bookman Old Style" panose="02050604050505020204" pitchFamily="18" charset="0"/>
            </a:endParaRPr>
          </a:p>
          <a:p>
            <a:pPr marL="0" indent="0" algn="just">
              <a:lnSpc>
                <a:spcPct val="100000"/>
              </a:lnSpc>
              <a:buNone/>
            </a:pPr>
            <a:r>
              <a:rPr lang="en-IN" sz="1600" b="0" i="0" u="none" strike="noStrike" baseline="0" dirty="0">
                <a:latin typeface="Bookman Old Style" panose="02050604050505020204" pitchFamily="18" charset="0"/>
              </a:rPr>
              <a:t>2. </a:t>
            </a:r>
            <a:r>
              <a:rPr lang="en-IN" sz="1600" b="0" i="1" u="none" strike="noStrike" baseline="0" dirty="0">
                <a:latin typeface="Bookman Old Style" panose="02050604050505020204" pitchFamily="18" charset="0"/>
              </a:rPr>
              <a:t>Acknowledge survivors’ emotions</a:t>
            </a:r>
          </a:p>
          <a:p>
            <a:pPr marL="0" indent="0" algn="just">
              <a:lnSpc>
                <a:spcPct val="100000"/>
              </a:lnSpc>
              <a:buNone/>
            </a:pPr>
            <a:r>
              <a:rPr lang="en-US" sz="1600" b="0" i="0" u="none" strike="noStrike" baseline="0" dirty="0">
                <a:latin typeface="Bookman Old Style" panose="02050604050505020204" pitchFamily="18" charset="0"/>
              </a:rPr>
              <a:t>3. </a:t>
            </a:r>
            <a:r>
              <a:rPr lang="en-US" sz="1600" b="0" i="1" u="none" strike="noStrike" baseline="0" dirty="0">
                <a:latin typeface="Bookman Old Style" panose="02050604050505020204" pitchFamily="18" charset="0"/>
              </a:rPr>
              <a:t>Communicate after the downsizing</a:t>
            </a:r>
            <a:endParaRPr lang="en-IN" sz="1600" i="1" dirty="0">
              <a:latin typeface="Bookman Old Style" panose="02050604050505020204" pitchFamily="18" charset="0"/>
            </a:endParaRPr>
          </a:p>
          <a:p>
            <a:pPr marL="0" indent="0" algn="just">
              <a:lnSpc>
                <a:spcPct val="100000"/>
              </a:lnSpc>
              <a:buNone/>
            </a:pPr>
            <a:r>
              <a:rPr lang="en-IN" sz="1600" b="0" i="0" u="none" strike="noStrike" baseline="0" dirty="0">
                <a:latin typeface="Bookman Old Style" panose="02050604050505020204" pitchFamily="18" charset="0"/>
              </a:rPr>
              <a:t>4. </a:t>
            </a:r>
            <a:r>
              <a:rPr lang="en-IN" sz="1600" b="0" i="1" u="none" strike="noStrike" baseline="0" dirty="0">
                <a:latin typeface="Bookman Old Style" panose="02050604050505020204" pitchFamily="18" charset="0"/>
              </a:rPr>
              <a:t>Clarify new roles.</a:t>
            </a:r>
            <a:endParaRPr lang="en-US" sz="1600" b="0" i="0" u="none" strike="noStrike" baseline="0" dirty="0">
              <a:latin typeface="Bookman Old Style" panose="02050604050505020204" pitchFamily="18" charset="0"/>
            </a:endParaRPr>
          </a:p>
        </p:txBody>
      </p:sp>
    </p:spTree>
    <p:extLst>
      <p:ext uri="{BB962C8B-B14F-4D97-AF65-F5344CB8AC3E}">
        <p14:creationId xmlns:p14="http://schemas.microsoft.com/office/powerpoint/2010/main" val="28333149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AB99C-9429-F0D6-F169-3B1DF3E49690}"/>
              </a:ext>
            </a:extLst>
          </p:cNvPr>
          <p:cNvSpPr>
            <a:spLocks noGrp="1"/>
          </p:cNvSpPr>
          <p:nvPr>
            <p:ph type="title"/>
          </p:nvPr>
        </p:nvSpPr>
        <p:spPr/>
        <p:txBody>
          <a:bodyPr>
            <a:normAutofit/>
          </a:bodyPr>
          <a:lstStyle/>
          <a:p>
            <a:r>
              <a:rPr lang="en-IN" sz="2800" b="1" dirty="0">
                <a:solidFill>
                  <a:srgbClr val="FF0000"/>
                </a:solidFill>
                <a:latin typeface="Bookman Old Style" panose="02050604050505020204" pitchFamily="18" charset="0"/>
              </a:rPr>
              <a:t>Negotiation Skills</a:t>
            </a:r>
          </a:p>
        </p:txBody>
      </p:sp>
      <p:sp>
        <p:nvSpPr>
          <p:cNvPr id="3" name="Content Placeholder 2">
            <a:extLst>
              <a:ext uri="{FF2B5EF4-FFF2-40B4-BE49-F238E27FC236}">
                <a16:creationId xmlns:a16="http://schemas.microsoft.com/office/drawing/2014/main" id="{8818C609-195D-9C12-53A0-ADC101470256}"/>
              </a:ext>
            </a:extLst>
          </p:cNvPr>
          <p:cNvSpPr>
            <a:spLocks noGrp="1"/>
          </p:cNvSpPr>
          <p:nvPr>
            <p:ph idx="1"/>
          </p:nvPr>
        </p:nvSpPr>
        <p:spPr/>
        <p:txBody>
          <a:bodyPr>
            <a:normAutofit lnSpcReduction="10000"/>
          </a:bodyPr>
          <a:lstStyle/>
          <a:p>
            <a:pPr marL="0" indent="0">
              <a:buNone/>
            </a:pPr>
            <a:r>
              <a:rPr lang="en-IN" i="0" u="none" strike="noStrike" baseline="0" dirty="0">
                <a:latin typeface="Bookman Old Style" panose="02050604050505020204" pitchFamily="18" charset="0"/>
              </a:rPr>
              <a:t>Traditional Negotiation Approaches: </a:t>
            </a:r>
          </a:p>
          <a:p>
            <a:pPr>
              <a:buFont typeface="Wingdings" panose="05000000000000000000" pitchFamily="2" charset="2"/>
              <a:buChar char="à"/>
            </a:pPr>
            <a:r>
              <a:rPr lang="en-IN" dirty="0">
                <a:latin typeface="Bookman Old Style" panose="02050604050505020204" pitchFamily="18" charset="0"/>
                <a:sym typeface="Wingdings" panose="05000000000000000000" pitchFamily="2" charset="2"/>
              </a:rPr>
              <a:t>Distributive bargaining</a:t>
            </a:r>
          </a:p>
          <a:p>
            <a:pPr>
              <a:buFont typeface="Wingdings" panose="05000000000000000000" pitchFamily="2" charset="2"/>
              <a:buChar char="à"/>
            </a:pPr>
            <a:r>
              <a:rPr lang="en-IN" dirty="0">
                <a:latin typeface="Bookman Old Style" panose="02050604050505020204" pitchFamily="18" charset="0"/>
                <a:sym typeface="Wingdings" panose="05000000000000000000" pitchFamily="2" charset="2"/>
              </a:rPr>
              <a:t>Positional bargaining</a:t>
            </a:r>
          </a:p>
          <a:p>
            <a:pPr marL="0" indent="0">
              <a:buNone/>
            </a:pPr>
            <a:r>
              <a:rPr lang="en-IN" i="0" u="none" strike="noStrike" baseline="0" dirty="0">
                <a:latin typeface="Bookman Old Style" panose="02050604050505020204" pitchFamily="18" charset="0"/>
              </a:rPr>
              <a:t>Contemporary Negotiation Skills</a:t>
            </a:r>
          </a:p>
          <a:p>
            <a:pPr>
              <a:buFont typeface="Wingdings" panose="05000000000000000000" pitchFamily="2" charset="2"/>
              <a:buChar char="à"/>
            </a:pPr>
            <a:r>
              <a:rPr lang="en-IN" i="0" u="none" strike="noStrike" baseline="0" dirty="0">
                <a:latin typeface="Bookman Old Style" panose="02050604050505020204" pitchFamily="18" charset="0"/>
              </a:rPr>
              <a:t>Low-risk negotiation techniques</a:t>
            </a:r>
            <a:endParaRPr lang="en-IN" i="0" u="none" strike="noStrike" baseline="0" dirty="0">
              <a:latin typeface="Bookman Old Style" panose="02050604050505020204" pitchFamily="18" charset="0"/>
              <a:sym typeface="Wingdings" panose="05000000000000000000" pitchFamily="2" charset="2"/>
            </a:endParaRPr>
          </a:p>
          <a:p>
            <a:pPr>
              <a:buFont typeface="Wingdings" panose="05000000000000000000" pitchFamily="2" charset="2"/>
              <a:buChar char="à"/>
            </a:pPr>
            <a:r>
              <a:rPr lang="en-IN" i="0" u="none" strike="noStrike" baseline="0" dirty="0">
                <a:latin typeface="Bookman Old Style" panose="02050604050505020204" pitchFamily="18" charset="0"/>
              </a:rPr>
              <a:t>High-risk negotiation techniques</a:t>
            </a:r>
            <a:endParaRPr lang="en-IN" dirty="0">
              <a:latin typeface="Bookman Old Style" panose="02050604050505020204" pitchFamily="18" charset="0"/>
              <a:sym typeface="Wingdings" panose="05000000000000000000" pitchFamily="2" charset="2"/>
            </a:endParaRPr>
          </a:p>
          <a:p>
            <a:pPr>
              <a:buFont typeface="Wingdings" panose="05000000000000000000" pitchFamily="2" charset="2"/>
              <a:buChar char="à"/>
            </a:pPr>
            <a:r>
              <a:rPr lang="en-IN" dirty="0">
                <a:latin typeface="Bookman Old Style" panose="02050604050505020204" pitchFamily="18" charset="0"/>
                <a:sym typeface="Wingdings" panose="05000000000000000000" pitchFamily="2" charset="2"/>
              </a:rPr>
              <a:t>Principled negotiation</a:t>
            </a:r>
          </a:p>
          <a:p>
            <a:pPr>
              <a:buFont typeface="Wingdings" panose="05000000000000000000" pitchFamily="2" charset="2"/>
              <a:buChar char="à"/>
            </a:pPr>
            <a:endParaRPr lang="en-IN" dirty="0">
              <a:latin typeface="Bookman Old Style" panose="02050604050505020204" pitchFamily="18" charset="0"/>
              <a:sym typeface="Wingdings" panose="05000000000000000000" pitchFamily="2" charset="2"/>
            </a:endParaRPr>
          </a:p>
          <a:p>
            <a:pPr marL="0" indent="0">
              <a:buNone/>
            </a:pPr>
            <a:r>
              <a:rPr lang="en-IN" dirty="0">
                <a:latin typeface="Bookman Old Style" panose="02050604050505020204" pitchFamily="18" charset="0"/>
                <a:sym typeface="Wingdings" panose="05000000000000000000" pitchFamily="2" charset="2"/>
              </a:rPr>
              <a:t>Self Learning topic.</a:t>
            </a:r>
            <a:endParaRPr lang="en-IN" dirty="0">
              <a:latin typeface="Bookman Old Style" panose="02050604050505020204" pitchFamily="18" charset="0"/>
            </a:endParaRPr>
          </a:p>
        </p:txBody>
      </p:sp>
    </p:spTree>
    <p:extLst>
      <p:ext uri="{BB962C8B-B14F-4D97-AF65-F5344CB8AC3E}">
        <p14:creationId xmlns:p14="http://schemas.microsoft.com/office/powerpoint/2010/main" val="29827312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169B5-DEC3-1EAD-1001-6FE51492AED5}"/>
              </a:ext>
            </a:extLst>
          </p:cNvPr>
          <p:cNvSpPr>
            <a:spLocks noGrp="1"/>
          </p:cNvSpPr>
          <p:nvPr>
            <p:ph idx="1"/>
          </p:nvPr>
        </p:nvSpPr>
        <p:spPr>
          <a:xfrm>
            <a:off x="838200" y="997527"/>
            <a:ext cx="10515600" cy="5179436"/>
          </a:xfrm>
        </p:spPr>
        <p:txBody>
          <a:bodyPr>
            <a:normAutofit/>
          </a:bodyPr>
          <a:lstStyle/>
          <a:p>
            <a:pPr marL="0" indent="0" algn="ctr">
              <a:buNone/>
            </a:pPr>
            <a:endParaRPr lang="en-IN" sz="4800" dirty="0">
              <a:solidFill>
                <a:srgbClr val="FF0000"/>
              </a:solidFill>
              <a:latin typeface="Bookman Old Style" panose="02050604050505020204" pitchFamily="18" charset="0"/>
            </a:endParaRPr>
          </a:p>
          <a:p>
            <a:pPr marL="0" indent="0" algn="ctr">
              <a:buNone/>
            </a:pPr>
            <a:endParaRPr lang="en-IN" sz="4800" dirty="0">
              <a:solidFill>
                <a:srgbClr val="FF0000"/>
              </a:solidFill>
              <a:latin typeface="Bookman Old Style" panose="02050604050505020204" pitchFamily="18" charset="0"/>
            </a:endParaRPr>
          </a:p>
          <a:p>
            <a:pPr marL="0" indent="0" algn="ctr">
              <a:buNone/>
            </a:pPr>
            <a:r>
              <a:rPr lang="en-IN" sz="4800" dirty="0">
                <a:solidFill>
                  <a:srgbClr val="FF0000"/>
                </a:solidFill>
                <a:latin typeface="Bookman Old Style" panose="02050604050505020204" pitchFamily="18" charset="0"/>
              </a:rPr>
              <a:t>THANK YOU!!</a:t>
            </a:r>
          </a:p>
        </p:txBody>
      </p:sp>
    </p:spTree>
    <p:extLst>
      <p:ext uri="{BB962C8B-B14F-4D97-AF65-F5344CB8AC3E}">
        <p14:creationId xmlns:p14="http://schemas.microsoft.com/office/powerpoint/2010/main" val="32493986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1043</TotalTime>
  <Words>4041</Words>
  <Application>Microsoft Office PowerPoint</Application>
  <PresentationFormat>Widescreen</PresentationFormat>
  <Paragraphs>316</Paragraphs>
  <Slides>53</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Bookman Old Style</vt:lpstr>
      <vt:lpstr>Calibri</vt:lpstr>
      <vt:lpstr>Calibri Light</vt:lpstr>
      <vt:lpstr>Frutiger-Bold</vt:lpstr>
      <vt:lpstr>Times New Roman</vt:lpstr>
      <vt:lpstr>Wingdings</vt:lpstr>
      <vt:lpstr>Office Theme</vt:lpstr>
      <vt:lpstr>Module III Communication, Decision making, Stress and Conflict.</vt:lpstr>
      <vt:lpstr>Syllabus</vt:lpstr>
      <vt:lpstr>Effectiveness of Real Managers </vt:lpstr>
      <vt:lpstr>Managerial Communication Model</vt:lpstr>
      <vt:lpstr>Discussion Question</vt:lpstr>
      <vt:lpstr>PowerPoint Presentation</vt:lpstr>
      <vt:lpstr>Continuum of Communication in Organizational Behavior</vt:lpstr>
      <vt:lpstr>NonVerbal Communication</vt:lpstr>
      <vt:lpstr>Improving Nonverbal Effectiveness</vt:lpstr>
      <vt:lpstr>INTERPERSONAL COMMUNICATION</vt:lpstr>
      <vt:lpstr>Importance of How to Talk to Others</vt:lpstr>
      <vt:lpstr>Importance of Feedback</vt:lpstr>
      <vt:lpstr>Characteristics of effective and ineffective feedback</vt:lpstr>
      <vt:lpstr>Interactive communication</vt:lpstr>
      <vt:lpstr>DECISION-MAKING PROCESS</vt:lpstr>
      <vt:lpstr>Mintzberg’s Empirically Based Phases of Decision Making in Organizations</vt:lpstr>
      <vt:lpstr>Three phases of decision making: Mintzberg’s research</vt:lpstr>
      <vt:lpstr>Behavioral Decision Making</vt:lpstr>
      <vt:lpstr>Decision- Making Styles</vt:lpstr>
      <vt:lpstr>Decision- Making Styles</vt:lpstr>
      <vt:lpstr>Decision- Making Styles</vt:lpstr>
      <vt:lpstr>PowerPoint Presentation</vt:lpstr>
      <vt:lpstr>PowerPoint Presentation</vt:lpstr>
      <vt:lpstr>Exercise</vt:lpstr>
      <vt:lpstr>Exercise</vt:lpstr>
      <vt:lpstr>Stress and Conflict</vt:lpstr>
      <vt:lpstr>Activity – Handling Stress in Organization.</vt:lpstr>
      <vt:lpstr>PowerPoint Presentation</vt:lpstr>
      <vt:lpstr>Definitions of Stress:</vt:lpstr>
      <vt:lpstr>Burnout:</vt:lpstr>
      <vt:lpstr>The Causes of Stress:</vt:lpstr>
      <vt:lpstr>Extraorganizational Stressors</vt:lpstr>
      <vt:lpstr>Organizational Stressors </vt:lpstr>
      <vt:lpstr>Group Stressors</vt:lpstr>
      <vt:lpstr>Individual Stressors: The Role of Dispositions</vt:lpstr>
      <vt:lpstr>Class Activity . Determine your Personality type and analyze the pros and cons in each profile type.</vt:lpstr>
      <vt:lpstr>Profiles of Type A and Type B Personalities.</vt:lpstr>
      <vt:lpstr>PowerPoint Presentation</vt:lpstr>
      <vt:lpstr>PowerPoint Presentation</vt:lpstr>
      <vt:lpstr>IntraIndividual Conflict</vt:lpstr>
      <vt:lpstr>Conflict Due to Frustration</vt:lpstr>
      <vt:lpstr>Conflict Due to Frustration</vt:lpstr>
      <vt:lpstr>Goal Conflict</vt:lpstr>
      <vt:lpstr>Role Conflict and Ambiguity</vt:lpstr>
      <vt:lpstr>Interactive Conflict: Reflect in interpersonal and intergroup levels.  </vt:lpstr>
      <vt:lpstr>PowerPoint Presentation</vt:lpstr>
      <vt:lpstr>Intergroup Behavior and Conflict</vt:lpstr>
      <vt:lpstr>The Effects of Stress and IntraIndividual Conflict</vt:lpstr>
      <vt:lpstr>PowerPoint Presentation</vt:lpstr>
      <vt:lpstr>Coping strategies for Stress and Conflict</vt:lpstr>
      <vt:lpstr>Organizational Coping Strategies</vt:lpstr>
      <vt:lpstr>Negotiation Skills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III Communication, Decision making, Stress and Conflict.</dc:title>
  <dc:creator>JINI RAJU</dc:creator>
  <cp:lastModifiedBy>thushara a</cp:lastModifiedBy>
  <cp:revision>42</cp:revision>
  <dcterms:created xsi:type="dcterms:W3CDTF">2025-01-31T05:17:05Z</dcterms:created>
  <dcterms:modified xsi:type="dcterms:W3CDTF">2026-02-13T09:37:31Z</dcterms:modified>
</cp:coreProperties>
</file>