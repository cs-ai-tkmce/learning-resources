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69" r:id="rId3"/>
    <p:sldId id="257" r:id="rId4"/>
    <p:sldId id="271" r:id="rId5"/>
    <p:sldId id="272" r:id="rId6"/>
    <p:sldId id="258" r:id="rId7"/>
    <p:sldId id="270" r:id="rId8"/>
    <p:sldId id="259" r:id="rId9"/>
    <p:sldId id="262" r:id="rId10"/>
    <p:sldId id="263" r:id="rId11"/>
    <p:sldId id="260" r:id="rId12"/>
    <p:sldId id="274" r:id="rId13"/>
    <p:sldId id="276" r:id="rId14"/>
    <p:sldId id="275" r:id="rId15"/>
    <p:sldId id="277" r:id="rId16"/>
    <p:sldId id="278" r:id="rId17"/>
    <p:sldId id="279" r:id="rId18"/>
    <p:sldId id="280" r:id="rId19"/>
    <p:sldId id="273" r:id="rId20"/>
    <p:sldId id="264" r:id="rId21"/>
    <p:sldId id="287" r:id="rId22"/>
    <p:sldId id="289" r:id="rId23"/>
    <p:sldId id="290" r:id="rId24"/>
    <p:sldId id="291" r:id="rId25"/>
    <p:sldId id="266" r:id="rId26"/>
    <p:sldId id="267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30" r:id="rId63"/>
    <p:sldId id="331" r:id="rId64"/>
    <p:sldId id="329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8135E-EB86-43EB-B4D1-95188026018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12CBC-9BB4-4ED7-867F-9C673E4EE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48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045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045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33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045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4A84-B185-BC7E-46D2-0486E25C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8AA0F-BB23-AD4E-C85A-46E7A9805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F25FF-CD6B-8AEC-FC3E-C23419EB4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2CB76-19C6-69D3-4661-9F948808A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96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70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C2D2A-9C1F-55EB-3EB9-7C66D0C2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AA98B-16D0-6171-B803-A934AFCBC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78E20-BCB1-FFD2-2E9A-25DFF972F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8B2DD-3EDC-6732-D436-8A07BA2E9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21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1CD1-A0EF-4930-B3A2-C9F185A1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BB5BC-7F5A-24FC-F26B-4E1DEE801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CC0DF-C2C9-D4D9-A039-2322FCE34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2B34D-5AF1-2F15-A36C-15C28FC35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26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3FEF-1030-90EE-E6D0-12368290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58DC5-9C2C-E0A6-7DD7-53B7423FF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2C372-CB82-6617-CD84-29356B0B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9F53A-DDD0-EA84-5788-21C11BB6D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141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92CF-C345-9E5B-9586-DC85FA15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D253A-0088-6C55-5519-7D10E482D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5AA8-B7D6-A0E3-2045-E33CD7A83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DBE9-A6F5-AE3F-6149-188F634CB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024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045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384823-A8AF-2B4B-4E1E-4596AF81C4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33AD8-E627-40E1-AD1C-7153980A554D}" type="slidenum">
              <a:rPr lang="en-AU" altLang="en-AU"/>
              <a:pPr/>
              <a:t>23</a:t>
            </a:fld>
            <a:endParaRPr lang="en-AU" altLang="en-AU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D0144874-8DC4-2138-EB05-FAAB0A30E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7312" tIns="42862" rIns="87312" bIns="42862"/>
          <a:lstStyle/>
          <a:p>
            <a:endParaRPr lang="en-AU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D7D37E-DCEC-A234-7FB4-8E96A342D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2F6184-B62E-34DD-2FBA-3A0CBDAE7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E9B0ED-92FE-463C-9AEB-CC7F2CEDF652}" type="slidenum">
              <a:rPr lang="en-AU" altLang="en-AU"/>
              <a:pPr/>
              <a:t>24</a:t>
            </a:fld>
            <a:endParaRPr lang="en-AU" altLang="en-AU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740CAA4F-948A-8267-3175-85DE1B50B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29EE654-95B5-4EAC-B194-021E94824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7312" tIns="42862" rIns="87312" bIns="42862"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5A4341-62B0-AE67-2735-BB3222F4B2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363222-4A87-4314-AE31-11D5E0F1EF02}" type="slidenum">
              <a:rPr lang="en-AU" altLang="en-AU"/>
              <a:pPr/>
              <a:t>28</a:t>
            </a:fld>
            <a:endParaRPr lang="en-AU" altLang="en-AU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9180866-247C-0A27-E63E-AE6F430D6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709613"/>
            <a:ext cx="4508500" cy="3381375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381068C-0A42-ED2C-07AF-8470B03F7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5833" tIns="41383" rIns="85833" bIns="41383"/>
          <a:lstStyle/>
          <a:p>
            <a:endParaRPr lang="en-AU" alt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468241-A762-D770-B3F7-797E491B71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BF1633-E08C-424B-8D4E-D695FB5B9EF7}" type="slidenum">
              <a:rPr lang="en-AU" altLang="en-AU"/>
              <a:pPr/>
              <a:t>29</a:t>
            </a:fld>
            <a:endParaRPr lang="en-AU" altLang="en-AU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28A9C3DC-5CF1-A4F4-980E-160CEAC19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7312" tIns="42862" rIns="87312" bIns="42862"/>
          <a:lstStyle/>
          <a:p>
            <a:endParaRPr lang="en-AU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A62D79F-74B8-5540-D086-F8173424AA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8F1F240-A218-4CEE-14B5-42417A63F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8BF6E1-9FB9-42B3-801B-7DA549E94AC0}" type="slidenum">
              <a:rPr lang="en-AU" altLang="en-AU"/>
              <a:pPr/>
              <a:t>31</a:t>
            </a:fld>
            <a:endParaRPr lang="en-AU" altLang="en-AU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F56D81D-83E0-1326-8DD2-D1C69E343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7312" tIns="42862" rIns="87312" bIns="42862"/>
          <a:lstStyle/>
          <a:p>
            <a:endParaRPr lang="en-AU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6F03469-EC7C-39B6-9B6C-2266F3551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855F0-28E1-1249-00A8-DC4968DE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D5834-E5A8-2DEA-D300-D024CA31D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0552F-3A5E-1940-703F-F0F672319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51BF5-1B4E-1D35-9E68-B25DC0029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31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F8F2E-18AE-4EAC-5FC4-DC175B36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ADEBF-E5E4-C8B0-C7F1-01AA2BEF8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1D2A7-DD98-6FAA-12F7-FA199C378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A473A-CCA7-5CB9-4533-E3006B94A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30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3929-0245-C441-7C11-2EF98E9A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AA101-2800-A89D-15B3-BC958610E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D6F3E-76C3-7EF8-F451-2C09C1FAF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FE483-9053-DA8B-D5B7-177D3F256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85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239E-6899-6188-3DF4-7DE247BD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2DB58-716D-42ED-3A9D-BDF55D7A2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98888-82F3-9710-A4A3-85DD16346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ED2F5-AA39-979A-7C06-1D87889E4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92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14CC-E019-BAB2-148F-8645AD93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4480F-CF59-9958-4DEF-430CB3C0A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BDA6F-1E64-6F85-F86E-3F007DFBB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F8707-3D2F-00BE-8FD0-2E0010FBF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70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AA8F-4B6E-1037-6D28-62137FD5D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36E27-558E-9E00-CF76-03A057429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775FC-EF09-92E8-FD95-0C8E630A6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BD8D4-BA61-61BF-0989-8CA95490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60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B0CB-F29A-DB5C-E367-8B7D7B68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CC94E-4077-F33C-4D14-26A1AF88B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4EC5E-C75E-2C70-ACE2-AFC989BE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4C341-9600-6FAB-27FD-875D8CF57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09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7EB9-B0C3-F70C-7AFF-6861B516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814AF-C0BA-5B12-77E6-96920BA72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DFA78-8BF6-197A-0DC5-1350A9128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CF6EE-6F78-0C6D-521D-37396906E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692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36396-83C7-4A54-8CE0-3601FD1CA134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0BD8-9A8C-3EB8-DC41-6F03530C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E782A-A095-9582-AAC2-77D7ADBE6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44B81-4D27-CCC7-71CF-A262FE534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0880C-EDAB-F1E9-0C84-FF0AB9498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5A5C-DFD6-3FDE-A6B3-CAEA2719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15A66-7CF8-74D1-1AF9-111D5F339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AA747-C49F-F29B-492B-6F9C6C36C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CCA-38CF-9524-9D06-9A9C7BCA5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514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3F3B-B6EE-B229-3155-B89ED453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A4E8C-802B-D8AC-25D5-216371B6B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5AB40-30F4-F637-766E-00A7AB120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36DD-A50D-2880-6B4E-02680C1CB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39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E1F6-7679-DD52-F9D6-8B82CBDF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26AE9-B15A-6879-F923-084B1CCF9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FE3C4-6E8A-EDCA-641C-C94DBB159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C3B0A-99F0-F30A-A502-87D4AC07A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4569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EB6F-6A3A-BC2E-4629-5A4C26E9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29762-8658-EF7E-C605-24FD5493F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52FB7-BF3A-542E-1CBC-4DBFD2E8A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3C967-ED92-F55F-2C20-8E991DBB1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17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39B3-3E5A-8984-E72B-3ACAEE16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011F9-22DF-5466-5DD5-BE1D5397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EE698-703C-3153-4D28-3CE73600B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4A05A-CA25-DE52-1E9E-CAF5D41B2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3476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143C-3B34-6310-DEE8-72178B305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8FF5B-3025-2BE3-ED5E-F5D184CE9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D74E9-7C7D-CC7C-7A22-EB8873847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98382-E58B-641C-39AB-75861C08B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4774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8A9A-7831-CE60-1C01-63608E29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3B02E-5E49-A4F5-20A6-D60450C6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C196E-3EB0-D13C-FE1C-4921E2D0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1757D-CFD7-A458-4A67-5EA6193ED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905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CF57-6BB2-93B4-89A0-F819040E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EA775-F9DE-28DF-681F-824CE8B94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F1223-0EDA-20D6-12AB-8821E1AEE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71EBE-329C-ABF8-3CCD-F32279475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564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022C-50CD-5E8F-707E-74CAD6D9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3D622-C03C-3D82-CCA8-9397D3CD9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A8DA9-DA2E-38C6-97DE-69734FB0E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42BDC-F9B0-E7B8-1099-A4F7D49B6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3838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D4EF-4E07-FD95-FDF4-7AD3619F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3221A-C038-B27C-07E5-DC94C5190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F5F68-8FE6-1076-E8AB-B13FA23F8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85897-C928-2B59-6E7B-782869A5D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0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74892-E2EA-5736-7B2F-3F8605E2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BD97C-84EF-58E6-621E-3EAB82B6D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F5809-8ECD-6DF5-245A-BBD679358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02E1B-177A-203D-40EA-EC2C488AA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3183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C840-D244-1AB7-0458-FA201F18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310B4-52E2-A0A2-8B84-7F5441242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EC0E3-991A-4F17-0F49-6A1ACB3AE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26B5-A138-6D85-6262-61628EC0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351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4C2F-B10E-77E2-FA3A-D8C3B225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9396A-C9AC-84C1-C3F6-156B0A4A2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F3DC8-1824-083E-0F35-0CDC1349E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30927-7A50-69EB-433C-A50B341BC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144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0292-8137-6089-E213-FABFEA7F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2C2B3-F0DE-785D-228D-9B3614D49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7B9F8-0D21-190D-50F4-9FDDDEAD2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CE835-BC54-A6B2-12D0-DAE9635D1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998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1E09-38E4-E139-2DE5-78CBE93C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E1FC2-E20D-E5C6-8ACB-7DE792D25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7BCBA-9D05-75FC-C679-D5A386485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583B2-89A6-FE27-6DA8-69DD32663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12CBC-9BB4-4ED7-867F-9C673E4EE655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9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70BF-282A-DCDD-FB3B-E3D652C32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1102B-9B5B-2B1A-239A-FE23A5985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0366-E1C0-502A-0793-D2EDF21C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6CCD2-E0B3-1814-D64B-268B42F5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EA5BA-AA56-35FC-8473-C2376DA3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99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1B02-990F-9B94-4816-AA4A07F8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56FF-2F50-CAF8-1E52-ED8E778A5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3918B-FFAA-BB47-FCA4-A9037EA6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EADE4-D9BD-205B-1581-D70C9F34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90D05-A4A2-E54A-85E3-255AE2DF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6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E1FE-DD79-85FC-BE93-7356BCD7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79DFF-3B2C-4D13-FD6F-68F7A1D14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2E5B0-9F2E-48A8-6C70-AB946CF5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0FD4-DD0E-32A7-2B5B-CA9DE795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D6615-6B7B-A819-18F3-82C948E3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97CD-154D-1D77-874A-395E3399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C672A-BAF8-79CC-9EAA-436CB4D7A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79826-908E-50BA-7C65-D5ABEF428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2E244-D185-44C5-BF57-C3BD601C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A0B3E-DC33-278B-1822-4E2EDC67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03479-3373-6734-F3FD-B9282F60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05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6779-FF8E-07BE-A32E-FF06AEE5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36EE3-8703-7A31-7BC5-6E3F47E43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D2158-0CD2-00E7-AC42-F98568840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E2C98-1B91-F152-414E-395BCD06C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45002-BD1B-AD3E-9FF3-471D8CE78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759C3-66BB-6540-72AA-57933E044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266BF-515B-01DA-0B0B-64E576DD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B4669-BC5C-4659-0AFA-39FDB45C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76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05D3-0568-5699-5BDC-C2D80B6C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05926-87F9-2F59-B684-D8D53339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28989-D268-17E7-017F-31B4CED5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BD8B4-8E0D-8911-080F-DE753E91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93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779C1-1A96-B272-835D-0B8F2DF1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55751-D685-C090-1B6B-2CD7A5FB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BADD3-E931-464B-5E9E-5E2EBD16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2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99BC-D395-1CFE-0214-849A8FC2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15654-BEE6-F004-9C15-D90BD44F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86854-E398-6400-319F-EFDD1733B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3044D-C461-163D-E721-E26672F8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77897-6000-46F7-CD67-E44E267D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3B227-307B-E27F-5B62-F9B1E1F4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4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A996-1DEF-1F11-D635-32CEBE46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48A50-6500-1AB8-0C80-FEC3E6314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9D702-4D86-70CB-5B54-D0277014D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BD14D-318A-FDDD-1656-57ACE0BB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5D94F-E65F-F30C-38A9-E429287C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2E725-5B01-2DE4-C6BB-8116CFB6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1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FAD0-2851-4116-4C50-511E082B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34D5A-BA77-F61B-A853-9C039AB0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212C6-287A-8FFA-886B-8250E265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BDF39-2E43-590D-53F9-14F3285A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572E5-CB6F-C611-9C9E-3DF01E4B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0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B826E-5426-D189-B9B0-D1A4E6F83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5F266-15F5-A02A-FE06-3F6A271E6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B28B5-7837-33CF-679A-973423C3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919A8-3C79-E81A-D19D-61AD9CA2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F7B1-6E9A-0C33-3153-CCCFE36B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152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olo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98755">
            <a:off x="9001659" y="643354"/>
            <a:ext cx="9144000" cy="4857976"/>
          </a:xfrm>
          <a:prstGeom prst="rect">
            <a:avLst/>
          </a:prstGeom>
        </p:spPr>
      </p:pic>
      <p:cxnSp>
        <p:nvCxnSpPr>
          <p:cNvPr id="9" name="Gerade Verbindung 8"/>
          <p:cNvCxnSpPr/>
          <p:nvPr userDrawn="1"/>
        </p:nvCxnSpPr>
        <p:spPr>
          <a:xfrm>
            <a:off x="573656" y="1305260"/>
            <a:ext cx="11040000" cy="1588"/>
          </a:xfrm>
          <a:prstGeom prst="line">
            <a:avLst/>
          </a:prstGeom>
          <a:ln w="9525" cap="flat" cmpd="sng" algn="ctr">
            <a:solidFill>
              <a:srgbClr val="595959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583035" y="6295075"/>
            <a:ext cx="11040000" cy="1588"/>
          </a:xfrm>
          <a:prstGeom prst="line">
            <a:avLst/>
          </a:prstGeom>
          <a:ln w="9525" cap="flat" cmpd="sng" algn="ctr">
            <a:solidFill>
              <a:srgbClr val="595959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156107"/>
            <a:ext cx="10972800" cy="1143000"/>
          </a:xfrm>
        </p:spPr>
        <p:txBody>
          <a:bodyPr/>
          <a:lstStyle>
            <a:lvl1pPr algn="l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609600" y="1413937"/>
            <a:ext cx="10972800" cy="48811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3" name="Bild 12" descr="AIESEC logo_new blue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" y="6458920"/>
            <a:ext cx="2673199" cy="31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7BB5-F68A-C298-6238-F41DC121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2616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7B4A860F-E0F2-AD6F-E5ED-FB561DE3E15B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1219200" y="1600200"/>
            <a:ext cx="4521200" cy="41148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352C4-88A5-878E-426A-DEDC1A33D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3600" y="1600200"/>
            <a:ext cx="45212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21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D0880-A389-B204-BAEF-CD6F41C7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BB1BB-B50C-FD77-818E-9CB21AF68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4A3C-E9A0-10E0-7E37-917A52F93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2D15D-42EB-40E8-909D-EC6B5BB2AC36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97717-7146-270F-7EFE-9CFDF4D22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04706-31F6-DF69-0180-3A52F13BA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5BA95-A5B6-47EC-9B07-26EDB3D59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3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ypsychology.org/hofstedes-cultural-dimensions-theory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1.bin"/><Relationship Id="rId4" Type="http://schemas.openxmlformats.org/officeDocument/2006/relationships/hyperlink" Target="https://corporatefinanceinstitute.com/resources/management/hofstedes-cultural-dimensions-theory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332E-E257-C0C5-BF24-B23D6A833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045" y="406400"/>
            <a:ext cx="9144000" cy="238760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Bookman Old Style" panose="02050604050505020204" pitchFamily="18" charset="0"/>
              </a:rPr>
              <a:t>Module 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943A3-9B01-23E8-2A81-013FD04C7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027" y="2794000"/>
            <a:ext cx="8967018" cy="165576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Leadership and Organizational Culture</a:t>
            </a:r>
          </a:p>
        </p:txBody>
      </p:sp>
    </p:spTree>
    <p:extLst>
      <p:ext uri="{BB962C8B-B14F-4D97-AF65-F5344CB8AC3E}">
        <p14:creationId xmlns:p14="http://schemas.microsoft.com/office/powerpoint/2010/main" val="282518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2C4B-55CC-D49D-1170-4DE30F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D7442-58AC-84A7-B18D-148DA179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8" y="2224115"/>
            <a:ext cx="11747461" cy="191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6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4399-56C3-729C-45CF-3EAED311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119319"/>
            <a:ext cx="10921181" cy="65743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Organizational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EED3E-A4E2-8929-13E6-E8030B8FC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678426"/>
            <a:ext cx="11068665" cy="549853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Values and assumptions shared within an organization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What is important and what is unimportant in an organization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Directs everyone in the organization toward the right way of doing things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Elements of Org. Culture: 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Assumptions, Values and beliefs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Artifacts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Org Language</a:t>
            </a:r>
          </a:p>
          <a:p>
            <a:pPr lvl="1"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Org structures and symbols</a:t>
            </a:r>
          </a:p>
        </p:txBody>
      </p:sp>
      <p:pic>
        <p:nvPicPr>
          <p:cNvPr id="4" name="Picture 3" descr="C:\Users\Maria Hartinger\Desktop\AIESEC\NST\OPS online\parts-of-culture.png">
            <a:extLst>
              <a:ext uri="{FF2B5EF4-FFF2-40B4-BE49-F238E27FC236}">
                <a16:creationId xmlns:a16="http://schemas.microsoft.com/office/drawing/2014/main" id="{827EF6D6-5DB0-F026-8F19-00F65401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439" y="2608160"/>
            <a:ext cx="4337426" cy="424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90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“Culture is like an iceberg…” </a:t>
            </a:r>
            <a:br>
              <a:rPr lang="en-GB" dirty="0">
                <a:solidFill>
                  <a:srgbClr val="595959"/>
                </a:solidFill>
                <a:ea typeface="Calibri"/>
                <a:sym typeface="Calibri"/>
              </a:rPr>
            </a:b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(E. Hall 1976)</a:t>
            </a:r>
            <a:endParaRPr lang="en-GB" u="none" strike="noStrike" cap="none" baseline="0" dirty="0">
              <a:solidFill>
                <a:srgbClr val="595959"/>
              </a:solidFill>
              <a:ea typeface="Calibri"/>
              <a:sym typeface="Calibri"/>
            </a:endParaRPr>
          </a:p>
        </p:txBody>
      </p:sp>
      <p:pic>
        <p:nvPicPr>
          <p:cNvPr id="7" name="Bild 6" descr="OPS online 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70" y="6344717"/>
            <a:ext cx="1211385" cy="637818"/>
          </a:xfrm>
          <a:prstGeom prst="rect">
            <a:avLst/>
          </a:prstGeom>
        </p:spPr>
      </p:pic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1981201" y="1413937"/>
            <a:ext cx="4174435" cy="48811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595959"/>
                </a:solidFill>
                <a:sym typeface="Calibri"/>
              </a:rPr>
              <a:t>…Where some parts are visible while others are not. Still, not visible elements are the basis of the whole iceberg/culture…</a:t>
            </a:r>
            <a:endParaRPr lang="de-DE" dirty="0"/>
          </a:p>
        </p:txBody>
      </p:sp>
      <p:pic>
        <p:nvPicPr>
          <p:cNvPr id="2050" name="Picture 2" descr="C:\Users\Maria Hartinger\Desktop\AIESEC\NST\OPS online\eisberg-model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636" y="1554557"/>
            <a:ext cx="3687927" cy="452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594668"/>
      </p:ext>
    </p:extLst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“Culture is like an iceberg…” </a:t>
            </a:r>
            <a:br>
              <a:rPr lang="en-GB" dirty="0">
                <a:solidFill>
                  <a:srgbClr val="595959"/>
                </a:solidFill>
                <a:ea typeface="Calibri"/>
                <a:sym typeface="Calibri"/>
              </a:rPr>
            </a:b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(E. Hall 1976)</a:t>
            </a:r>
            <a:endParaRPr lang="en-GB" u="none" strike="noStrike" cap="none" baseline="0" dirty="0">
              <a:solidFill>
                <a:srgbClr val="595959"/>
              </a:solidFill>
              <a:ea typeface="Calibri"/>
              <a:sym typeface="Calibri"/>
            </a:endParaRPr>
          </a:p>
        </p:txBody>
      </p:sp>
      <p:pic>
        <p:nvPicPr>
          <p:cNvPr id="7" name="Bild 6" descr="OPS online 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70" y="6344717"/>
            <a:ext cx="1211385" cy="637818"/>
          </a:xfrm>
          <a:prstGeom prst="rect">
            <a:avLst/>
          </a:prstGeom>
        </p:spPr>
      </p:pic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1981201" y="1413937"/>
            <a:ext cx="4174435" cy="488113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pic>
        <p:nvPicPr>
          <p:cNvPr id="3074" name="Picture 2" descr="C:\Users\Maria Hartinger\Desktop\AIESEC\NST\OPS online\iceberg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295" y="1329631"/>
            <a:ext cx="3975653" cy="501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87313"/>
      </p:ext>
    </p:extLst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D434-AED9-5F88-CB9D-AB3FD22D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Elements of Organizational Culture: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D728-6EED-C3B8-BBBF-05FD1607F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071716"/>
            <a:ext cx="10852355" cy="510524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Shared Values: </a:t>
            </a:r>
            <a:r>
              <a:rPr lang="en-IN" dirty="0">
                <a:latin typeface="Bookman Old Style" panose="02050604050505020204" pitchFamily="18" charset="0"/>
              </a:rPr>
              <a:t>Stable, evaluative beliefs that guide our preferences for outcomes or courses of action in a variety of situations.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Shared assumptions: </a:t>
            </a:r>
            <a:r>
              <a:rPr lang="en-IN" dirty="0">
                <a:latin typeface="Bookman Old Style" panose="02050604050505020204" pitchFamily="18" charset="0"/>
              </a:rPr>
              <a:t>Nonconscious, taken for granted perceptions or ideal prototypes of </a:t>
            </a:r>
            <a:r>
              <a:rPr lang="en-IN" dirty="0" err="1">
                <a:latin typeface="Bookman Old Style" panose="02050604050505020204" pitchFamily="18" charset="0"/>
              </a:rPr>
              <a:t>behavior</a:t>
            </a:r>
            <a:r>
              <a:rPr lang="en-IN" dirty="0">
                <a:latin typeface="Bookman Old Style" panose="02050604050505020204" pitchFamily="18" charset="0"/>
              </a:rPr>
              <a:t> that help to think and act </a:t>
            </a:r>
            <a:r>
              <a:rPr lang="en-IN" dirty="0" err="1">
                <a:latin typeface="Bookman Old Style" panose="02050604050505020204" pitchFamily="18" charset="0"/>
              </a:rPr>
              <a:t>towads</a:t>
            </a:r>
            <a:r>
              <a:rPr lang="en-IN" dirty="0">
                <a:latin typeface="Bookman Old Style" panose="02050604050505020204" pitchFamily="18" charset="0"/>
              </a:rPr>
              <a:t> problems.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Yahoo :</a:t>
            </a:r>
            <a:r>
              <a:rPr lang="en-IN" dirty="0">
                <a:latin typeface="Bookman Old Style" panose="02050604050505020204" pitchFamily="18" charset="0"/>
              </a:rPr>
              <a:t> Excellence, Innovation, Customer fixation, Teamwork, Community and Fun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DB1E-4537-EE0E-CA98-989B865E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BEC9-52D9-A4A6-EA60-B5A1C02E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Elements of Organizational Culture: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8DFAE-281B-F6B6-C9D2-6D336E02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071716"/>
            <a:ext cx="10852355" cy="510524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Espoused values: </a:t>
            </a:r>
            <a:r>
              <a:rPr lang="en-IN" dirty="0">
                <a:latin typeface="Bookman Old Style" panose="02050604050505020204" pitchFamily="18" charset="0"/>
              </a:rPr>
              <a:t>Publicly stated ideals that an organization promotes.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Enacted values: </a:t>
            </a:r>
            <a:r>
              <a:rPr lang="en-IN" dirty="0">
                <a:latin typeface="Bookman Old Style" panose="02050604050505020204" pitchFamily="18" charset="0"/>
              </a:rPr>
              <a:t>Actual </a:t>
            </a:r>
            <a:r>
              <a:rPr lang="en-IN" dirty="0" err="1">
                <a:latin typeface="Bookman Old Style" panose="02050604050505020204" pitchFamily="18" charset="0"/>
              </a:rPr>
              <a:t>behaviors</a:t>
            </a:r>
            <a:r>
              <a:rPr lang="en-IN" dirty="0">
                <a:latin typeface="Bookman Old Style" panose="02050604050505020204" pitchFamily="18" charset="0"/>
              </a:rPr>
              <a:t> and actions that demonstrates an organizations or individuals values in practice.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64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609E4F-342D-86D5-7C2E-52C949115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43093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DDE8DE-FD43-18B3-B08C-078D722995C1}"/>
              </a:ext>
            </a:extLst>
          </p:cNvPr>
          <p:cNvSpPr txBox="1"/>
          <p:nvPr/>
        </p:nvSpPr>
        <p:spPr>
          <a:xfrm>
            <a:off x="7413523" y="2084439"/>
            <a:ext cx="4621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Fig: Organizational Culture assumptions, Values and artifacts</a:t>
            </a:r>
          </a:p>
        </p:txBody>
      </p:sp>
    </p:spTree>
    <p:extLst>
      <p:ext uri="{BB962C8B-B14F-4D97-AF65-F5344CB8AC3E}">
        <p14:creationId xmlns:p14="http://schemas.microsoft.com/office/powerpoint/2010/main" val="2301580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869A3E-4B82-7BEE-88F1-4A9746EBB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98322"/>
            <a:ext cx="11729884" cy="508327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70A5F4-9992-66A2-F252-52A7D10E331E}"/>
              </a:ext>
            </a:extLst>
          </p:cNvPr>
          <p:cNvSpPr txBox="1"/>
          <p:nvPr/>
        </p:nvSpPr>
        <p:spPr>
          <a:xfrm>
            <a:off x="1071915" y="5171768"/>
            <a:ext cx="9861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Fig: Organizational Culture Profile dimensions and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501992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B26A-A1DD-0D52-4FCC-A801D7A3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393290"/>
            <a:ext cx="10931013" cy="57935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Organizational subcultures:  </a:t>
            </a:r>
          </a:p>
          <a:p>
            <a:pPr algn="just">
              <a:lnSpc>
                <a:spcPct val="150000"/>
              </a:lnSpc>
            </a:pPr>
            <a:r>
              <a:rPr lang="en-IN" b="1" i="1" dirty="0">
                <a:latin typeface="Bookman Old Style" panose="02050604050505020204" pitchFamily="18" charset="0"/>
              </a:rPr>
              <a:t>Dominant culture and sub culture??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Artifacts:  </a:t>
            </a:r>
            <a:r>
              <a:rPr lang="en-IN" dirty="0">
                <a:latin typeface="Bookman Old Style" panose="02050604050505020204" pitchFamily="18" charset="0"/>
              </a:rPr>
              <a:t>Observable symbols and signs of an organization’s culture.</a:t>
            </a:r>
          </a:p>
          <a:p>
            <a:pPr algn="just">
              <a:lnSpc>
                <a:spcPct val="150000"/>
              </a:lnSpc>
            </a:pPr>
            <a:r>
              <a:rPr lang="en-IN" dirty="0" err="1">
                <a:latin typeface="Bookman Old Style" panose="02050604050505020204" pitchFamily="18" charset="0"/>
              </a:rPr>
              <a:t>Eg</a:t>
            </a:r>
            <a:r>
              <a:rPr lang="en-IN" dirty="0">
                <a:latin typeface="Bookman Old Style" panose="02050604050505020204" pitchFamily="18" charset="0"/>
              </a:rPr>
              <a:t>: The way visitors are greeted, physical layout of an organization, reward to employees etc.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Bookman Old Style" panose="02050604050505020204" pitchFamily="18" charset="0"/>
              </a:rPr>
              <a:t>Support changes to an org culture.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0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8114-EB9B-CC29-09F2-8C007D20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1325563"/>
          </a:xfrm>
        </p:spPr>
        <p:txBody>
          <a:bodyPr/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5723-3D12-083A-A403-5A53A46C5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09" y="934065"/>
            <a:ext cx="8878106" cy="592393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Bookman Old Style" panose="02050604050505020204" pitchFamily="18" charset="0"/>
              </a:rPr>
              <a:t>Hofstede's cultural dimensions theory, developed by </a:t>
            </a:r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Geert Hofstede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>
                <a:latin typeface="Bookman Old Style" panose="02050604050505020204" pitchFamily="18" charset="0"/>
              </a:rPr>
              <a:t>Famework</a:t>
            </a:r>
            <a:r>
              <a:rPr lang="en-US" sz="2000" dirty="0">
                <a:latin typeface="Bookman Old Style" panose="02050604050505020204" pitchFamily="18" charset="0"/>
              </a:rPr>
              <a:t> for 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cross-cultural communication.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Regional and national cultures </a:t>
            </a:r>
            <a:r>
              <a:rPr lang="en-US" sz="2000" dirty="0">
                <a:latin typeface="Bookman Old Style" panose="02050604050505020204" pitchFamily="18" charset="0"/>
              </a:rPr>
              <a:t>do have a considerably impact on people´s behavior.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After conducting a large survey study 1967-1973, he came up with 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six dimensions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Refer for Materials: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  <a:hlinkClick r:id="rId3"/>
              </a:rPr>
              <a:t>https://www.simplypsychology.org/hofstedes-cultural-dimensions-theory.html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  <a:hlinkClick r:id="rId4"/>
              </a:rPr>
              <a:t>https://corporatefinanceinstitute.com/resources/management/hofstedes-cultural-dimensions-theory/</a:t>
            </a:r>
            <a:endParaRPr lang="en-US" sz="2000" u="sng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u="sng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https://newsmoor.com/cultural-dimensions-hofstedes-cultural-dimensions-theory-with-six-dimension/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11562AD-D8AF-B635-A41E-5ED924DC8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112246"/>
              </p:ext>
            </p:extLst>
          </p:nvPr>
        </p:nvGraphicFramePr>
        <p:xfrm>
          <a:off x="9070241" y="2039267"/>
          <a:ext cx="3050476" cy="277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2809524" imgH="2800741" progId="MSPhotoEd.3">
                  <p:embed/>
                </p:oleObj>
              </mc:Choice>
              <mc:Fallback>
                <p:oleObj name="Photo Editor Photo" r:id="rId5" imgW="2809524" imgH="2800741" progId="MSPhotoEd.3">
                  <p:embed/>
                  <p:pic>
                    <p:nvPicPr>
                      <p:cNvPr id="6148" name="Object 4">
                        <a:extLst>
                          <a:ext uri="{FF2B5EF4-FFF2-40B4-BE49-F238E27FC236}">
                            <a16:creationId xmlns:a16="http://schemas.microsoft.com/office/drawing/2014/main" id="{1A3F8C79-FBFE-8A81-2EB0-66CB9C54D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0241" y="2039267"/>
                        <a:ext cx="3050476" cy="2779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854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Cultural Dimensions: </a:t>
            </a:r>
            <a:r>
              <a:rPr lang="en-GB" dirty="0" err="1">
                <a:solidFill>
                  <a:srgbClr val="595959"/>
                </a:solidFill>
                <a:ea typeface="Calibri"/>
                <a:sym typeface="Calibri"/>
              </a:rPr>
              <a:t>Hofstede</a:t>
            </a: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 </a:t>
            </a:r>
            <a:endParaRPr lang="en-GB" u="none" strike="noStrike" cap="none" baseline="0" dirty="0">
              <a:solidFill>
                <a:srgbClr val="595959"/>
              </a:solidFill>
              <a:ea typeface="Calibri"/>
              <a:sym typeface="Calibri"/>
            </a:endParaRPr>
          </a:p>
        </p:txBody>
      </p:sp>
      <p:pic>
        <p:nvPicPr>
          <p:cNvPr id="7" name="Bild 6" descr="OPS online 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70" y="6344717"/>
            <a:ext cx="1211385" cy="63781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EC8162-574D-E3A3-FE69-7041B94E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5E0E4-2CF5-01C5-71E6-7326C1415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33" y="1268543"/>
            <a:ext cx="11102933" cy="54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25048"/>
      </p:ext>
    </p:extLst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2CD6-B687-AFEC-C54C-421E934F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99B7-40D6-C8B4-EC0B-9DDFA0E3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22574-4D98-8FBB-EC44-AA82EDB42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80103"/>
            <a:ext cx="5673212" cy="6277897"/>
          </a:xfrm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1875"/>
              </a:spcAft>
            </a:pPr>
            <a:r>
              <a:rPr lang="en-US" sz="2400" b="1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Power-Distance Index 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Extent to which the less powerful members of an organization or institution accept and expect that power is distributed unequally</a:t>
            </a:r>
          </a:p>
          <a:p>
            <a:pPr algn="just">
              <a:lnSpc>
                <a:spcPct val="150000"/>
              </a:lnSpc>
              <a:spcAft>
                <a:spcPts val="1500"/>
              </a:spcAft>
            </a:pPr>
            <a:r>
              <a:rPr lang="en-US" sz="2400" b="1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High degree of power distance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1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Culture accepts inequity and power differences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100" dirty="0">
                <a:solidFill>
                  <a:srgbClr val="000000"/>
                </a:solidFill>
                <a:latin typeface="Bookman Old Style" panose="02050604050505020204" pitchFamily="18" charset="0"/>
              </a:rPr>
              <a:t>E</a:t>
            </a:r>
            <a:r>
              <a:rPr lang="en-US" sz="21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ncourages bureaucracy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100" dirty="0">
                <a:solidFill>
                  <a:srgbClr val="000000"/>
                </a:solidFill>
                <a:latin typeface="Bookman Old Style" panose="02050604050505020204" pitchFamily="18" charset="0"/>
              </a:rPr>
              <a:t>S</a:t>
            </a:r>
            <a:r>
              <a:rPr lang="en-US" sz="21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hows high respect for rank and authority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100" dirty="0">
                <a:solidFill>
                  <a:srgbClr val="000000"/>
                </a:solidFill>
                <a:latin typeface="Bookman Old Style" panose="02050604050505020204" pitchFamily="18" charset="0"/>
              </a:rPr>
              <a:t>P</a:t>
            </a:r>
            <a:r>
              <a:rPr lang="en-US" sz="21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arents may expect children to obey without questioning their authority</a:t>
            </a:r>
            <a:endParaRPr lang="en-US" sz="3300" b="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Aft>
                <a:spcPts val="1875"/>
              </a:spcAft>
            </a:pPr>
            <a:endParaRPr lang="en-US" sz="2400" b="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E8295B-D868-73FA-FEB0-C344F3EC10FB}"/>
              </a:ext>
            </a:extLst>
          </p:cNvPr>
          <p:cNvSpPr txBox="1">
            <a:spLocks/>
          </p:cNvSpPr>
          <p:nvPr/>
        </p:nvSpPr>
        <p:spPr>
          <a:xfrm>
            <a:off x="6096000" y="580104"/>
            <a:ext cx="5525729" cy="62761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1500"/>
              </a:spcAft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Low power distance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Culture encourages flat organizational structures 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Decentralized decision-making responsibility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Participative management style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Emphasis on power distribution</a:t>
            </a:r>
          </a:p>
          <a:p>
            <a:pPr lvl="1" algn="just">
              <a:lnSpc>
                <a:spcPct val="150000"/>
              </a:lnSpc>
              <a:spcAft>
                <a:spcPts val="1500"/>
              </a:spcAft>
            </a:pPr>
            <a:r>
              <a:rPr lang="en-US" sz="2000" dirty="0">
                <a:solidFill>
                  <a:srgbClr val="000000"/>
                </a:solidFill>
                <a:latin typeface="Bookman Old Style" panose="02050604050505020204" pitchFamily="18" charset="0"/>
              </a:rPr>
              <a:t>Equality between parents and children</a:t>
            </a:r>
          </a:p>
          <a:p>
            <a:pPr algn="just">
              <a:lnSpc>
                <a:spcPct val="150000"/>
              </a:lnSpc>
              <a:spcAft>
                <a:spcPts val="1875"/>
              </a:spcAft>
            </a:pPr>
            <a:endParaRPr lang="en-US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Aft>
                <a:spcPts val="1875"/>
              </a:spcAft>
            </a:pPr>
            <a:endParaRPr lang="en-US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57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7F478-AA53-A758-82C0-38C290D1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3CB4-A883-2F2E-9933-734E695C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7010-E314-20DC-1A4A-E99F0DA9D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894735"/>
            <a:ext cx="12120716" cy="596326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Individualism vs. Collectivism: </a:t>
            </a:r>
            <a:r>
              <a:rPr lang="en-US" sz="2000" i="0" dirty="0">
                <a:effectLst/>
                <a:latin typeface="Bookman Old Style" panose="02050604050505020204" pitchFamily="18" charset="0"/>
              </a:rPr>
              <a:t>Degree to which societies are integrated into groups and their perceived obligations and dependence on groups.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i="0" dirty="0">
                <a:effectLst/>
                <a:latin typeface="Bookman Old Style" panose="02050604050505020204" pitchFamily="18" charset="0"/>
              </a:rPr>
              <a:t>Individualistic societies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E</a:t>
            </a:r>
            <a:r>
              <a:rPr lang="en-US" sz="2000" i="0" dirty="0">
                <a:effectLst/>
                <a:latin typeface="Bookman Old Style" panose="02050604050505020204" pitchFamily="18" charset="0"/>
              </a:rPr>
              <a:t>mphasis lies on personal achievement and rights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P</a:t>
            </a:r>
            <a:r>
              <a:rPr lang="en-US" sz="2000" i="0" dirty="0">
                <a:effectLst/>
                <a:latin typeface="Bookman Old Style" panose="02050604050505020204" pitchFamily="18" charset="0"/>
              </a:rPr>
              <a:t>rioritizing the needs of oneself and one’s immediate family.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i="0" dirty="0">
                <a:effectLst/>
                <a:latin typeface="Bookman Old Style" panose="02050604050505020204" pitchFamily="18" charset="0"/>
              </a:rPr>
              <a:t>Collectivism 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i="0" dirty="0">
                <a:effectLst/>
                <a:latin typeface="Bookman Old Style" panose="02050604050505020204" pitchFamily="18" charset="0"/>
              </a:rPr>
              <a:t>Greater importance placed on the goals and well-being of the group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i="0" dirty="0">
                <a:effectLst/>
                <a:latin typeface="Bookman Old Style" panose="02050604050505020204" pitchFamily="18" charset="0"/>
              </a:rPr>
              <a:t>A person’s self-image in this category is defined as “We” 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i="0" dirty="0">
                <a:effectLst/>
                <a:latin typeface="Bookman Old Style" panose="02050604050505020204" pitchFamily="18" charset="0"/>
              </a:rPr>
              <a:t>Individuals from collectivist backgrounds often prioritize relationships and loyalty more prominently than those in individualistic cultures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A23-2437-D525-C9F0-465FB432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3367-B7A5-36FC-A3B6-EBBD77B7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3993-D1E9-D344-C613-F9C2B3CB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8427"/>
            <a:ext cx="12120716" cy="617957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Uncertainty Avoidance Index : </a:t>
            </a:r>
            <a:r>
              <a:rPr lang="en-US" sz="2000" dirty="0">
                <a:latin typeface="Bookman Old Style" panose="02050604050505020204" pitchFamily="18" charset="0"/>
              </a:rPr>
              <a:t>How unknown situations, uncertainty, and unexpected events are dealt with.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dirty="0">
                <a:latin typeface="Bookman Old Style" panose="02050604050505020204" pitchFamily="18" charset="0"/>
              </a:rPr>
              <a:t>High uncertainty avoidance index 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Low tolerance for uncertainty, ambiguity, and risk-taking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Unknown is minimized through strict rules, regulations, etc. 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Both the institutions and the individuals in these societies strive to reduce uncertainty by employing vigorous rules, regulations, and similar measures.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000" b="1" dirty="0">
                <a:latin typeface="Bookman Old Style" panose="02050604050505020204" pitchFamily="18" charset="0"/>
              </a:rPr>
              <a:t>Low uncertainty avoidance index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High tolerance for uncertainty and ambiguity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Unknown is more openly accepted</a:t>
            </a:r>
          </a:p>
          <a:p>
            <a:pPr lvl="1" algn="just">
              <a:lnSpc>
                <a:spcPct val="100000"/>
              </a:lnSpc>
              <a:spcAft>
                <a:spcPts val="1875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Embrace and feel at ease in situations lacking structure or in fluctuating environments.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8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9668-A55A-41A9-0D11-A4121DC9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8988-2F5C-1612-564D-2FAB09DF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B014-7F9A-DE9E-D285-E2D19E89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8427"/>
            <a:ext cx="12120716" cy="617957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Masculinity vs. femininity dimension: </a:t>
            </a:r>
            <a:r>
              <a:rPr lang="en-US" sz="2400" dirty="0">
                <a:latin typeface="Bookman Old Style" panose="02050604050505020204" pitchFamily="18" charset="0"/>
              </a:rPr>
              <a:t>Gender role differentiation and examines the extent to which a society values traditional masculine and feminine roles.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400" dirty="0">
                <a:latin typeface="Bookman Old Style" panose="02050604050505020204" pitchFamily="18" charset="0"/>
              </a:rPr>
              <a:t>Masculinity includes the following characteristics: </a:t>
            </a:r>
            <a:r>
              <a:rPr lang="en-US" sz="2400" b="1" dirty="0">
                <a:latin typeface="Bookman Old Style" panose="02050604050505020204" pitchFamily="18" charset="0"/>
              </a:rPr>
              <a:t>distinct gender roles, an appreciation of assertiveness, courage, strength, and competition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400" dirty="0">
                <a:latin typeface="Bookman Old Style" panose="02050604050505020204" pitchFamily="18" charset="0"/>
              </a:rPr>
              <a:t>Femininity includes characteristics such as </a:t>
            </a:r>
            <a:r>
              <a:rPr lang="en-US" sz="2400" b="1" dirty="0">
                <a:latin typeface="Bookman Old Style" panose="02050604050505020204" pitchFamily="18" charset="0"/>
              </a:rPr>
              <a:t>fluid gender roles, modest, nurturing, and concerned with the quality of life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High femininity score: </a:t>
            </a:r>
            <a:r>
              <a:rPr lang="en-US" sz="2400" dirty="0">
                <a:latin typeface="Bookman Old Style" panose="02050604050505020204" pitchFamily="18" charset="0"/>
              </a:rPr>
              <a:t>A country with a high rating would probably offer improved maternity benefits and more accessible childcare services.</a:t>
            </a:r>
          </a:p>
          <a:p>
            <a:pPr algn="just">
              <a:lnSpc>
                <a:spcPct val="100000"/>
              </a:lnSpc>
              <a:spcAft>
                <a:spcPts val="1875"/>
              </a:spcAft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Lower femininity score: </a:t>
            </a:r>
            <a:r>
              <a:rPr lang="en-US" sz="2400" dirty="0">
                <a:latin typeface="Bookman Old Style" panose="02050604050505020204" pitchFamily="18" charset="0"/>
              </a:rPr>
              <a:t>Likely to highlight increased female representation in leadership roles and a higher prevalence of female entrepreneurship.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13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F6295-3E35-4013-16CD-F4F82F1B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4D88-973E-FC04-3C6F-CBF68906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5F61B-D88D-CEE3-F48F-86F2D3F1D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120716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Long-Term Orientation vs. Short-Term Orientation: C</a:t>
            </a:r>
            <a:r>
              <a:rPr lang="en-US" sz="2000" dirty="0">
                <a:latin typeface="Bookman Old Style" panose="02050604050505020204" pitchFamily="18" charset="0"/>
              </a:rPr>
              <a:t>onsiders the extent to which society views its time horizon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Societies that emphasize </a:t>
            </a: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long-term orientation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Prioritize future outcomes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Postponing immediate success for achievements over the long term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Values like persistence, endurance, frugality, savings, sustained growth and adaptability take </a:t>
            </a:r>
            <a:r>
              <a:rPr lang="en-US" sz="2000" dirty="0" err="1">
                <a:latin typeface="Bookman Old Style" panose="02050604050505020204" pitchFamily="18" charset="0"/>
              </a:rPr>
              <a:t>centre</a:t>
            </a:r>
            <a:r>
              <a:rPr lang="en-US" sz="2000" dirty="0">
                <a:latin typeface="Bookman Old Style" panose="02050604050505020204" pitchFamily="18" charset="0"/>
              </a:rPr>
              <a:t> stage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Short-term orientation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Focus on the near future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Involve delivering short-term success or gratification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Place a stronger emphasis on the present than the future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Emphasizes quick results and respect for tradition</a:t>
            </a:r>
          </a:p>
        </p:txBody>
      </p:sp>
    </p:spTree>
    <p:extLst>
      <p:ext uri="{BB962C8B-B14F-4D97-AF65-F5344CB8AC3E}">
        <p14:creationId xmlns:p14="http://schemas.microsoft.com/office/powerpoint/2010/main" val="37231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56A70-D212-6843-E30A-C9FDB3C9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7D69-06D0-67BB-E38F-CA860567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Hofstede’s Culture typology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33D8-78A6-4034-4DC8-5678D978E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120716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Indulgence vs. Restraint dimension: </a:t>
            </a:r>
            <a:r>
              <a:rPr lang="en-US" sz="2400" dirty="0">
                <a:latin typeface="Bookman Old Style" panose="02050604050505020204" pitchFamily="18" charset="0"/>
              </a:rPr>
              <a:t>Extent and tendency for a society to fulfill its desires.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Indulgence: </a:t>
            </a:r>
            <a:r>
              <a:rPr lang="en-US" sz="2400" dirty="0">
                <a:latin typeface="Bookman Old Style" panose="02050604050505020204" pitchFamily="18" charset="0"/>
              </a:rPr>
              <a:t>Society allows relatively free gratification related to enjoying life and having fun.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Restraint: </a:t>
            </a:r>
            <a:r>
              <a:rPr lang="en-US" sz="2400" dirty="0">
                <a:latin typeface="Bookman Old Style" panose="02050604050505020204" pitchFamily="18" charset="0"/>
              </a:rPr>
              <a:t>Society suppresses gratification of needs and regulates it through social norms.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High indulgence: </a:t>
            </a:r>
            <a:r>
              <a:rPr lang="en-US" sz="2400" dirty="0">
                <a:latin typeface="Bookman Old Style" panose="02050604050505020204" pitchFamily="18" charset="0"/>
              </a:rPr>
              <a:t>Individuals allocating more funds to luxuries and relishing greater freedom in their leisure pursuits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Bookman Old Style" panose="02050604050505020204" pitchFamily="18" charset="0"/>
              </a:rPr>
              <a:t>Restrained society: </a:t>
            </a:r>
            <a:r>
              <a:rPr lang="en-US" sz="2400" dirty="0">
                <a:latin typeface="Bookman Old Style" panose="02050604050505020204" pitchFamily="18" charset="0"/>
              </a:rPr>
              <a:t>Inclination leans towards thrift, savings, and practical necessities.</a:t>
            </a:r>
          </a:p>
        </p:txBody>
      </p:sp>
    </p:spTree>
    <p:extLst>
      <p:ext uri="{BB962C8B-B14F-4D97-AF65-F5344CB8AC3E}">
        <p14:creationId xmlns:p14="http://schemas.microsoft.com/office/powerpoint/2010/main" val="146930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GB" dirty="0">
                <a:solidFill>
                  <a:srgbClr val="595959"/>
                </a:solidFill>
                <a:ea typeface="Calibri"/>
                <a:sym typeface="Calibri"/>
              </a:rPr>
              <a:t>Country Examples</a:t>
            </a:r>
            <a:endParaRPr lang="en-GB" u="none" strike="noStrike" cap="none" baseline="0" dirty="0">
              <a:solidFill>
                <a:srgbClr val="595959"/>
              </a:solidFill>
              <a:ea typeface="Calibri"/>
              <a:sym typeface="Calibri"/>
            </a:endParaRPr>
          </a:p>
        </p:txBody>
      </p:sp>
      <p:pic>
        <p:nvPicPr>
          <p:cNvPr id="7" name="Bild 6" descr="OPS online 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70" y="6344717"/>
            <a:ext cx="1211385" cy="637818"/>
          </a:xfrm>
          <a:prstGeom prst="rect">
            <a:avLst/>
          </a:prstGeom>
        </p:spPr>
      </p:pic>
      <p:pic>
        <p:nvPicPr>
          <p:cNvPr id="5122" name="Picture 2" descr="C:\Users\Maria Hartinger\Desktop\AIESEC\NST\OPS online\Hofstede_Countries.png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34" y="1414464"/>
            <a:ext cx="6536706" cy="487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8364110" y="2230192"/>
            <a:ext cx="208514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PDI: Power Distance Index</a:t>
            </a:r>
          </a:p>
          <a:p>
            <a:endParaRPr lang="en-CA" sz="9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IDV: Individualism</a:t>
            </a:r>
          </a:p>
          <a:p>
            <a:endParaRPr lang="en-CA" sz="9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MAS: Masculinity</a:t>
            </a:r>
          </a:p>
          <a:p>
            <a:endParaRPr lang="en-CA" sz="9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UAI: Uncertainty Avoidance</a:t>
            </a:r>
          </a:p>
          <a:p>
            <a:endParaRPr lang="en-CA" sz="9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LTO: Long Term Orientation/ Time Perspective</a:t>
            </a:r>
          </a:p>
          <a:p>
            <a:endParaRPr lang="en-CA" sz="16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endParaRPr lang="en-CA" sz="1600" dirty="0">
              <a:solidFill>
                <a:srgbClr val="595959"/>
              </a:solidFill>
              <a:latin typeface="Helvetica Neue Light"/>
              <a:ea typeface="Calibri"/>
              <a:cs typeface="Helvetica Neue Light"/>
            </a:endParaRPr>
          </a:p>
          <a:p>
            <a:r>
              <a:rPr lang="en-CA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For other countries, you can find a lot in the internet. </a:t>
            </a:r>
          </a:p>
          <a:p>
            <a:r>
              <a:rPr lang="de-DE" sz="1600" dirty="0">
                <a:solidFill>
                  <a:srgbClr val="595959"/>
                </a:solidFill>
                <a:latin typeface="Helvetica Neue Light"/>
                <a:ea typeface="Calibri"/>
                <a:cs typeface="Helvetica Neue Ligh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2104365"/>
      </p:ext>
    </p:extLst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2B9D-C661-9CFF-C269-BB90D85E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Organizational change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449801-F463-962A-77D9-8173168117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761" y="1200125"/>
            <a:ext cx="1091134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Actions taken to modify a significant component of its structure, strategies, processes, culture, or technologies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Enhance performance, adapt to evolving environments, or address internal issues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03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82551D1-F5CB-E0A4-6AE3-B454CF980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81000"/>
            <a:ext cx="776605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Changing People: Some Basic Steps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6EC284C-1180-2B9E-40A4-9A1AD333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800600"/>
            <a:ext cx="1968500" cy="11303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altLang="en-US" b="1" dirty="0"/>
          </a:p>
          <a:p>
            <a:r>
              <a:rPr lang="en-US" altLang="en-US" b="1" dirty="0"/>
              <a:t>Recognizing the</a:t>
            </a:r>
          </a:p>
          <a:p>
            <a:r>
              <a:rPr lang="en-US" altLang="en-US" b="1" dirty="0"/>
              <a:t>need for change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1F6B2462-3E82-F431-5F67-437B7994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00400"/>
            <a:ext cx="2273300" cy="12827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altLang="en-US" b="1"/>
          </a:p>
          <a:p>
            <a:r>
              <a:rPr lang="en-US" altLang="en-US" b="1"/>
              <a:t>Attempting to</a:t>
            </a:r>
          </a:p>
          <a:p>
            <a:r>
              <a:rPr lang="en-US" altLang="en-US" b="1"/>
              <a:t>create a new state</a:t>
            </a:r>
          </a:p>
          <a:p>
            <a:r>
              <a:rPr lang="en-US" altLang="en-US" b="1"/>
              <a:t>of affairs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2040C54D-13FF-ACA0-6F8A-7BD1DC07B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447800"/>
            <a:ext cx="2882900" cy="14351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altLang="en-US" b="1"/>
          </a:p>
          <a:p>
            <a:r>
              <a:rPr lang="en-US" altLang="en-US" b="1"/>
              <a:t>Incorporating the changes,</a:t>
            </a:r>
          </a:p>
          <a:p>
            <a:r>
              <a:rPr lang="en-US" altLang="en-US" b="1"/>
              <a:t>creating and maintaining a</a:t>
            </a:r>
          </a:p>
          <a:p>
            <a:r>
              <a:rPr lang="en-US" altLang="en-US" b="1"/>
              <a:t>new organizational system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C8C88AE4-7EC1-982E-8D53-794B26EC8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4870450"/>
            <a:ext cx="19812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en-US" b="1"/>
              <a:t>Step 1: Unfreezing</a:t>
            </a:r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FCFF0E87-11D7-90CB-D871-D6161BC53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1593850"/>
            <a:ext cx="19812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en-US" b="1"/>
              <a:t>Step 3: Refreezing</a:t>
            </a:r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3478DFF4-F737-EE00-E4BC-E3E1279FE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850" y="3270250"/>
            <a:ext cx="2057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en-US" b="1"/>
              <a:t>Step 2: Changing</a:t>
            </a:r>
          </a:p>
        </p:txBody>
      </p:sp>
      <p:sp>
        <p:nvSpPr>
          <p:cNvPr id="55305" name="AutoShape 9">
            <a:extLst>
              <a:ext uri="{FF2B5EF4-FFF2-40B4-BE49-F238E27FC236}">
                <a16:creationId xmlns:a16="http://schemas.microsoft.com/office/drawing/2014/main" id="{69350059-0472-8A79-0176-1870C01C8981}"/>
              </a:ext>
            </a:extLst>
          </p:cNvPr>
          <p:cNvSpPr>
            <a:spLocks noChangeArrowheads="1"/>
          </p:cNvSpPr>
          <p:nvPr/>
        </p:nvSpPr>
        <p:spPr bwMode="auto">
          <a:xfrm rot="19680000">
            <a:off x="3282950" y="3951289"/>
            <a:ext cx="914400" cy="503237"/>
          </a:xfrm>
          <a:prstGeom prst="rightArrow">
            <a:avLst>
              <a:gd name="adj1" fmla="val 50000"/>
              <a:gd name="adj2" fmla="val 9092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6" name="AutoShape 10">
            <a:extLst>
              <a:ext uri="{FF2B5EF4-FFF2-40B4-BE49-F238E27FC236}">
                <a16:creationId xmlns:a16="http://schemas.microsoft.com/office/drawing/2014/main" id="{38419EFE-0192-D4E1-9931-ADE4D9FA92B2}"/>
              </a:ext>
            </a:extLst>
          </p:cNvPr>
          <p:cNvSpPr>
            <a:spLocks noChangeArrowheads="1"/>
          </p:cNvSpPr>
          <p:nvPr/>
        </p:nvSpPr>
        <p:spPr bwMode="auto">
          <a:xfrm rot="19680000">
            <a:off x="5359400" y="2198689"/>
            <a:ext cx="914400" cy="492125"/>
          </a:xfrm>
          <a:prstGeom prst="rightArrow">
            <a:avLst>
              <a:gd name="adj1" fmla="val 50000"/>
              <a:gd name="adj2" fmla="val 9298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7" name="AutoShape 11">
            <a:extLst>
              <a:ext uri="{FF2B5EF4-FFF2-40B4-BE49-F238E27FC236}">
                <a16:creationId xmlns:a16="http://schemas.microsoft.com/office/drawing/2014/main" id="{F10C6298-43FA-4673-A8E4-3A5E22D0D638}"/>
              </a:ext>
            </a:extLst>
          </p:cNvPr>
          <p:cNvSpPr>
            <a:spLocks noChangeArrowheads="1"/>
          </p:cNvSpPr>
          <p:nvPr/>
        </p:nvSpPr>
        <p:spPr bwMode="auto">
          <a:xfrm rot="19620000">
            <a:off x="4467225" y="4502150"/>
            <a:ext cx="5335588" cy="717550"/>
          </a:xfrm>
          <a:prstGeom prst="rightArrow">
            <a:avLst>
              <a:gd name="adj1" fmla="val 50000"/>
              <a:gd name="adj2" fmla="val 60554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b="1"/>
              <a:t>Current State                                      New State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CE0C6-AE33-FD0C-34B0-811443FD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532" y="5022850"/>
            <a:ext cx="4613735" cy="15225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BB80CF2-3406-A2EB-6F8A-B2C6B4DDA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52400"/>
            <a:ext cx="91424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="1">
                <a:latin typeface="Arial" panose="020B0604020202020204" pitchFamily="34" charset="0"/>
              </a:rPr>
              <a:t>	 When Will It Occur?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25533CC-8D08-4F55-CD2A-B652A9FF2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3111500"/>
            <a:ext cx="1054100" cy="9398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Benefit of</a:t>
            </a:r>
          </a:p>
          <a:p>
            <a:pPr algn="ctr"/>
            <a:r>
              <a:rPr lang="en-US" altLang="en-US" sz="1600" b="1"/>
              <a:t>making</a:t>
            </a:r>
          </a:p>
          <a:p>
            <a:pPr algn="ctr"/>
            <a:r>
              <a:rPr lang="en-US" altLang="en-US" sz="1600" b="1"/>
              <a:t>change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92B908F4-C607-F5C6-A4B8-08CA2EE60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570" y="2971800"/>
            <a:ext cx="1170834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altLang="en-US" b="1"/>
              <a:t>Compared</a:t>
            </a:r>
          </a:p>
          <a:p>
            <a:pPr algn="ctr"/>
            <a:r>
              <a:rPr lang="en-US" altLang="en-US" b="1"/>
              <a:t>to</a:t>
            </a:r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4D26A127-62EC-1BE1-99B5-DAD819BE7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048000"/>
            <a:ext cx="1054100" cy="939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Cost of</a:t>
            </a:r>
          </a:p>
          <a:p>
            <a:pPr algn="ctr"/>
            <a:r>
              <a:rPr lang="en-US" altLang="en-US" sz="1600" b="1"/>
              <a:t>making</a:t>
            </a:r>
          </a:p>
          <a:p>
            <a:pPr algn="ctr"/>
            <a:r>
              <a:rPr lang="en-US" altLang="en-US" sz="1600" b="1"/>
              <a:t>change</a:t>
            </a: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33E493FA-CCD3-8B57-E12F-EDCEC74A1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0" y="1377950"/>
            <a:ext cx="901700" cy="8255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Change</a:t>
            </a:r>
          </a:p>
          <a:p>
            <a:pPr algn="ctr"/>
            <a:r>
              <a:rPr lang="en-US" altLang="en-US" sz="1600" b="1"/>
              <a:t>is made</a:t>
            </a: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D83A62E9-6390-FBE7-CFF3-1F2CD26FA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0" y="4841875"/>
            <a:ext cx="901700" cy="8255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>
                <a:solidFill>
                  <a:srgbClr val="FFFFFF"/>
                </a:solidFill>
              </a:rPr>
              <a:t>Change is</a:t>
            </a:r>
          </a:p>
          <a:p>
            <a:pPr algn="ctr"/>
            <a:r>
              <a:rPr lang="en-US" altLang="en-US" sz="1600" b="1">
                <a:solidFill>
                  <a:srgbClr val="FFFFFF"/>
                </a:solidFill>
              </a:rPr>
              <a:t>not made</a:t>
            </a:r>
          </a:p>
        </p:txBody>
      </p:sp>
      <p:grpSp>
        <p:nvGrpSpPr>
          <p:cNvPr id="57352" name="Group 8">
            <a:extLst>
              <a:ext uri="{FF2B5EF4-FFF2-40B4-BE49-F238E27FC236}">
                <a16:creationId xmlns:a16="http://schemas.microsoft.com/office/drawing/2014/main" id="{155F9BC8-1078-3E9B-AC3F-45D51F10520E}"/>
              </a:ext>
            </a:extLst>
          </p:cNvPr>
          <p:cNvGrpSpPr>
            <a:grpSpLocks/>
          </p:cNvGrpSpPr>
          <p:nvPr/>
        </p:nvGrpSpPr>
        <p:grpSpPr bwMode="auto">
          <a:xfrm>
            <a:off x="3013076" y="4003675"/>
            <a:ext cx="225425" cy="374650"/>
            <a:chOff x="938" y="2522"/>
            <a:chExt cx="142" cy="236"/>
          </a:xfrm>
        </p:grpSpPr>
        <p:sp>
          <p:nvSpPr>
            <p:cNvPr id="57353" name="Line 9">
              <a:extLst>
                <a:ext uri="{FF2B5EF4-FFF2-40B4-BE49-F238E27FC236}">
                  <a16:creationId xmlns:a16="http://schemas.microsoft.com/office/drawing/2014/main" id="{A78ABE97-2859-3DF1-2515-6D0E699A2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0" y="2572"/>
              <a:ext cx="140" cy="140"/>
            </a:xfrm>
            <a:prstGeom prst="line">
              <a:avLst/>
            </a:prstGeom>
            <a:noFill/>
            <a:ln w="76200">
              <a:solidFill>
                <a:srgbClr val="990066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354" name="Line 10">
              <a:extLst>
                <a:ext uri="{FF2B5EF4-FFF2-40B4-BE49-F238E27FC236}">
                  <a16:creationId xmlns:a16="http://schemas.microsoft.com/office/drawing/2014/main" id="{FBA0CEEB-BF43-6B8E-6645-2B46C98F0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8" y="2522"/>
              <a:ext cx="140" cy="236"/>
            </a:xfrm>
            <a:prstGeom prst="line">
              <a:avLst/>
            </a:prstGeom>
            <a:noFill/>
            <a:ln w="76200">
              <a:solidFill>
                <a:srgbClr val="990066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355" name="Group 11">
            <a:extLst>
              <a:ext uri="{FF2B5EF4-FFF2-40B4-BE49-F238E27FC236}">
                <a16:creationId xmlns:a16="http://schemas.microsoft.com/office/drawing/2014/main" id="{4B1E8718-2203-3F12-3EB7-D24461BFB134}"/>
              </a:ext>
            </a:extLst>
          </p:cNvPr>
          <p:cNvGrpSpPr>
            <a:grpSpLocks/>
          </p:cNvGrpSpPr>
          <p:nvPr/>
        </p:nvGrpSpPr>
        <p:grpSpPr bwMode="auto">
          <a:xfrm>
            <a:off x="3013076" y="2784475"/>
            <a:ext cx="225425" cy="374650"/>
            <a:chOff x="938" y="1754"/>
            <a:chExt cx="142" cy="236"/>
          </a:xfrm>
        </p:grpSpPr>
        <p:sp>
          <p:nvSpPr>
            <p:cNvPr id="57356" name="Line 12">
              <a:extLst>
                <a:ext uri="{FF2B5EF4-FFF2-40B4-BE49-F238E27FC236}">
                  <a16:creationId xmlns:a16="http://schemas.microsoft.com/office/drawing/2014/main" id="{B7EFEC48-23A0-F6B8-C393-E1B099545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0" y="1804"/>
              <a:ext cx="140" cy="140"/>
            </a:xfrm>
            <a:prstGeom prst="line">
              <a:avLst/>
            </a:prstGeom>
            <a:noFill/>
            <a:ln w="76200">
              <a:solidFill>
                <a:srgbClr val="990066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357" name="Line 13">
              <a:extLst>
                <a:ext uri="{FF2B5EF4-FFF2-40B4-BE49-F238E27FC236}">
                  <a16:creationId xmlns:a16="http://schemas.microsoft.com/office/drawing/2014/main" id="{61C45514-311E-97F8-9007-F87F08D71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8" y="1754"/>
              <a:ext cx="140" cy="236"/>
            </a:xfrm>
            <a:prstGeom prst="line">
              <a:avLst/>
            </a:prstGeom>
            <a:noFill/>
            <a:ln w="76200">
              <a:solidFill>
                <a:srgbClr val="990066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7358" name="Rectangle 14">
            <a:extLst>
              <a:ext uri="{FF2B5EF4-FFF2-40B4-BE49-F238E27FC236}">
                <a16:creationId xmlns:a16="http://schemas.microsoft.com/office/drawing/2014/main" id="{5AEDB5EF-4EFC-1A17-1470-AB6900F07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47900"/>
            <a:ext cx="304800" cy="228600"/>
          </a:xfrm>
          <a:prstGeom prst="rect">
            <a:avLst/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59" name="Rectangle 15">
            <a:extLst>
              <a:ext uri="{FF2B5EF4-FFF2-40B4-BE49-F238E27FC236}">
                <a16:creationId xmlns:a16="http://schemas.microsoft.com/office/drawing/2014/main" id="{99C47E2F-145A-4257-6E2C-3A077E320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686300"/>
            <a:ext cx="304800" cy="228600"/>
          </a:xfrm>
          <a:prstGeom prst="rect">
            <a:avLst/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0" name="Rectangle 16">
            <a:extLst>
              <a:ext uri="{FF2B5EF4-FFF2-40B4-BE49-F238E27FC236}">
                <a16:creationId xmlns:a16="http://schemas.microsoft.com/office/drawing/2014/main" id="{3684B636-E3FC-5AB0-DD96-EDB128338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244725"/>
            <a:ext cx="249238" cy="2673350"/>
          </a:xfrm>
          <a:prstGeom prst="rect">
            <a:avLst/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1" name="AutoShape 17">
            <a:extLst>
              <a:ext uri="{FF2B5EF4-FFF2-40B4-BE49-F238E27FC236}">
                <a16:creationId xmlns:a16="http://schemas.microsoft.com/office/drawing/2014/main" id="{D2340CD0-D218-0CA0-DC31-110E17046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89" y="3343276"/>
            <a:ext cx="746125" cy="536575"/>
          </a:xfrm>
          <a:prstGeom prst="rightArrow">
            <a:avLst>
              <a:gd name="adj1" fmla="val 50000"/>
              <a:gd name="adj2" fmla="val 42192"/>
            </a:avLst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2" name="Rectangle 18">
            <a:extLst>
              <a:ext uri="{FF2B5EF4-FFF2-40B4-BE49-F238E27FC236}">
                <a16:creationId xmlns:a16="http://schemas.microsoft.com/office/drawing/2014/main" id="{B2093BFF-8936-1536-FD0C-2003946CF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1987550"/>
            <a:ext cx="2273300" cy="7493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Amount of dissatisfaction</a:t>
            </a:r>
          </a:p>
          <a:p>
            <a:pPr algn="ctr"/>
            <a:r>
              <a:rPr lang="en-US" altLang="en-US" sz="1600" b="1"/>
              <a:t>with current conditions</a:t>
            </a:r>
          </a:p>
        </p:txBody>
      </p:sp>
      <p:sp>
        <p:nvSpPr>
          <p:cNvPr id="57363" name="Rectangle 19">
            <a:extLst>
              <a:ext uri="{FF2B5EF4-FFF2-40B4-BE49-F238E27FC236}">
                <a16:creationId xmlns:a16="http://schemas.microsoft.com/office/drawing/2014/main" id="{3E127F8B-5442-8C62-DC57-9C30F9B95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3206750"/>
            <a:ext cx="22733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Availability of a</a:t>
            </a:r>
          </a:p>
          <a:p>
            <a:pPr algn="ctr"/>
            <a:r>
              <a:rPr lang="en-US" altLang="en-US" sz="1600" b="1"/>
              <a:t>desirable alternative</a:t>
            </a:r>
          </a:p>
        </p:txBody>
      </p:sp>
      <p:sp>
        <p:nvSpPr>
          <p:cNvPr id="57364" name="Rectangle 20">
            <a:extLst>
              <a:ext uri="{FF2B5EF4-FFF2-40B4-BE49-F238E27FC236}">
                <a16:creationId xmlns:a16="http://schemas.microsoft.com/office/drawing/2014/main" id="{A9900846-2AFA-7E9D-CD4E-C264A20CE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4425950"/>
            <a:ext cx="2273300" cy="7493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altLang="en-US" sz="1600" b="1"/>
              <a:t>Existence of a plan for</a:t>
            </a:r>
          </a:p>
          <a:p>
            <a:pPr algn="ctr"/>
            <a:r>
              <a:rPr lang="en-US" altLang="en-US" sz="1600" b="1"/>
              <a:t>achieving a desirable</a:t>
            </a:r>
          </a:p>
          <a:p>
            <a:pPr algn="ctr"/>
            <a:r>
              <a:rPr lang="en-US" altLang="en-US" sz="1600" b="1"/>
              <a:t>alternative</a:t>
            </a:r>
          </a:p>
        </p:txBody>
      </p:sp>
      <p:sp>
        <p:nvSpPr>
          <p:cNvPr id="57365" name="AutoShape 21">
            <a:extLst>
              <a:ext uri="{FF2B5EF4-FFF2-40B4-BE49-F238E27FC236}">
                <a16:creationId xmlns:a16="http://schemas.microsoft.com/office/drawing/2014/main" id="{1ECA5DDE-A35A-34D1-1933-1C17E616636C}"/>
              </a:ext>
            </a:extLst>
          </p:cNvPr>
          <p:cNvSpPr>
            <a:spLocks noChangeArrowheads="1"/>
          </p:cNvSpPr>
          <p:nvPr/>
        </p:nvSpPr>
        <p:spPr bwMode="auto">
          <a:xfrm rot="19200000">
            <a:off x="8845551" y="2354264"/>
            <a:ext cx="746125" cy="536575"/>
          </a:xfrm>
          <a:prstGeom prst="rightArrow">
            <a:avLst>
              <a:gd name="adj1" fmla="val 50000"/>
              <a:gd name="adj2" fmla="val 42192"/>
            </a:avLst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6" name="AutoShape 22">
            <a:extLst>
              <a:ext uri="{FF2B5EF4-FFF2-40B4-BE49-F238E27FC236}">
                <a16:creationId xmlns:a16="http://schemas.microsoft.com/office/drawing/2014/main" id="{E6A86692-EC13-3109-5DDB-75B853F728A7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8875714" y="4184651"/>
            <a:ext cx="746125" cy="536575"/>
          </a:xfrm>
          <a:prstGeom prst="rightArrow">
            <a:avLst>
              <a:gd name="adj1" fmla="val 50000"/>
              <a:gd name="adj2" fmla="val 42192"/>
            </a:avLst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7" name="AutoShape 23">
            <a:extLst>
              <a:ext uri="{FF2B5EF4-FFF2-40B4-BE49-F238E27FC236}">
                <a16:creationId xmlns:a16="http://schemas.microsoft.com/office/drawing/2014/main" id="{33045E12-BBB9-7D02-68C2-F27652F08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9" y="3322639"/>
            <a:ext cx="604837" cy="536575"/>
          </a:xfrm>
          <a:prstGeom prst="rightArrow">
            <a:avLst>
              <a:gd name="adj1" fmla="val 50000"/>
              <a:gd name="adj2" fmla="val 56298"/>
            </a:avLst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8" name="AutoShape 24">
            <a:extLst>
              <a:ext uri="{FF2B5EF4-FFF2-40B4-BE49-F238E27FC236}">
                <a16:creationId xmlns:a16="http://schemas.microsoft.com/office/drawing/2014/main" id="{85ED8BBB-99CA-E356-7C97-F62A7F24D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352801"/>
            <a:ext cx="604838" cy="536575"/>
          </a:xfrm>
          <a:prstGeom prst="rightArrow">
            <a:avLst>
              <a:gd name="adj1" fmla="val 50000"/>
              <a:gd name="adj2" fmla="val 56298"/>
            </a:avLst>
          </a:pr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7369" name="Rectangle 25">
            <a:extLst>
              <a:ext uri="{FF2B5EF4-FFF2-40B4-BE49-F238E27FC236}">
                <a16:creationId xmlns:a16="http://schemas.microsoft.com/office/drawing/2014/main" id="{D17289E6-2DD9-06EE-683C-4004E3DB6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676401"/>
            <a:ext cx="2400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b="1"/>
              <a:t>If benefits exceed costs</a:t>
            </a:r>
          </a:p>
        </p:txBody>
      </p:sp>
      <p:sp>
        <p:nvSpPr>
          <p:cNvPr id="57370" name="Rectangle 26">
            <a:extLst>
              <a:ext uri="{FF2B5EF4-FFF2-40B4-BE49-F238E27FC236}">
                <a16:creationId xmlns:a16="http://schemas.microsoft.com/office/drawing/2014/main" id="{1EDCDF04-019F-4396-3BF3-634A1EA4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700" y="5867401"/>
            <a:ext cx="2400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b="1"/>
              <a:t>If costs exceed benefits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4F15C2-FBCD-6291-5A96-F11C96E31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447800"/>
            <a:ext cx="6019800" cy="4267200"/>
          </a:xfrm>
          <a:prstGeom prst="rect">
            <a:avLst/>
          </a:prstGeom>
          <a:solidFill>
            <a:schemeClr val="tx2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AU" altLang="en-AU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17E4793-D196-902A-1CB4-7372FBD2E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1784350"/>
            <a:ext cx="138271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AU" altLang="en-US" sz="2000">
                <a:latin typeface="Arial" panose="020B0604020202020204" pitchFamily="34" charset="0"/>
              </a:rPr>
              <a:t>Desired</a:t>
            </a:r>
          </a:p>
          <a:p>
            <a:pPr algn="ctr"/>
            <a:r>
              <a:rPr lang="en-AU" altLang="en-US" sz="2000">
                <a:latin typeface="Arial" panose="020B0604020202020204" pitchFamily="34" charset="0"/>
              </a:rPr>
              <a:t>Conditions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E3BC5989-38BC-EE10-D76F-FCA55B8E9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4013200"/>
            <a:ext cx="138271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AU" altLang="en-US" sz="2000">
                <a:latin typeface="Arial" panose="020B0604020202020204" pitchFamily="34" charset="0"/>
              </a:rPr>
              <a:t>Current</a:t>
            </a:r>
          </a:p>
          <a:p>
            <a:pPr algn="ctr"/>
            <a:r>
              <a:rPr lang="en-AU" altLang="en-US" sz="2000">
                <a:latin typeface="Arial" panose="020B0604020202020204" pitchFamily="34" charset="0"/>
              </a:rPr>
              <a:t>Conditions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3CA2C4F2-35EF-969B-6AFF-17E66E40E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5784850"/>
            <a:ext cx="107156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AU" altLang="en-US" sz="2000">
                <a:latin typeface="Arial" panose="020B0604020202020204" pitchFamily="34" charset="0"/>
              </a:rPr>
              <a:t>Before</a:t>
            </a:r>
            <a:br>
              <a:rPr lang="en-AU" altLang="en-US" sz="2000">
                <a:latin typeface="Arial" panose="020B0604020202020204" pitchFamily="34" charset="0"/>
              </a:rPr>
            </a:br>
            <a:r>
              <a:rPr lang="en-AU" altLang="en-US" sz="2000"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582A227-D098-7DDD-D874-1A17043F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088" y="5784850"/>
            <a:ext cx="1071562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AU" altLang="en-US" sz="2000">
                <a:latin typeface="Arial" panose="020B0604020202020204" pitchFamily="34" charset="0"/>
              </a:rPr>
              <a:t>After</a:t>
            </a:r>
            <a:br>
              <a:rPr lang="en-AU" altLang="en-US" sz="2000">
                <a:latin typeface="Arial" panose="020B0604020202020204" pitchFamily="34" charset="0"/>
              </a:rPr>
            </a:br>
            <a:r>
              <a:rPr lang="en-AU" altLang="en-US" sz="2000"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45171BDA-47EA-4920-E810-4024BCF9D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594350"/>
            <a:ext cx="0" cy="1206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2" name="Line 8">
            <a:extLst>
              <a:ext uri="{FF2B5EF4-FFF2-40B4-BE49-F238E27FC236}">
                <a16:creationId xmlns:a16="http://schemas.microsoft.com/office/drawing/2014/main" id="{2FBC7AD9-BD50-0A8D-9758-7FA5CFAFD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3500" y="5594350"/>
            <a:ext cx="0" cy="1206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3" name="AutoShape 9">
            <a:extLst>
              <a:ext uri="{FF2B5EF4-FFF2-40B4-BE49-F238E27FC236}">
                <a16:creationId xmlns:a16="http://schemas.microsoft.com/office/drawing/2014/main" id="{9D2C0289-3E86-282E-7B97-2B3BF78A7D6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178050" y="3092450"/>
            <a:ext cx="1644650" cy="311150"/>
          </a:xfrm>
          <a:prstGeom prst="rightArrow">
            <a:avLst>
              <a:gd name="adj1" fmla="val 50000"/>
              <a:gd name="adj2" fmla="val 109385"/>
            </a:avLst>
          </a:prstGeom>
          <a:solidFill>
            <a:srgbClr val="FF9900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6154" name="Group 10">
            <a:extLst>
              <a:ext uri="{FF2B5EF4-FFF2-40B4-BE49-F238E27FC236}">
                <a16:creationId xmlns:a16="http://schemas.microsoft.com/office/drawing/2014/main" id="{AF2144C1-5BD2-7472-C404-2D496293A40B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371850"/>
            <a:ext cx="1612900" cy="2057400"/>
            <a:chOff x="1248" y="2124"/>
            <a:chExt cx="1016" cy="1296"/>
          </a:xfrm>
        </p:grpSpPr>
        <p:sp>
          <p:nvSpPr>
            <p:cNvPr id="6155" name="AutoShape 11">
              <a:extLst>
                <a:ext uri="{FF2B5EF4-FFF2-40B4-BE49-F238E27FC236}">
                  <a16:creationId xmlns:a16="http://schemas.microsoft.com/office/drawing/2014/main" id="{A4FFC9C0-0F61-9DF6-3789-DC2C0FCE19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40" y="2604"/>
              <a:ext cx="624" cy="100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Driving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56" name="AutoShape 12">
              <a:extLst>
                <a:ext uri="{FF2B5EF4-FFF2-40B4-BE49-F238E27FC236}">
                  <a16:creationId xmlns:a16="http://schemas.microsoft.com/office/drawing/2014/main" id="{4299005E-E664-D6D7-3A83-9E99B1A4A6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1447" y="1937"/>
              <a:ext cx="624" cy="99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Restraining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id="{563B8F63-F810-2C90-1AC9-9E17223922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0" y="2772"/>
              <a:ext cx="864" cy="3"/>
            </a:xfrm>
            <a:prstGeom prst="line">
              <a:avLst/>
            </a:prstGeom>
            <a:noFill/>
            <a:ln w="38100">
              <a:solidFill>
                <a:srgbClr val="B5006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58" name="Rectangle 14">
            <a:extLst>
              <a:ext uri="{FF2B5EF4-FFF2-40B4-BE49-F238E27FC236}">
                <a16:creationId xmlns:a16="http://schemas.microsoft.com/office/drawing/2014/main" id="{B83B585D-272A-5138-AFAE-57268CF8F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Lewin’s Force Field Analysis</a:t>
            </a:r>
          </a:p>
        </p:txBody>
      </p:sp>
      <p:sp>
        <p:nvSpPr>
          <p:cNvPr id="6159" name="Rectangle 15">
            <a:extLst>
              <a:ext uri="{FF2B5EF4-FFF2-40B4-BE49-F238E27FC236}">
                <a16:creationId xmlns:a16="http://schemas.microsoft.com/office/drawing/2014/main" id="{83F4F640-10EE-CF29-9E63-DD63F00E0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5791200"/>
            <a:ext cx="1071563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AU" altLang="en-US" sz="2000">
                <a:latin typeface="Arial" panose="020B0604020202020204" pitchFamily="34" charset="0"/>
              </a:rPr>
              <a:t>During</a:t>
            </a:r>
            <a:br>
              <a:rPr lang="en-AU" altLang="en-US" sz="2000">
                <a:latin typeface="Arial" panose="020B0604020202020204" pitchFamily="34" charset="0"/>
              </a:rPr>
            </a:br>
            <a:r>
              <a:rPr lang="en-AU" altLang="en-US" sz="2000"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56C76EA0-C78E-C348-ED56-1BB620071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594350"/>
            <a:ext cx="0" cy="12065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6161" name="Group 17">
            <a:extLst>
              <a:ext uri="{FF2B5EF4-FFF2-40B4-BE49-F238E27FC236}">
                <a16:creationId xmlns:a16="http://schemas.microsoft.com/office/drawing/2014/main" id="{775D3A54-09C2-05EA-6E9B-9654FBC3FBBA}"/>
              </a:ext>
            </a:extLst>
          </p:cNvPr>
          <p:cNvGrpSpPr>
            <a:grpSpLocks/>
          </p:cNvGrpSpPr>
          <p:nvPr/>
        </p:nvGrpSpPr>
        <p:grpSpPr bwMode="auto">
          <a:xfrm>
            <a:off x="5943601" y="2971800"/>
            <a:ext cx="1603375" cy="1905000"/>
            <a:chOff x="2592" y="1872"/>
            <a:chExt cx="1010" cy="1200"/>
          </a:xfrm>
        </p:grpSpPr>
        <p:sp>
          <p:nvSpPr>
            <p:cNvPr id="6162" name="AutoShape 18">
              <a:extLst>
                <a:ext uri="{FF2B5EF4-FFF2-40B4-BE49-F238E27FC236}">
                  <a16:creationId xmlns:a16="http://schemas.microsoft.com/office/drawing/2014/main" id="{5D4F738C-2327-6363-375A-BCF7106A0F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88" y="2160"/>
              <a:ext cx="816" cy="100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2200" b="1">
                  <a:latin typeface="Arial" panose="020B0604020202020204" pitchFamily="34" charset="0"/>
                </a:rPr>
                <a:t>Driving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2200" b="1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63" name="AutoShape 19">
              <a:extLst>
                <a:ext uri="{FF2B5EF4-FFF2-40B4-BE49-F238E27FC236}">
                  <a16:creationId xmlns:a16="http://schemas.microsoft.com/office/drawing/2014/main" id="{3E494032-662D-8AD1-DDFF-6D4FA9E14E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935" y="1541"/>
              <a:ext cx="336" cy="99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1200">
                  <a:latin typeface="Arial" panose="020B0604020202020204" pitchFamily="34" charset="0"/>
                </a:rPr>
                <a:t>Restraining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1200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64" name="Line 20">
              <a:extLst>
                <a:ext uri="{FF2B5EF4-FFF2-40B4-BE49-F238E27FC236}">
                  <a16:creationId xmlns:a16="http://schemas.microsoft.com/office/drawing/2014/main" id="{8B437909-2EFB-9093-E08F-0270F6284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8" y="2223"/>
              <a:ext cx="863" cy="7"/>
            </a:xfrm>
            <a:prstGeom prst="line">
              <a:avLst/>
            </a:prstGeom>
            <a:noFill/>
            <a:ln w="38100">
              <a:solidFill>
                <a:srgbClr val="B5006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65" name="Group 21">
            <a:extLst>
              <a:ext uri="{FF2B5EF4-FFF2-40B4-BE49-F238E27FC236}">
                <a16:creationId xmlns:a16="http://schemas.microsoft.com/office/drawing/2014/main" id="{46626583-E97D-3493-7C09-6F5B806194F3}"/>
              </a:ext>
            </a:extLst>
          </p:cNvPr>
          <p:cNvGrpSpPr>
            <a:grpSpLocks/>
          </p:cNvGrpSpPr>
          <p:nvPr/>
        </p:nvGrpSpPr>
        <p:grpSpPr bwMode="auto">
          <a:xfrm>
            <a:off x="7981951" y="1600200"/>
            <a:ext cx="1603375" cy="2057400"/>
            <a:chOff x="3876" y="1008"/>
            <a:chExt cx="1010" cy="1296"/>
          </a:xfrm>
        </p:grpSpPr>
        <p:sp>
          <p:nvSpPr>
            <p:cNvPr id="6166" name="AutoShape 22">
              <a:extLst>
                <a:ext uri="{FF2B5EF4-FFF2-40B4-BE49-F238E27FC236}">
                  <a16:creationId xmlns:a16="http://schemas.microsoft.com/office/drawing/2014/main" id="{8D08B3DF-BBBC-C8BD-B680-71CE568BCA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068" y="1488"/>
              <a:ext cx="624" cy="100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Driving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67" name="AutoShape 23">
              <a:extLst>
                <a:ext uri="{FF2B5EF4-FFF2-40B4-BE49-F238E27FC236}">
                  <a16:creationId xmlns:a16="http://schemas.microsoft.com/office/drawing/2014/main" id="{ADF87704-8A95-E36A-9213-B33BACFC4A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075" y="821"/>
              <a:ext cx="624" cy="998"/>
            </a:xfrm>
            <a:prstGeom prst="rightArrow">
              <a:avLst>
                <a:gd name="adj1" fmla="val 75000"/>
                <a:gd name="adj2" fmla="val 40681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Restraining</a:t>
              </a:r>
            </a:p>
            <a:p>
              <a:pPr algn="ctr">
                <a:lnSpc>
                  <a:spcPct val="85000"/>
                </a:lnSpc>
              </a:pPr>
              <a:r>
                <a:rPr lang="en-AU" altLang="en-AU" sz="1600" b="1">
                  <a:latin typeface="Arial" panose="020B0604020202020204" pitchFamily="34" charset="0"/>
                </a:rPr>
                <a:t>Forces</a:t>
              </a:r>
            </a:p>
          </p:txBody>
        </p:sp>
        <p:sp>
          <p:nvSpPr>
            <p:cNvPr id="6168" name="Line 24">
              <a:extLst>
                <a:ext uri="{FF2B5EF4-FFF2-40B4-BE49-F238E27FC236}">
                  <a16:creationId xmlns:a16="http://schemas.microsoft.com/office/drawing/2014/main" id="{5913D303-08EF-C057-B817-5A06976B0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" y="1659"/>
              <a:ext cx="864" cy="5"/>
            </a:xfrm>
            <a:prstGeom prst="line">
              <a:avLst/>
            </a:prstGeom>
            <a:noFill/>
            <a:ln w="38100">
              <a:solidFill>
                <a:srgbClr val="B5006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385A02B-0046-29DD-B57B-6054BBE7B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1828800"/>
            <a:ext cx="304800" cy="44450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84A93C46-D184-3432-7AEB-37ECF4B1BE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4450" y="2425700"/>
            <a:ext cx="478155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9E700F5E-3842-5BA4-6E85-DEA267703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187700"/>
            <a:ext cx="480060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36D0762A-761C-5B4D-E57B-BA9E58891E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854450"/>
            <a:ext cx="480060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61CFFC34-A3E9-E7AC-5E30-0F85703534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4597400"/>
            <a:ext cx="480060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E4779C06-91EF-5D16-F53A-08405BE5C3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5321300"/>
            <a:ext cx="480060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D2F9F2AD-EEE4-D231-3A8D-A8B82EA304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6026150"/>
            <a:ext cx="4800600" cy="0"/>
          </a:xfrm>
          <a:prstGeom prst="line">
            <a:avLst/>
          </a:prstGeom>
          <a:noFill/>
          <a:ln w="50800">
            <a:solidFill>
              <a:srgbClr val="666633"/>
            </a:solidFill>
            <a:round/>
            <a:headEnd/>
            <a:tailEnd type="triangle" w="med" len="med"/>
          </a:ln>
          <a:effectLst>
            <a:prstShdw prst="shdw17" dist="17961" dir="2700000">
              <a:srgbClr val="666633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25" name="AutoShape 9">
            <a:extLst>
              <a:ext uri="{FF2B5EF4-FFF2-40B4-BE49-F238E27FC236}">
                <a16:creationId xmlns:a16="http://schemas.microsoft.com/office/drawing/2014/main" id="{C5AD6946-A390-F5E1-F4F4-634D6BDBB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476500"/>
            <a:ext cx="2400300" cy="3390900"/>
          </a:xfrm>
          <a:prstGeom prst="rightArrow">
            <a:avLst>
              <a:gd name="adj1" fmla="val 75000"/>
              <a:gd name="adj2" fmla="val 51593"/>
            </a:avLst>
          </a:prstGeom>
          <a:solidFill>
            <a:srgbClr val="003300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lIns="198000" anchor="ctr"/>
          <a:lstStyle/>
          <a:p>
            <a:r>
              <a:rPr lang="en-AU" altLang="en-AU" sz="2800">
                <a:solidFill>
                  <a:srgbClr val="FFFFFF"/>
                </a:solidFill>
                <a:latin typeface="Arial" panose="020B0604020202020204" pitchFamily="34" charset="0"/>
              </a:rPr>
              <a:t>Forces for</a:t>
            </a:r>
          </a:p>
          <a:p>
            <a:r>
              <a:rPr lang="en-AU" altLang="en-AU" sz="2800">
                <a:solidFill>
                  <a:srgbClr val="FFFFFF"/>
                </a:solidFill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EA3B3B5C-EEF2-C21A-EF2B-814669B83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Resistance to Change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7DEC8A60-19DF-5F86-15DA-75B7EE51FEB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02264" y="1981201"/>
            <a:ext cx="4351337" cy="4418013"/>
          </a:xfrm>
        </p:spPr>
        <p:txBody>
          <a:bodyPr/>
          <a:lstStyle/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Direct Costs</a:t>
            </a:r>
          </a:p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Saving Face</a:t>
            </a:r>
          </a:p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Fear of the Unknown</a:t>
            </a:r>
          </a:p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Breaking Routines</a:t>
            </a:r>
          </a:p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Incongruent Systems</a:t>
            </a:r>
          </a:p>
          <a:p>
            <a:pPr>
              <a:spcBef>
                <a:spcPct val="95000"/>
              </a:spcBef>
              <a:buFontTx/>
              <a:buNone/>
            </a:pPr>
            <a:r>
              <a:rPr lang="en-AU" altLang="en-US" sz="2400"/>
              <a:t>Incongruent Team Dynamics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 build="p" autoUpdateAnimBg="0" advAuto="100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ED4B-3E9E-8104-AC6C-6A231ED3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Resistance to Change.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Sources: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03474-9690-5A2D-41D0-C6B6CF7BE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1543665"/>
            <a:ext cx="10343535" cy="42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87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E7B4-2853-C21B-2625-977C0E5C2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Resistance to Change.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Sources: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6D80B2-AAE1-B73A-535A-2B91F24D4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75" y="1835457"/>
            <a:ext cx="9320970" cy="4351338"/>
          </a:xfrm>
        </p:spPr>
      </p:pic>
    </p:spTree>
    <p:extLst>
      <p:ext uri="{BB962C8B-B14F-4D97-AF65-F5344CB8AC3E}">
        <p14:creationId xmlns:p14="http://schemas.microsoft.com/office/powerpoint/2010/main" val="308901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BC02222-D79F-8DE9-2F13-26FA134C8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Creating an Urgency for Change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98446EA-C014-8A4D-3145-CA457C596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33832"/>
            <a:ext cx="10515600" cy="46431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Need to motivate employees to change</a:t>
            </a:r>
          </a:p>
          <a:p>
            <a:pPr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Most difficult when organisation is doing well </a:t>
            </a:r>
          </a:p>
          <a:p>
            <a:pPr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Must be real, not contrived</a:t>
            </a:r>
          </a:p>
          <a:p>
            <a:pPr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Customer-driven change</a:t>
            </a:r>
          </a:p>
          <a:p>
            <a:pPr lvl="1"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Adverse consequences for firm</a:t>
            </a:r>
          </a:p>
          <a:p>
            <a:pPr lvl="1">
              <a:lnSpc>
                <a:spcPct val="150000"/>
              </a:lnSpc>
            </a:pPr>
            <a:r>
              <a:rPr lang="en-AU" altLang="en-US" dirty="0">
                <a:latin typeface="Bookman Old Style" panose="02050604050505020204" pitchFamily="18" charset="0"/>
              </a:rPr>
              <a:t>Human element energizes employees</a:t>
            </a:r>
          </a:p>
        </p:txBody>
      </p:sp>
    </p:spTree>
  </p:cSld>
  <p:clrMapOvr>
    <a:masterClrMapping/>
  </p:clrMapOvr>
  <p:transition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2">
            <a:extLst>
              <a:ext uri="{FF2B5EF4-FFF2-40B4-BE49-F238E27FC236}">
                <a16:creationId xmlns:a16="http://schemas.microsoft.com/office/drawing/2014/main" id="{AAE37546-14A2-4983-1AF2-50E79EC6C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62200"/>
            <a:ext cx="4419600" cy="2971800"/>
          </a:xfrm>
          <a:prstGeom prst="ellipse">
            <a:avLst/>
          </a:prstGeom>
          <a:solidFill>
            <a:srgbClr val="4E3C20"/>
          </a:solidFill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AU" altLang="en-AU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Minimizing</a:t>
            </a:r>
          </a:p>
          <a:p>
            <a:pPr algn="ctr"/>
            <a:r>
              <a:rPr lang="en-AU" altLang="en-AU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Resistance</a:t>
            </a:r>
          </a:p>
          <a:p>
            <a:pPr algn="ctr"/>
            <a:r>
              <a:rPr lang="en-AU" altLang="en-AU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to</a:t>
            </a:r>
            <a:r>
              <a:rPr lang="en-AU" altLang="en-AU" sz="2800" b="1">
                <a:solidFill>
                  <a:srgbClr val="EDE59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AU" altLang="en-AU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1E30B8F-C910-80CF-9EA3-AF5AE84C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16002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Communication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F6BF31A-FD73-C825-60D4-BE04C1E2C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908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Training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82684E00-9480-C1CB-BA2A-43AEEC603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0386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Employee</a:t>
            </a:r>
          </a:p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Involvement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C08E504F-630F-28F6-F916-DB93503CA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50292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Stress</a:t>
            </a:r>
          </a:p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Management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79B1BE66-BD94-9B83-8CB2-57051E00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Negotiation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4381F23F-89D1-FBB7-D0F7-502FD1EE4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590800"/>
            <a:ext cx="2057400" cy="914400"/>
          </a:xfrm>
          <a:prstGeom prst="rect">
            <a:avLst/>
          </a:prstGeom>
          <a:solidFill>
            <a:srgbClr val="003D3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AU" altLang="en-AU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Coercion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3E5319A4-436F-5E74-BDD4-8E88D2F4D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AU"/>
              <a:t>Minimizing Resistance to Change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 autoUpdateAnimBg="0"/>
      <p:bldP spid="13316" grpId="0" animBg="1" autoUpdateAnimBg="0"/>
      <p:bldP spid="13317" grpId="0" animBg="1" autoUpdateAnimBg="0"/>
      <p:bldP spid="13318" grpId="0" animBg="1" autoUpdateAnimBg="0"/>
      <p:bldP spid="13319" grpId="0" animBg="1" autoUpdateAnimBg="0"/>
      <p:bldP spid="1332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>
            <a:extLst>
              <a:ext uri="{FF2B5EF4-FFF2-40B4-BE49-F238E27FC236}">
                <a16:creationId xmlns:a16="http://schemas.microsoft.com/office/drawing/2014/main" id="{FAE16E41-B7AC-4D13-719E-C230BCC14634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3057525" y="1546302"/>
            <a:ext cx="1295400" cy="2038350"/>
          </a:xfrm>
          <a:prstGeom prst="rightArrow">
            <a:avLst>
              <a:gd name="adj1" fmla="val 75000"/>
              <a:gd name="adj2" fmla="val 38301"/>
            </a:avLst>
          </a:prstGeom>
          <a:solidFill>
            <a:srgbClr val="56142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eaVert" wrap="none" tIns="118800" anchor="ctr"/>
          <a:lstStyle/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Establish</a:t>
            </a:r>
          </a:p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Client-</a:t>
            </a:r>
          </a:p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Consultant</a:t>
            </a:r>
          </a:p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Relations</a:t>
            </a:r>
          </a:p>
        </p:txBody>
      </p:sp>
      <p:sp>
        <p:nvSpPr>
          <p:cNvPr id="21507" name="AutoShape 3">
            <a:extLst>
              <a:ext uri="{FF2B5EF4-FFF2-40B4-BE49-F238E27FC236}">
                <a16:creationId xmlns:a16="http://schemas.microsoft.com/office/drawing/2014/main" id="{77E2E58F-E86B-FA73-861B-C3E9071D901B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7620000" y="4681637"/>
            <a:ext cx="1447800" cy="2038350"/>
          </a:xfrm>
          <a:prstGeom prst="rightArrow">
            <a:avLst>
              <a:gd name="adj1" fmla="val 75000"/>
              <a:gd name="adj2" fmla="val 38301"/>
            </a:avLst>
          </a:prstGeom>
          <a:solidFill>
            <a:srgbClr val="56142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eaVert" wrap="none" tIns="118800" anchor="ctr"/>
          <a:lstStyle/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Disengage</a:t>
            </a:r>
          </a:p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Consultant’s</a:t>
            </a:r>
          </a:p>
          <a:p>
            <a:pPr algn="ctr">
              <a:lnSpc>
                <a:spcPct val="85000"/>
              </a:lnSpc>
            </a:pPr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Services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8D27F724-F7BB-2005-03AA-5898387A1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70218"/>
            <a:ext cx="10515600" cy="625474"/>
          </a:xfrm>
        </p:spPr>
        <p:txBody>
          <a:bodyPr>
            <a:noAutofit/>
          </a:bodyPr>
          <a:lstStyle/>
          <a:p>
            <a:r>
              <a:rPr lang="en-AU" altLang="en-US" sz="3200" b="1" dirty="0">
                <a:latin typeface="Bookman Old Style" panose="02050604050505020204" pitchFamily="18" charset="0"/>
              </a:rPr>
              <a:t>Action Research Process :</a:t>
            </a:r>
            <a:br>
              <a:rPr lang="en-AU" altLang="en-US" sz="3200" b="1" dirty="0"/>
            </a:br>
            <a:endParaRPr lang="en-AU" altLang="en-US" sz="3200" b="1" dirty="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3D23EBB0-0FBE-F654-7167-73C2BD12D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55297"/>
            <a:ext cx="1828800" cy="1524000"/>
          </a:xfrm>
          <a:prstGeom prst="rect">
            <a:avLst/>
          </a:prstGeom>
          <a:solidFill>
            <a:srgbClr val="041F32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Diagnose</a:t>
            </a:r>
          </a:p>
          <a:p>
            <a:pPr algn="ctr"/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Need for</a:t>
            </a:r>
          </a:p>
          <a:p>
            <a:pPr algn="ctr"/>
            <a:r>
              <a:rPr lang="en-AU" altLang="en-AU" dirty="0">
                <a:solidFill>
                  <a:srgbClr val="FFFFFF"/>
                </a:solidFill>
                <a:latin typeface="Arial" panose="020B0604020202020204" pitchFamily="34" charset="0"/>
              </a:rPr>
              <a:t>Change</a:t>
            </a:r>
          </a:p>
        </p:txBody>
      </p:sp>
      <p:grpSp>
        <p:nvGrpSpPr>
          <p:cNvPr id="21510" name="Group 6">
            <a:extLst>
              <a:ext uri="{FF2B5EF4-FFF2-40B4-BE49-F238E27FC236}">
                <a16:creationId xmlns:a16="http://schemas.microsoft.com/office/drawing/2014/main" id="{897C2006-AF2A-D655-E39B-F7D2D192427C}"/>
              </a:ext>
            </a:extLst>
          </p:cNvPr>
          <p:cNvGrpSpPr>
            <a:grpSpLocks/>
          </p:cNvGrpSpPr>
          <p:nvPr/>
        </p:nvGrpSpPr>
        <p:grpSpPr bwMode="auto">
          <a:xfrm>
            <a:off x="4781550" y="3331497"/>
            <a:ext cx="2133600" cy="1524000"/>
            <a:chOff x="2016" y="1872"/>
            <a:chExt cx="1344" cy="960"/>
          </a:xfrm>
        </p:grpSpPr>
        <p:sp>
          <p:nvSpPr>
            <p:cNvPr id="21511" name="AutoShape 7">
              <a:extLst>
                <a:ext uri="{FF2B5EF4-FFF2-40B4-BE49-F238E27FC236}">
                  <a16:creationId xmlns:a16="http://schemas.microsoft.com/office/drawing/2014/main" id="{F43A4E3A-4235-0FAF-CACC-359CDAD6B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304"/>
              <a:ext cx="156" cy="180"/>
            </a:xfrm>
            <a:prstGeom prst="rightArrow">
              <a:avLst>
                <a:gd name="adj1" fmla="val 50000"/>
                <a:gd name="adj2" fmla="val 64292"/>
              </a:avLst>
            </a:prstGeom>
            <a:solidFill>
              <a:srgbClr val="041F3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12" name="Rectangle 8">
              <a:extLst>
                <a:ext uri="{FF2B5EF4-FFF2-40B4-BE49-F238E27FC236}">
                  <a16:creationId xmlns:a16="http://schemas.microsoft.com/office/drawing/2014/main" id="{11ABF226-19D8-8E5C-905F-F10A53695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72"/>
              <a:ext cx="1152" cy="960"/>
            </a:xfrm>
            <a:prstGeom prst="rect">
              <a:avLst/>
            </a:prstGeom>
            <a:solidFill>
              <a:srgbClr val="041F32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AU" altLang="en-AU">
                  <a:solidFill>
                    <a:srgbClr val="FFFFFF"/>
                  </a:solidFill>
                  <a:latin typeface="Arial" panose="020B0604020202020204" pitchFamily="34" charset="0"/>
                </a:rPr>
                <a:t>Introduce</a:t>
              </a:r>
            </a:p>
            <a:p>
              <a:pPr algn="ctr"/>
              <a:r>
                <a:rPr lang="en-AU" altLang="en-AU">
                  <a:solidFill>
                    <a:srgbClr val="FFFFFF"/>
                  </a:solidFill>
                  <a:latin typeface="Arial" panose="020B0604020202020204" pitchFamily="34" charset="0"/>
                </a:rPr>
                <a:t>Change</a:t>
              </a:r>
            </a:p>
          </p:txBody>
        </p:sp>
      </p:grpSp>
      <p:grpSp>
        <p:nvGrpSpPr>
          <p:cNvPr id="21513" name="Group 9">
            <a:extLst>
              <a:ext uri="{FF2B5EF4-FFF2-40B4-BE49-F238E27FC236}">
                <a16:creationId xmlns:a16="http://schemas.microsoft.com/office/drawing/2014/main" id="{E6C65507-BEAC-F96C-6F9E-E1222ABA11CC}"/>
              </a:ext>
            </a:extLst>
          </p:cNvPr>
          <p:cNvGrpSpPr>
            <a:grpSpLocks/>
          </p:cNvGrpSpPr>
          <p:nvPr/>
        </p:nvGrpSpPr>
        <p:grpSpPr bwMode="auto">
          <a:xfrm>
            <a:off x="6972300" y="3452912"/>
            <a:ext cx="2286000" cy="1524000"/>
            <a:chOff x="3360" y="2128"/>
            <a:chExt cx="1440" cy="960"/>
          </a:xfrm>
        </p:grpSpPr>
        <p:sp>
          <p:nvSpPr>
            <p:cNvPr id="21514" name="AutoShape 10">
              <a:extLst>
                <a:ext uri="{FF2B5EF4-FFF2-40B4-BE49-F238E27FC236}">
                  <a16:creationId xmlns:a16="http://schemas.microsoft.com/office/drawing/2014/main" id="{0106A9E1-E3DB-5DA0-D5BB-A899D66BD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04"/>
              <a:ext cx="156" cy="180"/>
            </a:xfrm>
            <a:prstGeom prst="rightArrow">
              <a:avLst>
                <a:gd name="adj1" fmla="val 50000"/>
                <a:gd name="adj2" fmla="val 64292"/>
              </a:avLst>
            </a:prstGeom>
            <a:solidFill>
              <a:srgbClr val="041F3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15" name="Rectangle 11">
              <a:extLst>
                <a:ext uri="{FF2B5EF4-FFF2-40B4-BE49-F238E27FC236}">
                  <a16:creationId xmlns:a16="http://schemas.microsoft.com/office/drawing/2014/main" id="{E5AB809D-FC30-FB0A-B6B1-454C4AF6C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128"/>
              <a:ext cx="1152" cy="960"/>
            </a:xfrm>
            <a:prstGeom prst="rect">
              <a:avLst/>
            </a:prstGeom>
            <a:solidFill>
              <a:srgbClr val="041F32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AU" altLang="en-AU" dirty="0">
                  <a:solidFill>
                    <a:srgbClr val="FFFFFF"/>
                  </a:solidFill>
                  <a:latin typeface="Arial" panose="020B0604020202020204" pitchFamily="34" charset="0"/>
                </a:rPr>
                <a:t>Evaluate/</a:t>
              </a:r>
            </a:p>
            <a:p>
              <a:pPr algn="ctr"/>
              <a:r>
                <a:rPr lang="en-AU" altLang="en-AU" dirty="0">
                  <a:solidFill>
                    <a:srgbClr val="FFFFFF"/>
                  </a:solidFill>
                  <a:latin typeface="Arial" panose="020B0604020202020204" pitchFamily="34" charset="0"/>
                </a:rPr>
                <a:t>Stabilize</a:t>
              </a:r>
            </a:p>
            <a:p>
              <a:pPr algn="ctr"/>
              <a:r>
                <a:rPr lang="en-AU" altLang="en-AU" dirty="0">
                  <a:solidFill>
                    <a:srgbClr val="FFFFFF"/>
                  </a:solidFill>
                  <a:latin typeface="Arial" panose="020B0604020202020204" pitchFamily="34" charset="0"/>
                </a:rPr>
                <a:t>Change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EA26EA-7878-26A6-AE06-4F9498AD57C7}"/>
              </a:ext>
            </a:extLst>
          </p:cNvPr>
          <p:cNvSpPr txBox="1"/>
          <p:nvPr/>
        </p:nvSpPr>
        <p:spPr>
          <a:xfrm>
            <a:off x="5887677" y="792243"/>
            <a:ext cx="6174658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i="1" dirty="0"/>
              <a:t>A problem focused change process that combines action orientation(changing attitudes and behavior) and research orientation(testing theory through data collection and analysis).</a:t>
            </a:r>
            <a:endParaRPr lang="en-IN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32441-03FD-2105-6E43-352A8B684AAB}"/>
              </a:ext>
            </a:extLst>
          </p:cNvPr>
          <p:cNvSpPr txBox="1"/>
          <p:nvPr/>
        </p:nvSpPr>
        <p:spPr>
          <a:xfrm>
            <a:off x="88489" y="69545"/>
            <a:ext cx="1159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Four Approaches to Organizational Change.</a:t>
            </a:r>
            <a:endParaRPr lang="en-IN" sz="3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 autoUpdateAnimBg="0"/>
      <p:bldP spid="21507" grpId="0" animBg="1" autoUpdateAnimBg="0"/>
      <p:bldP spid="21509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>
            <a:extLst>
              <a:ext uri="{FF2B5EF4-FFF2-40B4-BE49-F238E27FC236}">
                <a16:creationId xmlns:a16="http://schemas.microsoft.com/office/drawing/2014/main" id="{B5E3D9FC-217E-946B-FA69-E6A82DB54CC3}"/>
              </a:ext>
            </a:extLst>
          </p:cNvPr>
          <p:cNvGrpSpPr>
            <a:grpSpLocks/>
          </p:cNvGrpSpPr>
          <p:nvPr/>
        </p:nvGrpSpPr>
        <p:grpSpPr bwMode="auto">
          <a:xfrm>
            <a:off x="7505711" y="4538898"/>
            <a:ext cx="2133600" cy="685800"/>
            <a:chOff x="3264" y="2112"/>
            <a:chExt cx="1344" cy="432"/>
          </a:xfrm>
        </p:grpSpPr>
        <p:grpSp>
          <p:nvGrpSpPr>
            <p:cNvPr id="23555" name="Group 3">
              <a:extLst>
                <a:ext uri="{FF2B5EF4-FFF2-40B4-BE49-F238E27FC236}">
                  <a16:creationId xmlns:a16="http://schemas.microsoft.com/office/drawing/2014/main" id="{CCA4E5AE-AC16-E84E-EB65-090A65CC7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256"/>
              <a:ext cx="1344" cy="288"/>
              <a:chOff x="3696" y="1296"/>
              <a:chExt cx="1344" cy="288"/>
            </a:xfrm>
          </p:grpSpPr>
          <p:sp>
            <p:nvSpPr>
              <p:cNvPr id="23556" name="Line 4">
                <a:extLst>
                  <a:ext uri="{FF2B5EF4-FFF2-40B4-BE49-F238E27FC236}">
                    <a16:creationId xmlns:a16="http://schemas.microsoft.com/office/drawing/2014/main" id="{54E6038B-D268-E2E4-AC54-BF2CDF31C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57" name="Line 5">
                <a:extLst>
                  <a:ext uri="{FF2B5EF4-FFF2-40B4-BE49-F238E27FC236}">
                    <a16:creationId xmlns:a16="http://schemas.microsoft.com/office/drawing/2014/main" id="{5B7A8CFB-3696-56F3-96F4-5A598FDF3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58" name="Line 6">
                <a:extLst>
                  <a:ext uri="{FF2B5EF4-FFF2-40B4-BE49-F238E27FC236}">
                    <a16:creationId xmlns:a16="http://schemas.microsoft.com/office/drawing/2014/main" id="{146811EF-3B14-B519-555D-27EC8E7D7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59" name="Rectangle 7">
                <a:extLst>
                  <a:ext uri="{FF2B5EF4-FFF2-40B4-BE49-F238E27FC236}">
                    <a16:creationId xmlns:a16="http://schemas.microsoft.com/office/drawing/2014/main" id="{6F864AD8-082B-D970-49F7-167496450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384" cy="192"/>
              </a:xfrm>
              <a:prstGeom prst="rect">
                <a:avLst/>
              </a:prstGeom>
              <a:solidFill>
                <a:srgbClr val="0033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0" name="Rectangle 8">
                <a:extLst>
                  <a:ext uri="{FF2B5EF4-FFF2-40B4-BE49-F238E27FC236}">
                    <a16:creationId xmlns:a16="http://schemas.microsoft.com/office/drawing/2014/main" id="{730675C8-20A9-8B01-5745-566F7BE49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92"/>
                <a:ext cx="384" cy="192"/>
              </a:xfrm>
              <a:prstGeom prst="rect">
                <a:avLst/>
              </a:prstGeom>
              <a:solidFill>
                <a:srgbClr val="0033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1" name="Rectangle 9">
                <a:extLst>
                  <a:ext uri="{FF2B5EF4-FFF2-40B4-BE49-F238E27FC236}">
                    <a16:creationId xmlns:a16="http://schemas.microsoft.com/office/drawing/2014/main" id="{A22B3F25-C325-D08E-D1E1-9C607C346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392"/>
                <a:ext cx="384" cy="192"/>
              </a:xfrm>
              <a:prstGeom prst="rect">
                <a:avLst/>
              </a:prstGeom>
              <a:solidFill>
                <a:srgbClr val="0033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2" name="Line 10">
                <a:extLst>
                  <a:ext uri="{FF2B5EF4-FFF2-40B4-BE49-F238E27FC236}">
                    <a16:creationId xmlns:a16="http://schemas.microsoft.com/office/drawing/2014/main" id="{D7810113-1C17-E0CD-BB5B-9EBA4FE70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3563" name="Line 11">
              <a:extLst>
                <a:ext uri="{FF2B5EF4-FFF2-40B4-BE49-F238E27FC236}">
                  <a16:creationId xmlns:a16="http://schemas.microsoft.com/office/drawing/2014/main" id="{6A100C8A-3A87-24C6-EEF0-651B919E3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11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564" name="Group 12">
            <a:extLst>
              <a:ext uri="{FF2B5EF4-FFF2-40B4-BE49-F238E27FC236}">
                <a16:creationId xmlns:a16="http://schemas.microsoft.com/office/drawing/2014/main" id="{F082872F-EDEC-4B90-AFE9-09AA8322C1CF}"/>
              </a:ext>
            </a:extLst>
          </p:cNvPr>
          <p:cNvGrpSpPr>
            <a:grpSpLocks/>
          </p:cNvGrpSpPr>
          <p:nvPr/>
        </p:nvGrpSpPr>
        <p:grpSpPr bwMode="auto">
          <a:xfrm>
            <a:off x="8267711" y="3844861"/>
            <a:ext cx="2133600" cy="685800"/>
            <a:chOff x="3264" y="2112"/>
            <a:chExt cx="1344" cy="432"/>
          </a:xfrm>
        </p:grpSpPr>
        <p:grpSp>
          <p:nvGrpSpPr>
            <p:cNvPr id="23565" name="Group 13">
              <a:extLst>
                <a:ext uri="{FF2B5EF4-FFF2-40B4-BE49-F238E27FC236}">
                  <a16:creationId xmlns:a16="http://schemas.microsoft.com/office/drawing/2014/main" id="{8E7D0C9B-8F07-E042-E78C-FF68E56B3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256"/>
              <a:ext cx="1344" cy="288"/>
              <a:chOff x="3696" y="1296"/>
              <a:chExt cx="1344" cy="288"/>
            </a:xfrm>
          </p:grpSpPr>
          <p:sp>
            <p:nvSpPr>
              <p:cNvPr id="23566" name="Line 14">
                <a:extLst>
                  <a:ext uri="{FF2B5EF4-FFF2-40B4-BE49-F238E27FC236}">
                    <a16:creationId xmlns:a16="http://schemas.microsoft.com/office/drawing/2014/main" id="{B627F41E-C31F-E9D2-B91B-AF7630539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7" name="Line 15">
                <a:extLst>
                  <a:ext uri="{FF2B5EF4-FFF2-40B4-BE49-F238E27FC236}">
                    <a16:creationId xmlns:a16="http://schemas.microsoft.com/office/drawing/2014/main" id="{E9475A7C-D636-C48C-F764-65F2CD95A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8" name="Line 16">
                <a:extLst>
                  <a:ext uri="{FF2B5EF4-FFF2-40B4-BE49-F238E27FC236}">
                    <a16:creationId xmlns:a16="http://schemas.microsoft.com/office/drawing/2014/main" id="{25DD921A-4A1D-A649-80D4-78DD84D46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69" name="Rectangle 17">
                <a:extLst>
                  <a:ext uri="{FF2B5EF4-FFF2-40B4-BE49-F238E27FC236}">
                    <a16:creationId xmlns:a16="http://schemas.microsoft.com/office/drawing/2014/main" id="{47B6B44F-B0E3-30AE-63E5-093C022C7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384" cy="192"/>
              </a:xfrm>
              <a:prstGeom prst="rect">
                <a:avLst/>
              </a:prstGeom>
              <a:solidFill>
                <a:srgbClr val="66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70" name="Rectangle 18">
                <a:extLst>
                  <a:ext uri="{FF2B5EF4-FFF2-40B4-BE49-F238E27FC236}">
                    <a16:creationId xmlns:a16="http://schemas.microsoft.com/office/drawing/2014/main" id="{7B817A5E-203B-03BF-0E77-82F10938D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92"/>
                <a:ext cx="384" cy="192"/>
              </a:xfrm>
              <a:prstGeom prst="rect">
                <a:avLst/>
              </a:prstGeom>
              <a:solidFill>
                <a:srgbClr val="66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71" name="Rectangle 19">
                <a:extLst>
                  <a:ext uri="{FF2B5EF4-FFF2-40B4-BE49-F238E27FC236}">
                    <a16:creationId xmlns:a16="http://schemas.microsoft.com/office/drawing/2014/main" id="{A588EDBF-491F-DB57-6871-6C8A93CE5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392"/>
                <a:ext cx="384" cy="192"/>
              </a:xfrm>
              <a:prstGeom prst="rect">
                <a:avLst/>
              </a:prstGeom>
              <a:solidFill>
                <a:srgbClr val="66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72" name="Line 20">
                <a:extLst>
                  <a:ext uri="{FF2B5EF4-FFF2-40B4-BE49-F238E27FC236}">
                    <a16:creationId xmlns:a16="http://schemas.microsoft.com/office/drawing/2014/main" id="{D2C7F241-D2BC-0205-6DC9-0400E5083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3573" name="Line 21">
              <a:extLst>
                <a:ext uri="{FF2B5EF4-FFF2-40B4-BE49-F238E27FC236}">
                  <a16:creationId xmlns:a16="http://schemas.microsoft.com/office/drawing/2014/main" id="{93BBB73B-58C8-EEB4-3DA7-8E2434060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11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574" name="Group 22">
            <a:extLst>
              <a:ext uri="{FF2B5EF4-FFF2-40B4-BE49-F238E27FC236}">
                <a16:creationId xmlns:a16="http://schemas.microsoft.com/office/drawing/2014/main" id="{A5BCA32B-79C5-921D-5704-CFE762E60B34}"/>
              </a:ext>
            </a:extLst>
          </p:cNvPr>
          <p:cNvGrpSpPr>
            <a:grpSpLocks/>
          </p:cNvGrpSpPr>
          <p:nvPr/>
        </p:nvGrpSpPr>
        <p:grpSpPr bwMode="auto">
          <a:xfrm>
            <a:off x="8252554" y="2168010"/>
            <a:ext cx="2133600" cy="990600"/>
            <a:chOff x="3696" y="960"/>
            <a:chExt cx="1344" cy="624"/>
          </a:xfrm>
        </p:grpSpPr>
        <p:sp>
          <p:nvSpPr>
            <p:cNvPr id="23575" name="Rectangle 23">
              <a:extLst>
                <a:ext uri="{FF2B5EF4-FFF2-40B4-BE49-F238E27FC236}">
                  <a16:creationId xmlns:a16="http://schemas.microsoft.com/office/drawing/2014/main" id="{B4C1CB12-4247-3B19-88A8-2FBE4DC07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960"/>
              <a:ext cx="384" cy="192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3576" name="Group 24">
              <a:extLst>
                <a:ext uri="{FF2B5EF4-FFF2-40B4-BE49-F238E27FC236}">
                  <a16:creationId xmlns:a16="http://schemas.microsoft.com/office/drawing/2014/main" id="{131331DB-BFCD-4663-AC32-6892CC2DC1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296"/>
              <a:ext cx="1344" cy="288"/>
              <a:chOff x="3696" y="1296"/>
              <a:chExt cx="1344" cy="288"/>
            </a:xfrm>
          </p:grpSpPr>
          <p:sp>
            <p:nvSpPr>
              <p:cNvPr id="23577" name="Line 25">
                <a:extLst>
                  <a:ext uri="{FF2B5EF4-FFF2-40B4-BE49-F238E27FC236}">
                    <a16:creationId xmlns:a16="http://schemas.microsoft.com/office/drawing/2014/main" id="{E5EAF786-A237-0243-40CF-8ED7C0333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78" name="Line 26">
                <a:extLst>
                  <a:ext uri="{FF2B5EF4-FFF2-40B4-BE49-F238E27FC236}">
                    <a16:creationId xmlns:a16="http://schemas.microsoft.com/office/drawing/2014/main" id="{1510D82A-5FD1-15DC-703E-594ADFD76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79" name="Line 27">
                <a:extLst>
                  <a:ext uri="{FF2B5EF4-FFF2-40B4-BE49-F238E27FC236}">
                    <a16:creationId xmlns:a16="http://schemas.microsoft.com/office/drawing/2014/main" id="{1375F207-D0A8-ECCE-12A5-5A8FB709E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0" name="Rectangle 28">
                <a:extLst>
                  <a:ext uri="{FF2B5EF4-FFF2-40B4-BE49-F238E27FC236}">
                    <a16:creationId xmlns:a16="http://schemas.microsoft.com/office/drawing/2014/main" id="{8BC73DBB-BF7C-0E75-D69E-DC539BFC6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384" cy="192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1" name="Rectangle 29">
                <a:extLst>
                  <a:ext uri="{FF2B5EF4-FFF2-40B4-BE49-F238E27FC236}">
                    <a16:creationId xmlns:a16="http://schemas.microsoft.com/office/drawing/2014/main" id="{96B882A5-406D-8C80-3878-C9579093D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92"/>
                <a:ext cx="384" cy="192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2" name="Rectangle 30">
                <a:extLst>
                  <a:ext uri="{FF2B5EF4-FFF2-40B4-BE49-F238E27FC236}">
                    <a16:creationId xmlns:a16="http://schemas.microsoft.com/office/drawing/2014/main" id="{C191C795-A9D0-2380-0413-C5CC1D0B4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392"/>
                <a:ext cx="384" cy="192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3" name="Line 31">
                <a:extLst>
                  <a:ext uri="{FF2B5EF4-FFF2-40B4-BE49-F238E27FC236}">
                    <a16:creationId xmlns:a16="http://schemas.microsoft.com/office/drawing/2014/main" id="{367161FC-F573-75B0-D304-7EB8CFACD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3584" name="Line 32">
              <a:extLst>
                <a:ext uri="{FF2B5EF4-FFF2-40B4-BE49-F238E27FC236}">
                  <a16:creationId xmlns:a16="http://schemas.microsoft.com/office/drawing/2014/main" id="{16C14EBB-3A7F-4D53-4839-CBBF84DDC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15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585" name="Group 33">
            <a:extLst>
              <a:ext uri="{FF2B5EF4-FFF2-40B4-BE49-F238E27FC236}">
                <a16:creationId xmlns:a16="http://schemas.microsoft.com/office/drawing/2014/main" id="{60B7C027-F425-B8DF-566D-3DC680458AAB}"/>
              </a:ext>
            </a:extLst>
          </p:cNvPr>
          <p:cNvGrpSpPr>
            <a:grpSpLocks/>
          </p:cNvGrpSpPr>
          <p:nvPr/>
        </p:nvGrpSpPr>
        <p:grpSpPr bwMode="auto">
          <a:xfrm>
            <a:off x="7490554" y="3138210"/>
            <a:ext cx="3657600" cy="685800"/>
            <a:chOff x="2736" y="1584"/>
            <a:chExt cx="2304" cy="432"/>
          </a:xfrm>
        </p:grpSpPr>
        <p:grpSp>
          <p:nvGrpSpPr>
            <p:cNvPr id="23586" name="Group 34">
              <a:extLst>
                <a:ext uri="{FF2B5EF4-FFF2-40B4-BE49-F238E27FC236}">
                  <a16:creationId xmlns:a16="http://schemas.microsoft.com/office/drawing/2014/main" id="{EA68D5D9-2416-CC19-5CC4-63899B4292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728"/>
              <a:ext cx="1344" cy="288"/>
              <a:chOff x="3696" y="1296"/>
              <a:chExt cx="1344" cy="288"/>
            </a:xfrm>
          </p:grpSpPr>
          <p:sp>
            <p:nvSpPr>
              <p:cNvPr id="23587" name="Line 35">
                <a:extLst>
                  <a:ext uri="{FF2B5EF4-FFF2-40B4-BE49-F238E27FC236}">
                    <a16:creationId xmlns:a16="http://schemas.microsoft.com/office/drawing/2014/main" id="{2D3BBCD5-B526-EC1B-D756-1EB7D31BA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8" name="Line 36">
                <a:extLst>
                  <a:ext uri="{FF2B5EF4-FFF2-40B4-BE49-F238E27FC236}">
                    <a16:creationId xmlns:a16="http://schemas.microsoft.com/office/drawing/2014/main" id="{DD31D8A2-C140-F585-8411-218E60E27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89" name="Line 37">
                <a:extLst>
                  <a:ext uri="{FF2B5EF4-FFF2-40B4-BE49-F238E27FC236}">
                    <a16:creationId xmlns:a16="http://schemas.microsoft.com/office/drawing/2014/main" id="{8863DD69-9C24-7AEC-44B5-7F4D1F593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0" name="Rectangle 38">
                <a:extLst>
                  <a:ext uri="{FF2B5EF4-FFF2-40B4-BE49-F238E27FC236}">
                    <a16:creationId xmlns:a16="http://schemas.microsoft.com/office/drawing/2014/main" id="{2C7A5B6F-7E84-C8BA-0B15-36E0AF9AF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1" name="Rectangle 39">
                <a:extLst>
                  <a:ext uri="{FF2B5EF4-FFF2-40B4-BE49-F238E27FC236}">
                    <a16:creationId xmlns:a16="http://schemas.microsoft.com/office/drawing/2014/main" id="{AA92F7F7-2D7F-3D02-E68D-FF41B96CA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2" name="Rectangle 40">
                <a:extLst>
                  <a:ext uri="{FF2B5EF4-FFF2-40B4-BE49-F238E27FC236}">
                    <a16:creationId xmlns:a16="http://schemas.microsoft.com/office/drawing/2014/main" id="{5F10C859-AF25-A280-9E9D-D27DE7698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3" name="Line 41">
                <a:extLst>
                  <a:ext uri="{FF2B5EF4-FFF2-40B4-BE49-F238E27FC236}">
                    <a16:creationId xmlns:a16="http://schemas.microsoft.com/office/drawing/2014/main" id="{E36BF17C-5E53-B3F8-964D-B729D7438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3594" name="Line 42">
              <a:extLst>
                <a:ext uri="{FF2B5EF4-FFF2-40B4-BE49-F238E27FC236}">
                  <a16:creationId xmlns:a16="http://schemas.microsoft.com/office/drawing/2014/main" id="{318A5049-8E88-DF76-333A-2960069EE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584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3595" name="Group 43">
              <a:extLst>
                <a:ext uri="{FF2B5EF4-FFF2-40B4-BE49-F238E27FC236}">
                  <a16:creationId xmlns:a16="http://schemas.microsoft.com/office/drawing/2014/main" id="{0D0AD4DE-9671-B1B6-BCB2-9CB9C5382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728"/>
              <a:ext cx="1344" cy="288"/>
              <a:chOff x="3696" y="1296"/>
              <a:chExt cx="1344" cy="288"/>
            </a:xfrm>
          </p:grpSpPr>
          <p:sp>
            <p:nvSpPr>
              <p:cNvPr id="23596" name="Line 44">
                <a:extLst>
                  <a:ext uri="{FF2B5EF4-FFF2-40B4-BE49-F238E27FC236}">
                    <a16:creationId xmlns:a16="http://schemas.microsoft.com/office/drawing/2014/main" id="{D30D9BAD-BA11-573E-23BA-D3033B604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7" name="Line 45">
                <a:extLst>
                  <a:ext uri="{FF2B5EF4-FFF2-40B4-BE49-F238E27FC236}">
                    <a16:creationId xmlns:a16="http://schemas.microsoft.com/office/drawing/2014/main" id="{5239491C-F23B-5B59-99A7-9283F5E12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8" name="Line 46">
                <a:extLst>
                  <a:ext uri="{FF2B5EF4-FFF2-40B4-BE49-F238E27FC236}">
                    <a16:creationId xmlns:a16="http://schemas.microsoft.com/office/drawing/2014/main" id="{FB7C07FF-B2BE-D3EF-5B4F-CBDC1EFCC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599" name="Rectangle 47">
                <a:extLst>
                  <a:ext uri="{FF2B5EF4-FFF2-40B4-BE49-F238E27FC236}">
                    <a16:creationId xmlns:a16="http://schemas.microsoft.com/office/drawing/2014/main" id="{89FDF79F-903E-71FD-A480-6EE4EA0E95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600" name="Rectangle 48">
                <a:extLst>
                  <a:ext uri="{FF2B5EF4-FFF2-40B4-BE49-F238E27FC236}">
                    <a16:creationId xmlns:a16="http://schemas.microsoft.com/office/drawing/2014/main" id="{BB7C8FF9-0EA7-9483-CC76-15BFE3D8F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601" name="Rectangle 49">
                <a:extLst>
                  <a:ext uri="{FF2B5EF4-FFF2-40B4-BE49-F238E27FC236}">
                    <a16:creationId xmlns:a16="http://schemas.microsoft.com/office/drawing/2014/main" id="{8F2648C6-7563-3AB6-8025-34067284B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392"/>
                <a:ext cx="384" cy="192"/>
              </a:xfrm>
              <a:prstGeom prst="rect">
                <a:avLst/>
              </a:prstGeom>
              <a:solidFill>
                <a:srgbClr val="000066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3602" name="Line 50">
                <a:extLst>
                  <a:ext uri="{FF2B5EF4-FFF2-40B4-BE49-F238E27FC236}">
                    <a16:creationId xmlns:a16="http://schemas.microsoft.com/office/drawing/2014/main" id="{6D0A7D8E-5E1B-050E-463B-9BCFCC49B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29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23603" name="Freeform 51">
            <a:extLst>
              <a:ext uri="{FF2B5EF4-FFF2-40B4-BE49-F238E27FC236}">
                <a16:creationId xmlns:a16="http://schemas.microsoft.com/office/drawing/2014/main" id="{9ABE58B6-5D4E-627E-46A0-2FCCC8ADE6D7}"/>
              </a:ext>
            </a:extLst>
          </p:cNvPr>
          <p:cNvSpPr>
            <a:spLocks/>
          </p:cNvSpPr>
          <p:nvPr/>
        </p:nvSpPr>
        <p:spPr bwMode="auto">
          <a:xfrm>
            <a:off x="4068097" y="2764009"/>
            <a:ext cx="4260656" cy="592963"/>
          </a:xfrm>
          <a:custGeom>
            <a:avLst/>
            <a:gdLst>
              <a:gd name="T0" fmla="*/ 0 w 2688"/>
              <a:gd name="T1" fmla="*/ 440 h 440"/>
              <a:gd name="T2" fmla="*/ 240 w 2688"/>
              <a:gd name="T3" fmla="*/ 152 h 440"/>
              <a:gd name="T4" fmla="*/ 576 w 2688"/>
              <a:gd name="T5" fmla="*/ 56 h 440"/>
              <a:gd name="T6" fmla="*/ 1680 w 2688"/>
              <a:gd name="T7" fmla="*/ 8 h 440"/>
              <a:gd name="T8" fmla="*/ 2256 w 2688"/>
              <a:gd name="T9" fmla="*/ 104 h 440"/>
              <a:gd name="T10" fmla="*/ 2688 w 2688"/>
              <a:gd name="T11" fmla="*/ 152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88" h="440">
                <a:moveTo>
                  <a:pt x="0" y="440"/>
                </a:moveTo>
                <a:cubicBezTo>
                  <a:pt x="72" y="327"/>
                  <a:pt x="144" y="215"/>
                  <a:pt x="240" y="152"/>
                </a:cubicBezTo>
                <a:cubicBezTo>
                  <a:pt x="335" y="88"/>
                  <a:pt x="336" y="79"/>
                  <a:pt x="576" y="56"/>
                </a:cubicBezTo>
                <a:cubicBezTo>
                  <a:pt x="815" y="32"/>
                  <a:pt x="1400" y="0"/>
                  <a:pt x="1680" y="8"/>
                </a:cubicBezTo>
                <a:cubicBezTo>
                  <a:pt x="1960" y="16"/>
                  <a:pt x="2088" y="80"/>
                  <a:pt x="2256" y="104"/>
                </a:cubicBezTo>
                <a:cubicBezTo>
                  <a:pt x="2424" y="128"/>
                  <a:pt x="2616" y="144"/>
                  <a:pt x="2688" y="152"/>
                </a:cubicBez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triangle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4" name="Rectangle 52">
            <a:extLst>
              <a:ext uri="{FF2B5EF4-FFF2-40B4-BE49-F238E27FC236}">
                <a16:creationId xmlns:a16="http://schemas.microsoft.com/office/drawing/2014/main" id="{934AF649-7B74-5EE0-84E5-B55684ED6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730" y="3385683"/>
            <a:ext cx="609600" cy="304800"/>
          </a:xfrm>
          <a:prstGeom prst="rect">
            <a:avLst/>
          </a:prstGeom>
          <a:solidFill>
            <a:srgbClr val="800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5" name="Freeform 53">
            <a:extLst>
              <a:ext uri="{FF2B5EF4-FFF2-40B4-BE49-F238E27FC236}">
                <a16:creationId xmlns:a16="http://schemas.microsoft.com/office/drawing/2014/main" id="{42E3CDE9-3AA7-7940-55B1-FBC8D500475E}"/>
              </a:ext>
            </a:extLst>
          </p:cNvPr>
          <p:cNvSpPr>
            <a:spLocks/>
          </p:cNvSpPr>
          <p:nvPr/>
        </p:nvSpPr>
        <p:spPr bwMode="auto">
          <a:xfrm>
            <a:off x="5087285" y="3527447"/>
            <a:ext cx="3523326" cy="709642"/>
          </a:xfrm>
          <a:custGeom>
            <a:avLst/>
            <a:gdLst>
              <a:gd name="T0" fmla="*/ 1776 w 1776"/>
              <a:gd name="T1" fmla="*/ 8 h 296"/>
              <a:gd name="T2" fmla="*/ 1536 w 1776"/>
              <a:gd name="T3" fmla="*/ 200 h 296"/>
              <a:gd name="T4" fmla="*/ 1056 w 1776"/>
              <a:gd name="T5" fmla="*/ 296 h 296"/>
              <a:gd name="T6" fmla="*/ 864 w 1776"/>
              <a:gd name="T7" fmla="*/ 200 h 296"/>
              <a:gd name="T8" fmla="*/ 672 w 1776"/>
              <a:gd name="T9" fmla="*/ 56 h 296"/>
              <a:gd name="T10" fmla="*/ 192 w 1776"/>
              <a:gd name="T11" fmla="*/ 8 h 296"/>
              <a:gd name="T12" fmla="*/ 0 w 1776"/>
              <a:gd name="T13" fmla="*/ 8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76" h="296">
                <a:moveTo>
                  <a:pt x="1776" y="8"/>
                </a:moveTo>
                <a:cubicBezTo>
                  <a:pt x="1715" y="80"/>
                  <a:pt x="1655" y="152"/>
                  <a:pt x="1536" y="200"/>
                </a:cubicBezTo>
                <a:cubicBezTo>
                  <a:pt x="1416" y="247"/>
                  <a:pt x="1168" y="296"/>
                  <a:pt x="1056" y="296"/>
                </a:cubicBezTo>
                <a:cubicBezTo>
                  <a:pt x="944" y="296"/>
                  <a:pt x="927" y="239"/>
                  <a:pt x="864" y="200"/>
                </a:cubicBezTo>
                <a:cubicBezTo>
                  <a:pt x="800" y="160"/>
                  <a:pt x="784" y="88"/>
                  <a:pt x="672" y="56"/>
                </a:cubicBezTo>
                <a:cubicBezTo>
                  <a:pt x="560" y="24"/>
                  <a:pt x="303" y="15"/>
                  <a:pt x="192" y="8"/>
                </a:cubicBezTo>
                <a:cubicBezTo>
                  <a:pt x="80" y="0"/>
                  <a:pt x="40" y="4"/>
                  <a:pt x="0" y="8"/>
                </a:cubicBezTo>
              </a:path>
            </a:pathLst>
          </a:custGeom>
          <a:noFill/>
          <a:ln w="38100" cap="flat" cmpd="sng">
            <a:solidFill>
              <a:srgbClr val="000066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6" name="Rectangle 54">
            <a:extLst>
              <a:ext uri="{FF2B5EF4-FFF2-40B4-BE49-F238E27FC236}">
                <a16:creationId xmlns:a16="http://schemas.microsoft.com/office/drawing/2014/main" id="{383D0E21-A1FC-82C4-2E01-D349501B5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11" y="3385683"/>
            <a:ext cx="609600" cy="304800"/>
          </a:xfrm>
          <a:prstGeom prst="rect">
            <a:avLst/>
          </a:prstGeom>
          <a:solidFill>
            <a:srgbClr val="0000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7" name="Freeform 55">
            <a:extLst>
              <a:ext uri="{FF2B5EF4-FFF2-40B4-BE49-F238E27FC236}">
                <a16:creationId xmlns:a16="http://schemas.microsoft.com/office/drawing/2014/main" id="{FB19627E-9550-9A39-4447-A1FE3304AAC9}"/>
              </a:ext>
            </a:extLst>
          </p:cNvPr>
          <p:cNvSpPr>
            <a:spLocks/>
          </p:cNvSpPr>
          <p:nvPr/>
        </p:nvSpPr>
        <p:spPr bwMode="auto">
          <a:xfrm>
            <a:off x="3991900" y="4091329"/>
            <a:ext cx="6180799" cy="1788771"/>
          </a:xfrm>
          <a:custGeom>
            <a:avLst/>
            <a:gdLst>
              <a:gd name="T0" fmla="*/ 3392 w 3432"/>
              <a:gd name="T1" fmla="*/ 96 h 968"/>
              <a:gd name="T2" fmla="*/ 3392 w 3432"/>
              <a:gd name="T3" fmla="*/ 624 h 968"/>
              <a:gd name="T4" fmla="*/ 3152 w 3432"/>
              <a:gd name="T5" fmla="*/ 912 h 968"/>
              <a:gd name="T6" fmla="*/ 1952 w 3432"/>
              <a:gd name="T7" fmla="*/ 960 h 968"/>
              <a:gd name="T8" fmla="*/ 512 w 3432"/>
              <a:gd name="T9" fmla="*/ 864 h 968"/>
              <a:gd name="T10" fmla="*/ 80 w 3432"/>
              <a:gd name="T11" fmla="*/ 336 h 968"/>
              <a:gd name="T12" fmla="*/ 32 w 3432"/>
              <a:gd name="T13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32" h="968">
                <a:moveTo>
                  <a:pt x="3392" y="96"/>
                </a:moveTo>
                <a:cubicBezTo>
                  <a:pt x="3412" y="292"/>
                  <a:pt x="3432" y="488"/>
                  <a:pt x="3392" y="624"/>
                </a:cubicBezTo>
                <a:cubicBezTo>
                  <a:pt x="3352" y="760"/>
                  <a:pt x="3391" y="856"/>
                  <a:pt x="3152" y="912"/>
                </a:cubicBezTo>
                <a:cubicBezTo>
                  <a:pt x="2912" y="967"/>
                  <a:pt x="2392" y="968"/>
                  <a:pt x="1952" y="960"/>
                </a:cubicBezTo>
                <a:cubicBezTo>
                  <a:pt x="1512" y="952"/>
                  <a:pt x="823" y="967"/>
                  <a:pt x="512" y="864"/>
                </a:cubicBezTo>
                <a:cubicBezTo>
                  <a:pt x="200" y="760"/>
                  <a:pt x="159" y="479"/>
                  <a:pt x="80" y="336"/>
                </a:cubicBezTo>
                <a:cubicBezTo>
                  <a:pt x="0" y="192"/>
                  <a:pt x="16" y="96"/>
                  <a:pt x="32" y="0"/>
                </a:cubicBezTo>
              </a:path>
            </a:pathLst>
          </a:custGeom>
          <a:noFill/>
          <a:ln w="38100" cap="flat" cmpd="sng">
            <a:solidFill>
              <a:srgbClr val="660066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8" name="Rectangle 56">
            <a:extLst>
              <a:ext uri="{FF2B5EF4-FFF2-40B4-BE49-F238E27FC236}">
                <a16:creationId xmlns:a16="http://schemas.microsoft.com/office/drawing/2014/main" id="{A72C6C99-AE7D-4AC1-A2E1-2C85F5A4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354" y="3786529"/>
            <a:ext cx="609600" cy="304800"/>
          </a:xfrm>
          <a:prstGeom prst="rect">
            <a:avLst/>
          </a:prstGeom>
          <a:solidFill>
            <a:srgbClr val="6600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09" name="Freeform 57">
            <a:extLst>
              <a:ext uri="{FF2B5EF4-FFF2-40B4-BE49-F238E27FC236}">
                <a16:creationId xmlns:a16="http://schemas.microsoft.com/office/drawing/2014/main" id="{4E8AF251-514F-C4D0-0CC1-660B966CE9B5}"/>
              </a:ext>
            </a:extLst>
          </p:cNvPr>
          <p:cNvSpPr>
            <a:spLocks/>
          </p:cNvSpPr>
          <p:nvPr/>
        </p:nvSpPr>
        <p:spPr bwMode="auto">
          <a:xfrm>
            <a:off x="5087284" y="3941550"/>
            <a:ext cx="2494616" cy="1210554"/>
          </a:xfrm>
          <a:custGeom>
            <a:avLst/>
            <a:gdLst>
              <a:gd name="T0" fmla="*/ 1296 w 1296"/>
              <a:gd name="T1" fmla="*/ 624 h 679"/>
              <a:gd name="T2" fmla="*/ 768 w 1296"/>
              <a:gd name="T3" fmla="*/ 624 h 679"/>
              <a:gd name="T4" fmla="*/ 528 w 1296"/>
              <a:gd name="T5" fmla="*/ 288 h 679"/>
              <a:gd name="T6" fmla="*/ 528 w 1296"/>
              <a:gd name="T7" fmla="*/ 48 h 679"/>
              <a:gd name="T8" fmla="*/ 0 w 1296"/>
              <a:gd name="T9" fmla="*/ 0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96" h="679">
                <a:moveTo>
                  <a:pt x="1296" y="624"/>
                </a:moveTo>
                <a:cubicBezTo>
                  <a:pt x="1095" y="651"/>
                  <a:pt x="895" y="679"/>
                  <a:pt x="768" y="624"/>
                </a:cubicBezTo>
                <a:cubicBezTo>
                  <a:pt x="640" y="568"/>
                  <a:pt x="568" y="384"/>
                  <a:pt x="528" y="288"/>
                </a:cubicBezTo>
                <a:cubicBezTo>
                  <a:pt x="488" y="192"/>
                  <a:pt x="616" y="96"/>
                  <a:pt x="528" y="48"/>
                </a:cubicBezTo>
                <a:cubicBezTo>
                  <a:pt x="440" y="0"/>
                  <a:pt x="220" y="0"/>
                  <a:pt x="0" y="0"/>
                </a:cubicBezTo>
              </a:path>
            </a:pathLst>
          </a:custGeom>
          <a:noFill/>
          <a:ln w="38100" cap="flat" cmpd="sng">
            <a:solidFill>
              <a:srgbClr val="003366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610" name="Rectangle 58">
            <a:extLst>
              <a:ext uri="{FF2B5EF4-FFF2-40B4-BE49-F238E27FC236}">
                <a16:creationId xmlns:a16="http://schemas.microsoft.com/office/drawing/2014/main" id="{E7AAEEA0-3571-A12A-1F9E-C5BF22580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097" y="3805745"/>
            <a:ext cx="609600" cy="304800"/>
          </a:xfrm>
          <a:prstGeom prst="rect">
            <a:avLst/>
          </a:prstGeom>
          <a:solidFill>
            <a:srgbClr val="0033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3611" name="Group 59">
            <a:extLst>
              <a:ext uri="{FF2B5EF4-FFF2-40B4-BE49-F238E27FC236}">
                <a16:creationId xmlns:a16="http://schemas.microsoft.com/office/drawing/2014/main" id="{C4EAB305-DF23-EBCF-970F-491BB70577A2}"/>
              </a:ext>
            </a:extLst>
          </p:cNvPr>
          <p:cNvGrpSpPr>
            <a:grpSpLocks/>
          </p:cNvGrpSpPr>
          <p:nvPr/>
        </p:nvGrpSpPr>
        <p:grpSpPr bwMode="auto">
          <a:xfrm>
            <a:off x="4068097" y="3528245"/>
            <a:ext cx="685800" cy="457200"/>
            <a:chOff x="1008" y="1872"/>
            <a:chExt cx="432" cy="288"/>
          </a:xfrm>
        </p:grpSpPr>
        <p:sp>
          <p:nvSpPr>
            <p:cNvPr id="23612" name="Line 60">
              <a:extLst>
                <a:ext uri="{FF2B5EF4-FFF2-40B4-BE49-F238E27FC236}">
                  <a16:creationId xmlns:a16="http://schemas.microsoft.com/office/drawing/2014/main" id="{BB053D9B-A7FE-533C-91BD-CF3131FF1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7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13" name="Line 61">
              <a:extLst>
                <a:ext uri="{FF2B5EF4-FFF2-40B4-BE49-F238E27FC236}">
                  <a16:creationId xmlns:a16="http://schemas.microsoft.com/office/drawing/2014/main" id="{150DE180-F7F7-5DA3-54BC-D4F36A192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6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14" name="Line 62">
              <a:extLst>
                <a:ext uri="{FF2B5EF4-FFF2-40B4-BE49-F238E27FC236}">
                  <a16:creationId xmlns:a16="http://schemas.microsoft.com/office/drawing/2014/main" id="{88EEF0FD-6F3D-835F-5D30-F3E6B4ECF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872"/>
              <a:ext cx="0" cy="2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15" name="Line 63">
              <a:extLst>
                <a:ext uri="{FF2B5EF4-FFF2-40B4-BE49-F238E27FC236}">
                  <a16:creationId xmlns:a16="http://schemas.microsoft.com/office/drawing/2014/main" id="{5390E66E-0520-DF59-7DD4-064D25B8B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1872"/>
              <a:ext cx="0" cy="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3616" name="Text Box 64">
            <a:extLst>
              <a:ext uri="{FF2B5EF4-FFF2-40B4-BE49-F238E27FC236}">
                <a16:creationId xmlns:a16="http://schemas.microsoft.com/office/drawing/2014/main" id="{4114FE8A-CBC9-3A1E-2184-B3582FC27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856" y="1630019"/>
            <a:ext cx="1595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AU" altLang="en-AU" b="1" dirty="0">
                <a:latin typeface="Arial" panose="020B0604020202020204" pitchFamily="34" charset="0"/>
              </a:rPr>
              <a:t>Organization</a:t>
            </a:r>
          </a:p>
        </p:txBody>
      </p:sp>
      <p:sp>
        <p:nvSpPr>
          <p:cNvPr id="23617" name="Text Box 65">
            <a:extLst>
              <a:ext uri="{FF2B5EF4-FFF2-40B4-BE49-F238E27FC236}">
                <a16:creationId xmlns:a16="http://schemas.microsoft.com/office/drawing/2014/main" id="{A1C60A5B-AD35-6E76-8744-1D398683B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603" y="2018693"/>
            <a:ext cx="12105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AU" altLang="en-AU" b="1" dirty="0">
                <a:latin typeface="Arial" panose="020B0604020202020204" pitchFamily="34" charset="0"/>
              </a:rPr>
              <a:t>Parallel</a:t>
            </a:r>
          </a:p>
          <a:p>
            <a:pPr algn="ctr"/>
            <a:r>
              <a:rPr lang="en-AU" altLang="en-AU" b="1" dirty="0">
                <a:latin typeface="Arial" panose="020B0604020202020204" pitchFamily="34" charset="0"/>
              </a:rPr>
              <a:t>Structure</a:t>
            </a:r>
          </a:p>
        </p:txBody>
      </p:sp>
      <p:sp>
        <p:nvSpPr>
          <p:cNvPr id="23618" name="Rectangle 66">
            <a:extLst>
              <a:ext uri="{FF2B5EF4-FFF2-40B4-BE49-F238E27FC236}">
                <a16:creationId xmlns:a16="http://schemas.microsoft.com/office/drawing/2014/main" id="{3B80EFAE-3332-2A62-164D-3F9022E94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136247"/>
            <a:ext cx="10515600" cy="1325563"/>
          </a:xfrm>
        </p:spPr>
        <p:txBody>
          <a:bodyPr/>
          <a:lstStyle/>
          <a:p>
            <a:r>
              <a:rPr lang="en-AU" altLang="en-AU" b="1" dirty="0">
                <a:latin typeface="Bookman Old Style" panose="02050604050505020204" pitchFamily="18" charset="0"/>
              </a:rPr>
              <a:t>Parallel Learning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78199-EDB6-4D83-750E-6C9000532D3A}"/>
              </a:ext>
            </a:extLst>
          </p:cNvPr>
          <p:cNvSpPr txBox="1"/>
          <p:nvPr/>
        </p:nvSpPr>
        <p:spPr>
          <a:xfrm>
            <a:off x="196649" y="1740310"/>
            <a:ext cx="2957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/>
              <a:t>A highly participative arrangement composed of people from most levels of the organization; who follow the action research model to produce meaningful organizational change.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>
            <a:extLst>
              <a:ext uri="{FF2B5EF4-FFF2-40B4-BE49-F238E27FC236}">
                <a16:creationId xmlns:a16="http://schemas.microsoft.com/office/drawing/2014/main" id="{F3AA4385-5C93-F35D-96F6-D51A4C8A42AE}"/>
              </a:ext>
            </a:extLst>
          </p:cNvPr>
          <p:cNvGrpSpPr>
            <a:grpSpLocks/>
          </p:cNvGrpSpPr>
          <p:nvPr/>
        </p:nvGrpSpPr>
        <p:grpSpPr bwMode="auto">
          <a:xfrm>
            <a:off x="1863827" y="2832849"/>
            <a:ext cx="1752600" cy="2971800"/>
            <a:chOff x="384" y="2352"/>
            <a:chExt cx="1152" cy="1872"/>
          </a:xfrm>
        </p:grpSpPr>
        <p:sp>
          <p:nvSpPr>
            <p:cNvPr id="24579" name="Rectangle 3">
              <a:extLst>
                <a:ext uri="{FF2B5EF4-FFF2-40B4-BE49-F238E27FC236}">
                  <a16:creationId xmlns:a16="http://schemas.microsoft.com/office/drawing/2014/main" id="{D1FB8E44-FE01-F767-3FBA-E8FA68587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52"/>
              <a:ext cx="1152" cy="480"/>
            </a:xfrm>
            <a:prstGeom prst="rect">
              <a:avLst/>
            </a:prstGeom>
            <a:solidFill>
              <a:srgbClr val="00330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AU" altLang="en-AU" sz="2200" dirty="0">
                  <a:solidFill>
                    <a:srgbClr val="FFFFFF"/>
                  </a:solidFill>
                  <a:latin typeface="Arial" panose="020B0604020202020204" pitchFamily="34" charset="0"/>
                </a:rPr>
                <a:t>Discovery</a:t>
              </a:r>
            </a:p>
          </p:txBody>
        </p:sp>
        <p:sp>
          <p:nvSpPr>
            <p:cNvPr id="24580" name="Rectangle 4">
              <a:extLst>
                <a:ext uri="{FF2B5EF4-FFF2-40B4-BE49-F238E27FC236}">
                  <a16:creationId xmlns:a16="http://schemas.microsoft.com/office/drawing/2014/main" id="{818776AF-8158-B386-BF6D-971D22E9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832"/>
              <a:ext cx="1152" cy="1392"/>
            </a:xfrm>
            <a:prstGeom prst="rect">
              <a:avLst/>
            </a:prstGeom>
            <a:solidFill>
              <a:srgbClr val="00330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AU" altLang="en-AU" sz="2200" dirty="0">
                  <a:solidFill>
                    <a:srgbClr val="FFFFFF"/>
                  </a:solidFill>
                  <a:latin typeface="Arial" panose="020B0604020202020204" pitchFamily="34" charset="0"/>
                </a:rPr>
                <a:t>Discovering the best of “what is”</a:t>
              </a:r>
            </a:p>
          </p:txBody>
        </p:sp>
      </p:grpSp>
      <p:grpSp>
        <p:nvGrpSpPr>
          <p:cNvPr id="24581" name="Group 5">
            <a:extLst>
              <a:ext uri="{FF2B5EF4-FFF2-40B4-BE49-F238E27FC236}">
                <a16:creationId xmlns:a16="http://schemas.microsoft.com/office/drawing/2014/main" id="{41E89664-73CE-D2FB-3B94-3DBC3B6671A4}"/>
              </a:ext>
            </a:extLst>
          </p:cNvPr>
          <p:cNvGrpSpPr>
            <a:grpSpLocks/>
          </p:cNvGrpSpPr>
          <p:nvPr/>
        </p:nvGrpSpPr>
        <p:grpSpPr bwMode="auto">
          <a:xfrm>
            <a:off x="3684332" y="2832849"/>
            <a:ext cx="2057400" cy="2971800"/>
            <a:chOff x="1536" y="1296"/>
            <a:chExt cx="1296" cy="1872"/>
          </a:xfrm>
        </p:grpSpPr>
        <p:sp>
          <p:nvSpPr>
            <p:cNvPr id="24582" name="AutoShape 6">
              <a:extLst>
                <a:ext uri="{FF2B5EF4-FFF2-40B4-BE49-F238E27FC236}">
                  <a16:creationId xmlns:a16="http://schemas.microsoft.com/office/drawing/2014/main" id="{AE6478F3-4209-0AB3-7E7C-51DE5DF4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192" cy="192"/>
            </a:xfrm>
            <a:prstGeom prst="rightArrow">
              <a:avLst>
                <a:gd name="adj1" fmla="val 50000"/>
                <a:gd name="adj2" fmla="val 64292"/>
              </a:avLst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4583" name="Group 7">
              <a:extLst>
                <a:ext uri="{FF2B5EF4-FFF2-40B4-BE49-F238E27FC236}">
                  <a16:creationId xmlns:a16="http://schemas.microsoft.com/office/drawing/2014/main" id="{8180EA15-6CC8-CA86-27AE-0D64860C2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296"/>
              <a:ext cx="1104" cy="1872"/>
              <a:chOff x="384" y="2352"/>
              <a:chExt cx="1152" cy="1872"/>
            </a:xfrm>
          </p:grpSpPr>
          <p:sp>
            <p:nvSpPr>
              <p:cNvPr id="24584" name="Rectangle 8">
                <a:extLst>
                  <a:ext uri="{FF2B5EF4-FFF2-40B4-BE49-F238E27FC236}">
                    <a16:creationId xmlns:a16="http://schemas.microsoft.com/office/drawing/2014/main" id="{E4A27173-FDD5-74E1-4BD0-67EAE04BA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352"/>
                <a:ext cx="1152" cy="480"/>
              </a:xfrm>
              <a:prstGeom prst="rect">
                <a:avLst/>
              </a:prstGeom>
              <a:solidFill>
                <a:srgbClr val="6600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AU" altLang="en-AU" sz="22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Dreaming</a:t>
                </a:r>
              </a:p>
            </p:txBody>
          </p:sp>
          <p:sp>
            <p:nvSpPr>
              <p:cNvPr id="24585" name="Rectangle 9">
                <a:extLst>
                  <a:ext uri="{FF2B5EF4-FFF2-40B4-BE49-F238E27FC236}">
                    <a16:creationId xmlns:a16="http://schemas.microsoft.com/office/drawing/2014/main" id="{F9B334BE-4BD6-2627-E0AF-BF0F4FE95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832"/>
                <a:ext cx="1152" cy="1392"/>
              </a:xfrm>
              <a:prstGeom prst="rect">
                <a:avLst/>
              </a:prstGeom>
              <a:solidFill>
                <a:srgbClr val="6600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AU" altLang="en-AU" sz="2200">
                    <a:solidFill>
                      <a:srgbClr val="FFFFFF"/>
                    </a:solidFill>
                    <a:latin typeface="Arial" panose="020B0604020202020204" pitchFamily="34" charset="0"/>
                  </a:rPr>
                  <a:t>Forming ideas about “what might be”</a:t>
                </a:r>
              </a:p>
            </p:txBody>
          </p:sp>
        </p:grpSp>
      </p:grpSp>
      <p:grpSp>
        <p:nvGrpSpPr>
          <p:cNvPr id="24586" name="Group 10">
            <a:extLst>
              <a:ext uri="{FF2B5EF4-FFF2-40B4-BE49-F238E27FC236}">
                <a16:creationId xmlns:a16="http://schemas.microsoft.com/office/drawing/2014/main" id="{C6256031-182F-9E0A-FF56-15AA61BB3980}"/>
              </a:ext>
            </a:extLst>
          </p:cNvPr>
          <p:cNvGrpSpPr>
            <a:grpSpLocks/>
          </p:cNvGrpSpPr>
          <p:nvPr/>
        </p:nvGrpSpPr>
        <p:grpSpPr bwMode="auto">
          <a:xfrm>
            <a:off x="5820543" y="2815386"/>
            <a:ext cx="2057400" cy="3006725"/>
            <a:chOff x="2832" y="1274"/>
            <a:chExt cx="1296" cy="1894"/>
          </a:xfrm>
        </p:grpSpPr>
        <p:grpSp>
          <p:nvGrpSpPr>
            <p:cNvPr id="24587" name="Group 11">
              <a:extLst>
                <a:ext uri="{FF2B5EF4-FFF2-40B4-BE49-F238E27FC236}">
                  <a16:creationId xmlns:a16="http://schemas.microsoft.com/office/drawing/2014/main" id="{77CFCAEE-5028-D5C7-AE52-E46041523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274"/>
              <a:ext cx="1104" cy="1894"/>
              <a:chOff x="384" y="2330"/>
              <a:chExt cx="1152" cy="1894"/>
            </a:xfrm>
          </p:grpSpPr>
          <p:sp>
            <p:nvSpPr>
              <p:cNvPr id="24588" name="Rectangle 12">
                <a:extLst>
                  <a:ext uri="{FF2B5EF4-FFF2-40B4-BE49-F238E27FC236}">
                    <a16:creationId xmlns:a16="http://schemas.microsoft.com/office/drawing/2014/main" id="{37E50FA2-87CE-2233-3E0C-A0ADE2256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330"/>
                <a:ext cx="1152" cy="480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AU" altLang="en-AU" sz="22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Designing</a:t>
                </a:r>
              </a:p>
            </p:txBody>
          </p:sp>
          <p:sp>
            <p:nvSpPr>
              <p:cNvPr id="24589" name="Rectangle 13">
                <a:extLst>
                  <a:ext uri="{FF2B5EF4-FFF2-40B4-BE49-F238E27FC236}">
                    <a16:creationId xmlns:a16="http://schemas.microsoft.com/office/drawing/2014/main" id="{93EBD65F-727E-E89C-2C70-A2C04DCE8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832"/>
                <a:ext cx="1152" cy="1392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AU" altLang="en-AU" sz="220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Engaging in dialogue about “what should be”</a:t>
                </a:r>
              </a:p>
            </p:txBody>
          </p:sp>
        </p:grpSp>
        <p:sp>
          <p:nvSpPr>
            <p:cNvPr id="24590" name="AutoShape 14">
              <a:extLst>
                <a:ext uri="{FF2B5EF4-FFF2-40B4-BE49-F238E27FC236}">
                  <a16:creationId xmlns:a16="http://schemas.microsoft.com/office/drawing/2014/main" id="{580D00CE-861E-A32C-6B0B-731CB75E7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08"/>
              <a:ext cx="192" cy="192"/>
            </a:xfrm>
            <a:prstGeom prst="rightArrow">
              <a:avLst>
                <a:gd name="adj1" fmla="val 50000"/>
                <a:gd name="adj2" fmla="val 64292"/>
              </a:avLst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4591" name="Group 15">
            <a:extLst>
              <a:ext uri="{FF2B5EF4-FFF2-40B4-BE49-F238E27FC236}">
                <a16:creationId xmlns:a16="http://schemas.microsoft.com/office/drawing/2014/main" id="{A0081E21-E603-13FD-E73F-A16888BC193F}"/>
              </a:ext>
            </a:extLst>
          </p:cNvPr>
          <p:cNvGrpSpPr>
            <a:grpSpLocks/>
          </p:cNvGrpSpPr>
          <p:nvPr/>
        </p:nvGrpSpPr>
        <p:grpSpPr bwMode="auto">
          <a:xfrm>
            <a:off x="7986252" y="2815386"/>
            <a:ext cx="2057400" cy="2971800"/>
            <a:chOff x="4128" y="1296"/>
            <a:chExt cx="1296" cy="1872"/>
          </a:xfrm>
        </p:grpSpPr>
        <p:sp>
          <p:nvSpPr>
            <p:cNvPr id="24592" name="Rectangle 16">
              <a:extLst>
                <a:ext uri="{FF2B5EF4-FFF2-40B4-BE49-F238E27FC236}">
                  <a16:creationId xmlns:a16="http://schemas.microsoft.com/office/drawing/2014/main" id="{DB28A9D6-9E8A-0E42-E237-43C79F6D9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1104" cy="48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AU" altLang="en-AU" sz="2200" dirty="0">
                  <a:solidFill>
                    <a:srgbClr val="FFFFFF"/>
                  </a:solidFill>
                  <a:latin typeface="Arial" panose="020B0604020202020204" pitchFamily="34" charset="0"/>
                </a:rPr>
                <a:t>Delivering</a:t>
              </a:r>
            </a:p>
          </p:txBody>
        </p:sp>
        <p:sp>
          <p:nvSpPr>
            <p:cNvPr id="24593" name="Rectangle 17">
              <a:extLst>
                <a:ext uri="{FF2B5EF4-FFF2-40B4-BE49-F238E27FC236}">
                  <a16:creationId xmlns:a16="http://schemas.microsoft.com/office/drawing/2014/main" id="{1782D1E7-22C2-E943-15D4-083BFE15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776"/>
              <a:ext cx="1104" cy="1392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AU" altLang="en-AU" sz="2200" dirty="0">
                  <a:solidFill>
                    <a:srgbClr val="FFFFFF"/>
                  </a:solidFill>
                  <a:latin typeface="Arial" panose="020B0604020202020204" pitchFamily="34" charset="0"/>
                </a:rPr>
                <a:t>Developing objectives about “what will be”</a:t>
              </a:r>
            </a:p>
          </p:txBody>
        </p:sp>
        <p:sp>
          <p:nvSpPr>
            <p:cNvPr id="24594" name="AutoShape 18">
              <a:extLst>
                <a:ext uri="{FF2B5EF4-FFF2-40B4-BE49-F238E27FC236}">
                  <a16:creationId xmlns:a16="http://schemas.microsoft.com/office/drawing/2014/main" id="{678373C6-235E-4941-BB70-729AEC320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08"/>
              <a:ext cx="192" cy="192"/>
            </a:xfrm>
            <a:prstGeom prst="rightArrow">
              <a:avLst>
                <a:gd name="adj1" fmla="val 50000"/>
                <a:gd name="adj2" fmla="val 64292"/>
              </a:avLst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4595" name="Rectangle 19">
            <a:extLst>
              <a:ext uri="{FF2B5EF4-FFF2-40B4-BE49-F238E27FC236}">
                <a16:creationId xmlns:a16="http://schemas.microsoft.com/office/drawing/2014/main" id="{8C92D752-0D47-365E-0B35-96A4D1234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916" y="-15851"/>
            <a:ext cx="10515600" cy="1325563"/>
          </a:xfrm>
        </p:spPr>
        <p:txBody>
          <a:bodyPr/>
          <a:lstStyle/>
          <a:p>
            <a:r>
              <a:rPr lang="en-AU" altLang="en-US" b="1" dirty="0">
                <a:latin typeface="Bookman Old Style" panose="02050604050505020204" pitchFamily="18" charset="0"/>
              </a:rPr>
              <a:t>Appreciative Inquiry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363F6-AFAC-9145-A057-F3594CCFAFBA}"/>
              </a:ext>
            </a:extLst>
          </p:cNvPr>
          <p:cNvSpPr txBox="1"/>
          <p:nvPr/>
        </p:nvSpPr>
        <p:spPr>
          <a:xfrm>
            <a:off x="2778842" y="6081171"/>
            <a:ext cx="7264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ookman Old Style" panose="02050604050505020204" pitchFamily="18" charset="0"/>
              </a:rPr>
              <a:t>Fig: The Four-D Model of Appreciative Inquiry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678DF-EC4A-BB62-185E-DD34CC9CA3A8}"/>
              </a:ext>
            </a:extLst>
          </p:cNvPr>
          <p:cNvSpPr txBox="1"/>
          <p:nvPr/>
        </p:nvSpPr>
        <p:spPr>
          <a:xfrm>
            <a:off x="385916" y="1425677"/>
            <a:ext cx="1148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/>
              <a:t>An organizational change strategy that directs the group’s attention away from its own problems and focuses participants on the group’s potential and positive elements.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7D60-3701-1756-E312-B2894AD9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Large Group Interventions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9E8E-483D-0B4C-AD7B-3A7DDC1A06C3}"/>
              </a:ext>
            </a:extLst>
          </p:cNvPr>
          <p:cNvSpPr txBox="1"/>
          <p:nvPr/>
        </p:nvSpPr>
        <p:spPr>
          <a:xfrm>
            <a:off x="838199" y="1690688"/>
            <a:ext cx="10773697" cy="390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sz="2400" dirty="0">
                <a:latin typeface="Bookman Old Style" panose="02050604050505020204" pitchFamily="18" charset="0"/>
              </a:rPr>
              <a:t>Strategy that consists of systemwide group sessions, usually  lasting a few days, in which participants identify trends and establish ways to adapt to those  changes.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Eg</a:t>
            </a:r>
            <a:r>
              <a:rPr lang="en-US" sz="2400" dirty="0">
                <a:latin typeface="Bookman Old Style" panose="02050604050505020204" pitchFamily="18" charset="0"/>
              </a:rPr>
              <a:t>:- Future Search, “ puts the entire system in the room”, means that the process tries to involve as many employees and other stakeholders as possible associated with the system.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40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9A05-6145-8BDD-309D-998463BA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94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Bookman Old Style" panose="02050604050505020204" pitchFamily="18" charset="0"/>
              </a:rPr>
              <a:t>Leadership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14036-A3F3-6939-65C3-D907C5B20C50}"/>
              </a:ext>
            </a:extLst>
          </p:cNvPr>
          <p:cNvSpPr txBox="1"/>
          <p:nvPr/>
        </p:nvSpPr>
        <p:spPr>
          <a:xfrm>
            <a:off x="432619" y="1166842"/>
            <a:ext cx="11277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Bookman Old Style" panose="02050604050505020204" pitchFamily="18" charset="0"/>
              </a:rPr>
              <a:t>ability to influence and inspire others to work collaboratively towards a common goal, requiring the leader to guide, motivate, and empower individuals to achieve organizational objectives. 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Can be defined in terms of group processes, personality, compliance, behaviors, power, goal achievement, interactions </a:t>
            </a:r>
            <a:r>
              <a:rPr lang="en-US" sz="2000" dirty="0" err="1">
                <a:latin typeface="Bookman Old Style" panose="02050604050505020204" pitchFamily="18" charset="0"/>
                <a:sym typeface="Wingdings" panose="05000000000000000000" pitchFamily="2" charset="2"/>
              </a:rPr>
              <a:t>etc</a:t>
            </a: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:-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Individual can be a leader without being a manager and can be a manager without being a leader.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Historical theories: Lowa leadership study, The </a:t>
            </a:r>
            <a:r>
              <a:rPr lang="en-US" sz="2000" dirty="0" err="1">
                <a:latin typeface="Bookman Old Style" panose="02050604050505020204" pitchFamily="18" charset="0"/>
                <a:sym typeface="Wingdings" panose="05000000000000000000" pitchFamily="2" charset="2"/>
              </a:rPr>
              <a:t>ohio</a:t>
            </a:r>
            <a:r>
              <a:rPr lang="en-US" sz="2000" dirty="0">
                <a:latin typeface="Bookman Old Style" panose="02050604050505020204" pitchFamily="18" charset="0"/>
                <a:sym typeface="Wingdings" panose="05000000000000000000" pitchFamily="2" charset="2"/>
              </a:rPr>
              <a:t> state leadership study,  The Early Michigan Leadership study.</a:t>
            </a:r>
            <a:endParaRPr lang="en-US" sz="2000" dirty="0">
              <a:latin typeface="Bookman Old Style" panose="0205060405050502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025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6A18-7EC9-5A28-A4B8-97C24FA5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7DC5-68B3-57B9-18B4-88F9B77B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0515600" cy="67663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8C13-6ECC-DB94-1F30-FF13D347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049433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What makes Leaders different from managers?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Organizational leader: “The heroic individual, often charismatic, whose positional power, intellectual strength, and persuasive gifts motivate followers”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6470D-BE55-9237-18FC-C7E8AE5D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62" y="1147499"/>
            <a:ext cx="9505334" cy="42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D238-B1E2-5F23-0C30-636597BE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DC2D-73F1-EB09-BB0C-2EF147D62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Traditional theories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3432-D937-4FED-2A22-4A50CEE11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049433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Great person theory of leadership</a:t>
            </a:r>
            <a:r>
              <a:rPr lang="en-US" sz="2400" dirty="0">
                <a:latin typeface="Bookman Old Style" panose="02050604050505020204" pitchFamily="18" charset="0"/>
              </a:rPr>
              <a:t>: Leaders were felt to be born, not made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Some individuals are born with certain traits that allow them to emerge out of any situation or period of history to become leaders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Genetics and hardwiring may play in leadership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Leadership is affected by both nature (genetics) and nurture (development)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Trait theory of leadership : </a:t>
            </a:r>
            <a:r>
              <a:rPr lang="en-US" sz="2400" dirty="0">
                <a:latin typeface="Bookman Old Style" panose="02050604050505020204" pitchFamily="18" charset="0"/>
              </a:rPr>
              <a:t>Identifying the personality traits of the leader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Attention was given to the search for universal traits possessed by leaders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Leaders were bigger and brighter than those being led, but not too much so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Leader was more intelligent than the average of the group being led, but, interestingly, was not the most intelligent of the group</a:t>
            </a:r>
          </a:p>
        </p:txBody>
      </p:sp>
    </p:spTree>
    <p:extLst>
      <p:ext uri="{BB962C8B-B14F-4D97-AF65-F5344CB8AC3E}">
        <p14:creationId xmlns:p14="http://schemas.microsoft.com/office/powerpoint/2010/main" val="378962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D150-2A67-2C06-A50D-B6A1F642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2A12-DBCE-100C-486D-42F3A6CC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Traditional theories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8DEE-9DAB-418E-2228-615D59D4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049433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Trait theory of leadership 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“Big Five” personality traits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Moving away from a strict traits approach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Optimism, hope, resiliency, emotional intelligence, and especially self-efficacy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Skill development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Creativity, organization, persuasiveness, diplomacy and tactfulness, knowledge of the task, and the ability to speak well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32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D6CD-CFC7-C285-566D-6043FC1C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02E2-BAFE-067F-AEA3-112DA7FC6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3" y="1791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Traditional theories of Leadership : Leader Competencies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63F2-B088-567D-D942-831BEF1BB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540774"/>
            <a:ext cx="12049433" cy="631722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Drive, or the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inner motivation </a:t>
            </a:r>
            <a:r>
              <a:rPr lang="en-US" sz="2400" dirty="0">
                <a:latin typeface="Bookman Old Style" panose="02050604050505020204" pitchFamily="18" charset="0"/>
              </a:rPr>
              <a:t>to pursue goals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Leadership motivation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Integrity</a:t>
            </a:r>
            <a:r>
              <a:rPr lang="en-US" sz="2400" dirty="0">
                <a:latin typeface="Bookman Old Style" panose="02050604050505020204" pitchFamily="18" charset="0"/>
              </a:rPr>
              <a:t>, which includes truthfulness and the will to translate words into deeds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Self-confidence</a:t>
            </a:r>
            <a:r>
              <a:rPr lang="en-US" sz="2400" dirty="0">
                <a:latin typeface="Bookman Old Style" panose="02050604050505020204" pitchFamily="18" charset="0"/>
              </a:rPr>
              <a:t> that leads others to feel confidence,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Intelligence</a:t>
            </a:r>
            <a:r>
              <a:rPr lang="en-US" sz="2400" dirty="0">
                <a:latin typeface="Bookman Old Style" panose="02050604050505020204" pitchFamily="18" charset="0"/>
              </a:rPr>
              <a:t>, which is usually focused in the ability to process information, analyze alternatives, and discover opportunities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Knowledge of the business</a:t>
            </a:r>
            <a:r>
              <a:rPr lang="en-US" sz="2400" dirty="0">
                <a:latin typeface="Bookman Old Style" panose="02050604050505020204" pitchFamily="18" charset="0"/>
              </a:rPr>
              <a:t>, so that ideas that are generated help the company to survive and thrive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Emotional intelligence</a:t>
            </a:r>
            <a:r>
              <a:rPr lang="en-US" sz="2400" dirty="0">
                <a:latin typeface="Bookman Old Style" panose="02050604050505020204" pitchFamily="18" charset="0"/>
              </a:rPr>
              <a:t>, based on a self-monitoring personality</a:t>
            </a:r>
          </a:p>
        </p:txBody>
      </p:sp>
    </p:spTree>
    <p:extLst>
      <p:ext uri="{BB962C8B-B14F-4D97-AF65-F5344CB8AC3E}">
        <p14:creationId xmlns:p14="http://schemas.microsoft.com/office/powerpoint/2010/main" val="153764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2338-47CD-2004-D47A-247A6057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51F6-C98A-9AB6-8AFD-AF3A1313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316423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Group and Exchange Theories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AC7E-7716-DC65-635B-ADFC164D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993058"/>
            <a:ext cx="12049433" cy="586494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Leader provides more benefits/</a:t>
            </a:r>
            <a:r>
              <a:rPr lang="en-US" sz="2400" dirty="0">
                <a:latin typeface="Bookman Old Style" panose="02050604050505020204" pitchFamily="18" charset="0"/>
              </a:rPr>
              <a:t>rewards than burdens/costs for followers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Positive exchange between </a:t>
            </a:r>
            <a:r>
              <a:rPr lang="en-US" sz="2400" dirty="0">
                <a:latin typeface="Bookman Old Style" panose="02050604050505020204" pitchFamily="18" charset="0"/>
              </a:rPr>
              <a:t>the leaders and followers in order for group goals to be accomplished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Superiors make investments (e.g., salary, office space) in and receive returns (e.g., performance) from subordinates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Subordinates make investments in and receive returns from superiors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Three domains of Leadership </a:t>
            </a:r>
            <a:r>
              <a:rPr lang="en-US" sz="2400" dirty="0">
                <a:latin typeface="Bookman Old Style" panose="02050604050505020204" pitchFamily="18" charset="0"/>
              </a:rPr>
              <a:t>– Leader Based, Follower Based and Relationship based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400" dirty="0">
                <a:latin typeface="Bookman Old Style" panose="02050604050505020204" pitchFamily="18" charset="0"/>
              </a:rPr>
            </a:b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97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9033-D774-6266-175C-3C01EC76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1969-5F73-6883-D3B1-F6F185AF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281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Group and Exchange Theories of Leadership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4F9FB-1957-2F24-849E-5BD600FC6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2984" y="688002"/>
            <a:ext cx="8017782" cy="6169997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36216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5FB88-DF9B-21F4-78DB-8105C49E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B53C-092D-3D85-E7D7-396842FE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316423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Leader-Member Exchange (LMX) Model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C1ECD-57DC-EAE8-67A3-4BAAEA08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993058"/>
            <a:ext cx="12049433" cy="586494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Conceptualizes leadership as a process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Centered on the interactions between a leader and followers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Dyadic relationship between leaders and followers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Vertical Dyadic Relationship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98DFE-5797-46BB-E14A-8F5296398F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213" y="2931718"/>
            <a:ext cx="4939535" cy="1987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09CA1-5BC9-2203-4C36-5171249D4E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92" y="5060127"/>
            <a:ext cx="2592351" cy="1659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D12BF-E8FF-CE2A-F79C-0591F30059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203" y="5020328"/>
            <a:ext cx="4653251" cy="16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8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41AD-9E3E-7AFE-3EEE-E26661C1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3432-DCC7-5BF2-997B-8968C6C5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Leader-Member Exchange (LMX) Model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54E6-61C7-B88E-AC06-241827053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81366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Researchers found two general types of linkages (or relationships)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In-group : Relationships marked by mutual trust, respect, liking, and reciprocal influence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Receive more information, influence, confidence, and concern than out-group members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Out-group :Relationships marked by formal communication based on job descriptions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3E401-7FEF-62BD-3152-DCFF13DA3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386" y="4620122"/>
            <a:ext cx="4766843" cy="20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1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ChangeArrowheads="1"/>
          </p:cNvSpPr>
          <p:nvPr/>
        </p:nvSpPr>
        <p:spPr bwMode="auto">
          <a:xfrm>
            <a:off x="2287891" y="5865501"/>
            <a:ext cx="113172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TW" b="1" i="1" dirty="0">
                <a:solidFill>
                  <a:srgbClr val="0070C0"/>
                </a:solidFill>
                <a:latin typeface="Arial" charset="0"/>
                <a:ea typeface="新細明體" pitchFamily="18" charset="-120"/>
              </a:rPr>
              <a:t>Follower</a:t>
            </a:r>
          </a:p>
        </p:txBody>
      </p:sp>
      <p:sp>
        <p:nvSpPr>
          <p:cNvPr id="11267" name="Oval 1026"/>
          <p:cNvSpPr>
            <a:spLocks noChangeArrowheads="1"/>
          </p:cNvSpPr>
          <p:nvPr/>
        </p:nvSpPr>
        <p:spPr bwMode="auto">
          <a:xfrm>
            <a:off x="1905000" y="1524000"/>
            <a:ext cx="5486400" cy="4419600"/>
          </a:xfrm>
          <a:prstGeom prst="ellipse">
            <a:avLst/>
          </a:prstGeom>
          <a:solidFill>
            <a:schemeClr val="accent1">
              <a:lumMod val="75000"/>
              <a:alpha val="54000"/>
            </a:schemeClr>
          </a:solidFill>
          <a:ln>
            <a:noFill/>
            <a:headEnd/>
            <a:tailEnd/>
          </a:ln>
          <a:effectLst>
            <a:outerShdw blurRad="50800" dist="38100" dir="5400000" sx="102000" sy="102000" algn="t" rotWithShape="0">
              <a:srgbClr val="0070C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519" name="Text Box 1121"/>
          <p:cNvSpPr txBox="1">
            <a:spLocks noChangeArrowheads="1"/>
          </p:cNvSpPr>
          <p:nvPr/>
        </p:nvSpPr>
        <p:spPr bwMode="auto">
          <a:xfrm>
            <a:off x="7267266" y="570787"/>
            <a:ext cx="4924733" cy="3271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5888" algn="just" eaLnBrk="0" hangingPunct="0"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  <a:ea typeface="Calibri" pitchFamily="34" charset="0"/>
                <a:cs typeface="Calibri" pitchFamily="34" charset="0"/>
              </a:rPr>
              <a:t>In-Group</a:t>
            </a:r>
            <a:r>
              <a:rPr lang="en-US" sz="2000" dirty="0">
                <a:latin typeface="Bookman Old Style" panose="02050604050505020204" pitchFamily="18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marL="347663" lvl="1" indent="-231775" algn="just" eaLnBrk="0" hangingPunct="0">
              <a:lnSpc>
                <a:spcPct val="150000"/>
              </a:lnSpc>
              <a:buFontTx/>
              <a:buChar char="–"/>
            </a:pPr>
            <a:r>
              <a:rPr lang="en-US" sz="2000" dirty="0">
                <a:latin typeface="Bookman Old Style" panose="02050604050505020204" pitchFamily="18" charset="0"/>
                <a:ea typeface="Calibri" pitchFamily="34" charset="0"/>
                <a:cs typeface="Calibri" pitchFamily="34" charset="0"/>
              </a:rPr>
              <a:t>More information, influence, confidence, and concern from leader</a:t>
            </a:r>
          </a:p>
          <a:p>
            <a:pPr marL="347663" lvl="1" indent="-231775" algn="just" eaLnBrk="0" hangingPunct="0">
              <a:lnSpc>
                <a:spcPct val="150000"/>
              </a:lnSpc>
              <a:buFontTx/>
              <a:buChar char="–"/>
            </a:pPr>
            <a:r>
              <a:rPr lang="en-US" sz="2000" dirty="0">
                <a:latin typeface="Bookman Old Style" panose="02050604050505020204" pitchFamily="18" charset="0"/>
                <a:ea typeface="Calibri" pitchFamily="34" charset="0"/>
                <a:cs typeface="Calibri" pitchFamily="34" charset="0"/>
              </a:rPr>
              <a:t>More dependable, highly involved, and communicative than out-group</a:t>
            </a:r>
          </a:p>
        </p:txBody>
      </p:sp>
      <p:sp>
        <p:nvSpPr>
          <p:cNvPr id="11290" name="Text Box 1122"/>
          <p:cNvSpPr txBox="1">
            <a:spLocks noChangeArrowheads="1"/>
          </p:cNvSpPr>
          <p:nvPr/>
        </p:nvSpPr>
        <p:spPr bwMode="auto">
          <a:xfrm>
            <a:off x="7489723" y="4114800"/>
            <a:ext cx="4510549" cy="188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15888" lvl="2" eaLnBrk="0" hangingPunct="0">
              <a:lnSpc>
                <a:spcPct val="150000"/>
              </a:lnSpc>
              <a:defRPr/>
            </a:pPr>
            <a:r>
              <a:rPr lang="en-US" sz="2000" b="1" dirty="0">
                <a:latin typeface="Bookman Old Style" panose="02050604050505020204" pitchFamily="18" charset="0"/>
                <a:cs typeface="Calibri" pitchFamily="34" charset="0"/>
              </a:rPr>
              <a:t>Out-Group</a:t>
            </a:r>
            <a:r>
              <a:rPr lang="en-US" sz="2000" dirty="0">
                <a:latin typeface="Bookman Old Style" panose="02050604050505020204" pitchFamily="18" charset="0"/>
                <a:cs typeface="Calibri" pitchFamily="34" charset="0"/>
              </a:rPr>
              <a:t> </a:t>
            </a:r>
          </a:p>
          <a:p>
            <a:pPr marL="566738" lvl="2" indent="-277813" eaLnBrk="0" hangingPunct="0">
              <a:lnSpc>
                <a:spcPct val="150000"/>
              </a:lnSpc>
              <a:buFontTx/>
              <a:buChar char="–"/>
              <a:defRPr/>
            </a:pPr>
            <a:r>
              <a:rPr lang="en-US" sz="2000" dirty="0">
                <a:latin typeface="Bookman Old Style" panose="02050604050505020204" pitchFamily="18" charset="0"/>
                <a:cs typeface="Calibri" pitchFamily="34" charset="0"/>
              </a:rPr>
              <a:t>Less compatible with leader</a:t>
            </a:r>
          </a:p>
          <a:p>
            <a:pPr marL="566738" lvl="2" indent="-277813" eaLnBrk="0" hangingPunct="0">
              <a:lnSpc>
                <a:spcPct val="150000"/>
              </a:lnSpc>
              <a:buFontTx/>
              <a:buChar char="–"/>
              <a:defRPr/>
            </a:pPr>
            <a:r>
              <a:rPr lang="en-US" sz="2000" dirty="0">
                <a:latin typeface="Bookman Old Style" panose="02050604050505020204" pitchFamily="18" charset="0"/>
                <a:cs typeface="Calibri" pitchFamily="34" charset="0"/>
              </a:rPr>
              <a:t>Usually just come to work, do the job, and go home </a:t>
            </a:r>
          </a:p>
        </p:txBody>
      </p:sp>
      <p:sp>
        <p:nvSpPr>
          <p:cNvPr id="21521" name="Rectangle 1123"/>
          <p:cNvSpPr>
            <a:spLocks noGrp="1" noChangeArrowheads="1"/>
          </p:cNvSpPr>
          <p:nvPr>
            <p:ph type="title"/>
          </p:nvPr>
        </p:nvSpPr>
        <p:spPr>
          <a:xfrm>
            <a:off x="228600" y="30956"/>
            <a:ext cx="10515600" cy="539831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b="1" dirty="0"/>
              <a:t>In-Group and Out-Group Followers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B40A263-9BDB-4671-AC59-6ABAC96924D5}" type="slidenum">
              <a:rPr lang="en-US" smtClean="0"/>
              <a:t>42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057400" y="1676400"/>
            <a:ext cx="4724400" cy="4116388"/>
            <a:chOff x="533400" y="1676400"/>
            <a:chExt cx="4724400" cy="4116388"/>
          </a:xfrm>
          <a:solidFill>
            <a:schemeClr val="accent1">
              <a:alpha val="54000"/>
            </a:schemeClr>
          </a:solidFill>
        </p:grpSpPr>
        <p:sp>
          <p:nvSpPr>
            <p:cNvPr id="11268" name="Oval 1032"/>
            <p:cNvSpPr>
              <a:spLocks noChangeArrowheads="1"/>
            </p:cNvSpPr>
            <p:nvPr/>
          </p:nvSpPr>
          <p:spPr bwMode="auto">
            <a:xfrm>
              <a:off x="2362200" y="2057400"/>
              <a:ext cx="2895600" cy="2730500"/>
            </a:xfrm>
            <a:prstGeom prst="ellipse">
              <a:avLst/>
            </a:prstGeom>
            <a:grpFill/>
            <a:ln>
              <a:solidFill>
                <a:srgbClr val="0070C0"/>
              </a:solidFill>
              <a:headEnd/>
              <a:tailEnd/>
            </a:ln>
            <a:effectLst>
              <a:outerShdw blurRad="50800" dist="38100" dir="5400000" sx="101000" sy="101000" algn="t" rotWithShape="0">
                <a:prstClr val="black">
                  <a:alpha val="61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0" name="Line 1034"/>
            <p:cNvSpPr>
              <a:spLocks noChangeShapeType="1"/>
            </p:cNvSpPr>
            <p:nvPr/>
          </p:nvSpPr>
          <p:spPr bwMode="auto">
            <a:xfrm>
              <a:off x="3352800" y="3352800"/>
              <a:ext cx="1143000" cy="685800"/>
            </a:xfrm>
            <a:prstGeom prst="line">
              <a:avLst/>
            </a:prstGeom>
            <a:grp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1" name="Line 1035"/>
            <p:cNvSpPr>
              <a:spLocks noChangeShapeType="1"/>
            </p:cNvSpPr>
            <p:nvPr/>
          </p:nvSpPr>
          <p:spPr bwMode="auto">
            <a:xfrm>
              <a:off x="3276600" y="3429000"/>
              <a:ext cx="838200" cy="838200"/>
            </a:xfrm>
            <a:prstGeom prst="line">
              <a:avLst/>
            </a:prstGeom>
            <a:grp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2" name="Line 1036"/>
            <p:cNvSpPr>
              <a:spLocks noChangeShapeType="1"/>
            </p:cNvSpPr>
            <p:nvPr/>
          </p:nvSpPr>
          <p:spPr bwMode="auto">
            <a:xfrm>
              <a:off x="3124200" y="3505200"/>
              <a:ext cx="381000" cy="838200"/>
            </a:xfrm>
            <a:prstGeom prst="line">
              <a:avLst/>
            </a:prstGeom>
            <a:grp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3" name="Line 1037"/>
            <p:cNvSpPr>
              <a:spLocks noChangeShapeType="1"/>
            </p:cNvSpPr>
            <p:nvPr/>
          </p:nvSpPr>
          <p:spPr bwMode="auto">
            <a:xfrm>
              <a:off x="2971800" y="3505200"/>
              <a:ext cx="0" cy="533400"/>
            </a:xfrm>
            <a:prstGeom prst="line">
              <a:avLst/>
            </a:prstGeom>
            <a:grp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4" name="Rectangle 1053"/>
            <p:cNvSpPr>
              <a:spLocks noChangeArrowheads="1"/>
            </p:cNvSpPr>
            <p:nvPr/>
          </p:nvSpPr>
          <p:spPr bwMode="auto">
            <a:xfrm>
              <a:off x="698500" y="2819400"/>
              <a:ext cx="1234313" cy="366767"/>
            </a:xfrm>
            <a:prstGeom prst="rect">
              <a:avLst/>
            </a:prstGeom>
            <a:grpFill/>
            <a:ln>
              <a:solidFill>
                <a:srgbClr val="0070C0"/>
              </a:solidFill>
              <a:headEnd/>
              <a:tailEnd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altLang="zh-TW" b="1" i="1" dirty="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Times New Roman" pitchFamily="18" charset="0"/>
                </a:rPr>
                <a:t>Out-Group</a:t>
              </a:r>
            </a:p>
          </p:txBody>
        </p:sp>
        <p:sp>
          <p:nvSpPr>
            <p:cNvPr id="11287" name="Line 1116"/>
            <p:cNvSpPr>
              <a:spLocks noChangeShapeType="1"/>
            </p:cNvSpPr>
            <p:nvPr/>
          </p:nvSpPr>
          <p:spPr bwMode="auto">
            <a:xfrm>
              <a:off x="3429000" y="3200400"/>
              <a:ext cx="1371600" cy="381000"/>
            </a:xfrm>
            <a:prstGeom prst="line">
              <a:avLst/>
            </a:prstGeom>
            <a:grp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524" name="TextBox 59"/>
            <p:cNvSpPr txBox="1">
              <a:spLocks noChangeArrowheads="1"/>
            </p:cNvSpPr>
            <p:nvPr/>
          </p:nvSpPr>
          <p:spPr bwMode="auto">
            <a:xfrm>
              <a:off x="2362200" y="3048000"/>
              <a:ext cx="1143000" cy="369332"/>
            </a:xfrm>
            <a:prstGeom prst="rect">
              <a:avLst/>
            </a:prstGeom>
            <a:grpFill/>
            <a:ln w="9525">
              <a:solidFill>
                <a:srgbClr val="0070C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 i="1" dirty="0"/>
                <a:t>Leader</a:t>
              </a:r>
            </a:p>
          </p:txBody>
        </p:sp>
        <p:sp>
          <p:nvSpPr>
            <p:cNvPr id="21525" name="TextBox 60"/>
            <p:cNvSpPr txBox="1">
              <a:spLocks noChangeArrowheads="1"/>
            </p:cNvSpPr>
            <p:nvPr/>
          </p:nvSpPr>
          <p:spPr bwMode="auto">
            <a:xfrm>
              <a:off x="3048000" y="2362200"/>
              <a:ext cx="1032655" cy="369332"/>
            </a:xfrm>
            <a:prstGeom prst="rect">
              <a:avLst/>
            </a:prstGeom>
            <a:grpFill/>
            <a:ln w="952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 dirty="0"/>
                <a:t>In-Group</a:t>
              </a:r>
            </a:p>
          </p:txBody>
        </p:sp>
        <p:sp>
          <p:nvSpPr>
            <p:cNvPr id="66" name="Flowchart: Preparation 65"/>
            <p:cNvSpPr/>
            <p:nvPr/>
          </p:nvSpPr>
          <p:spPr>
            <a:xfrm>
              <a:off x="4038600" y="42672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7" name="Flowchart: Preparation 66"/>
            <p:cNvSpPr/>
            <p:nvPr/>
          </p:nvSpPr>
          <p:spPr>
            <a:xfrm>
              <a:off x="4495800" y="39624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8" name="Flowchart: Preparation 67"/>
            <p:cNvSpPr/>
            <p:nvPr/>
          </p:nvSpPr>
          <p:spPr>
            <a:xfrm>
              <a:off x="4800600" y="34290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9" name="Flowchart: Preparation 68"/>
            <p:cNvSpPr/>
            <p:nvPr/>
          </p:nvSpPr>
          <p:spPr>
            <a:xfrm>
              <a:off x="3352800" y="43434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0" name="Flowchart: Preparation 69"/>
            <p:cNvSpPr/>
            <p:nvPr/>
          </p:nvSpPr>
          <p:spPr>
            <a:xfrm>
              <a:off x="2819400" y="40386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1" name="Flowchart: Preparation 70"/>
            <p:cNvSpPr/>
            <p:nvPr/>
          </p:nvSpPr>
          <p:spPr>
            <a:xfrm>
              <a:off x="1905000" y="19050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2" name="Flowchart: Preparation 71"/>
            <p:cNvSpPr/>
            <p:nvPr/>
          </p:nvSpPr>
          <p:spPr>
            <a:xfrm>
              <a:off x="2590800" y="17526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3" name="Flowchart: Preparation 72"/>
            <p:cNvSpPr/>
            <p:nvPr/>
          </p:nvSpPr>
          <p:spPr>
            <a:xfrm>
              <a:off x="1295400" y="22860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4" name="Flowchart: Preparation 73"/>
            <p:cNvSpPr/>
            <p:nvPr/>
          </p:nvSpPr>
          <p:spPr>
            <a:xfrm>
              <a:off x="533400" y="34290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5" name="Flowchart: Preparation 74"/>
            <p:cNvSpPr/>
            <p:nvPr/>
          </p:nvSpPr>
          <p:spPr>
            <a:xfrm>
              <a:off x="685800" y="41910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6" name="Flowchart: Preparation 75"/>
            <p:cNvSpPr/>
            <p:nvPr/>
          </p:nvSpPr>
          <p:spPr>
            <a:xfrm>
              <a:off x="1219200" y="48006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7" name="Flowchart: Preparation 76"/>
            <p:cNvSpPr/>
            <p:nvPr/>
          </p:nvSpPr>
          <p:spPr>
            <a:xfrm>
              <a:off x="2057400" y="52578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8" name="Flowchart: Preparation 77"/>
            <p:cNvSpPr/>
            <p:nvPr/>
          </p:nvSpPr>
          <p:spPr>
            <a:xfrm>
              <a:off x="3048000" y="54102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9" name="Flowchart: Preparation 78"/>
            <p:cNvSpPr/>
            <p:nvPr/>
          </p:nvSpPr>
          <p:spPr>
            <a:xfrm>
              <a:off x="3962400" y="5257800"/>
              <a:ext cx="381000" cy="304800"/>
            </a:xfrm>
            <a:prstGeom prst="flowChartPreparation">
              <a:avLst/>
            </a:prstGeom>
            <a:grpFill/>
            <a:ln>
              <a:solidFill>
                <a:srgbClr val="0070C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541" name="Rectangle 1030"/>
            <p:cNvSpPr>
              <a:spLocks noChangeArrowheads="1"/>
            </p:cNvSpPr>
            <p:nvPr/>
          </p:nvSpPr>
          <p:spPr bwMode="auto">
            <a:xfrm>
              <a:off x="4800600" y="33528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2" name="Rectangle 1030"/>
            <p:cNvSpPr>
              <a:spLocks noChangeArrowheads="1"/>
            </p:cNvSpPr>
            <p:nvPr/>
          </p:nvSpPr>
          <p:spPr bwMode="auto">
            <a:xfrm>
              <a:off x="4495800" y="38862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3" name="Rectangle 1030"/>
            <p:cNvSpPr>
              <a:spLocks noChangeArrowheads="1"/>
            </p:cNvSpPr>
            <p:nvPr/>
          </p:nvSpPr>
          <p:spPr bwMode="auto">
            <a:xfrm>
              <a:off x="4038600" y="41910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4" name="Rectangle 1030"/>
            <p:cNvSpPr>
              <a:spLocks noChangeArrowheads="1"/>
            </p:cNvSpPr>
            <p:nvPr/>
          </p:nvSpPr>
          <p:spPr bwMode="auto">
            <a:xfrm>
              <a:off x="3352800" y="42672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5" name="Rectangle 1030"/>
            <p:cNvSpPr>
              <a:spLocks noChangeArrowheads="1"/>
            </p:cNvSpPr>
            <p:nvPr/>
          </p:nvSpPr>
          <p:spPr bwMode="auto">
            <a:xfrm>
              <a:off x="2819400" y="39624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6" name="Rectangle 1030"/>
            <p:cNvSpPr>
              <a:spLocks noChangeArrowheads="1"/>
            </p:cNvSpPr>
            <p:nvPr/>
          </p:nvSpPr>
          <p:spPr bwMode="auto">
            <a:xfrm>
              <a:off x="2590800" y="16764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7" name="Rectangle 1030"/>
            <p:cNvSpPr>
              <a:spLocks noChangeArrowheads="1"/>
            </p:cNvSpPr>
            <p:nvPr/>
          </p:nvSpPr>
          <p:spPr bwMode="auto">
            <a:xfrm>
              <a:off x="1905000" y="18288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8" name="Rectangle 1030"/>
            <p:cNvSpPr>
              <a:spLocks noChangeArrowheads="1"/>
            </p:cNvSpPr>
            <p:nvPr/>
          </p:nvSpPr>
          <p:spPr bwMode="auto">
            <a:xfrm>
              <a:off x="3962400" y="51816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49" name="Rectangle 1030"/>
            <p:cNvSpPr>
              <a:spLocks noChangeArrowheads="1"/>
            </p:cNvSpPr>
            <p:nvPr/>
          </p:nvSpPr>
          <p:spPr bwMode="auto">
            <a:xfrm>
              <a:off x="3048000" y="53340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50" name="Rectangle 1030"/>
            <p:cNvSpPr>
              <a:spLocks noChangeArrowheads="1"/>
            </p:cNvSpPr>
            <p:nvPr/>
          </p:nvSpPr>
          <p:spPr bwMode="auto">
            <a:xfrm>
              <a:off x="2057400" y="51816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51" name="Rectangle 1030"/>
            <p:cNvSpPr>
              <a:spLocks noChangeArrowheads="1"/>
            </p:cNvSpPr>
            <p:nvPr/>
          </p:nvSpPr>
          <p:spPr bwMode="auto">
            <a:xfrm>
              <a:off x="1219200" y="47244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52" name="Rectangle 1030"/>
            <p:cNvSpPr>
              <a:spLocks noChangeArrowheads="1"/>
            </p:cNvSpPr>
            <p:nvPr/>
          </p:nvSpPr>
          <p:spPr bwMode="auto">
            <a:xfrm>
              <a:off x="685800" y="41148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53" name="Rectangle 1030"/>
            <p:cNvSpPr>
              <a:spLocks noChangeArrowheads="1"/>
            </p:cNvSpPr>
            <p:nvPr/>
          </p:nvSpPr>
          <p:spPr bwMode="auto">
            <a:xfrm>
              <a:off x="533400" y="33528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  <p:sp>
          <p:nvSpPr>
            <p:cNvPr id="21554" name="Rectangle 1030"/>
            <p:cNvSpPr>
              <a:spLocks noChangeArrowheads="1"/>
            </p:cNvSpPr>
            <p:nvPr/>
          </p:nvSpPr>
          <p:spPr bwMode="auto">
            <a:xfrm>
              <a:off x="1219200" y="2209800"/>
              <a:ext cx="457200" cy="458788"/>
            </a:xfrm>
            <a:prstGeom prst="rect">
              <a:avLst/>
            </a:prstGeom>
            <a:grpFill/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lIns="90488" tIns="44450" rIns="90488" bIns="44450"/>
            <a:lstStyle/>
            <a:p>
              <a:pPr eaLnBrk="0" hangingPunct="0"/>
              <a:r>
                <a:rPr lang="en-US" altLang="zh-TW" b="1" dirty="0">
                  <a:latin typeface="Arial" charset="0"/>
                  <a:ea typeface="新細明體" pitchFamily="18" charset="-120"/>
                </a:rPr>
                <a:t>F</a:t>
              </a:r>
            </a:p>
          </p:txBody>
        </p:sp>
      </p:grpSp>
      <p:sp>
        <p:nvSpPr>
          <p:cNvPr id="94" name="Flowchart: Preparation 93"/>
          <p:cNvSpPr/>
          <p:nvPr/>
        </p:nvSpPr>
        <p:spPr>
          <a:xfrm>
            <a:off x="1906890" y="5941700"/>
            <a:ext cx="381000" cy="304800"/>
          </a:xfrm>
          <a:prstGeom prst="flowChartPreparation">
            <a:avLst/>
          </a:prstGeom>
          <a:solidFill>
            <a:srgbClr val="0070C0">
              <a:alpha val="54000"/>
            </a:srgbClr>
          </a:solidFill>
          <a:ln>
            <a:solidFill>
              <a:srgbClr val="0070C0"/>
            </a:solidFill>
          </a:ln>
          <a:effectLst>
            <a:outerShdw blurRad="50800" dist="38100" dir="5400000" algn="t" rotWithShape="0">
              <a:srgbClr val="0070C0">
                <a:alpha val="40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56" name="Rectangle 1030"/>
          <p:cNvSpPr>
            <a:spLocks noChangeArrowheads="1"/>
          </p:cNvSpPr>
          <p:nvPr/>
        </p:nvSpPr>
        <p:spPr bwMode="auto">
          <a:xfrm>
            <a:off x="1906890" y="5865500"/>
            <a:ext cx="4572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0" hangingPunct="0"/>
            <a:r>
              <a:rPr lang="en-US" altLang="zh-TW" b="1" dirty="0">
                <a:latin typeface="Arial" charset="0"/>
                <a:ea typeface="新細明體" pitchFamily="18" charset="-120"/>
              </a:rPr>
              <a:t>F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Northouse, Leadership 8e. ©  SAGE Publications, 2019.</a:t>
            </a:r>
            <a:endParaRPr lang="en-US" dirty="0"/>
          </a:p>
        </p:txBody>
      </p:sp>
    </p:spTree>
  </p:cSld>
  <p:clrMapOvr>
    <a:masterClrMapping/>
  </p:clrMapOvr>
  <p:transition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5589-8C9E-E43F-42AD-B8C757B3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A455-FF12-1D10-6AB4-D068F39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Leader-Member Exchange (LMX) Model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3A64-4107-18E3-5A1B-97B5A0937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LMX has evolved through various stages: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Discovery of differentiated dyads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Investigation of characteristics of LMX relationships and their organizational implications/outcomes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Description of dyadic partnership building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Aggregation of differentiated dyadic relations to group and network levels</a:t>
            </a:r>
          </a:p>
        </p:txBody>
      </p:sp>
    </p:spTree>
    <p:extLst>
      <p:ext uri="{BB962C8B-B14F-4D97-AF65-F5344CB8AC3E}">
        <p14:creationId xmlns:p14="http://schemas.microsoft.com/office/powerpoint/2010/main" val="375529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A572-9E03-A4AE-F2FA-2BBA1589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531D-13B1-09BB-DB9B-79BC0E5C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Contingency Theory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F9CA-4D12-5291-E223-68DC0DA11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Attention turned not only to the group being led and the exchange relationship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Situational or contextual aspects of leadership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2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648-05DF-ADCC-2002-16A2327E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B15A-B7F8-3C64-1DE4-D60302D0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Fiedler’s Contingency Model of Leadership Effectiveness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F5A8-39C4-E595-83A5-32E5EF9D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Relationship between </a:t>
            </a:r>
            <a:r>
              <a:rPr lang="en-US" sz="2400" b="1" dirty="0">
                <a:latin typeface="Bookman Old Style" panose="02050604050505020204" pitchFamily="18" charset="0"/>
              </a:rPr>
              <a:t>leadership style and the favorableness of the situation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Three empirically derived dimensions: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	1. The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leader-member relationship</a:t>
            </a:r>
            <a:r>
              <a:rPr lang="en-US" sz="2400" dirty="0">
                <a:latin typeface="Bookman Old Style" panose="02050604050505020204" pitchFamily="18" charset="0"/>
              </a:rPr>
              <a:t>, which is the most critical variable 	in determining the situation’s favorableness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	2. The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degree of task structure</a:t>
            </a:r>
            <a:r>
              <a:rPr lang="en-US" sz="2400" dirty="0">
                <a:latin typeface="Bookman Old Style" panose="02050604050505020204" pitchFamily="18" charset="0"/>
              </a:rPr>
              <a:t>, which is the second most important 	input into the favorableness of the situation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	3. The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leader’s position power </a:t>
            </a:r>
            <a:r>
              <a:rPr lang="en-US" sz="2400" dirty="0">
                <a:latin typeface="Bookman Old Style" panose="02050604050505020204" pitchFamily="18" charset="0"/>
              </a:rPr>
              <a:t>obtained through formal authority,  	which is the third most critical dimension of the situation</a:t>
            </a:r>
          </a:p>
        </p:txBody>
      </p:sp>
    </p:spTree>
    <p:extLst>
      <p:ext uri="{BB962C8B-B14F-4D97-AF65-F5344CB8AC3E}">
        <p14:creationId xmlns:p14="http://schemas.microsoft.com/office/powerpoint/2010/main" val="422202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D39C-377E-95D9-7614-039F0ABF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4EAE-FB14-2D20-3E70-6B2F8EAB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Fiedler’s Contingency Model of Leadership Effectiveness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7B6-3D8C-3F15-5913-B2D6D6B6E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Situations are favorable to the leader if all three of these dimensions are high.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When the situation was only moderately favorable or unfavorable (the intermediate range of favorableness), the human-oriented or democratic type of leader was most effective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38462-62BD-28FA-E8E5-31428814D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234" y="3085591"/>
            <a:ext cx="5928874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5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5FE0-6455-18E8-EDD2-ADD53975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3BE2-8002-EAEA-13FA-E16EBDD9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Path Goal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82A1-06F5-411D-2F8C-F84F036EA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 Explains the impact that leader behavior has on </a:t>
            </a:r>
            <a:r>
              <a:rPr lang="en-US" sz="2400" b="1" dirty="0">
                <a:latin typeface="Bookman Old Style" panose="02050604050505020204" pitchFamily="18" charset="0"/>
              </a:rPr>
              <a:t>associate motivation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b="1" dirty="0">
                <a:latin typeface="Bookman Old Style" panose="02050604050505020204" pitchFamily="18" charset="0"/>
              </a:rPr>
              <a:t>satisfaction, and performance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Directive leadership</a:t>
            </a:r>
            <a:r>
              <a:rPr lang="en-US" sz="2400" dirty="0">
                <a:latin typeface="Bookman Old Style" panose="02050604050505020204" pitchFamily="18" charset="0"/>
              </a:rPr>
              <a:t>: Associates know exactly what is expected of them, and the leader gives specific directions. There is no participation by subordinates.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Supportive leadership</a:t>
            </a:r>
            <a:r>
              <a:rPr lang="en-US" sz="2400" dirty="0">
                <a:latin typeface="Bookman Old Style" panose="02050604050505020204" pitchFamily="18" charset="0"/>
              </a:rPr>
              <a:t>: The leader is friendly and approachable and shows a genuine concern for associates.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Participative leadership</a:t>
            </a:r>
            <a:r>
              <a:rPr lang="en-US" sz="2400" dirty="0">
                <a:latin typeface="Bookman Old Style" panose="02050604050505020204" pitchFamily="18" charset="0"/>
              </a:rPr>
              <a:t>: The leader asks for and uses suggestions from associates but still makes the decisions.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Achievement-oriented leadership</a:t>
            </a:r>
            <a:r>
              <a:rPr lang="en-US" sz="2400" dirty="0">
                <a:latin typeface="Bookman Old Style" panose="02050604050505020204" pitchFamily="18" charset="0"/>
              </a:rPr>
              <a:t>: Leader sets challenging goals for associates and shows confidence that they will attain these goals and perform well.</a:t>
            </a:r>
          </a:p>
        </p:txBody>
      </p:sp>
    </p:spTree>
    <p:extLst>
      <p:ext uri="{BB962C8B-B14F-4D97-AF65-F5344CB8AC3E}">
        <p14:creationId xmlns:p14="http://schemas.microsoft.com/office/powerpoint/2010/main" val="75196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B917-592E-2AEA-985E-158246A5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74CF-A0A4-1717-4ACE-E5F82B5CD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Path Goal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C0FD-5F73-0C16-BF3A-BBC9F3872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676636"/>
            <a:ext cx="12049433" cy="610762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Path-goal theory — Suggests that these various styles can be and actually are used by the same leader in different situations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EFACD-8AA3-1631-CD41-028FAFB1C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514" y="1757574"/>
            <a:ext cx="8890324" cy="481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1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48F9-C65E-7905-F204-9B1059C9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1985-7E3A-4BC2-ED2B-137EDDB1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6310"/>
            <a:ext cx="11855246" cy="6766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Modern Theories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17DA-8638-05CC-50E4-B39834107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973394"/>
            <a:ext cx="12049433" cy="581086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Besides the established trait, group and exchange, contingency, and path-goal theories of leadership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Modern theories of leadership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Charismatic theory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Transformational theory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Substitutes theory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Authentic theories</a:t>
            </a:r>
          </a:p>
        </p:txBody>
      </p:sp>
    </p:spTree>
    <p:extLst>
      <p:ext uri="{BB962C8B-B14F-4D97-AF65-F5344CB8AC3E}">
        <p14:creationId xmlns:p14="http://schemas.microsoft.com/office/powerpoint/2010/main" val="318653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4E41-C1EA-2C15-B9C6-47914A51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8401-4AAC-D94B-D7D7-319B8955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Charismatic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21DE-149D-6C27-876F-8C9B3768C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471949"/>
            <a:ext cx="12049433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Charismatic leaders are characterized by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Self-confidence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Confidence in their associates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High expectations for associates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Ideological vision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Use of personal example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Superior debating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Persuasive skills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Technical expertise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Fostering of attitudinal, behavioral &amp; emotional changes in their followers</a:t>
            </a:r>
          </a:p>
        </p:txBody>
      </p:sp>
    </p:spTree>
    <p:extLst>
      <p:ext uri="{BB962C8B-B14F-4D97-AF65-F5344CB8AC3E}">
        <p14:creationId xmlns:p14="http://schemas.microsoft.com/office/powerpoint/2010/main" val="272637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38FF-1AC4-AB22-3AE2-E4AAE0CC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D415-94C2-4678-B07A-17B89732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Charismatic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4928-38A2-12CC-BBD6-EA8251E2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471949"/>
            <a:ext cx="12049433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Charismatic leaders will produce in followers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Performance beyond expectations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Strong commitment to the leader and his or her mission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Situations that promote charismatic leadership include a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Crisis requiring dramatic change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Followers who are very dissatisfied with the status quo</a:t>
            </a:r>
          </a:p>
          <a:p>
            <a:pPr lvl="1"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dirty="0"/>
              <a:t>Charismatic leadership is really just a component of the broader-based transformational leadership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E7E8C-6D03-21F9-4BB2-6E3A2AEC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47" y="634180"/>
            <a:ext cx="10908511" cy="498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6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4510-A0DF-771C-9B68-73776C66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D43-07C4-C4FC-B36E-7A0339DD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Transformational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CC36-81F9-2C14-98BD-EFDA81B78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4" y="629265"/>
            <a:ext cx="11783963" cy="615499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 James MacGregor Burns: Two types of political leadership: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transactional and transformational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FD9BD-5E28-CF7A-FC9F-69667E96E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5"/>
          <a:stretch/>
        </p:blipFill>
        <p:spPr>
          <a:xfrm>
            <a:off x="558885" y="1913779"/>
            <a:ext cx="11339700" cy="494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3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E061-4FBA-75F9-659C-C7408EAE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F498-5757-A084-5358-6A0A21D2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Transformational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56F6-B5CF-1820-B51E-E45BC170D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4" y="471949"/>
            <a:ext cx="11783963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Avolio: Transformational leaders are characterized by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Idealized leadership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Inspiring leadership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Intellectual stimulation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Individualized consideration represent a cluster of interrelated styles aimed at the following: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	1. Changing situations for the better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	2. Developing followers into leaders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	3. Overhauling organizations to provide with new strategic directions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	4. Inspiring people by providing an energizing vision and high ideal for moral 	and ethical conduct</a:t>
            </a:r>
          </a:p>
        </p:txBody>
      </p:sp>
    </p:spTree>
    <p:extLst>
      <p:ext uri="{BB962C8B-B14F-4D97-AF65-F5344CB8AC3E}">
        <p14:creationId xmlns:p14="http://schemas.microsoft.com/office/powerpoint/2010/main" val="4716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A95-D80C-4D36-7482-785F8027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3D6C-E454-D2D0-FC89-EF4C8282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Transformational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A9C6-A89A-4274-9229-DE8EB88D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4" y="471949"/>
            <a:ext cx="11783963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Tichy and Devanna: Found that effective transformational leaders share the following characteristics: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1. They identify themselves as change agents.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2. They are courageous.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3. They believe in people.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4. They are value driven.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5. They are lifelong learners.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6. They have the ability to deal with complexity, ambiguity, and uncertainty.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7. They are visionaries.</a:t>
            </a:r>
          </a:p>
        </p:txBody>
      </p:sp>
    </p:spTree>
    <p:extLst>
      <p:ext uri="{BB962C8B-B14F-4D97-AF65-F5344CB8AC3E}">
        <p14:creationId xmlns:p14="http://schemas.microsoft.com/office/powerpoint/2010/main" val="338737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1E45-AD29-F311-C5A3-BDA02DFF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CCDF-0272-E871-2B0F-5E2987E57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Substitutes for Leadership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DCE3-73DB-5A2D-A28C-F6898FCC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471949"/>
            <a:ext cx="6128656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“Substitutes”: Make leader behavior unnecessary and redundant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Neutralizers: Prevent the leader from behaving in a certain way or that counteract the behavior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Tries to point out that some things are beyond leaders’ control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Leaders do not have mystical powers over people.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The situation or context plays a role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E872D-8586-8FCD-90E0-47CDC4E9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26" r="4562"/>
          <a:stretch/>
        </p:blipFill>
        <p:spPr>
          <a:xfrm>
            <a:off x="6368144" y="471948"/>
            <a:ext cx="5704112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0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0367-C467-1D5C-C2A7-B5671837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16A9-5654-C1BE-3BB8-B15EAF64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Authentic Theory of Leadership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6B571-753D-68EC-404F-FBF7527E1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609599"/>
            <a:ext cx="12072256" cy="6174659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i="1" dirty="0"/>
              <a:t>Authentic leadership </a:t>
            </a:r>
            <a:r>
              <a:rPr lang="en-US" dirty="0"/>
              <a:t>in organizations can be defined as:</a:t>
            </a:r>
          </a:p>
          <a:p>
            <a:r>
              <a:rPr lang="en-US" dirty="0"/>
              <a:t>A process that draws from both positive psychological capacities and a highly developed organizational context, which results in both greater self-awareness and self-regulated positive behaviors on the part of leaders and associates, fostering positive self-development.</a:t>
            </a:r>
          </a:p>
          <a:p>
            <a:r>
              <a:rPr lang="en-IN" dirty="0"/>
              <a:t>The </a:t>
            </a:r>
            <a:r>
              <a:rPr lang="en-US" dirty="0"/>
              <a:t>authentic leader is confident, hopeful, optimistic, resilient, transparent, moral/ethical, future oriented, and gives priority to developing associates to be leaders.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4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876C46-6FAC-C596-ABA6-F9847A35F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903" y="275304"/>
            <a:ext cx="8800188" cy="4908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5A089-F71D-7E9C-86C5-6C556EABD907}"/>
              </a:ext>
            </a:extLst>
          </p:cNvPr>
          <p:cNvSpPr txBox="1"/>
          <p:nvPr/>
        </p:nvSpPr>
        <p:spPr>
          <a:xfrm>
            <a:off x="629265" y="5545394"/>
            <a:ext cx="1098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latin typeface="Bookman Old Style" panose="02050604050505020204" pitchFamily="18" charset="0"/>
              </a:rPr>
              <a:t>Figure depicts </a:t>
            </a:r>
            <a:r>
              <a:rPr lang="en-IN" sz="1800" b="0" i="0" u="none" strike="noStrike" baseline="0" dirty="0">
                <a:latin typeface="Bookman Old Style" panose="02050604050505020204" pitchFamily="18" charset="0"/>
              </a:rPr>
              <a:t>authentic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leadership development process and product. </a:t>
            </a:r>
            <a:r>
              <a:rPr lang="en-IN" sz="1800" u="none" strike="noStrike" baseline="0" dirty="0">
                <a:latin typeface="Bookman Old Style" panose="02050604050505020204" pitchFamily="18" charset="0"/>
              </a:rPr>
              <a:t>Authentic leadership theory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treat leadership as both a developmental 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process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and 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product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centered on authenticity.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7555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C529-60A5-4259-E3FF-6DCB9898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27194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Bookman Old Style" panose="02050604050505020204" pitchFamily="18" charset="0"/>
              </a:rPr>
              <a:t>Leadership across Cultures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C3A8E-7CB7-C8DF-EE92-5801A46026C7}"/>
              </a:ext>
            </a:extLst>
          </p:cNvPr>
          <p:cNvSpPr txBox="1"/>
          <p:nvPr/>
        </p:nvSpPr>
        <p:spPr>
          <a:xfrm>
            <a:off x="730045" y="1597512"/>
            <a:ext cx="110096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Bookman Old Style" panose="02050604050505020204" pitchFamily="18" charset="0"/>
              </a:rPr>
              <a:t>F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actors that potentially contribute to differences in effective leader </a:t>
            </a:r>
            <a:r>
              <a:rPr lang="en-IN" sz="1800" b="0" i="0" u="none" strike="noStrike" baseline="0" dirty="0">
                <a:latin typeface="Bookman Old Style" panose="02050604050505020204" pitchFamily="18" charset="0"/>
              </a:rPr>
              <a:t>processes across cultures such as :</a:t>
            </a:r>
          </a:p>
          <a:p>
            <a:pPr algn="just"/>
            <a:endParaRPr lang="en-IN" dirty="0">
              <a:latin typeface="Bookman Old Style" panose="02050604050505020204" pitchFamily="18" charset="0"/>
            </a:endParaRPr>
          </a:p>
          <a:p>
            <a:pPr algn="just"/>
            <a:r>
              <a:rPr lang="en-IN" dirty="0">
                <a:latin typeface="Bookman Old Style" panose="02050604050505020204" pitchFamily="18" charset="0"/>
              </a:rPr>
              <a:t>Personal Values: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The personal values held by a manager shape his or her perception of a situation, influence the analysis of alternative solutions to a problem, and affect the ultimate decision made by the </a:t>
            </a:r>
            <a:r>
              <a:rPr lang="en-IN" sz="1800" b="0" i="0" u="none" strike="noStrike" baseline="0" dirty="0">
                <a:latin typeface="Bookman Old Style" panose="02050604050505020204" pitchFamily="18" charset="0"/>
              </a:rPr>
              <a:t>leader.</a:t>
            </a:r>
          </a:p>
          <a:p>
            <a:pPr algn="just"/>
            <a:r>
              <a:rPr lang="en-IN" dirty="0">
                <a:latin typeface="Bookman Old Style" panose="02050604050505020204" pitchFamily="18" charset="0"/>
              </a:rPr>
              <a:t> </a:t>
            </a:r>
          </a:p>
          <a:p>
            <a:pPr algn="just"/>
            <a:r>
              <a:rPr lang="en-IN" sz="1800" u="none" strike="noStrike" baseline="0" dirty="0">
                <a:latin typeface="Bookman Old Style" panose="02050604050505020204" pitchFamily="18" charset="0"/>
              </a:rPr>
              <a:t>Backgrounds of the Managers : </a:t>
            </a:r>
            <a:r>
              <a:rPr lang="en-US" dirty="0">
                <a:latin typeface="Bookman Old Style" panose="02050604050505020204" pitchFamily="18" charset="0"/>
              </a:rPr>
              <a:t>E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ducational background, class and family status also can have an influence.</a:t>
            </a:r>
          </a:p>
          <a:p>
            <a:pPr algn="just"/>
            <a:endParaRPr lang="en-US" dirty="0">
              <a:latin typeface="Bookman Old Style" panose="02050604050505020204" pitchFamily="18" charset="0"/>
            </a:endParaRPr>
          </a:p>
          <a:p>
            <a:pPr algn="just"/>
            <a:r>
              <a:rPr lang="en-IN" sz="1800" u="none" strike="noStrike" baseline="0" dirty="0">
                <a:latin typeface="Bookman Old Style" panose="02050604050505020204" pitchFamily="18" charset="0"/>
              </a:rPr>
              <a:t>Interpersonal Skills :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Leaders vary in their views of rules and procedures, deference to authority,</a:t>
            </a:r>
          </a:p>
          <a:p>
            <a:pPr algn="just"/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levels of dependence and independence, willingness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to compromise, and other interpersonal tactics.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4801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1D09-C561-FB20-FB92-6D42DDE2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18255"/>
            <a:ext cx="10515600" cy="827319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Bookman Old Style" panose="02050604050505020204" pitchFamily="18" charset="0"/>
              </a:rPr>
              <a:t>Project GLOBE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93AD5-827F-A415-9B8A-AD8A14584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719060"/>
            <a:ext cx="11353800" cy="54198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Bookman Old Style" panose="02050604050505020204" pitchFamily="18" charset="0"/>
              </a:rPr>
              <a:t>A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major international research project by Robert</a:t>
            </a:r>
            <a:r>
              <a:rPr lang="en-US" sz="1600" dirty="0">
                <a:latin typeface="Bookman Old Style" panose="02050604050505020204" pitchFamily="18" charset="0"/>
              </a:rPr>
              <a:t>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House, called Global Leadership and Organizational Behavior Effectiveness(GLOBE</a:t>
            </a:r>
            <a:r>
              <a:rPr lang="en-US" sz="1600" dirty="0">
                <a:latin typeface="Bookman Old Style" panose="02050604050505020204" pitchFamily="18" charset="0"/>
              </a:rPr>
              <a:t>).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Studies by 170 country-based coinvestigators (CCIs) gathered data from 18,000 managers from 62 countries.</a:t>
            </a:r>
            <a:endParaRPr lang="en-US" sz="1600" dirty="0">
              <a:latin typeface="Bookman Old Style" panose="02050604050505020204" pitchFamily="18" charset="0"/>
            </a:endParaRP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Bookman Old Style" panose="02050604050505020204" pitchFamily="18" charset="0"/>
              </a:rPr>
              <a:t>G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oal of the GLOBE project was to develop societal and organizational measures of culture and leader attributes that were appropriate to use across all cultures. 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0" i="0" u="none" strike="noStrike" baseline="0" dirty="0">
                <a:latin typeface="Bookman Old Style" panose="02050604050505020204" pitchFamily="18" charset="0"/>
              </a:rPr>
              <a:t>The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GLOBE research indicated </a:t>
            </a:r>
            <a:r>
              <a:rPr lang="en-US" sz="1600" b="1" i="0" u="none" strike="noStrike" baseline="0" dirty="0">
                <a:latin typeface="Bookman Old Style" panose="02050604050505020204" pitchFamily="18" charset="0"/>
              </a:rPr>
              <a:t>nine dimensions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of cultures that differentiate societies and </a:t>
            </a:r>
            <a:r>
              <a:rPr lang="en-IN" sz="1600" b="0" i="0" u="none" strike="noStrike" baseline="0" dirty="0">
                <a:latin typeface="Bookman Old Style" panose="02050604050505020204" pitchFamily="18" charset="0"/>
              </a:rPr>
              <a:t>organizations as given below: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  1. </a:t>
            </a:r>
            <a:r>
              <a:rPr lang="en-US" sz="1600" b="1" i="1" u="none" strike="noStrike" baseline="0" dirty="0">
                <a:latin typeface="Bookman Old Style" panose="02050604050505020204" pitchFamily="18" charset="0"/>
              </a:rPr>
              <a:t>Power distance</a:t>
            </a:r>
            <a:r>
              <a:rPr lang="en-US" sz="16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or the degree to which members of a collective expect power to be distributed </a:t>
            </a:r>
            <a:r>
              <a:rPr lang="en-IN" sz="1600" b="0" i="0" u="none" strike="noStrike" baseline="0" dirty="0">
                <a:latin typeface="Bookman Old Style" panose="02050604050505020204" pitchFamily="18" charset="0"/>
              </a:rPr>
              <a:t>equally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  2. </a:t>
            </a:r>
            <a:r>
              <a:rPr lang="en-US" sz="1600" b="1" i="1" u="none" strike="noStrike" baseline="0" dirty="0">
                <a:latin typeface="Bookman Old Style" panose="02050604050505020204" pitchFamily="18" charset="0"/>
              </a:rPr>
              <a:t>Uncertainty avoidance</a:t>
            </a:r>
            <a:r>
              <a:rPr lang="en-US" sz="16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which is the extent a society, organization, or groups rely on norms, rules, and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Bookman Old Style" panose="02050604050505020204" pitchFamily="18" charset="0"/>
              </a:rPr>
              <a:t>    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procedures to alleviate the unpredictability of future events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  3. </a:t>
            </a:r>
            <a:r>
              <a:rPr lang="en-US" sz="1600" b="1" i="1" u="none" strike="noStrike" baseline="0" dirty="0">
                <a:latin typeface="Bookman Old Style" panose="02050604050505020204" pitchFamily="18" charset="0"/>
              </a:rPr>
              <a:t>Humane orientation</a:t>
            </a:r>
            <a:r>
              <a:rPr lang="en-US" sz="16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reflected in the degree to which a collective encourages and rewards individuals for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Bookman Old Style" panose="02050604050505020204" pitchFamily="18" charset="0"/>
              </a:rPr>
              <a:t>      </a:t>
            </a:r>
            <a:r>
              <a:rPr lang="en-US" sz="1600" b="0" i="0" u="none" strike="noStrike" baseline="0" dirty="0">
                <a:latin typeface="Bookman Old Style" panose="02050604050505020204" pitchFamily="18" charset="0"/>
              </a:rPr>
              <a:t> being fair, altruistic, generous, caring, and kind to others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752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1D3D-87EC-C998-18D2-6EDF5E3A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269414"/>
            <a:ext cx="10515600" cy="411623"/>
          </a:xfrm>
        </p:spPr>
        <p:txBody>
          <a:bodyPr>
            <a:noAutofit/>
          </a:bodyPr>
          <a:lstStyle/>
          <a:p>
            <a:r>
              <a:rPr lang="en-IN" sz="3200" b="1" i="0" u="none" strike="noStrike" baseline="0" dirty="0">
                <a:latin typeface="Bookman Old Style" panose="02050604050505020204" pitchFamily="18" charset="0"/>
              </a:rPr>
              <a:t>Project GLOBE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781B7-5527-9916-6505-13275E0F0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58" y="787886"/>
            <a:ext cx="11727426" cy="528222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4. </a:t>
            </a:r>
            <a:r>
              <a:rPr lang="en-US" sz="1800" b="1" i="1" u="none" strike="noStrike" baseline="0" dirty="0">
                <a:latin typeface="Bookman Old Style" panose="02050604050505020204" pitchFamily="18" charset="0"/>
              </a:rPr>
              <a:t>Institutional Collectivism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described as the degree to which organizational and societal institutional practices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    encourage and reward the collective distribution of resources and </a:t>
            </a:r>
            <a:r>
              <a:rPr lang="en-IN" sz="1800" b="0" i="0" u="none" strike="noStrike" baseline="0" dirty="0">
                <a:latin typeface="Bookman Old Style" panose="02050604050505020204" pitchFamily="18" charset="0"/>
              </a:rPr>
              <a:t>collective actions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5. </a:t>
            </a:r>
            <a:r>
              <a:rPr lang="en-US" sz="1800" b="1" i="1" u="none" strike="noStrike" baseline="0" dirty="0">
                <a:latin typeface="Bookman Old Style" panose="02050604050505020204" pitchFamily="18" charset="0"/>
              </a:rPr>
              <a:t>In-Group Collectivism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which is the degree to which individuals express pride, loyalty, and cohesiveness in their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 organizations or families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6. </a:t>
            </a:r>
            <a:r>
              <a:rPr lang="en-US" sz="1800" b="1" i="1" u="none" strike="noStrike" baseline="0" dirty="0">
                <a:latin typeface="Bookman Old Style" panose="02050604050505020204" pitchFamily="18" charset="0"/>
              </a:rPr>
              <a:t>Assertiveness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defined as the degree to which individuals are assertive, confrontational, and aggressive in their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 relationships with others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7. </a:t>
            </a:r>
            <a:r>
              <a:rPr lang="en-US" sz="1800" b="1" i="1" u="none" strike="noStrike" baseline="0" dirty="0">
                <a:latin typeface="Bookman Old Style" panose="02050604050505020204" pitchFamily="18" charset="0"/>
              </a:rPr>
              <a:t>Gender egalitarianism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expressed as the degree a collective minimizes gender inequality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8. </a:t>
            </a:r>
            <a:r>
              <a:rPr lang="en-US" sz="1800" b="1" i="1" u="none" strike="noStrike" baseline="0" dirty="0">
                <a:latin typeface="Bookman Old Style" panose="02050604050505020204" pitchFamily="18" charset="0"/>
              </a:rPr>
              <a:t>Future orientation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or the extent to which individuals engage in future-oriented behaviors such as delaying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 </a:t>
            </a:r>
            <a:r>
              <a:rPr lang="en-US" sz="1800" b="0" i="0" u="none" strike="noStrike" baseline="0" dirty="0" err="1">
                <a:latin typeface="Bookman Old Style" panose="02050604050505020204" pitchFamily="18" charset="0"/>
              </a:rPr>
              <a:t>gratification,planning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, and investing in the future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9. </a:t>
            </a:r>
            <a:r>
              <a:rPr lang="en-US" sz="1800" b="0" i="1" u="none" strike="noStrike" baseline="0" dirty="0">
                <a:latin typeface="Bookman Old Style" panose="02050604050505020204" pitchFamily="18" charset="0"/>
              </a:rPr>
              <a:t>Performance orientation,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suggested by the degree to which a collective encourages and rewards group members for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</a:t>
            </a:r>
            <a:r>
              <a:rPr lang="en-US" sz="1800" b="0" i="0" u="none" strike="noStrike" baseline="0" dirty="0">
                <a:latin typeface="Bookman Old Style" panose="02050604050505020204" pitchFamily="18" charset="0"/>
              </a:rPr>
              <a:t> performance improvement and excellence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2716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17B4-2345-2AE0-39B2-A4D337C9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66803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IN" sz="3200" b="1" i="0" u="none" strike="noStrike" baseline="0" dirty="0">
                <a:latin typeface="Bookman Old Style" panose="02050604050505020204" pitchFamily="18" charset="0"/>
              </a:rPr>
              <a:t>Project GLOBE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6603-14A2-5FE1-2B82-3659B8994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960386"/>
            <a:ext cx="11543071" cy="4351338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</a:rPr>
              <a:t>The 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six leader attributes and behaviors suggested by GLOBE. </a:t>
            </a:r>
          </a:p>
          <a:p>
            <a:pPr marL="342900" indent="-342900" algn="l">
              <a:buAutoNum type="arabicPeriod"/>
            </a:pPr>
            <a:r>
              <a:rPr lang="en-US" sz="2000" b="1" i="1" dirty="0">
                <a:latin typeface="Bookman Old Style" panose="02050604050505020204" pitchFamily="18" charset="0"/>
              </a:rPr>
              <a:t>Charismatic/Value-Base</a:t>
            </a:r>
            <a:r>
              <a:rPr lang="en-US" sz="2000" i="1" dirty="0">
                <a:latin typeface="Bookman Old Style" panose="02050604050505020204" pitchFamily="18" charset="0"/>
              </a:rPr>
              <a:t>—</a:t>
            </a:r>
            <a:r>
              <a:rPr lang="en-US" sz="2000" dirty="0">
                <a:latin typeface="Bookman Old Style" panose="02050604050505020204" pitchFamily="18" charset="0"/>
              </a:rPr>
              <a:t>the ability to inspire, to motivate, and to expect high</a:t>
            </a:r>
          </a:p>
          <a:p>
            <a:pPr marL="0" indent="0" algn="l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    performance outcomes from 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others on the basis of core beliefs.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2. </a:t>
            </a:r>
            <a:r>
              <a:rPr lang="en-US" sz="2000" b="1" i="1" u="none" strike="noStrike" baseline="0" dirty="0">
                <a:latin typeface="Bookman Old Style" panose="02050604050505020204" pitchFamily="18" charset="0"/>
              </a:rPr>
              <a:t>Team-Oriented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—effective team building and implementation of a common purpose/</a:t>
            </a:r>
            <a:r>
              <a:rPr lang="en-IN" sz="2000" b="0" i="0" u="none" strike="noStrike" baseline="0" dirty="0">
                <a:latin typeface="Bookman Old Style" panose="02050604050505020204" pitchFamily="18" charset="0"/>
              </a:rPr>
              <a:t>goal</a:t>
            </a:r>
          </a:p>
          <a:p>
            <a:pPr marL="0" indent="0" algn="l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 </a:t>
            </a:r>
            <a:r>
              <a:rPr lang="en-IN" sz="2000" b="0" i="0" u="none" strike="noStrike" baseline="0" dirty="0">
                <a:latin typeface="Bookman Old Style" panose="02050604050505020204" pitchFamily="18" charset="0"/>
              </a:rPr>
              <a:t> among team members.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3. </a:t>
            </a:r>
            <a:r>
              <a:rPr lang="en-US" sz="2000" b="1" i="1" u="none" strike="noStrike" baseline="0" dirty="0">
                <a:latin typeface="Bookman Old Style" panose="02050604050505020204" pitchFamily="18" charset="0"/>
              </a:rPr>
              <a:t>Participative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—the degree to which managers/leaders involve others in making and</a:t>
            </a:r>
          </a:p>
          <a:p>
            <a:pPr marL="0" indent="0" algn="l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   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 </a:t>
            </a:r>
            <a:r>
              <a:rPr lang="en-IN" sz="2000" b="0" i="0" u="none" strike="noStrike" baseline="0" dirty="0">
                <a:latin typeface="Bookman Old Style" panose="02050604050505020204" pitchFamily="18" charset="0"/>
              </a:rPr>
              <a:t>implementing decisions.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4. </a:t>
            </a:r>
            <a:r>
              <a:rPr lang="en-US" sz="2000" b="1" i="1" u="none" strike="noStrike" baseline="0" dirty="0">
                <a:latin typeface="Bookman Old Style" panose="02050604050505020204" pitchFamily="18" charset="0"/>
              </a:rPr>
              <a:t>Humane-Oriented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—supportive, considerate, compassionate, and generous leadership.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5. </a:t>
            </a:r>
            <a:r>
              <a:rPr lang="en-US" sz="2000" b="1" i="1" u="none" strike="noStrike" baseline="0" dirty="0">
                <a:latin typeface="Bookman Old Style" panose="02050604050505020204" pitchFamily="18" charset="0"/>
              </a:rPr>
              <a:t>Autonomous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—independent and individualistic leadership.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6. </a:t>
            </a:r>
            <a:r>
              <a:rPr lang="en-US" sz="2000" b="1" i="1" u="none" strike="noStrike" baseline="0" dirty="0">
                <a:latin typeface="Bookman Old Style" panose="02050604050505020204" pitchFamily="18" charset="0"/>
              </a:rPr>
              <a:t>Self-Protective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—ensuring the safety and security of the individual, it tends to be an</a:t>
            </a:r>
          </a:p>
          <a:p>
            <a:pPr marL="0" indent="0" algn="l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   </a:t>
            </a: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 approach that is self-centered and face saving.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2721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EE7D-CFF4-D377-7578-12179F53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9EBC-B3EA-4CA1-BC47-A729E7EF0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Model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3BCA-D86D-F215-7896-450E1CA3C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471949"/>
            <a:ext cx="12072256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1. Briefly summarize the findings of the three classic leadership studies.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2. Why do you think the “Big Five” personality traits have been recently found to relate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to effective leaders whereas over the years personality traits in general have not?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3. How do the group theories differ from the trait theories of leadership?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4. Name and describe the main “competencies” that may be associated with a leader’s effectiveness.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5. What are the three critical situational variables identified by Fiedler? If these are very favorable, what is the most effective style to use?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6. In simple terms, what is the path-goal theory of leadership? What is the leader’s function in this conceptualization?</a:t>
            </a:r>
          </a:p>
        </p:txBody>
      </p:sp>
    </p:spTree>
    <p:extLst>
      <p:ext uri="{BB962C8B-B14F-4D97-AF65-F5344CB8AC3E}">
        <p14:creationId xmlns:p14="http://schemas.microsoft.com/office/powerpoint/2010/main" val="284716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A34CB-D41B-44B9-4EFA-C1404259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2803-C27D-83EA-3D8E-2E370CC6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42"/>
            <a:ext cx="11855246" cy="39820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Question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6000-0439-24FD-ED7C-824417745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471949"/>
            <a:ext cx="12072256" cy="631231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7. What are the major differences between transactional leaders and transformational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 leaders? Can you clarify these differences in how today’s organizations are led?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8. What is meant by “substitutes for,” and “neutralizers of,” leadership? Give some subordinate, task, and organizational examples of these substitutes and neutralizers.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9. In your own words, describe what is meant by an authentic leader. How does this differ from previous theories, and why may it be so important now?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10. What is the GLOBE project? What cultural dimensions have been identified by the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GLOBE researchers? What findings have been found by this GLOBE research effort 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>
                <a:latin typeface="Bookman Old Style" panose="02050604050505020204" pitchFamily="18" charset="0"/>
              </a:rPr>
              <a:t>terms of the six major leadership dimensions found in various cultures?</a:t>
            </a:r>
          </a:p>
        </p:txBody>
      </p:sp>
    </p:spTree>
    <p:extLst>
      <p:ext uri="{BB962C8B-B14F-4D97-AF65-F5344CB8AC3E}">
        <p14:creationId xmlns:p14="http://schemas.microsoft.com/office/powerpoint/2010/main" val="73920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514B-E88C-F4BA-12E1-4F4D399C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3" y="19972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94316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3693</Words>
  <Application>Microsoft Office PowerPoint</Application>
  <PresentationFormat>Widescreen</PresentationFormat>
  <Paragraphs>508</Paragraphs>
  <Slides>64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Bookman Old Style</vt:lpstr>
      <vt:lpstr>Calibri</vt:lpstr>
      <vt:lpstr>Calibri Light</vt:lpstr>
      <vt:lpstr>Helvetica Neue Light</vt:lpstr>
      <vt:lpstr>Times New Roman</vt:lpstr>
      <vt:lpstr>Wingdings</vt:lpstr>
      <vt:lpstr>Office Theme</vt:lpstr>
      <vt:lpstr>Photo Editor Photo</vt:lpstr>
      <vt:lpstr>Module V</vt:lpstr>
      <vt:lpstr>Syllabus</vt:lpstr>
      <vt:lpstr>Organizational culture</vt:lpstr>
      <vt:lpstr>“Culture is like an iceberg…”  (E. Hall 1976)</vt:lpstr>
      <vt:lpstr>“Culture is like an iceberg…”  (E. Hall 1976)</vt:lpstr>
      <vt:lpstr>Elements of Organizational Culture:  </vt:lpstr>
      <vt:lpstr>Elements of Organizational Culture:  </vt:lpstr>
      <vt:lpstr>PowerPoint Presentation</vt:lpstr>
      <vt:lpstr>PowerPoint Presentation</vt:lpstr>
      <vt:lpstr>PowerPoint Presentation</vt:lpstr>
      <vt:lpstr>Hofstede’s Culture typology</vt:lpstr>
      <vt:lpstr>Cultural Dimensions: Hofstede </vt:lpstr>
      <vt:lpstr>Hofstede’s Culture typology</vt:lpstr>
      <vt:lpstr>Hofstede’s Culture typology</vt:lpstr>
      <vt:lpstr>Hofstede’s Culture typology</vt:lpstr>
      <vt:lpstr>Hofstede’s Culture typology</vt:lpstr>
      <vt:lpstr>Hofstede’s Culture typology</vt:lpstr>
      <vt:lpstr>Hofstede’s Culture typology</vt:lpstr>
      <vt:lpstr>Country Examples</vt:lpstr>
      <vt:lpstr>Organizational change</vt:lpstr>
      <vt:lpstr>PowerPoint Presentation</vt:lpstr>
      <vt:lpstr>PowerPoint Presentation</vt:lpstr>
      <vt:lpstr>Lewin’s Force Field Analysis</vt:lpstr>
      <vt:lpstr>Resistance to Change</vt:lpstr>
      <vt:lpstr>Resistance to Change. Sources:</vt:lpstr>
      <vt:lpstr>Resistance to Change. Sources:</vt:lpstr>
      <vt:lpstr>Creating an Urgency for Change</vt:lpstr>
      <vt:lpstr>Minimizing Resistance to Change</vt:lpstr>
      <vt:lpstr>Action Research Process : </vt:lpstr>
      <vt:lpstr>Parallel Learning Structures</vt:lpstr>
      <vt:lpstr>Appreciative Inquiry Process</vt:lpstr>
      <vt:lpstr>Large Group Interventions</vt:lpstr>
      <vt:lpstr>Leadership</vt:lpstr>
      <vt:lpstr>Leadership</vt:lpstr>
      <vt:lpstr>Traditional theories of Leadership</vt:lpstr>
      <vt:lpstr>Traditional theories of Leadership</vt:lpstr>
      <vt:lpstr>Traditional theories of Leadership : Leader Competencies </vt:lpstr>
      <vt:lpstr>Group and Exchange Theories of Leadership</vt:lpstr>
      <vt:lpstr>Group and Exchange Theories of Leadership</vt:lpstr>
      <vt:lpstr>Leader-Member Exchange (LMX) Model</vt:lpstr>
      <vt:lpstr>Leader-Member Exchange (LMX) Model</vt:lpstr>
      <vt:lpstr>In-Group and Out-Group Followers</vt:lpstr>
      <vt:lpstr>Leader-Member Exchange (LMX) Model</vt:lpstr>
      <vt:lpstr>Contingency Theory of Leadership</vt:lpstr>
      <vt:lpstr>Fiedler’s Contingency Model of Leadership Effectiveness</vt:lpstr>
      <vt:lpstr>Fiedler’s Contingency Model of Leadership Effectiveness</vt:lpstr>
      <vt:lpstr>Path Goal Leadership theory</vt:lpstr>
      <vt:lpstr>Path Goal Leadership theory</vt:lpstr>
      <vt:lpstr>Modern Theories of leadership</vt:lpstr>
      <vt:lpstr>Charismatic Leadership theory</vt:lpstr>
      <vt:lpstr>Charismatic Leadership theory</vt:lpstr>
      <vt:lpstr>Transformational Leadership theory</vt:lpstr>
      <vt:lpstr>Transformational Leadership theory</vt:lpstr>
      <vt:lpstr>Transformational Leadership theory</vt:lpstr>
      <vt:lpstr>Substitutes for Leadership Theory</vt:lpstr>
      <vt:lpstr>Authentic Theory of Leadership</vt:lpstr>
      <vt:lpstr>PowerPoint Presentation</vt:lpstr>
      <vt:lpstr>Leadership across Cultures</vt:lpstr>
      <vt:lpstr>Project GLOBE</vt:lpstr>
      <vt:lpstr>Project GLOBE</vt:lpstr>
      <vt:lpstr>Project GLOBE</vt:lpstr>
      <vt:lpstr>Model Questions</vt:lpstr>
      <vt:lpstr>Question Model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Bismi M</dc:creator>
  <cp:lastModifiedBy>Bismi M</cp:lastModifiedBy>
  <cp:revision>53</cp:revision>
  <dcterms:created xsi:type="dcterms:W3CDTF">2025-03-21T05:37:17Z</dcterms:created>
  <dcterms:modified xsi:type="dcterms:W3CDTF">2025-12-01T16:09:30Z</dcterms:modified>
</cp:coreProperties>
</file>