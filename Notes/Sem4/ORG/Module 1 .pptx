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256" r:id="rId2"/>
    <p:sldId id="320" r:id="rId3"/>
    <p:sldId id="257" r:id="rId4"/>
    <p:sldId id="322" r:id="rId5"/>
    <p:sldId id="259" r:id="rId6"/>
    <p:sldId id="260" r:id="rId7"/>
    <p:sldId id="261" r:id="rId8"/>
    <p:sldId id="262" r:id="rId9"/>
    <p:sldId id="264" r:id="rId10"/>
    <p:sldId id="265" r:id="rId11"/>
    <p:sldId id="266" r:id="rId12"/>
    <p:sldId id="263" r:id="rId13"/>
    <p:sldId id="258" r:id="rId14"/>
    <p:sldId id="267" r:id="rId15"/>
    <p:sldId id="268" r:id="rId16"/>
    <p:sldId id="269" r:id="rId17"/>
    <p:sldId id="270" r:id="rId18"/>
    <p:sldId id="271" r:id="rId19"/>
    <p:sldId id="272" r:id="rId20"/>
    <p:sldId id="273" r:id="rId21"/>
    <p:sldId id="275" r:id="rId22"/>
    <p:sldId id="277" r:id="rId23"/>
    <p:sldId id="279" r:id="rId24"/>
    <p:sldId id="276" r:id="rId25"/>
    <p:sldId id="280" r:id="rId26"/>
    <p:sldId id="281" r:id="rId27"/>
    <p:sldId id="282" r:id="rId28"/>
    <p:sldId id="285" r:id="rId29"/>
    <p:sldId id="284" r:id="rId30"/>
    <p:sldId id="283" r:id="rId31"/>
    <p:sldId id="286" r:id="rId32"/>
    <p:sldId id="287" r:id="rId33"/>
    <p:sldId id="288" r:id="rId34"/>
    <p:sldId id="289" r:id="rId35"/>
    <p:sldId id="290" r:id="rId36"/>
    <p:sldId id="291" r:id="rId37"/>
    <p:sldId id="292" r:id="rId38"/>
    <p:sldId id="293" r:id="rId39"/>
    <p:sldId id="294" r:id="rId40"/>
    <p:sldId id="295" r:id="rId41"/>
    <p:sldId id="296" r:id="rId42"/>
    <p:sldId id="323" r:id="rId43"/>
    <p:sldId id="297" r:id="rId44"/>
    <p:sldId id="298" r:id="rId45"/>
    <p:sldId id="300"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5" r:id="rId59"/>
    <p:sldId id="321" r:id="rId60"/>
    <p:sldId id="316" r:id="rId61"/>
    <p:sldId id="317" r:id="rId62"/>
    <p:sldId id="318" r:id="rId63"/>
    <p:sldId id="319" r:id="rId64"/>
  </p:sldIdLst>
  <p:sldSz cx="12192000" cy="6858000"/>
  <p:notesSz cx="9929813" cy="67992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03" autoAdjust="0"/>
  </p:normalViewPr>
  <p:slideViewPr>
    <p:cSldViewPr snapToGrid="0">
      <p:cViewPr varScale="1">
        <p:scale>
          <a:sx n="72" d="100"/>
          <a:sy n="72" d="100"/>
        </p:scale>
        <p:origin x="110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0BB24E-2B1D-31F9-D105-E8130DFDEABB}"/>
              </a:ext>
            </a:extLst>
          </p:cNvPr>
          <p:cNvSpPr>
            <a:spLocks noGrp="1"/>
          </p:cNvSpPr>
          <p:nvPr>
            <p:ph type="hdr" sz="quarter"/>
          </p:nvPr>
        </p:nvSpPr>
        <p:spPr>
          <a:xfrm>
            <a:off x="0" y="0"/>
            <a:ext cx="4302919" cy="341144"/>
          </a:xfrm>
          <a:prstGeom prst="rect">
            <a:avLst/>
          </a:prstGeom>
        </p:spPr>
        <p:txBody>
          <a:bodyPr vert="horz" lIns="96661" tIns="48331" rIns="96661" bIns="48331" rtlCol="0"/>
          <a:lstStyle>
            <a:lvl1pPr algn="l">
              <a:defRPr sz="1300"/>
            </a:lvl1pPr>
          </a:lstStyle>
          <a:p>
            <a:endParaRPr lang="en-IN"/>
          </a:p>
        </p:txBody>
      </p:sp>
      <p:sp>
        <p:nvSpPr>
          <p:cNvPr id="3" name="Date Placeholder 2">
            <a:extLst>
              <a:ext uri="{FF2B5EF4-FFF2-40B4-BE49-F238E27FC236}">
                <a16:creationId xmlns:a16="http://schemas.microsoft.com/office/drawing/2014/main" id="{1B25EE72-718F-31FF-DA08-879038BB5086}"/>
              </a:ext>
            </a:extLst>
          </p:cNvPr>
          <p:cNvSpPr>
            <a:spLocks noGrp="1"/>
          </p:cNvSpPr>
          <p:nvPr>
            <p:ph type="dt" sz="quarter" idx="1"/>
          </p:nvPr>
        </p:nvSpPr>
        <p:spPr>
          <a:xfrm>
            <a:off x="5624596" y="0"/>
            <a:ext cx="4302919" cy="341144"/>
          </a:xfrm>
          <a:prstGeom prst="rect">
            <a:avLst/>
          </a:prstGeom>
        </p:spPr>
        <p:txBody>
          <a:bodyPr vert="horz" lIns="96661" tIns="48331" rIns="96661" bIns="48331" rtlCol="0"/>
          <a:lstStyle>
            <a:lvl1pPr algn="r">
              <a:defRPr sz="1300"/>
            </a:lvl1pPr>
          </a:lstStyle>
          <a:p>
            <a:fld id="{DF064E6D-D709-467D-9784-BB4C632AC43F}" type="datetimeFigureOut">
              <a:rPr lang="en-IN" smtClean="0"/>
              <a:t>06-01-2026</a:t>
            </a:fld>
            <a:endParaRPr lang="en-IN"/>
          </a:p>
        </p:txBody>
      </p:sp>
      <p:sp>
        <p:nvSpPr>
          <p:cNvPr id="4" name="Footer Placeholder 3">
            <a:extLst>
              <a:ext uri="{FF2B5EF4-FFF2-40B4-BE49-F238E27FC236}">
                <a16:creationId xmlns:a16="http://schemas.microsoft.com/office/drawing/2014/main" id="{683E6C4D-D2FA-55C4-E339-8C62DDD75125}"/>
              </a:ext>
            </a:extLst>
          </p:cNvPr>
          <p:cNvSpPr>
            <a:spLocks noGrp="1"/>
          </p:cNvSpPr>
          <p:nvPr>
            <p:ph type="ftr" sz="quarter" idx="2"/>
          </p:nvPr>
        </p:nvSpPr>
        <p:spPr>
          <a:xfrm>
            <a:off x="0" y="6458121"/>
            <a:ext cx="4302919" cy="341143"/>
          </a:xfrm>
          <a:prstGeom prst="rect">
            <a:avLst/>
          </a:prstGeom>
        </p:spPr>
        <p:txBody>
          <a:bodyPr vert="horz" lIns="96661" tIns="48331" rIns="96661" bIns="48331" rtlCol="0" anchor="b"/>
          <a:lstStyle>
            <a:lvl1pPr algn="l">
              <a:defRPr sz="1300"/>
            </a:lvl1pPr>
          </a:lstStyle>
          <a:p>
            <a:endParaRPr lang="en-IN"/>
          </a:p>
        </p:txBody>
      </p:sp>
      <p:sp>
        <p:nvSpPr>
          <p:cNvPr id="5" name="Slide Number Placeholder 4">
            <a:extLst>
              <a:ext uri="{FF2B5EF4-FFF2-40B4-BE49-F238E27FC236}">
                <a16:creationId xmlns:a16="http://schemas.microsoft.com/office/drawing/2014/main" id="{4D23A544-C46B-6753-6757-7E8672D78A83}"/>
              </a:ext>
            </a:extLst>
          </p:cNvPr>
          <p:cNvSpPr>
            <a:spLocks noGrp="1"/>
          </p:cNvSpPr>
          <p:nvPr>
            <p:ph type="sldNum" sz="quarter" idx="3"/>
          </p:nvPr>
        </p:nvSpPr>
        <p:spPr>
          <a:xfrm>
            <a:off x="5624596" y="6458121"/>
            <a:ext cx="4302919" cy="341143"/>
          </a:xfrm>
          <a:prstGeom prst="rect">
            <a:avLst/>
          </a:prstGeom>
        </p:spPr>
        <p:txBody>
          <a:bodyPr vert="horz" lIns="96661" tIns="48331" rIns="96661" bIns="48331" rtlCol="0" anchor="b"/>
          <a:lstStyle>
            <a:lvl1pPr algn="r">
              <a:defRPr sz="1300"/>
            </a:lvl1pPr>
          </a:lstStyle>
          <a:p>
            <a:fld id="{4993986B-6C93-4277-B918-691D3F2B039F}" type="slidenum">
              <a:rPr lang="en-IN" smtClean="0"/>
              <a:t>‹#›</a:t>
            </a:fld>
            <a:endParaRPr lang="en-IN"/>
          </a:p>
        </p:txBody>
      </p:sp>
    </p:spTree>
    <p:extLst>
      <p:ext uri="{BB962C8B-B14F-4D97-AF65-F5344CB8AC3E}">
        <p14:creationId xmlns:p14="http://schemas.microsoft.com/office/powerpoint/2010/main" val="6020878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919" cy="341144"/>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5624596" y="0"/>
            <a:ext cx="4302919" cy="341144"/>
          </a:xfrm>
          <a:prstGeom prst="rect">
            <a:avLst/>
          </a:prstGeom>
        </p:spPr>
        <p:txBody>
          <a:bodyPr vert="horz" lIns="96661" tIns="48331" rIns="96661" bIns="48331" rtlCol="0"/>
          <a:lstStyle>
            <a:lvl1pPr algn="r">
              <a:defRPr sz="1300"/>
            </a:lvl1pPr>
          </a:lstStyle>
          <a:p>
            <a:fld id="{3309026B-8B46-4A73-8E5B-F385AD8033FB}" type="datetimeFigureOut">
              <a:rPr lang="en-IN" smtClean="0"/>
              <a:t>06-01-2026</a:t>
            </a:fld>
            <a:endParaRPr lang="en-IN"/>
          </a:p>
        </p:txBody>
      </p:sp>
      <p:sp>
        <p:nvSpPr>
          <p:cNvPr id="4" name="Slide Image Placeholder 3"/>
          <p:cNvSpPr>
            <a:spLocks noGrp="1" noRot="1" noChangeAspect="1"/>
          </p:cNvSpPr>
          <p:nvPr>
            <p:ph type="sldImg" idx="2"/>
          </p:nvPr>
        </p:nvSpPr>
        <p:spPr>
          <a:xfrm>
            <a:off x="2924175" y="849313"/>
            <a:ext cx="4081463" cy="2295525"/>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992982" y="3272145"/>
            <a:ext cx="7943850" cy="267721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458121"/>
            <a:ext cx="4302919" cy="341143"/>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5624596" y="6458121"/>
            <a:ext cx="4302919" cy="341143"/>
          </a:xfrm>
          <a:prstGeom prst="rect">
            <a:avLst/>
          </a:prstGeom>
        </p:spPr>
        <p:txBody>
          <a:bodyPr vert="horz" lIns="96661" tIns="48331" rIns="96661" bIns="48331" rtlCol="0" anchor="b"/>
          <a:lstStyle>
            <a:lvl1pPr algn="r">
              <a:defRPr sz="1300"/>
            </a:lvl1pPr>
          </a:lstStyle>
          <a:p>
            <a:fld id="{1A0C8A84-1770-4F86-900D-E2C0E3080FDE}" type="slidenum">
              <a:rPr lang="en-IN" smtClean="0"/>
              <a:t>‹#›</a:t>
            </a:fld>
            <a:endParaRPr lang="en-IN"/>
          </a:p>
        </p:txBody>
      </p:sp>
    </p:spTree>
    <p:extLst>
      <p:ext uri="{BB962C8B-B14F-4D97-AF65-F5344CB8AC3E}">
        <p14:creationId xmlns:p14="http://schemas.microsoft.com/office/powerpoint/2010/main" val="3497707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A0C8A84-1770-4F86-900D-E2C0E3080FDE}" type="slidenum">
              <a:rPr lang="en-IN" smtClean="0"/>
              <a:t>7</a:t>
            </a:fld>
            <a:endParaRPr lang="en-IN"/>
          </a:p>
        </p:txBody>
      </p:sp>
    </p:spTree>
    <p:extLst>
      <p:ext uri="{BB962C8B-B14F-4D97-AF65-F5344CB8AC3E}">
        <p14:creationId xmlns:p14="http://schemas.microsoft.com/office/powerpoint/2010/main" val="150053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r>
              <a:rPr lang="en-US" dirty="0"/>
              <a:t>We</a:t>
            </a:r>
            <a:r>
              <a:rPr lang="en-US" baseline="0" dirty="0"/>
              <a:t> hear much about diversity. In fact, if you were to conduct a survey of 20 people and ask them to define diversity, you would most likely receive 20 different definitions. </a:t>
            </a:r>
          </a:p>
          <a:p>
            <a:r>
              <a:rPr lang="en-US" baseline="0" dirty="0"/>
              <a:t>Take a moment and think about this:</a:t>
            </a:r>
          </a:p>
          <a:p>
            <a:r>
              <a:rPr lang="en-US" baseline="0" dirty="0"/>
              <a:t>What comes to your mind when you hear the word DIVERSITY?</a:t>
            </a:r>
            <a:endParaRPr lang="en-US" dirty="0"/>
          </a:p>
        </p:txBody>
      </p:sp>
      <p:sp>
        <p:nvSpPr>
          <p:cNvPr id="4" name="Slide Number Placeholder 3"/>
          <p:cNvSpPr>
            <a:spLocks noGrp="1"/>
          </p:cNvSpPr>
          <p:nvPr>
            <p:ph type="sldNum" sz="quarter" idx="10"/>
          </p:nvPr>
        </p:nvSpPr>
        <p:spPr/>
        <p:txBody>
          <a:bodyPr/>
          <a:lstStyle/>
          <a:p>
            <a:fld id="{19D7E71B-595E-4CF6-9EAA-85F304A0155C}" type="slidenum">
              <a:rPr lang="en-US" smtClean="0"/>
              <a:pPr/>
              <a:t>13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A0C8A84-1770-4F86-900D-E2C0E3080FDE}" type="slidenum">
              <a:rPr lang="en-IN" smtClean="0"/>
              <a:t>45</a:t>
            </a:fld>
            <a:endParaRPr lang="en-IN"/>
          </a:p>
        </p:txBody>
      </p:sp>
    </p:spTree>
    <p:extLst>
      <p:ext uri="{BB962C8B-B14F-4D97-AF65-F5344CB8AC3E}">
        <p14:creationId xmlns:p14="http://schemas.microsoft.com/office/powerpoint/2010/main" val="1946055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A888-C17A-8956-4DA6-7A3847D11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27859-2FD8-0F35-449F-21C395ED8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C7A80-9B43-EF05-545A-CBFB1E13CC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AE1F8A-C901-3D43-A3E5-C4D243EE20BC}"/>
              </a:ext>
            </a:extLst>
          </p:cNvPr>
          <p:cNvSpPr>
            <a:spLocks noGrp="1"/>
          </p:cNvSpPr>
          <p:nvPr>
            <p:ph type="sldNum" sz="quarter" idx="5"/>
          </p:nvPr>
        </p:nvSpPr>
        <p:spPr/>
        <p:txBody>
          <a:bodyPr/>
          <a:lstStyle/>
          <a:p>
            <a:fld id="{1A0C8A84-1770-4F86-900D-E2C0E3080FDE}" type="slidenum">
              <a:rPr lang="en-IN" smtClean="0"/>
              <a:t>46</a:t>
            </a:fld>
            <a:endParaRPr lang="en-IN"/>
          </a:p>
        </p:txBody>
      </p:sp>
    </p:spTree>
    <p:extLst>
      <p:ext uri="{BB962C8B-B14F-4D97-AF65-F5344CB8AC3E}">
        <p14:creationId xmlns:p14="http://schemas.microsoft.com/office/powerpoint/2010/main" val="2923111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EB91-37ED-772F-AD5B-8F6C0ED9B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1E6F1-9BAB-786E-D53A-1B1F8F8E40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5C7F5-A9B1-F1C3-8BA2-95AE477BFD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656FED7-D6C4-8C50-BC41-F0E3B64B9D15}"/>
              </a:ext>
            </a:extLst>
          </p:cNvPr>
          <p:cNvSpPr>
            <a:spLocks noGrp="1"/>
          </p:cNvSpPr>
          <p:nvPr>
            <p:ph type="sldNum" sz="quarter" idx="5"/>
          </p:nvPr>
        </p:nvSpPr>
        <p:spPr/>
        <p:txBody>
          <a:bodyPr/>
          <a:lstStyle/>
          <a:p>
            <a:fld id="{1A0C8A84-1770-4F86-900D-E2C0E3080FDE}" type="slidenum">
              <a:rPr lang="en-IN" smtClean="0"/>
              <a:t>47</a:t>
            </a:fld>
            <a:endParaRPr lang="en-IN"/>
          </a:p>
        </p:txBody>
      </p:sp>
    </p:spTree>
    <p:extLst>
      <p:ext uri="{BB962C8B-B14F-4D97-AF65-F5344CB8AC3E}">
        <p14:creationId xmlns:p14="http://schemas.microsoft.com/office/powerpoint/2010/main" val="1593991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A517-6097-F0F2-7EA4-8CF491AA2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D6352-560A-F0DA-09FE-810D18971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FD572-2EF3-2456-6344-A228E5C0AC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09B5BC-926E-6BF8-1600-400F68B4C606}"/>
              </a:ext>
            </a:extLst>
          </p:cNvPr>
          <p:cNvSpPr>
            <a:spLocks noGrp="1"/>
          </p:cNvSpPr>
          <p:nvPr>
            <p:ph type="sldNum" sz="quarter" idx="5"/>
          </p:nvPr>
        </p:nvSpPr>
        <p:spPr/>
        <p:txBody>
          <a:bodyPr/>
          <a:lstStyle/>
          <a:p>
            <a:fld id="{1A0C8A84-1770-4F86-900D-E2C0E3080FDE}" type="slidenum">
              <a:rPr lang="en-IN" smtClean="0"/>
              <a:t>48</a:t>
            </a:fld>
            <a:endParaRPr lang="en-IN"/>
          </a:p>
        </p:txBody>
      </p:sp>
    </p:spTree>
    <p:extLst>
      <p:ext uri="{BB962C8B-B14F-4D97-AF65-F5344CB8AC3E}">
        <p14:creationId xmlns:p14="http://schemas.microsoft.com/office/powerpoint/2010/main" val="867386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5D0BF-3787-3361-A78E-CBF611E8E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0B81F-A241-2965-C9DC-B042985D0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24DFA-B507-3F79-70D0-16E0341204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64B670-0485-E429-44CB-A096FA4E4705}"/>
              </a:ext>
            </a:extLst>
          </p:cNvPr>
          <p:cNvSpPr>
            <a:spLocks noGrp="1"/>
          </p:cNvSpPr>
          <p:nvPr>
            <p:ph type="sldNum" sz="quarter" idx="5"/>
          </p:nvPr>
        </p:nvSpPr>
        <p:spPr/>
        <p:txBody>
          <a:bodyPr/>
          <a:lstStyle/>
          <a:p>
            <a:fld id="{1A0C8A84-1770-4F86-900D-E2C0E3080FDE}" type="slidenum">
              <a:rPr lang="en-IN" smtClean="0"/>
              <a:t>49</a:t>
            </a:fld>
            <a:endParaRPr lang="en-IN"/>
          </a:p>
        </p:txBody>
      </p:sp>
    </p:spTree>
    <p:extLst>
      <p:ext uri="{BB962C8B-B14F-4D97-AF65-F5344CB8AC3E}">
        <p14:creationId xmlns:p14="http://schemas.microsoft.com/office/powerpoint/2010/main" val="1316520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17032-A707-7DC7-6F9D-E752C9B4D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F1EE6-32B8-DC94-7ED2-BD3EB7996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33934-B1F8-76DA-95AB-02AF3A690A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A4DEA9B-1913-118E-072A-4CA60F0F170E}"/>
              </a:ext>
            </a:extLst>
          </p:cNvPr>
          <p:cNvSpPr>
            <a:spLocks noGrp="1"/>
          </p:cNvSpPr>
          <p:nvPr>
            <p:ph type="sldNum" sz="quarter" idx="5"/>
          </p:nvPr>
        </p:nvSpPr>
        <p:spPr/>
        <p:txBody>
          <a:bodyPr/>
          <a:lstStyle/>
          <a:p>
            <a:fld id="{1A0C8A84-1770-4F86-900D-E2C0E3080FDE}" type="slidenum">
              <a:rPr lang="en-IN" smtClean="0"/>
              <a:t>50</a:t>
            </a:fld>
            <a:endParaRPr lang="en-IN"/>
          </a:p>
        </p:txBody>
      </p:sp>
    </p:spTree>
    <p:extLst>
      <p:ext uri="{BB962C8B-B14F-4D97-AF65-F5344CB8AC3E}">
        <p14:creationId xmlns:p14="http://schemas.microsoft.com/office/powerpoint/2010/main" val="4050661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9F3C-7F89-7F5A-DCD1-D448493BF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55299-5AA5-3F39-879C-6BE3FFEFA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05F9C-A850-32E2-85BE-5D721DC84C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7DE98D-0847-D104-296B-35E5475AFEB9}"/>
              </a:ext>
            </a:extLst>
          </p:cNvPr>
          <p:cNvSpPr>
            <a:spLocks noGrp="1"/>
          </p:cNvSpPr>
          <p:nvPr>
            <p:ph type="sldNum" sz="quarter" idx="5"/>
          </p:nvPr>
        </p:nvSpPr>
        <p:spPr/>
        <p:txBody>
          <a:bodyPr/>
          <a:lstStyle/>
          <a:p>
            <a:fld id="{1A0C8A84-1770-4F86-900D-E2C0E3080FDE}" type="slidenum">
              <a:rPr lang="en-IN" smtClean="0"/>
              <a:t>51</a:t>
            </a:fld>
            <a:endParaRPr lang="en-IN"/>
          </a:p>
        </p:txBody>
      </p:sp>
    </p:spTree>
    <p:extLst>
      <p:ext uri="{BB962C8B-B14F-4D97-AF65-F5344CB8AC3E}">
        <p14:creationId xmlns:p14="http://schemas.microsoft.com/office/powerpoint/2010/main" val="1212269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6055-F299-23B7-2EC7-E53FCE9ED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6B1D9-1146-9A24-85BB-4ABC6FACB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E740D-7008-9C99-78A4-2CF5305CF9B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8D19F9-FBEF-B66E-E2CD-E9D407065DB8}"/>
              </a:ext>
            </a:extLst>
          </p:cNvPr>
          <p:cNvSpPr>
            <a:spLocks noGrp="1"/>
          </p:cNvSpPr>
          <p:nvPr>
            <p:ph type="sldNum" sz="quarter" idx="5"/>
          </p:nvPr>
        </p:nvSpPr>
        <p:spPr/>
        <p:txBody>
          <a:bodyPr/>
          <a:lstStyle/>
          <a:p>
            <a:fld id="{1A0C8A84-1770-4F86-900D-E2C0E3080FDE}" type="slidenum">
              <a:rPr lang="en-IN" smtClean="0"/>
              <a:t>52</a:t>
            </a:fld>
            <a:endParaRPr lang="en-IN"/>
          </a:p>
        </p:txBody>
      </p:sp>
    </p:spTree>
    <p:extLst>
      <p:ext uri="{BB962C8B-B14F-4D97-AF65-F5344CB8AC3E}">
        <p14:creationId xmlns:p14="http://schemas.microsoft.com/office/powerpoint/2010/main" val="3442148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CC7F3-7169-A7EE-C598-14EB6A86D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00942-DE50-DCB8-B48D-8EDEA36AA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BFF4A-C05C-1F60-3E30-9400D3E759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33926A-770E-88A8-0A1F-6199A8CAF05E}"/>
              </a:ext>
            </a:extLst>
          </p:cNvPr>
          <p:cNvSpPr>
            <a:spLocks noGrp="1"/>
          </p:cNvSpPr>
          <p:nvPr>
            <p:ph type="sldNum" sz="quarter" idx="5"/>
          </p:nvPr>
        </p:nvSpPr>
        <p:spPr/>
        <p:txBody>
          <a:bodyPr/>
          <a:lstStyle/>
          <a:p>
            <a:fld id="{1A0C8A84-1770-4F86-900D-E2C0E3080FDE}" type="slidenum">
              <a:rPr lang="en-IN" smtClean="0"/>
              <a:t>53</a:t>
            </a:fld>
            <a:endParaRPr lang="en-IN"/>
          </a:p>
        </p:txBody>
      </p:sp>
    </p:spTree>
    <p:extLst>
      <p:ext uri="{BB962C8B-B14F-4D97-AF65-F5344CB8AC3E}">
        <p14:creationId xmlns:p14="http://schemas.microsoft.com/office/powerpoint/2010/main" val="888504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E361-3B69-301A-F164-E6B7A7AAD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5F4C5-C7F1-B704-00E6-13614FE51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FF039-740F-9443-EBF2-62A29AF7195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8904B9E-C50A-23F7-873B-96F5BF66C9E6}"/>
              </a:ext>
            </a:extLst>
          </p:cNvPr>
          <p:cNvSpPr>
            <a:spLocks noGrp="1"/>
          </p:cNvSpPr>
          <p:nvPr>
            <p:ph type="sldNum" sz="quarter" idx="5"/>
          </p:nvPr>
        </p:nvSpPr>
        <p:spPr/>
        <p:txBody>
          <a:bodyPr/>
          <a:lstStyle/>
          <a:p>
            <a:fld id="{1A0C8A84-1770-4F86-900D-E2C0E3080FDE}" type="slidenum">
              <a:rPr lang="en-IN" smtClean="0"/>
              <a:t>54</a:t>
            </a:fld>
            <a:endParaRPr lang="en-IN"/>
          </a:p>
        </p:txBody>
      </p:sp>
    </p:spTree>
    <p:extLst>
      <p:ext uri="{BB962C8B-B14F-4D97-AF65-F5344CB8AC3E}">
        <p14:creationId xmlns:p14="http://schemas.microsoft.com/office/powerpoint/2010/main" val="1046204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8CBE-568E-743F-CE65-83376D919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7DCE4-4D86-9109-5CEA-19D205F27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57898-8D0A-4816-0625-3B2F75865D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3F9C85-CC50-8086-16A6-EBEDC668D149}"/>
              </a:ext>
            </a:extLst>
          </p:cNvPr>
          <p:cNvSpPr>
            <a:spLocks noGrp="1"/>
          </p:cNvSpPr>
          <p:nvPr>
            <p:ph type="sldNum" sz="quarter" idx="5"/>
          </p:nvPr>
        </p:nvSpPr>
        <p:spPr/>
        <p:txBody>
          <a:bodyPr/>
          <a:lstStyle/>
          <a:p>
            <a:fld id="{1A0C8A84-1770-4F86-900D-E2C0E3080FDE}" type="slidenum">
              <a:rPr lang="en-IN" smtClean="0"/>
              <a:t>55</a:t>
            </a:fld>
            <a:endParaRPr lang="en-IN"/>
          </a:p>
        </p:txBody>
      </p:sp>
    </p:spTree>
    <p:extLst>
      <p:ext uri="{BB962C8B-B14F-4D97-AF65-F5344CB8AC3E}">
        <p14:creationId xmlns:p14="http://schemas.microsoft.com/office/powerpoint/2010/main" val="3938499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17B0-D2A0-5006-DD92-D1347010C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70406-1925-0256-E0D4-4DD16354E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CC787-F468-600D-DE8D-F6F32EF296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B3738F-96AD-094B-A066-CB69D3B646F1}"/>
              </a:ext>
            </a:extLst>
          </p:cNvPr>
          <p:cNvSpPr>
            <a:spLocks noGrp="1"/>
          </p:cNvSpPr>
          <p:nvPr>
            <p:ph type="sldNum" sz="quarter" idx="5"/>
          </p:nvPr>
        </p:nvSpPr>
        <p:spPr/>
        <p:txBody>
          <a:bodyPr/>
          <a:lstStyle/>
          <a:p>
            <a:fld id="{1A0C8A84-1770-4F86-900D-E2C0E3080FDE}" type="slidenum">
              <a:rPr lang="en-IN" smtClean="0"/>
              <a:t>56</a:t>
            </a:fld>
            <a:endParaRPr lang="en-IN"/>
          </a:p>
        </p:txBody>
      </p:sp>
    </p:spTree>
    <p:extLst>
      <p:ext uri="{BB962C8B-B14F-4D97-AF65-F5344CB8AC3E}">
        <p14:creationId xmlns:p14="http://schemas.microsoft.com/office/powerpoint/2010/main" val="227032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FF05C-1FA4-103D-2C6C-1CF84168F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A5C1B-5FFC-4583-8234-C5C7D3C9B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1BCA5-D1BA-2E8A-520B-EE86177642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D1812BF-7EC0-E4F9-22D8-4E2AE05A2EC0}"/>
              </a:ext>
            </a:extLst>
          </p:cNvPr>
          <p:cNvSpPr>
            <a:spLocks noGrp="1"/>
          </p:cNvSpPr>
          <p:nvPr>
            <p:ph type="sldNum" sz="quarter" idx="5"/>
          </p:nvPr>
        </p:nvSpPr>
        <p:spPr/>
        <p:txBody>
          <a:bodyPr/>
          <a:lstStyle/>
          <a:p>
            <a:fld id="{1A0C8A84-1770-4F86-900D-E2C0E3080FDE}" type="slidenum">
              <a:rPr lang="en-IN" smtClean="0"/>
              <a:t>57</a:t>
            </a:fld>
            <a:endParaRPr lang="en-IN"/>
          </a:p>
        </p:txBody>
      </p:sp>
    </p:spTree>
    <p:extLst>
      <p:ext uri="{BB962C8B-B14F-4D97-AF65-F5344CB8AC3E}">
        <p14:creationId xmlns:p14="http://schemas.microsoft.com/office/powerpoint/2010/main" val="1645831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4CFC-B41D-5AF8-EFBB-F66A4C9BB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7BD16-AECF-FBC7-C1E8-0409688FC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231B6-8F77-9979-EF16-6458738B03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E58670-DDF2-2E86-596A-A2A64802E9BA}"/>
              </a:ext>
            </a:extLst>
          </p:cNvPr>
          <p:cNvSpPr>
            <a:spLocks noGrp="1"/>
          </p:cNvSpPr>
          <p:nvPr>
            <p:ph type="sldNum" sz="quarter" idx="5"/>
          </p:nvPr>
        </p:nvSpPr>
        <p:spPr/>
        <p:txBody>
          <a:bodyPr/>
          <a:lstStyle/>
          <a:p>
            <a:fld id="{1A0C8A84-1770-4F86-900D-E2C0E3080FDE}" type="slidenum">
              <a:rPr lang="en-IN" smtClean="0"/>
              <a:t>58</a:t>
            </a:fld>
            <a:endParaRPr lang="en-IN"/>
          </a:p>
        </p:txBody>
      </p:sp>
    </p:spTree>
    <p:extLst>
      <p:ext uri="{BB962C8B-B14F-4D97-AF65-F5344CB8AC3E}">
        <p14:creationId xmlns:p14="http://schemas.microsoft.com/office/powerpoint/2010/main" val="806212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C18BB-36BE-3C81-8A3F-976AFFEE0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DF267-2744-3EF0-1F91-59C4884F5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1895D-EAAC-A0B3-1969-C4A24F82A0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B93B0B-A369-976E-8DC7-1F5C7E3AF647}"/>
              </a:ext>
            </a:extLst>
          </p:cNvPr>
          <p:cNvSpPr>
            <a:spLocks noGrp="1"/>
          </p:cNvSpPr>
          <p:nvPr>
            <p:ph type="sldNum" sz="quarter" idx="5"/>
          </p:nvPr>
        </p:nvSpPr>
        <p:spPr/>
        <p:txBody>
          <a:bodyPr/>
          <a:lstStyle/>
          <a:p>
            <a:fld id="{1A0C8A84-1770-4F86-900D-E2C0E3080FDE}" type="slidenum">
              <a:rPr lang="en-IN" smtClean="0"/>
              <a:t>60</a:t>
            </a:fld>
            <a:endParaRPr lang="en-IN"/>
          </a:p>
        </p:txBody>
      </p:sp>
    </p:spTree>
    <p:extLst>
      <p:ext uri="{BB962C8B-B14F-4D97-AF65-F5344CB8AC3E}">
        <p14:creationId xmlns:p14="http://schemas.microsoft.com/office/powerpoint/2010/main" val="1478190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5F3F-977D-A4E9-BAB9-CC44659F0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AE3E3-ADFC-A128-D828-B6A599370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8C172-DE05-BD84-F7F5-CFB75BF8AC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F6301D-5F8A-814A-109E-49E8E033ABBB}"/>
              </a:ext>
            </a:extLst>
          </p:cNvPr>
          <p:cNvSpPr>
            <a:spLocks noGrp="1"/>
          </p:cNvSpPr>
          <p:nvPr>
            <p:ph type="sldNum" sz="quarter" idx="5"/>
          </p:nvPr>
        </p:nvSpPr>
        <p:spPr/>
        <p:txBody>
          <a:bodyPr/>
          <a:lstStyle/>
          <a:p>
            <a:fld id="{1A0C8A84-1770-4F86-900D-E2C0E3080FDE}" type="slidenum">
              <a:rPr lang="en-IN" smtClean="0"/>
              <a:t>61</a:t>
            </a:fld>
            <a:endParaRPr lang="en-IN"/>
          </a:p>
        </p:txBody>
      </p:sp>
    </p:spTree>
    <p:extLst>
      <p:ext uri="{BB962C8B-B14F-4D97-AF65-F5344CB8AC3E}">
        <p14:creationId xmlns:p14="http://schemas.microsoft.com/office/powerpoint/2010/main" val="2997527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B5FD7-2372-150A-20F6-8B9BED6BD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CF2B3-C139-8CFC-E85B-8F3F4EBEC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8FB7-B87C-26AD-4698-6CB176BDEAC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A15371-01ED-0267-208C-B6F731058FF8}"/>
              </a:ext>
            </a:extLst>
          </p:cNvPr>
          <p:cNvSpPr>
            <a:spLocks noGrp="1"/>
          </p:cNvSpPr>
          <p:nvPr>
            <p:ph type="sldNum" sz="quarter" idx="5"/>
          </p:nvPr>
        </p:nvSpPr>
        <p:spPr/>
        <p:txBody>
          <a:bodyPr/>
          <a:lstStyle/>
          <a:p>
            <a:fld id="{1A0C8A84-1770-4F86-900D-E2C0E3080FDE}" type="slidenum">
              <a:rPr lang="en-IN" smtClean="0"/>
              <a:t>62</a:t>
            </a:fld>
            <a:endParaRPr lang="en-IN"/>
          </a:p>
        </p:txBody>
      </p:sp>
    </p:spTree>
    <p:extLst>
      <p:ext uri="{BB962C8B-B14F-4D97-AF65-F5344CB8AC3E}">
        <p14:creationId xmlns:p14="http://schemas.microsoft.com/office/powerpoint/2010/main" val="2200442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0E9A-8ECB-7FC6-D312-EB9CE5EEA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AB1B00-83EA-82FE-5E2A-4AB383E7D1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0AA6C1-0F7F-EAD0-D370-C5224AF6000E}"/>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FE34325B-B558-6A19-DC99-8C8B703149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50E701-5DDE-6F39-2D9B-2852DFC72471}"/>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129584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B991F-5147-0680-56E1-BFC3F23FD7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ECE8C2-C05B-63F7-7C96-B2B4F9625A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B44EB8-0E82-ECCF-29CE-B7DE109EF47B}"/>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5A4F2728-92B3-3C9F-26E4-F2D76C87DF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170C50-FD41-6374-918A-AD8826F35210}"/>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4124701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C023F-B3DC-7C0E-7F75-A2BBB65292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17FCA3-E43F-F1C7-9530-052F207C33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BA9077-62CD-1055-71E7-0675BBAB2E3C}"/>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E52EDFAC-2664-51C1-B4FC-5F457F9D73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4AA6D-FE18-D653-C4A3-36C46C444F30}"/>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225230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DB8B6-BBFD-41CF-E20A-CDCBDEE87A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3568F9-2F32-B3EE-0C64-D146E95749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6003BF-3650-F534-236D-9A2118FE18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EE3761-31DF-B0FB-12EF-40B11C117458}"/>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6" name="Footer Placeholder 5">
            <a:extLst>
              <a:ext uri="{FF2B5EF4-FFF2-40B4-BE49-F238E27FC236}">
                <a16:creationId xmlns:a16="http://schemas.microsoft.com/office/drawing/2014/main" id="{86BFD934-6871-D09D-E0AA-A68AC0B091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614DF5-6F8A-810D-5BDF-C0ECE41A03BB}"/>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44796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13CA-E857-946E-7B75-8D5E770937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F1F62A-D293-1174-75FC-B00A7BF88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926047-F2D2-6A80-0D1F-140CE568B6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8C8ACB-47ED-7328-6F5A-F9D0DD8A4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8A44FB-2BB3-43E2-9A74-F56DC6E19E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E503F7-BE07-0269-B01E-E0F298501D39}"/>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8" name="Footer Placeholder 7">
            <a:extLst>
              <a:ext uri="{FF2B5EF4-FFF2-40B4-BE49-F238E27FC236}">
                <a16:creationId xmlns:a16="http://schemas.microsoft.com/office/drawing/2014/main" id="{C23742AA-BCF8-D7E4-C800-D91684131C4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095B99-B353-BA61-994E-7E4BA4B954E9}"/>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90738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25AEA-DB28-FB94-10A7-2535C4F094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087C2B-C07D-0CFE-2108-596C8046263E}"/>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4" name="Footer Placeholder 3">
            <a:extLst>
              <a:ext uri="{FF2B5EF4-FFF2-40B4-BE49-F238E27FC236}">
                <a16:creationId xmlns:a16="http://schemas.microsoft.com/office/drawing/2014/main" id="{A79EAAFA-61D9-D72C-ABDD-4953AFDCE9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FE52FB-7826-5D76-8EA8-FDCF37E4A46F}"/>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644907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7421A-8BA0-5BC0-4499-BCBD34124B2C}"/>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3" name="Footer Placeholder 2">
            <a:extLst>
              <a:ext uri="{FF2B5EF4-FFF2-40B4-BE49-F238E27FC236}">
                <a16:creationId xmlns:a16="http://schemas.microsoft.com/office/drawing/2014/main" id="{BAD7A462-B88B-E9D9-0ADB-9511157291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FD50D5-5F66-68F2-B7B1-BEC2F5E81A04}"/>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983030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9B83-2100-B71B-C5F7-02655A0B7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00E6E9-81DE-A387-A553-AFF5927D5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E15DCB-C8EC-9546-F583-B9D3576AE1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50AE1E-3617-C58B-C343-7D6F16D6F3B2}"/>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6" name="Footer Placeholder 5">
            <a:extLst>
              <a:ext uri="{FF2B5EF4-FFF2-40B4-BE49-F238E27FC236}">
                <a16:creationId xmlns:a16="http://schemas.microsoft.com/office/drawing/2014/main" id="{ADACA670-2434-BFBC-42F8-3608D77A7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AD840-31BA-2648-901B-F03BDE947ACF}"/>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137482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B6655-2EB8-955F-0E39-58CA0264F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E4D327-684A-B2A5-4B7E-A648995E8A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58EA80-E216-C9B5-CF07-8F609FC56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49482-57F2-53F7-F5A5-DA344AF6B8F3}"/>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6" name="Footer Placeholder 5">
            <a:extLst>
              <a:ext uri="{FF2B5EF4-FFF2-40B4-BE49-F238E27FC236}">
                <a16:creationId xmlns:a16="http://schemas.microsoft.com/office/drawing/2014/main" id="{BE2301D1-6AD6-4B70-438D-A7901928AB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3250BF-37FB-E091-2716-EE1C2D829F67}"/>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413751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C150E-E047-56F8-AE64-2E0BF37204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22A42-B76A-D3E0-7BCE-409E2A5E78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3C0E7-4686-D72E-E495-ED7C8A30F466}"/>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7D999CD8-9DAB-6AC4-2E79-FE972B5651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F91D02-7D73-B2E9-FB71-88FA1401EC30}"/>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333605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7C433-3B18-F6A4-BCA7-D443C80D10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B0F6BA-896F-C34D-B023-F6DD26095A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030655-46A6-2495-1393-AA3A4EEA13BD}"/>
              </a:ext>
            </a:extLst>
          </p:cNvPr>
          <p:cNvSpPr>
            <a:spLocks noGrp="1"/>
          </p:cNvSpPr>
          <p:nvPr>
            <p:ph type="dt" sz="half" idx="10"/>
          </p:nvPr>
        </p:nvSpPr>
        <p:spPr/>
        <p:txBody>
          <a:body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B4BEE8AB-3A12-13E6-82FF-1E69F28E09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671D92-F8FB-8A78-7CE9-07BDE74F4EB1}"/>
              </a:ext>
            </a:extLst>
          </p:cNvPr>
          <p:cNvSpPr>
            <a:spLocks noGrp="1"/>
          </p:cNvSpPr>
          <p:nvPr>
            <p:ph type="sldNum" sz="quarter" idx="12"/>
          </p:nvPr>
        </p:nvSpPr>
        <p:spPr/>
        <p:txBody>
          <a:bodyPr/>
          <a:lstStyle/>
          <a:p>
            <a:fld id="{6785E512-BF54-4AE0-9A1D-1C8B02143D3C}" type="slidenum">
              <a:rPr lang="en-IN" smtClean="0"/>
              <a:t>‹#›</a:t>
            </a:fld>
            <a:endParaRPr lang="en-IN"/>
          </a:p>
        </p:txBody>
      </p:sp>
    </p:spTree>
    <p:extLst>
      <p:ext uri="{BB962C8B-B14F-4D97-AF65-F5344CB8AC3E}">
        <p14:creationId xmlns:p14="http://schemas.microsoft.com/office/powerpoint/2010/main" val="231571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DCB155-1853-669B-E71E-65C8FA982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8EFCDE-38FB-EC9D-29EE-2670123206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15CB96-8296-B244-49B2-F53A70921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5B0DBB-55EF-4F32-9948-1651773EBE95}" type="datetimeFigureOut">
              <a:rPr lang="en-IN" smtClean="0"/>
              <a:t>06-01-2026</a:t>
            </a:fld>
            <a:endParaRPr lang="en-IN"/>
          </a:p>
        </p:txBody>
      </p:sp>
      <p:sp>
        <p:nvSpPr>
          <p:cNvPr id="5" name="Footer Placeholder 4">
            <a:extLst>
              <a:ext uri="{FF2B5EF4-FFF2-40B4-BE49-F238E27FC236}">
                <a16:creationId xmlns:a16="http://schemas.microsoft.com/office/drawing/2014/main" id="{A38D1F12-4B56-D2F8-8E72-EB4EECA685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3C0383-9EA2-2EB5-0A3A-A42A55AF85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5E512-BF54-4AE0-9A1D-1C8B02143D3C}" type="slidenum">
              <a:rPr lang="en-IN" smtClean="0"/>
              <a:t>‹#›</a:t>
            </a:fld>
            <a:endParaRPr lang="en-IN"/>
          </a:p>
        </p:txBody>
      </p:sp>
    </p:spTree>
    <p:extLst>
      <p:ext uri="{BB962C8B-B14F-4D97-AF65-F5344CB8AC3E}">
        <p14:creationId xmlns:p14="http://schemas.microsoft.com/office/powerpoint/2010/main" val="1592758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hyperlink" Target="https://economictimes.indiatimes.com/jobs/hr-policies-trends/india-sees-33-annual-surge-in-diversity-hiring-driven-by-bfsi-and-it-sectors/articleshow/111594298.cms?utm_source=contentofinterest&amp;utm_medium=text&amp;utm_campaign=cppst"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BFB68-F51A-7B6F-97A1-27AF855BB78D}"/>
              </a:ext>
            </a:extLst>
          </p:cNvPr>
          <p:cNvSpPr>
            <a:spLocks noGrp="1"/>
          </p:cNvSpPr>
          <p:nvPr>
            <p:ph type="ctrTitle"/>
          </p:nvPr>
        </p:nvSpPr>
        <p:spPr>
          <a:xfrm>
            <a:off x="1083685" y="1466112"/>
            <a:ext cx="10246923" cy="2141793"/>
          </a:xfrm>
        </p:spPr>
        <p:txBody>
          <a:bodyPr>
            <a:normAutofit/>
          </a:bodyPr>
          <a:lstStyle/>
          <a:p>
            <a:r>
              <a:rPr lang="en-IN" sz="4800" b="1" dirty="0">
                <a:solidFill>
                  <a:schemeClr val="accent2">
                    <a:lumMod val="75000"/>
                  </a:schemeClr>
                </a:solidFill>
                <a:latin typeface="Times New Roman" panose="02020603050405020304" pitchFamily="18" charset="0"/>
                <a:cs typeface="Times New Roman" panose="02020603050405020304" pitchFamily="18" charset="0"/>
              </a:rPr>
              <a:t>23HUT455</a:t>
            </a:r>
            <a:br>
              <a:rPr lang="en-IN" sz="4800" b="1" dirty="0">
                <a:solidFill>
                  <a:schemeClr val="accent2">
                    <a:lumMod val="75000"/>
                  </a:schemeClr>
                </a:solidFill>
                <a:latin typeface="Times New Roman" panose="02020603050405020304" pitchFamily="18" charset="0"/>
                <a:cs typeface="Times New Roman" panose="02020603050405020304" pitchFamily="18" charset="0"/>
              </a:rPr>
            </a:br>
            <a:r>
              <a:rPr lang="en-IN" sz="4800" b="1" dirty="0">
                <a:solidFill>
                  <a:schemeClr val="accent2">
                    <a:lumMod val="75000"/>
                  </a:schemeClr>
                </a:solidFill>
                <a:latin typeface="Times New Roman" panose="02020603050405020304" pitchFamily="18" charset="0"/>
                <a:cs typeface="Times New Roman" panose="02020603050405020304" pitchFamily="18" charset="0"/>
              </a:rPr>
              <a:t>ORGANIZATIONAL BEHAVIOUR</a:t>
            </a:r>
          </a:p>
        </p:txBody>
      </p:sp>
    </p:spTree>
    <p:extLst>
      <p:ext uri="{BB962C8B-B14F-4D97-AF65-F5344CB8AC3E}">
        <p14:creationId xmlns:p14="http://schemas.microsoft.com/office/powerpoint/2010/main" val="3021927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7B99238-9919-CFAB-EE6C-A50ED0527E33}"/>
              </a:ext>
            </a:extLst>
          </p:cNvPr>
          <p:cNvSpPr>
            <a:spLocks noGrp="1"/>
          </p:cNvSpPr>
          <p:nvPr>
            <p:ph type="title"/>
          </p:nvPr>
        </p:nvSpPr>
        <p:spPr/>
        <p:txBody>
          <a:bodyPr/>
          <a:lstStyle/>
          <a:p>
            <a:r>
              <a:rPr lang="en-IN" b="1" dirty="0">
                <a:solidFill>
                  <a:srgbClr val="FF0000"/>
                </a:solidFill>
              </a:rPr>
              <a:t>SYLLABUS AND COURSE OUTCOME</a:t>
            </a:r>
          </a:p>
        </p:txBody>
      </p:sp>
      <p:pic>
        <p:nvPicPr>
          <p:cNvPr id="17" name="Picture 16">
            <a:extLst>
              <a:ext uri="{FF2B5EF4-FFF2-40B4-BE49-F238E27FC236}">
                <a16:creationId xmlns:a16="http://schemas.microsoft.com/office/drawing/2014/main" id="{B7F74498-CE69-66CB-1FEA-03CAB57CA007}"/>
              </a:ext>
            </a:extLst>
          </p:cNvPr>
          <p:cNvPicPr>
            <a:picLocks noChangeAspect="1"/>
          </p:cNvPicPr>
          <p:nvPr/>
        </p:nvPicPr>
        <p:blipFill>
          <a:blip r:embed="rId2"/>
          <a:srcRect b="5635"/>
          <a:stretch/>
        </p:blipFill>
        <p:spPr>
          <a:xfrm>
            <a:off x="148046" y="1345721"/>
            <a:ext cx="11895907" cy="2083279"/>
          </a:xfrm>
          <a:prstGeom prst="rect">
            <a:avLst/>
          </a:prstGeom>
          <a:ln>
            <a:solidFill>
              <a:schemeClr val="accent1"/>
            </a:solidFill>
          </a:ln>
        </p:spPr>
      </p:pic>
      <p:pic>
        <p:nvPicPr>
          <p:cNvPr id="26" name="Picture 25">
            <a:extLst>
              <a:ext uri="{FF2B5EF4-FFF2-40B4-BE49-F238E27FC236}">
                <a16:creationId xmlns:a16="http://schemas.microsoft.com/office/drawing/2014/main" id="{0D7927D8-73CB-D027-7795-AC8CC5BA8E91}"/>
              </a:ext>
            </a:extLst>
          </p:cNvPr>
          <p:cNvPicPr>
            <a:picLocks noChangeAspect="1"/>
          </p:cNvPicPr>
          <p:nvPr/>
        </p:nvPicPr>
        <p:blipFill>
          <a:blip r:embed="rId3"/>
          <a:stretch>
            <a:fillRect/>
          </a:stretch>
        </p:blipFill>
        <p:spPr>
          <a:xfrm>
            <a:off x="148046" y="4172607"/>
            <a:ext cx="12015225" cy="1604738"/>
          </a:xfrm>
          <a:prstGeom prst="rect">
            <a:avLst/>
          </a:prstGeom>
        </p:spPr>
      </p:pic>
    </p:spTree>
    <p:extLst>
      <p:ext uri="{BB962C8B-B14F-4D97-AF65-F5344CB8AC3E}">
        <p14:creationId xmlns:p14="http://schemas.microsoft.com/office/powerpoint/2010/main" val="3752584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A4F19-D331-2633-E981-9038980984B3}"/>
              </a:ext>
            </a:extLst>
          </p:cNvPr>
          <p:cNvSpPr>
            <a:spLocks noGrp="1"/>
          </p:cNvSpPr>
          <p:nvPr>
            <p:ph type="title"/>
          </p:nvPr>
        </p:nvSpPr>
        <p:spPr>
          <a:xfrm>
            <a:off x="169606" y="79990"/>
            <a:ext cx="10515600" cy="478952"/>
          </a:xfrm>
        </p:spPr>
        <p:txBody>
          <a:bodyPr>
            <a:noAutofit/>
          </a:bodyPr>
          <a:lstStyle/>
          <a:p>
            <a:r>
              <a:rPr lang="en-IN" sz="3600" dirty="0">
                <a:latin typeface="Bookman Old Style" panose="02050604050505020204" pitchFamily="18" charset="0"/>
              </a:rPr>
              <a:t>What is an Organization?</a:t>
            </a:r>
          </a:p>
        </p:txBody>
      </p:sp>
      <p:sp>
        <p:nvSpPr>
          <p:cNvPr id="3" name="Content Placeholder 2">
            <a:extLst>
              <a:ext uri="{FF2B5EF4-FFF2-40B4-BE49-F238E27FC236}">
                <a16:creationId xmlns:a16="http://schemas.microsoft.com/office/drawing/2014/main" id="{50A55FA9-BDAD-9DE2-6CAB-36F728F10950}"/>
              </a:ext>
            </a:extLst>
          </p:cNvPr>
          <p:cNvSpPr>
            <a:spLocks noGrp="1"/>
          </p:cNvSpPr>
          <p:nvPr>
            <p:ph idx="1"/>
          </p:nvPr>
        </p:nvSpPr>
        <p:spPr>
          <a:xfrm>
            <a:off x="51618" y="651189"/>
            <a:ext cx="12088763" cy="961302"/>
          </a:xfrm>
          <a:solidFill>
            <a:schemeClr val="accent2">
              <a:lumMod val="40000"/>
              <a:lumOff val="60000"/>
            </a:schemeClr>
          </a:solidFill>
          <a:ln>
            <a:solidFill>
              <a:schemeClr val="accent2">
                <a:lumMod val="75000"/>
              </a:schemeClr>
            </a:solidFill>
          </a:ln>
        </p:spPr>
        <p:txBody>
          <a:bodyPr>
            <a:normAutofit/>
          </a:bodyPr>
          <a:lstStyle/>
          <a:p>
            <a:pPr algn="just"/>
            <a:r>
              <a:rPr lang="en-US" dirty="0">
                <a:latin typeface="Bookman Old Style" panose="02050604050505020204" pitchFamily="18" charset="0"/>
              </a:rPr>
              <a:t>Regarded as group of individuals contributing their efforts towards common goal</a:t>
            </a:r>
            <a:endParaRPr lang="en-IN" dirty="0">
              <a:latin typeface="Bookman Old Style" panose="02050604050505020204" pitchFamily="18" charset="0"/>
            </a:endParaRPr>
          </a:p>
        </p:txBody>
      </p:sp>
      <p:pic>
        <p:nvPicPr>
          <p:cNvPr id="5" name="Picture 4">
            <a:extLst>
              <a:ext uri="{FF2B5EF4-FFF2-40B4-BE49-F238E27FC236}">
                <a16:creationId xmlns:a16="http://schemas.microsoft.com/office/drawing/2014/main" id="{057ECAF6-E85A-CCCC-C741-87B8251A9EF3}"/>
              </a:ext>
            </a:extLst>
          </p:cNvPr>
          <p:cNvPicPr>
            <a:picLocks noChangeAspect="1"/>
          </p:cNvPicPr>
          <p:nvPr/>
        </p:nvPicPr>
        <p:blipFill>
          <a:blip r:embed="rId2"/>
          <a:stretch>
            <a:fillRect/>
          </a:stretch>
        </p:blipFill>
        <p:spPr>
          <a:xfrm>
            <a:off x="7958571" y="3571974"/>
            <a:ext cx="3650867" cy="3220065"/>
          </a:xfrm>
          <a:prstGeom prst="rect">
            <a:avLst/>
          </a:prstGeom>
        </p:spPr>
      </p:pic>
      <p:sp>
        <p:nvSpPr>
          <p:cNvPr id="6" name="Title 1">
            <a:extLst>
              <a:ext uri="{FF2B5EF4-FFF2-40B4-BE49-F238E27FC236}">
                <a16:creationId xmlns:a16="http://schemas.microsoft.com/office/drawing/2014/main" id="{C6CDDE04-06D5-AA6D-91F5-6E5CF6692276}"/>
              </a:ext>
            </a:extLst>
          </p:cNvPr>
          <p:cNvSpPr txBox="1">
            <a:spLocks/>
          </p:cNvSpPr>
          <p:nvPr/>
        </p:nvSpPr>
        <p:spPr>
          <a:xfrm>
            <a:off x="169606" y="1855666"/>
            <a:ext cx="10515600" cy="47895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Bookman Old Style" panose="02050604050505020204" pitchFamily="18" charset="0"/>
              </a:rPr>
              <a:t>What is an Organizational Behaviour?</a:t>
            </a:r>
          </a:p>
        </p:txBody>
      </p:sp>
      <p:sp>
        <p:nvSpPr>
          <p:cNvPr id="7" name="Content Placeholder 2">
            <a:extLst>
              <a:ext uri="{FF2B5EF4-FFF2-40B4-BE49-F238E27FC236}">
                <a16:creationId xmlns:a16="http://schemas.microsoft.com/office/drawing/2014/main" id="{4660E358-CBDB-C842-1983-6B782FB0F492}"/>
              </a:ext>
            </a:extLst>
          </p:cNvPr>
          <p:cNvSpPr txBox="1">
            <a:spLocks/>
          </p:cNvSpPr>
          <p:nvPr/>
        </p:nvSpPr>
        <p:spPr>
          <a:xfrm>
            <a:off x="51618" y="2446921"/>
            <a:ext cx="12088763" cy="861821"/>
          </a:xfrm>
          <a:prstGeom prst="rect">
            <a:avLst/>
          </a:prstGeom>
          <a:solidFill>
            <a:schemeClr val="accent2">
              <a:lumMod val="40000"/>
              <a:lumOff val="60000"/>
            </a:schemeClr>
          </a:solidFill>
          <a:ln>
            <a:solidFill>
              <a:schemeClr val="accent2">
                <a:lumMod val="75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Bookman Old Style" panose="02050604050505020204" pitchFamily="18" charset="0"/>
              </a:rPr>
              <a:t>Understanding, prediction, and management of human behavior in organizations</a:t>
            </a:r>
            <a:endParaRPr lang="en-IN" dirty="0">
              <a:latin typeface="Bookman Old Style" panose="02050604050505020204" pitchFamily="18" charset="0"/>
            </a:endParaRPr>
          </a:p>
        </p:txBody>
      </p:sp>
      <p:pic>
        <p:nvPicPr>
          <p:cNvPr id="9" name="Picture 8">
            <a:extLst>
              <a:ext uri="{FF2B5EF4-FFF2-40B4-BE49-F238E27FC236}">
                <a16:creationId xmlns:a16="http://schemas.microsoft.com/office/drawing/2014/main" id="{71DD82E2-979A-C441-EA7A-B7E105078CA2}"/>
              </a:ext>
            </a:extLst>
          </p:cNvPr>
          <p:cNvPicPr>
            <a:picLocks noChangeAspect="1"/>
          </p:cNvPicPr>
          <p:nvPr/>
        </p:nvPicPr>
        <p:blipFill>
          <a:blip r:embed="rId3"/>
          <a:stretch>
            <a:fillRect/>
          </a:stretch>
        </p:blipFill>
        <p:spPr>
          <a:xfrm>
            <a:off x="454743" y="3414970"/>
            <a:ext cx="6182031" cy="3363039"/>
          </a:xfrm>
          <a:prstGeom prst="rect">
            <a:avLst/>
          </a:prstGeom>
        </p:spPr>
      </p:pic>
    </p:spTree>
    <p:extLst>
      <p:ext uri="{BB962C8B-B14F-4D97-AF65-F5344CB8AC3E}">
        <p14:creationId xmlns:p14="http://schemas.microsoft.com/office/powerpoint/2010/main" val="189601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4C443-B4DA-F419-1097-D1EC1916C733}"/>
              </a:ext>
            </a:extLst>
          </p:cNvPr>
          <p:cNvSpPr>
            <a:spLocks noGrp="1"/>
          </p:cNvSpPr>
          <p:nvPr>
            <p:ph idx="1"/>
          </p:nvPr>
        </p:nvSpPr>
        <p:spPr>
          <a:xfrm>
            <a:off x="838199" y="248478"/>
            <a:ext cx="10790583" cy="6609521"/>
          </a:xfrm>
        </p:spPr>
        <p:txBody>
          <a:bodyPr>
            <a:normAutofit fontScale="92500" lnSpcReduction="20000"/>
          </a:bodyPr>
          <a:lstStyle/>
          <a:p>
            <a:r>
              <a:rPr lang="en-IN" sz="3600" b="1" u="sng" kern="100" dirty="0">
                <a:effectLst/>
                <a:latin typeface="Times New Roman" panose="02020603050405020304" pitchFamily="18" charset="0"/>
                <a:ea typeface="Calibri" panose="020F0502020204030204" pitchFamily="34" charset="0"/>
                <a:cs typeface="Times New Roman" panose="02020603050405020304" pitchFamily="18" charset="0"/>
              </a:rPr>
              <a:t>Activity 1: Team Selection and Self-Reflection</a:t>
            </a:r>
            <a:br>
              <a:rPr lang="en-IN" sz="3600" b="1" u="sng"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Aim: </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To help students understand the importance of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behavior</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skills, and attributes in team selection processes, emphasizing relevance in professional and organizational settings.</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Activity Description:</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Randomly select 10 students to act as team leaders/managers of a hypothetical company project.</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Each leader selects 7-8 students from the rest of the class to form their project team. Some students may be picked for multiple teams, while others might not be selected at all.</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Leaders write the names of their team members on the board.</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All students reflect on:</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Why they were selected.</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Why they might not have been selected (for those not chosen by any leader).</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6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Reflection Questions:</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What qualities do you think led to your selection (or non-selection)?</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What changes can you make in your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behavior</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to enhance your chances of being chosen in similar situations?</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t>
            </a:r>
            <a:b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600" dirty="0"/>
          </a:p>
        </p:txBody>
      </p:sp>
    </p:spTree>
    <p:extLst>
      <p:ext uri="{BB962C8B-B14F-4D97-AF65-F5344CB8AC3E}">
        <p14:creationId xmlns:p14="http://schemas.microsoft.com/office/powerpoint/2010/main" val="24471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776D-0E3E-8CA4-EDCC-F85F777FB52A}"/>
              </a:ext>
            </a:extLst>
          </p:cNvPr>
          <p:cNvSpPr>
            <a:spLocks noGrp="1"/>
          </p:cNvSpPr>
          <p:nvPr>
            <p:ph type="title"/>
          </p:nvPr>
        </p:nvSpPr>
        <p:spPr>
          <a:xfrm>
            <a:off x="314633" y="188605"/>
            <a:ext cx="11523406" cy="942105"/>
          </a:xfrm>
        </p:spPr>
        <p:txBody>
          <a:bodyPr/>
          <a:lstStyle/>
          <a:p>
            <a:r>
              <a:rPr lang="en-IN" b="1" dirty="0">
                <a:solidFill>
                  <a:schemeClr val="accent1"/>
                </a:solidFill>
              </a:rPr>
              <a:t>Reflection on Activity conducted on 16-12-2024</a:t>
            </a:r>
          </a:p>
        </p:txBody>
      </p:sp>
      <p:sp>
        <p:nvSpPr>
          <p:cNvPr id="3" name="Content Placeholder 2">
            <a:extLst>
              <a:ext uri="{FF2B5EF4-FFF2-40B4-BE49-F238E27FC236}">
                <a16:creationId xmlns:a16="http://schemas.microsoft.com/office/drawing/2014/main" id="{B71C041F-C1A0-A8A6-EE48-217F75E295CA}"/>
              </a:ext>
            </a:extLst>
          </p:cNvPr>
          <p:cNvSpPr>
            <a:spLocks noGrp="1"/>
          </p:cNvSpPr>
          <p:nvPr>
            <p:ph idx="1"/>
          </p:nvPr>
        </p:nvSpPr>
        <p:spPr>
          <a:xfrm>
            <a:off x="314633" y="1307690"/>
            <a:ext cx="5112773" cy="5220929"/>
          </a:xfrm>
          <a:solidFill>
            <a:schemeClr val="accent2">
              <a:lumMod val="60000"/>
              <a:lumOff val="40000"/>
            </a:schemeClr>
          </a:solidFill>
          <a:ln>
            <a:solidFill>
              <a:schemeClr val="accent1"/>
            </a:solidFill>
          </a:ln>
        </p:spPr>
        <p:txBody>
          <a:bodyPr>
            <a:normAutofit/>
          </a:bodyPr>
          <a:lstStyle/>
          <a:p>
            <a:pPr marL="0" indent="0">
              <a:buNone/>
            </a:pPr>
            <a:r>
              <a:rPr lang="en-IN" b="1" dirty="0"/>
              <a:t>Selected Criteria</a:t>
            </a:r>
          </a:p>
          <a:p>
            <a:r>
              <a:rPr lang="en-IN" dirty="0"/>
              <a:t>Hardworking and Dedication</a:t>
            </a:r>
          </a:p>
          <a:p>
            <a:r>
              <a:rPr lang="en-IN" dirty="0"/>
              <a:t>Teamwork skills</a:t>
            </a:r>
          </a:p>
          <a:p>
            <a:r>
              <a:rPr lang="en-IN" dirty="0"/>
              <a:t>Planning and Time Management</a:t>
            </a:r>
          </a:p>
          <a:p>
            <a:r>
              <a:rPr lang="en-IN" dirty="0"/>
              <a:t>Communication</a:t>
            </a:r>
          </a:p>
          <a:p>
            <a:r>
              <a:rPr lang="en-IN" dirty="0"/>
              <a:t>Responsibility</a:t>
            </a:r>
          </a:p>
          <a:p>
            <a:r>
              <a:rPr lang="en-IN" dirty="0"/>
              <a:t>Technical Skills/Critical thinking</a:t>
            </a:r>
          </a:p>
          <a:p>
            <a:r>
              <a:rPr lang="en-IN" dirty="0"/>
              <a:t>Truthfulness and Patience</a:t>
            </a:r>
          </a:p>
          <a:p>
            <a:r>
              <a:rPr lang="en-IN" dirty="0"/>
              <a:t>Documentation</a:t>
            </a:r>
          </a:p>
          <a:p>
            <a:r>
              <a:rPr lang="en-IN" dirty="0"/>
              <a:t>Friendship</a:t>
            </a:r>
          </a:p>
          <a:p>
            <a:endParaRPr lang="en-IN" dirty="0"/>
          </a:p>
        </p:txBody>
      </p:sp>
      <p:sp>
        <p:nvSpPr>
          <p:cNvPr id="4" name="Content Placeholder 2">
            <a:extLst>
              <a:ext uri="{FF2B5EF4-FFF2-40B4-BE49-F238E27FC236}">
                <a16:creationId xmlns:a16="http://schemas.microsoft.com/office/drawing/2014/main" id="{D928B16D-4CDA-AF33-C27B-30E22F7B1D31}"/>
              </a:ext>
            </a:extLst>
          </p:cNvPr>
          <p:cNvSpPr txBox="1">
            <a:spLocks/>
          </p:cNvSpPr>
          <p:nvPr/>
        </p:nvSpPr>
        <p:spPr>
          <a:xfrm>
            <a:off x="6076336" y="1307690"/>
            <a:ext cx="5112773" cy="5220928"/>
          </a:xfrm>
          <a:prstGeom prst="rect">
            <a:avLst/>
          </a:prstGeom>
          <a:solidFill>
            <a:schemeClr val="accent4">
              <a:lumMod val="60000"/>
              <a:lumOff val="40000"/>
            </a:schemeClr>
          </a:solidFill>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Why Not selected?</a:t>
            </a:r>
          </a:p>
          <a:p>
            <a:r>
              <a:rPr lang="en-IN" dirty="0">
                <a:solidFill>
                  <a:srgbClr val="FF0000"/>
                </a:solidFill>
              </a:rPr>
              <a:t>Friendship </a:t>
            </a:r>
            <a:r>
              <a:rPr lang="en-IN" dirty="0">
                <a:solidFill>
                  <a:srgbClr val="FF0000"/>
                </a:solidFill>
                <a:sym typeface="Wingdings" panose="05000000000000000000" pitchFamily="2" charset="2"/>
              </a:rPr>
              <a:t> Biasing </a:t>
            </a:r>
          </a:p>
          <a:p>
            <a:endParaRPr lang="en-IN" dirty="0">
              <a:solidFill>
                <a:srgbClr val="FF0000"/>
              </a:solidFill>
              <a:sym typeface="Wingdings" panose="05000000000000000000" pitchFamily="2" charset="2"/>
            </a:endParaRPr>
          </a:p>
          <a:p>
            <a:r>
              <a:rPr lang="en-IN" dirty="0">
                <a:solidFill>
                  <a:srgbClr val="FF0000"/>
                </a:solidFill>
                <a:sym typeface="Wingdings" panose="05000000000000000000" pitchFamily="2" charset="2"/>
              </a:rPr>
              <a:t>Corruption</a:t>
            </a:r>
          </a:p>
          <a:p>
            <a:pPr marL="0" indent="0">
              <a:buNone/>
            </a:pPr>
            <a:endParaRPr lang="en-IN" dirty="0">
              <a:solidFill>
                <a:srgbClr val="FF0000"/>
              </a:solidFill>
              <a:sym typeface="Wingdings" panose="05000000000000000000" pitchFamily="2" charset="2"/>
            </a:endParaRPr>
          </a:p>
          <a:p>
            <a:r>
              <a:rPr lang="en-IN" dirty="0">
                <a:solidFill>
                  <a:srgbClr val="FF0000"/>
                </a:solidFill>
                <a:sym typeface="Wingdings" panose="05000000000000000000" pitchFamily="2" charset="2"/>
              </a:rPr>
              <a:t>Unrecognized talent</a:t>
            </a:r>
          </a:p>
          <a:p>
            <a:endParaRPr lang="en-IN" dirty="0">
              <a:solidFill>
                <a:srgbClr val="FF0000"/>
              </a:solidFill>
              <a:sym typeface="Wingdings" panose="05000000000000000000" pitchFamily="2" charset="2"/>
            </a:endParaRPr>
          </a:p>
          <a:p>
            <a:r>
              <a:rPr lang="en-IN" dirty="0">
                <a:solidFill>
                  <a:srgbClr val="FF0000"/>
                </a:solidFill>
                <a:sym typeface="Wingdings" panose="05000000000000000000" pitchFamily="2" charset="2"/>
              </a:rPr>
              <a:t>Lack of confidence  Stage fear</a:t>
            </a:r>
          </a:p>
          <a:p>
            <a:endParaRPr lang="en-IN" dirty="0">
              <a:solidFill>
                <a:srgbClr val="FF0000"/>
              </a:solidFill>
              <a:sym typeface="Wingdings" panose="05000000000000000000" pitchFamily="2" charset="2"/>
            </a:endParaRPr>
          </a:p>
          <a:p>
            <a:r>
              <a:rPr lang="en-IN" dirty="0">
                <a:solidFill>
                  <a:srgbClr val="FF0000"/>
                </a:solidFill>
                <a:sym typeface="Wingdings" panose="05000000000000000000" pitchFamily="2" charset="2"/>
              </a:rPr>
              <a:t>Lack of Communication skills</a:t>
            </a:r>
          </a:p>
          <a:p>
            <a:endParaRPr lang="en-IN" dirty="0">
              <a:sym typeface="Wingdings" panose="05000000000000000000" pitchFamily="2" charset="2"/>
            </a:endParaRPr>
          </a:p>
          <a:p>
            <a:pPr marL="0" indent="0">
              <a:buNone/>
            </a:pPr>
            <a:endParaRPr lang="en-IN" dirty="0"/>
          </a:p>
        </p:txBody>
      </p:sp>
    </p:spTree>
    <p:extLst>
      <p:ext uri="{BB962C8B-B14F-4D97-AF65-F5344CB8AC3E}">
        <p14:creationId xmlns:p14="http://schemas.microsoft.com/office/powerpoint/2010/main" val="115581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C9115-019D-A43A-C720-1A98AC5E1162}"/>
              </a:ext>
            </a:extLst>
          </p:cNvPr>
          <p:cNvSpPr>
            <a:spLocks noGrp="1"/>
          </p:cNvSpPr>
          <p:nvPr>
            <p:ph type="title"/>
          </p:nvPr>
        </p:nvSpPr>
        <p:spPr>
          <a:xfrm>
            <a:off x="248264" y="129152"/>
            <a:ext cx="10515600" cy="627932"/>
          </a:xfrm>
        </p:spPr>
        <p:txBody>
          <a:bodyPr>
            <a:normAutofit/>
          </a:bodyPr>
          <a:lstStyle/>
          <a:p>
            <a:r>
              <a:rPr lang="en-IN" sz="3600" b="1" dirty="0">
                <a:solidFill>
                  <a:schemeClr val="accent1"/>
                </a:solidFill>
                <a:latin typeface="Bookman Old Style" panose="02050604050505020204" pitchFamily="18" charset="0"/>
              </a:rPr>
              <a:t>Nature of OB</a:t>
            </a:r>
          </a:p>
        </p:txBody>
      </p:sp>
      <p:sp>
        <p:nvSpPr>
          <p:cNvPr id="3" name="Content Placeholder 2">
            <a:extLst>
              <a:ext uri="{FF2B5EF4-FFF2-40B4-BE49-F238E27FC236}">
                <a16:creationId xmlns:a16="http://schemas.microsoft.com/office/drawing/2014/main" id="{B17636A0-9E47-713B-EE43-A05485E117E5}"/>
              </a:ext>
            </a:extLst>
          </p:cNvPr>
          <p:cNvSpPr>
            <a:spLocks noGrp="1"/>
          </p:cNvSpPr>
          <p:nvPr>
            <p:ph idx="1"/>
          </p:nvPr>
        </p:nvSpPr>
        <p:spPr>
          <a:xfrm>
            <a:off x="248263" y="855406"/>
            <a:ext cx="11815917" cy="6002594"/>
          </a:xfrm>
        </p:spPr>
        <p:txBody>
          <a:bodyPr>
            <a:normAutofit fontScale="92500"/>
          </a:bodyPr>
          <a:lstStyle/>
          <a:p>
            <a:pPr algn="just" fontAlgn="base">
              <a:lnSpc>
                <a:spcPts val="1950"/>
              </a:lnSpc>
              <a:buFont typeface="+mj-lt"/>
              <a:buAutoNum type="arabicPeriod"/>
            </a:pPr>
            <a:r>
              <a:rPr lang="en-US" sz="2400" b="1" i="0" dirty="0">
                <a:solidFill>
                  <a:srgbClr val="FF0000"/>
                </a:solidFill>
                <a:effectLst/>
                <a:latin typeface="Bookman Old Style" panose="02050604050505020204" pitchFamily="18" charset="0"/>
              </a:rPr>
              <a:t> Multidisciplinary</a:t>
            </a:r>
            <a:r>
              <a:rPr lang="en-US" sz="2400" b="1" i="0" dirty="0">
                <a:solidFill>
                  <a:srgbClr val="000000"/>
                </a:solidFill>
                <a:effectLst/>
                <a:latin typeface="Bookman Old Style" panose="02050604050505020204" pitchFamily="18" charset="0"/>
              </a:rPr>
              <a:t>:</a:t>
            </a:r>
            <a:r>
              <a:rPr lang="en-US" sz="2400" b="0" i="0" dirty="0">
                <a:solidFill>
                  <a:srgbClr val="000000"/>
                </a:solidFill>
                <a:effectLst/>
                <a:latin typeface="Bookman Old Style" panose="02050604050505020204" pitchFamily="18" charset="0"/>
              </a:rPr>
              <a:t> Organizational Behavior draws insights from various  </a:t>
            </a:r>
          </a:p>
          <a:p>
            <a:pPr marL="0" indent="0" algn="just" fontAlgn="base">
              <a:lnSpc>
                <a:spcPts val="1950"/>
              </a:lnSpc>
              <a:buNone/>
            </a:pPr>
            <a:r>
              <a:rPr lang="en-US" sz="2400" b="0" i="0" dirty="0">
                <a:solidFill>
                  <a:srgbClr val="000000"/>
                </a:solidFill>
                <a:effectLst/>
                <a:latin typeface="Bookman Old Style" panose="02050604050505020204" pitchFamily="18" charset="0"/>
              </a:rPr>
              <a:t>                                  disciplines such </a:t>
            </a:r>
          </a:p>
          <a:p>
            <a:pPr lvl="8" algn="just" fontAlgn="base">
              <a:lnSpc>
                <a:spcPct val="150000"/>
              </a:lnSpc>
            </a:pPr>
            <a:r>
              <a:rPr lang="en-US" sz="2400" b="0" i="0" dirty="0">
                <a:solidFill>
                  <a:srgbClr val="000000"/>
                </a:solidFill>
                <a:effectLst/>
                <a:latin typeface="Bookman Old Style" panose="02050604050505020204" pitchFamily="18" charset="0"/>
              </a:rPr>
              <a:t>Psychology</a:t>
            </a:r>
          </a:p>
          <a:p>
            <a:pPr lvl="8" algn="just" fontAlgn="base">
              <a:lnSpc>
                <a:spcPts val="1950"/>
              </a:lnSpc>
            </a:pPr>
            <a:r>
              <a:rPr lang="en-US" sz="2400" dirty="0">
                <a:solidFill>
                  <a:srgbClr val="000000"/>
                </a:solidFill>
                <a:latin typeface="Bookman Old Style" panose="02050604050505020204" pitchFamily="18" charset="0"/>
              </a:rPr>
              <a:t>S</a:t>
            </a:r>
            <a:r>
              <a:rPr lang="en-US" sz="2400" b="0" i="0" dirty="0">
                <a:solidFill>
                  <a:srgbClr val="000000"/>
                </a:solidFill>
                <a:effectLst/>
                <a:latin typeface="Bookman Old Style" panose="02050604050505020204" pitchFamily="18" charset="0"/>
              </a:rPr>
              <a:t>ociology</a:t>
            </a:r>
          </a:p>
          <a:p>
            <a:pPr lvl="8" algn="just" fontAlgn="base">
              <a:lnSpc>
                <a:spcPts val="1950"/>
              </a:lnSpc>
            </a:pPr>
            <a:r>
              <a:rPr lang="en-US" sz="2400" b="0" i="0" dirty="0">
                <a:solidFill>
                  <a:srgbClr val="000000"/>
                </a:solidFill>
                <a:effectLst/>
                <a:latin typeface="Bookman Old Style" panose="02050604050505020204" pitchFamily="18" charset="0"/>
              </a:rPr>
              <a:t>Anthropology</a:t>
            </a:r>
          </a:p>
          <a:p>
            <a:pPr lvl="8" algn="just" fontAlgn="base">
              <a:lnSpc>
                <a:spcPts val="1950"/>
              </a:lnSpc>
            </a:pPr>
            <a:r>
              <a:rPr lang="en-US" sz="2400" b="0" i="0" dirty="0">
                <a:solidFill>
                  <a:srgbClr val="000000"/>
                </a:solidFill>
                <a:effectLst/>
                <a:latin typeface="Bookman Old Style" panose="02050604050505020204" pitchFamily="18" charset="0"/>
              </a:rPr>
              <a:t>Management</a:t>
            </a:r>
          </a:p>
          <a:p>
            <a:pPr marL="0" indent="0" algn="just" fontAlgn="base">
              <a:lnSpc>
                <a:spcPts val="1950"/>
              </a:lnSpc>
              <a:buNone/>
            </a:pPr>
            <a:endParaRPr lang="en-US" sz="2400" b="0" i="0" dirty="0">
              <a:solidFill>
                <a:srgbClr val="000000"/>
              </a:solidFill>
              <a:effectLst/>
              <a:latin typeface="Bookman Old Style" panose="02050604050505020204" pitchFamily="18" charset="0"/>
            </a:endParaRPr>
          </a:p>
          <a:p>
            <a:pPr marL="0" indent="0" algn="just" fontAlgn="base">
              <a:lnSpc>
                <a:spcPts val="1950"/>
              </a:lnSpc>
              <a:buNone/>
            </a:pPr>
            <a:r>
              <a:rPr lang="en-US" sz="2400" b="1" i="0" dirty="0">
                <a:solidFill>
                  <a:srgbClr val="FF0000"/>
                </a:solidFill>
                <a:effectLst/>
                <a:latin typeface="Bookman Old Style" panose="02050604050505020204" pitchFamily="18" charset="0"/>
              </a:rPr>
              <a:t>2. Systematic Study:</a:t>
            </a:r>
            <a:r>
              <a:rPr lang="en-US" sz="2400" b="0" i="0" dirty="0">
                <a:solidFill>
                  <a:srgbClr val="FF0000"/>
                </a:solidFill>
                <a:effectLst/>
                <a:latin typeface="Bookman Old Style" panose="02050604050505020204" pitchFamily="18" charset="0"/>
              </a:rPr>
              <a:t> </a:t>
            </a:r>
            <a:r>
              <a:rPr lang="en-US" sz="2400" b="0" i="0" dirty="0">
                <a:solidFill>
                  <a:srgbClr val="000000"/>
                </a:solidFill>
                <a:effectLst/>
                <a:latin typeface="Bookman Old Style" panose="02050604050505020204" pitchFamily="18" charset="0"/>
              </a:rPr>
              <a:t>Researchers use empirical evidence and data to analyze and  </a:t>
            </a:r>
          </a:p>
          <a:p>
            <a:pPr marL="0" indent="0" algn="just" fontAlgn="base">
              <a:lnSpc>
                <a:spcPts val="1950"/>
              </a:lnSpc>
              <a:buNone/>
            </a:pPr>
            <a:r>
              <a:rPr lang="en-US" sz="2400" dirty="0">
                <a:solidFill>
                  <a:srgbClr val="000000"/>
                </a:solidFill>
                <a:latin typeface="Bookman Old Style" panose="02050604050505020204" pitchFamily="18" charset="0"/>
              </a:rPr>
              <a:t>                                   </a:t>
            </a:r>
            <a:r>
              <a:rPr lang="en-US" sz="2400" b="0" i="0" dirty="0">
                <a:solidFill>
                  <a:srgbClr val="000000"/>
                </a:solidFill>
                <a:effectLst/>
                <a:latin typeface="Bookman Old Style" panose="02050604050505020204" pitchFamily="18" charset="0"/>
              </a:rPr>
              <a:t>understand patterns of behavior within organizations</a:t>
            </a:r>
          </a:p>
          <a:p>
            <a:pPr marL="0" indent="0" algn="just" fontAlgn="base">
              <a:lnSpc>
                <a:spcPts val="1950"/>
              </a:lnSpc>
              <a:buNone/>
            </a:pPr>
            <a:endParaRPr lang="en-US" sz="2400" b="0" i="0" dirty="0">
              <a:solidFill>
                <a:srgbClr val="000000"/>
              </a:solidFill>
              <a:effectLst/>
              <a:latin typeface="Bookman Old Style" panose="02050604050505020204" pitchFamily="18" charset="0"/>
            </a:endParaRPr>
          </a:p>
          <a:p>
            <a:pPr marL="0" indent="0" algn="just" fontAlgn="base">
              <a:lnSpc>
                <a:spcPts val="1950"/>
              </a:lnSpc>
              <a:buNone/>
            </a:pPr>
            <a:r>
              <a:rPr lang="en-US" sz="2400" b="1" dirty="0">
                <a:solidFill>
                  <a:srgbClr val="FF0000"/>
                </a:solidFill>
                <a:latin typeface="Bookman Old Style" panose="02050604050505020204" pitchFamily="18" charset="0"/>
              </a:rPr>
              <a:t>3</a:t>
            </a:r>
            <a:r>
              <a:rPr lang="en-US" sz="2400" dirty="0">
                <a:solidFill>
                  <a:srgbClr val="FF0000"/>
                </a:solidFill>
                <a:latin typeface="Bookman Old Style" panose="02050604050505020204" pitchFamily="18" charset="0"/>
              </a:rPr>
              <a:t>. </a:t>
            </a:r>
            <a:r>
              <a:rPr lang="en-US" sz="2400" b="1" i="0" dirty="0">
                <a:solidFill>
                  <a:srgbClr val="FF0000"/>
                </a:solidFill>
                <a:effectLst/>
                <a:latin typeface="Bookman Old Style" panose="02050604050505020204" pitchFamily="18" charset="0"/>
              </a:rPr>
              <a:t>Applied Science:</a:t>
            </a:r>
            <a:r>
              <a:rPr lang="en-US" sz="2400" b="0" i="0" dirty="0">
                <a:solidFill>
                  <a:srgbClr val="FF0000"/>
                </a:solidFill>
                <a:effectLst/>
                <a:latin typeface="Bookman Old Style" panose="02050604050505020204" pitchFamily="18" charset="0"/>
              </a:rPr>
              <a:t> </a:t>
            </a:r>
            <a:r>
              <a:rPr lang="en-US" sz="2400" b="0" i="0" dirty="0">
                <a:effectLst/>
                <a:latin typeface="Bookman Old Style" panose="02050604050505020204" pitchFamily="18" charset="0"/>
              </a:rPr>
              <a:t>A</a:t>
            </a:r>
            <a:r>
              <a:rPr lang="en-US" sz="2400" b="0" i="0" dirty="0">
                <a:solidFill>
                  <a:srgbClr val="000000"/>
                </a:solidFill>
                <a:effectLst/>
                <a:latin typeface="Bookman Old Style" panose="02050604050505020204" pitchFamily="18" charset="0"/>
              </a:rPr>
              <a:t>pply theories and concepts to enhance organizational </a:t>
            </a:r>
          </a:p>
          <a:p>
            <a:pPr marL="0" indent="0" algn="just" fontAlgn="base">
              <a:lnSpc>
                <a:spcPts val="1950"/>
              </a:lnSpc>
              <a:buNone/>
            </a:pPr>
            <a:r>
              <a:rPr lang="en-US" sz="2400" dirty="0">
                <a:solidFill>
                  <a:srgbClr val="000000"/>
                </a:solidFill>
                <a:latin typeface="Bookman Old Style" panose="02050604050505020204" pitchFamily="18" charset="0"/>
              </a:rPr>
              <a:t>                                </a:t>
            </a:r>
            <a:r>
              <a:rPr lang="en-US" sz="2400" b="0" i="0" dirty="0">
                <a:solidFill>
                  <a:srgbClr val="000000"/>
                </a:solidFill>
                <a:effectLst/>
                <a:latin typeface="Bookman Old Style" panose="02050604050505020204" pitchFamily="18" charset="0"/>
              </a:rPr>
              <a:t>effectiveness and improve the quality of work life</a:t>
            </a:r>
          </a:p>
          <a:p>
            <a:pPr marL="0" indent="0" algn="just" fontAlgn="base">
              <a:lnSpc>
                <a:spcPts val="1950"/>
              </a:lnSpc>
              <a:buNone/>
            </a:pPr>
            <a:endParaRPr lang="en-US" sz="2400" b="1" i="0" dirty="0">
              <a:solidFill>
                <a:srgbClr val="000000"/>
              </a:solidFill>
              <a:effectLst/>
              <a:latin typeface="Bookman Old Style" panose="02050604050505020204" pitchFamily="18" charset="0"/>
            </a:endParaRPr>
          </a:p>
          <a:p>
            <a:pPr marL="0" indent="0" algn="just" fontAlgn="base">
              <a:lnSpc>
                <a:spcPts val="1950"/>
              </a:lnSpc>
              <a:buNone/>
            </a:pPr>
            <a:r>
              <a:rPr lang="en-US" sz="2400" b="1" i="0" dirty="0">
                <a:solidFill>
                  <a:srgbClr val="FF0000"/>
                </a:solidFill>
                <a:effectLst/>
                <a:latin typeface="Bookman Old Style" panose="02050604050505020204" pitchFamily="18" charset="0"/>
              </a:rPr>
              <a:t>4. Contingency Approach:</a:t>
            </a:r>
            <a:r>
              <a:rPr lang="en-US" sz="2400" b="0" i="0" dirty="0">
                <a:solidFill>
                  <a:srgbClr val="FF0000"/>
                </a:solidFill>
                <a:effectLst/>
                <a:latin typeface="Bookman Old Style" panose="02050604050505020204" pitchFamily="18" charset="0"/>
              </a:rPr>
              <a:t> </a:t>
            </a:r>
            <a:r>
              <a:rPr lang="en-US" sz="2400" b="0" i="0" dirty="0">
                <a:solidFill>
                  <a:srgbClr val="000000"/>
                </a:solidFill>
                <a:effectLst/>
                <a:latin typeface="Bookman Old Style" panose="02050604050505020204" pitchFamily="18" charset="0"/>
              </a:rPr>
              <a:t>No one-size-fits-all solution to organizational challenges. </a:t>
            </a:r>
          </a:p>
          <a:p>
            <a:pPr marL="3657600" lvl="8" indent="0" algn="just" fontAlgn="base">
              <a:lnSpc>
                <a:spcPts val="1950"/>
              </a:lnSpc>
              <a:buNone/>
            </a:pPr>
            <a:r>
              <a:rPr lang="en-US" sz="2200" dirty="0">
                <a:solidFill>
                  <a:srgbClr val="000000"/>
                </a:solidFill>
                <a:latin typeface="Bookman Old Style" panose="02050604050505020204" pitchFamily="18" charset="0"/>
              </a:rPr>
              <a:t>   </a:t>
            </a:r>
            <a:r>
              <a:rPr lang="en-US" sz="2200" b="0" i="0" dirty="0">
                <a:solidFill>
                  <a:srgbClr val="000000"/>
                </a:solidFill>
                <a:effectLst/>
                <a:latin typeface="Bookman Old Style" panose="02050604050505020204" pitchFamily="18" charset="0"/>
              </a:rPr>
              <a:t>Effectiveness of organizational practices depends on the </a:t>
            </a:r>
          </a:p>
          <a:p>
            <a:pPr marL="3657600" lvl="8" indent="0" algn="just" fontAlgn="base">
              <a:lnSpc>
                <a:spcPts val="1950"/>
              </a:lnSpc>
              <a:buNone/>
            </a:pPr>
            <a:r>
              <a:rPr lang="en-US" sz="2200" b="0" i="0" dirty="0">
                <a:solidFill>
                  <a:srgbClr val="000000"/>
                </a:solidFill>
                <a:effectLst/>
                <a:latin typeface="Bookman Old Style" panose="02050604050505020204" pitchFamily="18" charset="0"/>
              </a:rPr>
              <a:t>   specific situation, context, and environment</a:t>
            </a:r>
          </a:p>
          <a:p>
            <a:endParaRPr lang="en-IN" sz="2400" dirty="0">
              <a:latin typeface="Bookman Old Style" panose="02050604050505020204" pitchFamily="18" charset="0"/>
            </a:endParaRPr>
          </a:p>
        </p:txBody>
      </p:sp>
    </p:spTree>
    <p:extLst>
      <p:ext uri="{BB962C8B-B14F-4D97-AF65-F5344CB8AC3E}">
        <p14:creationId xmlns:p14="http://schemas.microsoft.com/office/powerpoint/2010/main" val="122735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811CE-95E3-F243-BAE0-6BD0D1775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C7A07-4CEC-9C36-3B7E-F6443FDA7573}"/>
              </a:ext>
            </a:extLst>
          </p:cNvPr>
          <p:cNvSpPr>
            <a:spLocks noGrp="1"/>
          </p:cNvSpPr>
          <p:nvPr>
            <p:ph type="title"/>
          </p:nvPr>
        </p:nvSpPr>
        <p:spPr>
          <a:xfrm>
            <a:off x="226142" y="136269"/>
            <a:ext cx="11353800" cy="768299"/>
          </a:xfrm>
        </p:spPr>
        <p:txBody>
          <a:bodyPr/>
          <a:lstStyle/>
          <a:p>
            <a:r>
              <a:rPr lang="en-IN" sz="3600" b="1" dirty="0">
                <a:solidFill>
                  <a:schemeClr val="accent1"/>
                </a:solidFill>
                <a:latin typeface="Bookman Old Style" panose="02050604050505020204" pitchFamily="18" charset="0"/>
              </a:rPr>
              <a:t>Scope of OB</a:t>
            </a:r>
          </a:p>
        </p:txBody>
      </p:sp>
      <p:pic>
        <p:nvPicPr>
          <p:cNvPr id="7" name="Content Placeholder 6">
            <a:extLst>
              <a:ext uri="{FF2B5EF4-FFF2-40B4-BE49-F238E27FC236}">
                <a16:creationId xmlns:a16="http://schemas.microsoft.com/office/drawing/2014/main" id="{C8A94572-CA17-1E21-D6D2-CAF26B07458E}"/>
              </a:ext>
            </a:extLst>
          </p:cNvPr>
          <p:cNvPicPr>
            <a:picLocks noGrp="1" noChangeAspect="1"/>
          </p:cNvPicPr>
          <p:nvPr>
            <p:ph idx="1"/>
          </p:nvPr>
        </p:nvPicPr>
        <p:blipFill>
          <a:blip r:embed="rId3"/>
          <a:stretch>
            <a:fillRect/>
          </a:stretch>
        </p:blipFill>
        <p:spPr>
          <a:xfrm>
            <a:off x="444910" y="2467191"/>
            <a:ext cx="4959405" cy="4390810"/>
          </a:xfrm>
          <a:ln>
            <a:solidFill>
              <a:schemeClr val="accent1"/>
            </a:solidFill>
          </a:ln>
        </p:spPr>
      </p:pic>
      <p:sp>
        <p:nvSpPr>
          <p:cNvPr id="9" name="TextBox 8">
            <a:extLst>
              <a:ext uri="{FF2B5EF4-FFF2-40B4-BE49-F238E27FC236}">
                <a16:creationId xmlns:a16="http://schemas.microsoft.com/office/drawing/2014/main" id="{F6698158-8B7F-CB70-8283-8253AF3D87DE}"/>
              </a:ext>
            </a:extLst>
          </p:cNvPr>
          <p:cNvSpPr txBox="1"/>
          <p:nvPr/>
        </p:nvSpPr>
        <p:spPr>
          <a:xfrm>
            <a:off x="444910" y="809805"/>
            <a:ext cx="11302178" cy="1631216"/>
          </a:xfrm>
          <a:prstGeom prst="rect">
            <a:avLst/>
          </a:prstGeom>
          <a:solidFill>
            <a:schemeClr val="accent4">
              <a:lumMod val="60000"/>
              <a:lumOff val="4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en-US" sz="2000" b="1" i="0" dirty="0">
                <a:solidFill>
                  <a:srgbClr val="212529"/>
                </a:solidFill>
                <a:effectLst/>
                <a:latin typeface="system-ui"/>
              </a:rPr>
              <a:t>Comprehensive, addressing a wide range of factors that influence how people behave within organizations</a:t>
            </a:r>
          </a:p>
          <a:p>
            <a:pPr algn="just"/>
            <a:endParaRPr lang="en-US" sz="2000" b="1" i="0" dirty="0">
              <a:solidFill>
                <a:srgbClr val="212529"/>
              </a:solidFill>
              <a:effectLst/>
              <a:latin typeface="system-ui"/>
            </a:endParaRPr>
          </a:p>
          <a:p>
            <a:pPr marL="285750" indent="-285750" algn="just">
              <a:buFont typeface="Arial" panose="020B0604020202020204" pitchFamily="34" charset="0"/>
              <a:buChar char="•"/>
            </a:pPr>
            <a:r>
              <a:rPr lang="en-US" sz="2000" b="1" i="0" dirty="0">
                <a:solidFill>
                  <a:srgbClr val="212529"/>
                </a:solidFill>
                <a:effectLst/>
                <a:latin typeface="system-ui"/>
              </a:rPr>
              <a:t>By understanding these elements, organizations can create better work environments, improve employee satisfaction and performance, and achieve organizational goals more effectively.</a:t>
            </a:r>
            <a:endParaRPr lang="en-IN" sz="2000" dirty="0"/>
          </a:p>
        </p:txBody>
      </p:sp>
      <p:pic>
        <p:nvPicPr>
          <p:cNvPr id="13" name="Picture 12">
            <a:extLst>
              <a:ext uri="{FF2B5EF4-FFF2-40B4-BE49-F238E27FC236}">
                <a16:creationId xmlns:a16="http://schemas.microsoft.com/office/drawing/2014/main" id="{75CD3C01-D921-6B15-3D13-67DB03823024}"/>
              </a:ext>
            </a:extLst>
          </p:cNvPr>
          <p:cNvPicPr>
            <a:picLocks noChangeAspect="1"/>
          </p:cNvPicPr>
          <p:nvPr/>
        </p:nvPicPr>
        <p:blipFill>
          <a:blip r:embed="rId4"/>
          <a:stretch>
            <a:fillRect/>
          </a:stretch>
        </p:blipFill>
        <p:spPr>
          <a:xfrm>
            <a:off x="5850193" y="2467191"/>
            <a:ext cx="5896895" cy="4404766"/>
          </a:xfrm>
          <a:prstGeom prst="rect">
            <a:avLst/>
          </a:prstGeom>
          <a:ln>
            <a:solidFill>
              <a:schemeClr val="accent1"/>
            </a:solidFill>
          </a:ln>
        </p:spPr>
      </p:pic>
    </p:spTree>
    <p:extLst>
      <p:ext uri="{BB962C8B-B14F-4D97-AF65-F5344CB8AC3E}">
        <p14:creationId xmlns:p14="http://schemas.microsoft.com/office/powerpoint/2010/main" val="208349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02B9E-AEC7-C6B0-6A8C-6749400C9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34EA3-015A-695F-DB40-153236730245}"/>
              </a:ext>
            </a:extLst>
          </p:cNvPr>
          <p:cNvSpPr>
            <a:spLocks noGrp="1"/>
          </p:cNvSpPr>
          <p:nvPr>
            <p:ph type="title"/>
          </p:nvPr>
        </p:nvSpPr>
        <p:spPr>
          <a:xfrm>
            <a:off x="226142" y="136269"/>
            <a:ext cx="11353800" cy="768299"/>
          </a:xfrm>
        </p:spPr>
        <p:txBody>
          <a:bodyPr/>
          <a:lstStyle/>
          <a:p>
            <a:r>
              <a:rPr lang="en-IN" sz="3600" b="1" dirty="0">
                <a:solidFill>
                  <a:schemeClr val="accent1"/>
                </a:solidFill>
                <a:latin typeface="Bookman Old Style" panose="02050604050505020204" pitchFamily="18" charset="0"/>
              </a:rPr>
              <a:t>Scope of OB</a:t>
            </a:r>
          </a:p>
        </p:txBody>
      </p:sp>
      <p:sp>
        <p:nvSpPr>
          <p:cNvPr id="3" name="Content Placeholder 2">
            <a:extLst>
              <a:ext uri="{FF2B5EF4-FFF2-40B4-BE49-F238E27FC236}">
                <a16:creationId xmlns:a16="http://schemas.microsoft.com/office/drawing/2014/main" id="{4C0DCB48-ABC6-E1DC-89E1-C8F23F12AE0C}"/>
              </a:ext>
            </a:extLst>
          </p:cNvPr>
          <p:cNvSpPr>
            <a:spLocks noGrp="1"/>
          </p:cNvSpPr>
          <p:nvPr>
            <p:ph idx="1"/>
          </p:nvPr>
        </p:nvSpPr>
        <p:spPr>
          <a:xfrm>
            <a:off x="226142" y="1022555"/>
            <a:ext cx="11749547" cy="5388077"/>
          </a:xfrm>
        </p:spPr>
        <p:txBody>
          <a:bodyPr>
            <a:normAutofit lnSpcReduction="10000"/>
          </a:bodyPr>
          <a:lstStyle/>
          <a:p>
            <a:pPr algn="just"/>
            <a:r>
              <a:rPr lang="en-US" b="1" i="0" dirty="0">
                <a:solidFill>
                  <a:srgbClr val="FF0000"/>
                </a:solidFill>
                <a:effectLst/>
                <a:latin typeface="system-ui"/>
              </a:rPr>
              <a:t>Individual Behavior</a:t>
            </a:r>
            <a:endParaRPr lang="en-US" b="0" i="0" dirty="0">
              <a:solidFill>
                <a:srgbClr val="FF0000"/>
              </a:solidFill>
              <a:effectLst/>
              <a:latin typeface="system-ui"/>
            </a:endParaRPr>
          </a:p>
          <a:p>
            <a:pPr lvl="1" algn="just"/>
            <a:r>
              <a:rPr lang="en-US" b="1" i="0" dirty="0">
                <a:solidFill>
                  <a:srgbClr val="212529"/>
                </a:solidFill>
                <a:effectLst/>
                <a:latin typeface="system-ui"/>
              </a:rPr>
              <a:t>Personality</a:t>
            </a:r>
            <a:r>
              <a:rPr lang="en-US" b="0" i="0" dirty="0">
                <a:solidFill>
                  <a:srgbClr val="212529"/>
                </a:solidFill>
                <a:effectLst/>
                <a:latin typeface="system-ui"/>
              </a:rPr>
              <a:t>: Examines how </a:t>
            </a:r>
            <a:r>
              <a:rPr lang="en-US" b="0" i="0" dirty="0">
                <a:solidFill>
                  <a:srgbClr val="FF0000"/>
                </a:solidFill>
                <a:effectLst/>
                <a:latin typeface="system-ui"/>
              </a:rPr>
              <a:t>individual traits and characteristics </a:t>
            </a:r>
            <a:r>
              <a:rPr lang="en-US" b="0" i="0" dirty="0">
                <a:solidFill>
                  <a:srgbClr val="212529"/>
                </a:solidFill>
                <a:effectLst/>
                <a:latin typeface="system-ui"/>
              </a:rPr>
              <a:t>influence behavior at work.</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Attitudes and Job Satisfaction</a:t>
            </a:r>
            <a:r>
              <a:rPr lang="en-US" b="0" i="0" dirty="0">
                <a:solidFill>
                  <a:srgbClr val="212529"/>
                </a:solidFill>
                <a:effectLst/>
                <a:latin typeface="system-ui"/>
              </a:rPr>
              <a:t>: Studies how </a:t>
            </a:r>
            <a:r>
              <a:rPr lang="en-US" b="0" i="0" dirty="0">
                <a:solidFill>
                  <a:srgbClr val="FF0000"/>
                </a:solidFill>
                <a:effectLst/>
                <a:latin typeface="system-ui"/>
              </a:rPr>
              <a:t>employee attitudes</a:t>
            </a:r>
            <a:r>
              <a:rPr lang="en-US" b="0" i="0" dirty="0">
                <a:solidFill>
                  <a:srgbClr val="212529"/>
                </a:solidFill>
                <a:effectLst/>
                <a:latin typeface="system-ui"/>
              </a:rPr>
              <a:t> (e.g., job satisfaction, organizational commitment) affect performance and retention.</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Perception</a:t>
            </a:r>
            <a:r>
              <a:rPr lang="en-US" b="0" i="0" dirty="0">
                <a:solidFill>
                  <a:srgbClr val="212529"/>
                </a:solidFill>
                <a:effectLst/>
                <a:latin typeface="system-ui"/>
              </a:rPr>
              <a:t>: Looks at how individuals </a:t>
            </a:r>
            <a:r>
              <a:rPr lang="en-US" b="0" i="0" dirty="0">
                <a:solidFill>
                  <a:srgbClr val="FF0000"/>
                </a:solidFill>
                <a:effectLst/>
                <a:latin typeface="system-ui"/>
              </a:rPr>
              <a:t>interpret their environment </a:t>
            </a:r>
            <a:r>
              <a:rPr lang="en-US" b="0" i="0" dirty="0">
                <a:solidFill>
                  <a:srgbClr val="212529"/>
                </a:solidFill>
                <a:effectLst/>
                <a:latin typeface="system-ui"/>
              </a:rPr>
              <a:t>and the impact this has on their work behavior.</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Learning and Development</a:t>
            </a:r>
            <a:r>
              <a:rPr lang="en-US" b="0" i="0" dirty="0">
                <a:solidFill>
                  <a:srgbClr val="212529"/>
                </a:solidFill>
                <a:effectLst/>
                <a:latin typeface="system-ui"/>
              </a:rPr>
              <a:t>: Focuses on how employees </a:t>
            </a:r>
            <a:r>
              <a:rPr lang="en-US" b="0" i="0" dirty="0">
                <a:solidFill>
                  <a:srgbClr val="FF0000"/>
                </a:solidFill>
                <a:effectLst/>
                <a:latin typeface="system-ui"/>
              </a:rPr>
              <a:t>acquire skills and knowledge </a:t>
            </a:r>
            <a:r>
              <a:rPr lang="en-US" b="0" i="0" dirty="0">
                <a:solidFill>
                  <a:srgbClr val="212529"/>
                </a:solidFill>
                <a:effectLst/>
                <a:latin typeface="system-ui"/>
              </a:rPr>
              <a:t>and the effect of training and development on performance.</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Motivation</a:t>
            </a:r>
            <a:r>
              <a:rPr lang="en-US" b="0" i="0" dirty="0">
                <a:solidFill>
                  <a:srgbClr val="212529"/>
                </a:solidFill>
                <a:effectLst/>
                <a:latin typeface="system-ui"/>
              </a:rPr>
              <a:t>: Analyzes </a:t>
            </a:r>
            <a:r>
              <a:rPr lang="en-US" b="0" i="0" dirty="0">
                <a:solidFill>
                  <a:srgbClr val="FF0000"/>
                </a:solidFill>
                <a:effectLst/>
                <a:latin typeface="system-ui"/>
              </a:rPr>
              <a:t>what drives individuals to work towards goals </a:t>
            </a:r>
            <a:r>
              <a:rPr lang="en-US" b="0" i="0" dirty="0">
                <a:solidFill>
                  <a:srgbClr val="212529"/>
                </a:solidFill>
                <a:effectLst/>
                <a:latin typeface="system-ui"/>
              </a:rPr>
              <a:t>and how motivational theories can be applied to enhance performance.</a:t>
            </a:r>
            <a:endParaRPr lang="en-IN" dirty="0"/>
          </a:p>
        </p:txBody>
      </p:sp>
    </p:spTree>
    <p:extLst>
      <p:ext uri="{BB962C8B-B14F-4D97-AF65-F5344CB8AC3E}">
        <p14:creationId xmlns:p14="http://schemas.microsoft.com/office/powerpoint/2010/main" val="67887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504F-4181-F37F-DB43-D48A8CD43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134C8-6EAE-31A6-E82A-1E1E0967C4BB}"/>
              </a:ext>
            </a:extLst>
          </p:cNvPr>
          <p:cNvSpPr>
            <a:spLocks noGrp="1"/>
          </p:cNvSpPr>
          <p:nvPr>
            <p:ph type="title"/>
          </p:nvPr>
        </p:nvSpPr>
        <p:spPr>
          <a:xfrm>
            <a:off x="216311" y="0"/>
            <a:ext cx="11353800" cy="620816"/>
          </a:xfrm>
        </p:spPr>
        <p:txBody>
          <a:bodyPr/>
          <a:lstStyle/>
          <a:p>
            <a:r>
              <a:rPr lang="en-IN" sz="3600" b="1" dirty="0">
                <a:solidFill>
                  <a:schemeClr val="accent1"/>
                </a:solidFill>
                <a:latin typeface="Bookman Old Style" panose="02050604050505020204" pitchFamily="18" charset="0"/>
              </a:rPr>
              <a:t>Scope of OB</a:t>
            </a:r>
          </a:p>
        </p:txBody>
      </p:sp>
      <p:sp>
        <p:nvSpPr>
          <p:cNvPr id="3" name="Content Placeholder 2">
            <a:extLst>
              <a:ext uri="{FF2B5EF4-FFF2-40B4-BE49-F238E27FC236}">
                <a16:creationId xmlns:a16="http://schemas.microsoft.com/office/drawing/2014/main" id="{9B3F2E0B-1A0D-C237-E4EC-54C0525F02FC}"/>
              </a:ext>
            </a:extLst>
          </p:cNvPr>
          <p:cNvSpPr>
            <a:spLocks noGrp="1"/>
          </p:cNvSpPr>
          <p:nvPr>
            <p:ph idx="1"/>
          </p:nvPr>
        </p:nvSpPr>
        <p:spPr>
          <a:xfrm>
            <a:off x="226142" y="757085"/>
            <a:ext cx="11749547" cy="5964646"/>
          </a:xfrm>
        </p:spPr>
        <p:txBody>
          <a:bodyPr>
            <a:normAutofit fontScale="92500" lnSpcReduction="10000"/>
          </a:bodyPr>
          <a:lstStyle/>
          <a:p>
            <a:pPr algn="just"/>
            <a:r>
              <a:rPr lang="en-US" b="1" i="0" dirty="0">
                <a:solidFill>
                  <a:srgbClr val="FF0000"/>
                </a:solidFill>
                <a:effectLst/>
                <a:latin typeface="system-ui"/>
              </a:rPr>
              <a:t>Group Behavior</a:t>
            </a:r>
          </a:p>
          <a:p>
            <a:pPr lvl="1" algn="just"/>
            <a:r>
              <a:rPr lang="en-US" b="1" i="0" dirty="0">
                <a:solidFill>
                  <a:srgbClr val="212529"/>
                </a:solidFill>
                <a:effectLst/>
                <a:latin typeface="system-ui"/>
              </a:rPr>
              <a:t>Group Dynamics</a:t>
            </a:r>
            <a:r>
              <a:rPr lang="en-US" b="0" i="0" dirty="0">
                <a:solidFill>
                  <a:srgbClr val="212529"/>
                </a:solidFill>
                <a:effectLst/>
                <a:latin typeface="system-ui"/>
              </a:rPr>
              <a:t>: Investigates how </a:t>
            </a:r>
            <a:r>
              <a:rPr lang="en-US" b="0" i="0" dirty="0">
                <a:solidFill>
                  <a:srgbClr val="FF0000"/>
                </a:solidFill>
                <a:effectLst/>
                <a:latin typeface="system-ui"/>
              </a:rPr>
              <a:t>people behave in groups</a:t>
            </a:r>
            <a:r>
              <a:rPr lang="en-US" b="0" i="0" dirty="0">
                <a:solidFill>
                  <a:srgbClr val="212529"/>
                </a:solidFill>
                <a:effectLst/>
                <a:latin typeface="system-ui"/>
              </a:rPr>
              <a:t>, including the formation of groups, group cohesion, roles, and norms.</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Teamwork</a:t>
            </a:r>
            <a:r>
              <a:rPr lang="en-US" b="0" i="0" dirty="0">
                <a:solidFill>
                  <a:srgbClr val="212529"/>
                </a:solidFill>
                <a:effectLst/>
                <a:latin typeface="system-ui"/>
              </a:rPr>
              <a:t>: Studies how teams are formed, how they function, and how </a:t>
            </a:r>
            <a:r>
              <a:rPr lang="en-US" b="0" i="0" dirty="0">
                <a:solidFill>
                  <a:srgbClr val="FF0000"/>
                </a:solidFill>
                <a:effectLst/>
                <a:latin typeface="system-ui"/>
              </a:rPr>
              <a:t>team performance </a:t>
            </a:r>
            <a:r>
              <a:rPr lang="en-US" b="0" i="0" dirty="0">
                <a:solidFill>
                  <a:srgbClr val="212529"/>
                </a:solidFill>
                <a:effectLst/>
                <a:latin typeface="system-ui"/>
              </a:rPr>
              <a:t>can be improved.</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Communication</a:t>
            </a:r>
            <a:r>
              <a:rPr lang="en-US" b="0" i="0" dirty="0">
                <a:solidFill>
                  <a:srgbClr val="212529"/>
                </a:solidFill>
                <a:effectLst/>
                <a:latin typeface="system-ui"/>
              </a:rPr>
              <a:t>: Explores the processes of </a:t>
            </a:r>
            <a:r>
              <a:rPr lang="en-US" b="0" i="0" dirty="0">
                <a:solidFill>
                  <a:srgbClr val="FF0000"/>
                </a:solidFill>
                <a:effectLst/>
                <a:latin typeface="system-ui"/>
              </a:rPr>
              <a:t>communication within groups </a:t>
            </a:r>
            <a:r>
              <a:rPr lang="en-US" b="0" i="0" dirty="0">
                <a:solidFill>
                  <a:srgbClr val="212529"/>
                </a:solidFill>
                <a:effectLst/>
                <a:latin typeface="system-ui"/>
              </a:rPr>
              <a:t>and the barriers to effective communication.</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Leadership</a:t>
            </a:r>
            <a:r>
              <a:rPr lang="en-US" b="0" i="0" dirty="0">
                <a:solidFill>
                  <a:srgbClr val="212529"/>
                </a:solidFill>
                <a:effectLst/>
                <a:latin typeface="system-ui"/>
              </a:rPr>
              <a:t>: Examines </a:t>
            </a:r>
            <a:r>
              <a:rPr lang="en-US" b="0" i="0" dirty="0">
                <a:solidFill>
                  <a:srgbClr val="FF0000"/>
                </a:solidFill>
                <a:effectLst/>
                <a:latin typeface="system-ui"/>
              </a:rPr>
              <a:t>different leadership styles </a:t>
            </a:r>
            <a:r>
              <a:rPr lang="en-US" b="0" i="0" dirty="0">
                <a:solidFill>
                  <a:srgbClr val="212529"/>
                </a:solidFill>
                <a:effectLst/>
                <a:latin typeface="system-ui"/>
              </a:rPr>
              <a:t>and their impact on group behavior and performance.</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Power and Politics</a:t>
            </a:r>
            <a:r>
              <a:rPr lang="en-US" b="0" i="0" dirty="0">
                <a:solidFill>
                  <a:srgbClr val="212529"/>
                </a:solidFill>
                <a:effectLst/>
                <a:latin typeface="system-ui"/>
              </a:rPr>
              <a:t>: Looks at how </a:t>
            </a:r>
            <a:r>
              <a:rPr lang="en-US" b="0" i="0" dirty="0">
                <a:solidFill>
                  <a:srgbClr val="FF0000"/>
                </a:solidFill>
                <a:effectLst/>
                <a:latin typeface="system-ui"/>
              </a:rPr>
              <a:t>power dynamics and political behavior </a:t>
            </a:r>
            <a:r>
              <a:rPr lang="en-US" b="0" i="0" dirty="0">
                <a:solidFill>
                  <a:srgbClr val="212529"/>
                </a:solidFill>
                <a:effectLst/>
                <a:latin typeface="system-ui"/>
              </a:rPr>
              <a:t>influence decision-making and relationships within groups.</a:t>
            </a:r>
          </a:p>
          <a:p>
            <a:pPr lvl="1" algn="just"/>
            <a:endParaRPr lang="en-US" b="0" i="0" dirty="0">
              <a:solidFill>
                <a:srgbClr val="212529"/>
              </a:solidFill>
              <a:effectLst/>
              <a:latin typeface="system-ui"/>
            </a:endParaRPr>
          </a:p>
          <a:p>
            <a:pPr lvl="1" algn="just"/>
            <a:r>
              <a:rPr lang="en-US" b="1" i="0" dirty="0">
                <a:solidFill>
                  <a:srgbClr val="212529"/>
                </a:solidFill>
                <a:effectLst/>
                <a:latin typeface="system-ui"/>
              </a:rPr>
              <a:t>Conflict and Negotiation</a:t>
            </a:r>
            <a:r>
              <a:rPr lang="en-US" b="0" i="0" dirty="0">
                <a:solidFill>
                  <a:srgbClr val="212529"/>
                </a:solidFill>
                <a:effectLst/>
                <a:latin typeface="system-ui"/>
              </a:rPr>
              <a:t>: Studies the </a:t>
            </a:r>
            <a:r>
              <a:rPr lang="en-US" b="0" i="0" dirty="0">
                <a:solidFill>
                  <a:srgbClr val="FF0000"/>
                </a:solidFill>
                <a:effectLst/>
                <a:latin typeface="system-ui"/>
              </a:rPr>
              <a:t>sources of conflict </a:t>
            </a:r>
            <a:r>
              <a:rPr lang="en-US" b="0" i="0" dirty="0">
                <a:solidFill>
                  <a:srgbClr val="212529"/>
                </a:solidFill>
                <a:effectLst/>
                <a:latin typeface="system-ui"/>
              </a:rPr>
              <a:t>within groups and </a:t>
            </a:r>
            <a:r>
              <a:rPr lang="en-US" b="0" i="0" dirty="0">
                <a:solidFill>
                  <a:srgbClr val="FF0000"/>
                </a:solidFill>
                <a:effectLst/>
                <a:latin typeface="system-ui"/>
              </a:rPr>
              <a:t>strategies f</a:t>
            </a:r>
            <a:r>
              <a:rPr lang="en-US" b="0" i="0" dirty="0">
                <a:solidFill>
                  <a:srgbClr val="212529"/>
                </a:solidFill>
                <a:effectLst/>
                <a:latin typeface="system-ui"/>
              </a:rPr>
              <a:t>or conflict resolution and negotiation.</a:t>
            </a:r>
          </a:p>
        </p:txBody>
      </p:sp>
    </p:spTree>
    <p:extLst>
      <p:ext uri="{BB962C8B-B14F-4D97-AF65-F5344CB8AC3E}">
        <p14:creationId xmlns:p14="http://schemas.microsoft.com/office/powerpoint/2010/main" val="312652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5E9D-6A5B-2B9E-D5FB-174DCDA09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110AA-37FD-C779-8527-E8AD0C314ACC}"/>
              </a:ext>
            </a:extLst>
          </p:cNvPr>
          <p:cNvSpPr>
            <a:spLocks noGrp="1"/>
          </p:cNvSpPr>
          <p:nvPr>
            <p:ph type="title"/>
          </p:nvPr>
        </p:nvSpPr>
        <p:spPr>
          <a:xfrm>
            <a:off x="216311" y="0"/>
            <a:ext cx="11353800" cy="620816"/>
          </a:xfrm>
        </p:spPr>
        <p:txBody>
          <a:bodyPr/>
          <a:lstStyle/>
          <a:p>
            <a:r>
              <a:rPr lang="en-IN" sz="3600" b="1" dirty="0">
                <a:solidFill>
                  <a:schemeClr val="accent1"/>
                </a:solidFill>
                <a:latin typeface="Bookman Old Style" panose="02050604050505020204" pitchFamily="18" charset="0"/>
              </a:rPr>
              <a:t>Scope of OB</a:t>
            </a:r>
          </a:p>
        </p:txBody>
      </p:sp>
      <p:sp>
        <p:nvSpPr>
          <p:cNvPr id="3" name="Content Placeholder 2">
            <a:extLst>
              <a:ext uri="{FF2B5EF4-FFF2-40B4-BE49-F238E27FC236}">
                <a16:creationId xmlns:a16="http://schemas.microsoft.com/office/drawing/2014/main" id="{C6D6622F-346A-F4AA-73C8-5AF51A5E8152}"/>
              </a:ext>
            </a:extLst>
          </p:cNvPr>
          <p:cNvSpPr>
            <a:spLocks noGrp="1"/>
          </p:cNvSpPr>
          <p:nvPr>
            <p:ph idx="1"/>
          </p:nvPr>
        </p:nvSpPr>
        <p:spPr>
          <a:xfrm>
            <a:off x="88490" y="757084"/>
            <a:ext cx="12034684" cy="6100915"/>
          </a:xfrm>
        </p:spPr>
        <p:txBody>
          <a:bodyPr>
            <a:normAutofit fontScale="92500" lnSpcReduction="10000"/>
          </a:bodyPr>
          <a:lstStyle/>
          <a:p>
            <a:pPr algn="just"/>
            <a:r>
              <a:rPr lang="en-US" b="1" dirty="0">
                <a:solidFill>
                  <a:srgbClr val="FF0000"/>
                </a:solidFill>
                <a:latin typeface="system-ui"/>
              </a:rPr>
              <a:t>Organizational Structure</a:t>
            </a:r>
            <a:endParaRPr lang="en-US" dirty="0">
              <a:solidFill>
                <a:srgbClr val="FF0000"/>
              </a:solidFill>
              <a:latin typeface="system-ui"/>
            </a:endParaRPr>
          </a:p>
          <a:p>
            <a:pPr lvl="1" algn="just"/>
            <a:r>
              <a:rPr lang="en-US" b="1" dirty="0">
                <a:solidFill>
                  <a:srgbClr val="212529"/>
                </a:solidFill>
                <a:latin typeface="system-ui"/>
              </a:rPr>
              <a:t>Organizational Design</a:t>
            </a:r>
            <a:r>
              <a:rPr lang="en-US" dirty="0">
                <a:solidFill>
                  <a:srgbClr val="212529"/>
                </a:solidFill>
                <a:latin typeface="system-ui"/>
              </a:rPr>
              <a:t>: Investigates different </a:t>
            </a:r>
            <a:r>
              <a:rPr lang="en-US" dirty="0">
                <a:solidFill>
                  <a:srgbClr val="FF0000"/>
                </a:solidFill>
                <a:latin typeface="system-ui"/>
              </a:rPr>
              <a:t>types of organizational structures </a:t>
            </a:r>
            <a:r>
              <a:rPr lang="en-US" dirty="0">
                <a:solidFill>
                  <a:srgbClr val="212529"/>
                </a:solidFill>
                <a:latin typeface="system-ui"/>
              </a:rPr>
              <a:t>(e.g., hierarchical, flat, matrix) and their impact on behavior</a:t>
            </a:r>
          </a:p>
          <a:p>
            <a:pPr lvl="1" algn="just"/>
            <a:endParaRPr lang="en-US" dirty="0">
              <a:solidFill>
                <a:srgbClr val="212529"/>
              </a:solidFill>
              <a:latin typeface="system-ui"/>
            </a:endParaRPr>
          </a:p>
          <a:p>
            <a:pPr lvl="1" algn="just"/>
            <a:r>
              <a:rPr lang="en-US" b="1" dirty="0">
                <a:solidFill>
                  <a:srgbClr val="212529"/>
                </a:solidFill>
                <a:latin typeface="system-ui"/>
              </a:rPr>
              <a:t>Work Processes</a:t>
            </a:r>
            <a:r>
              <a:rPr lang="en-US" dirty="0">
                <a:solidFill>
                  <a:srgbClr val="212529"/>
                </a:solidFill>
                <a:latin typeface="system-ui"/>
              </a:rPr>
              <a:t>: Examines how </a:t>
            </a:r>
            <a:r>
              <a:rPr lang="en-US" dirty="0">
                <a:solidFill>
                  <a:srgbClr val="FF0000"/>
                </a:solidFill>
                <a:latin typeface="system-ui"/>
              </a:rPr>
              <a:t>tasks and workflows are organized </a:t>
            </a:r>
            <a:r>
              <a:rPr lang="en-US" dirty="0">
                <a:solidFill>
                  <a:srgbClr val="212529"/>
                </a:solidFill>
                <a:latin typeface="system-ui"/>
              </a:rPr>
              <a:t>and their impact on efficiency and effectiveness</a:t>
            </a:r>
          </a:p>
          <a:p>
            <a:pPr lvl="1" algn="just"/>
            <a:endParaRPr lang="en-US" dirty="0">
              <a:solidFill>
                <a:srgbClr val="212529"/>
              </a:solidFill>
              <a:latin typeface="system-ui"/>
            </a:endParaRPr>
          </a:p>
          <a:p>
            <a:pPr lvl="1" algn="just"/>
            <a:r>
              <a:rPr lang="en-US" b="1" dirty="0">
                <a:solidFill>
                  <a:srgbClr val="212529"/>
                </a:solidFill>
                <a:latin typeface="system-ui"/>
              </a:rPr>
              <a:t>Roles and Responsibilities</a:t>
            </a:r>
            <a:r>
              <a:rPr lang="en-US" dirty="0">
                <a:solidFill>
                  <a:srgbClr val="212529"/>
                </a:solidFill>
                <a:latin typeface="system-ui"/>
              </a:rPr>
              <a:t>: Defines how roles and responsibilities are distributed within the organization and </a:t>
            </a:r>
            <a:r>
              <a:rPr lang="en-US" dirty="0">
                <a:solidFill>
                  <a:srgbClr val="FF0000"/>
                </a:solidFill>
                <a:latin typeface="system-ui"/>
              </a:rPr>
              <a:t>their effect on behavior and performance</a:t>
            </a:r>
          </a:p>
          <a:p>
            <a:r>
              <a:rPr lang="en-US" b="1" dirty="0">
                <a:solidFill>
                  <a:srgbClr val="FF0000"/>
                </a:solidFill>
              </a:rPr>
              <a:t>Organizational Culture</a:t>
            </a:r>
          </a:p>
          <a:p>
            <a:pPr lvl="1" algn="just"/>
            <a:r>
              <a:rPr lang="en-US" b="1" dirty="0"/>
              <a:t>Values and Beliefs</a:t>
            </a:r>
            <a:r>
              <a:rPr lang="en-US" dirty="0"/>
              <a:t>: Studies the </a:t>
            </a:r>
            <a:r>
              <a:rPr lang="en-US" dirty="0">
                <a:solidFill>
                  <a:srgbClr val="FF0000"/>
                </a:solidFill>
              </a:rPr>
              <a:t>core values and beliefs </a:t>
            </a:r>
            <a:r>
              <a:rPr lang="en-US" dirty="0"/>
              <a:t>that shape organizational culture and behavior</a:t>
            </a:r>
          </a:p>
          <a:p>
            <a:pPr lvl="1" algn="just"/>
            <a:endParaRPr lang="en-US" dirty="0"/>
          </a:p>
          <a:p>
            <a:pPr lvl="1" algn="just"/>
            <a:r>
              <a:rPr lang="en-US" b="1" dirty="0"/>
              <a:t>Norms and Practices</a:t>
            </a:r>
            <a:r>
              <a:rPr lang="en-US" dirty="0"/>
              <a:t>: Looks at the </a:t>
            </a:r>
            <a:r>
              <a:rPr lang="en-US" dirty="0">
                <a:solidFill>
                  <a:srgbClr val="FF0000"/>
                </a:solidFill>
              </a:rPr>
              <a:t>unwritten rules and standard practices</a:t>
            </a:r>
            <a:r>
              <a:rPr lang="en-US" dirty="0"/>
              <a:t> that influence how work is done</a:t>
            </a:r>
          </a:p>
          <a:p>
            <a:pPr lvl="1" algn="just"/>
            <a:endParaRPr lang="en-US" dirty="0"/>
          </a:p>
          <a:p>
            <a:pPr lvl="1" algn="just"/>
            <a:r>
              <a:rPr lang="en-US" b="1" dirty="0"/>
              <a:t>Cultural Change</a:t>
            </a:r>
            <a:r>
              <a:rPr lang="en-US" dirty="0"/>
              <a:t>: Explores how </a:t>
            </a:r>
            <a:r>
              <a:rPr lang="en-US" dirty="0">
                <a:solidFill>
                  <a:srgbClr val="FF0000"/>
                </a:solidFill>
              </a:rPr>
              <a:t>organizational culture evolves over time</a:t>
            </a:r>
            <a:r>
              <a:rPr lang="en-US" dirty="0"/>
              <a:t> and how it can be managed or changed</a:t>
            </a:r>
            <a:endParaRPr lang="en-US" dirty="0">
              <a:solidFill>
                <a:srgbClr val="212529"/>
              </a:solidFill>
              <a:latin typeface="system-ui"/>
            </a:endParaRPr>
          </a:p>
        </p:txBody>
      </p:sp>
    </p:spTree>
    <p:extLst>
      <p:ext uri="{BB962C8B-B14F-4D97-AF65-F5344CB8AC3E}">
        <p14:creationId xmlns:p14="http://schemas.microsoft.com/office/powerpoint/2010/main" val="39895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7FCF-AE9B-4001-9DBC-D14D3E3AF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B1738-F892-95B7-2188-DB750DD867F3}"/>
              </a:ext>
            </a:extLst>
          </p:cNvPr>
          <p:cNvSpPr>
            <a:spLocks noGrp="1"/>
          </p:cNvSpPr>
          <p:nvPr>
            <p:ph type="title"/>
          </p:nvPr>
        </p:nvSpPr>
        <p:spPr>
          <a:xfrm>
            <a:off x="216311" y="0"/>
            <a:ext cx="11353800" cy="620816"/>
          </a:xfrm>
        </p:spPr>
        <p:txBody>
          <a:bodyPr/>
          <a:lstStyle/>
          <a:p>
            <a:r>
              <a:rPr lang="en-IN" sz="3600" b="1" dirty="0">
                <a:solidFill>
                  <a:schemeClr val="accent1"/>
                </a:solidFill>
                <a:latin typeface="Bookman Old Style" panose="02050604050505020204" pitchFamily="18" charset="0"/>
              </a:rPr>
              <a:t>Scope of OB</a:t>
            </a:r>
          </a:p>
        </p:txBody>
      </p:sp>
      <p:sp>
        <p:nvSpPr>
          <p:cNvPr id="3" name="Content Placeholder 2">
            <a:extLst>
              <a:ext uri="{FF2B5EF4-FFF2-40B4-BE49-F238E27FC236}">
                <a16:creationId xmlns:a16="http://schemas.microsoft.com/office/drawing/2014/main" id="{CF030679-C239-4C5B-2C7C-E05A037804C1}"/>
              </a:ext>
            </a:extLst>
          </p:cNvPr>
          <p:cNvSpPr>
            <a:spLocks noGrp="1"/>
          </p:cNvSpPr>
          <p:nvPr>
            <p:ph idx="1"/>
          </p:nvPr>
        </p:nvSpPr>
        <p:spPr>
          <a:xfrm>
            <a:off x="226142" y="757085"/>
            <a:ext cx="11749547" cy="5964646"/>
          </a:xfrm>
        </p:spPr>
        <p:txBody>
          <a:bodyPr>
            <a:normAutofit/>
          </a:bodyPr>
          <a:lstStyle/>
          <a:p>
            <a:pPr algn="just"/>
            <a:r>
              <a:rPr lang="en-US" b="1" dirty="0">
                <a:solidFill>
                  <a:srgbClr val="FF0000"/>
                </a:solidFill>
              </a:rPr>
              <a:t>Change Management</a:t>
            </a:r>
          </a:p>
          <a:p>
            <a:pPr marL="0" indent="0" algn="just">
              <a:buNone/>
            </a:pPr>
            <a:endParaRPr lang="en-US" dirty="0">
              <a:solidFill>
                <a:srgbClr val="FF0000"/>
              </a:solidFill>
            </a:endParaRPr>
          </a:p>
          <a:p>
            <a:pPr lvl="1" algn="just"/>
            <a:r>
              <a:rPr lang="en-US" b="1" dirty="0"/>
              <a:t>Change Processes</a:t>
            </a:r>
            <a:r>
              <a:rPr lang="en-US" dirty="0"/>
              <a:t>: Studies the </a:t>
            </a:r>
            <a:r>
              <a:rPr lang="en-US" b="1" dirty="0">
                <a:solidFill>
                  <a:srgbClr val="FF0000"/>
                </a:solidFill>
              </a:rPr>
              <a:t>processes and stages of organizational change </a:t>
            </a:r>
            <a:r>
              <a:rPr lang="en-US" dirty="0"/>
              <a:t>and how to manage them effectively</a:t>
            </a:r>
          </a:p>
          <a:p>
            <a:pPr lvl="1" algn="just"/>
            <a:endParaRPr lang="en-US" dirty="0"/>
          </a:p>
          <a:p>
            <a:pPr lvl="1" algn="just"/>
            <a:r>
              <a:rPr lang="en-US" b="1" dirty="0"/>
              <a:t>Resistance to Change</a:t>
            </a:r>
            <a:r>
              <a:rPr lang="en-US" dirty="0"/>
              <a:t>: Looks at </a:t>
            </a:r>
            <a:r>
              <a:rPr lang="en-US" b="1" dirty="0">
                <a:solidFill>
                  <a:srgbClr val="FF0000"/>
                </a:solidFill>
              </a:rPr>
              <a:t>why employees resist change </a:t>
            </a:r>
            <a:r>
              <a:rPr lang="en-US" dirty="0"/>
              <a:t>and strategies to overcome resistance</a:t>
            </a:r>
          </a:p>
          <a:p>
            <a:pPr lvl="1" algn="just"/>
            <a:endParaRPr lang="en-US" dirty="0"/>
          </a:p>
          <a:p>
            <a:pPr lvl="1" algn="just"/>
            <a:r>
              <a:rPr lang="en-US" b="1" dirty="0"/>
              <a:t>Innovation</a:t>
            </a:r>
            <a:r>
              <a:rPr lang="en-US" dirty="0"/>
              <a:t>: Examines how organizations can </a:t>
            </a:r>
            <a:r>
              <a:rPr lang="en-US" b="1" dirty="0">
                <a:solidFill>
                  <a:srgbClr val="FF0000"/>
                </a:solidFill>
              </a:rPr>
              <a:t>foster innovation and creativity</a:t>
            </a:r>
            <a:r>
              <a:rPr lang="en-US" dirty="0"/>
              <a:t> among employees</a:t>
            </a:r>
          </a:p>
          <a:p>
            <a:pPr lvl="1" algn="just"/>
            <a:endParaRPr lang="en-US" dirty="0"/>
          </a:p>
          <a:p>
            <a:pPr lvl="1" algn="just"/>
            <a:endParaRPr lang="en-US" dirty="0">
              <a:solidFill>
                <a:srgbClr val="212529"/>
              </a:solidFill>
              <a:latin typeface="system-ui"/>
            </a:endParaRPr>
          </a:p>
        </p:txBody>
      </p:sp>
    </p:spTree>
    <p:extLst>
      <p:ext uri="{BB962C8B-B14F-4D97-AF65-F5344CB8AC3E}">
        <p14:creationId xmlns:p14="http://schemas.microsoft.com/office/powerpoint/2010/main" val="157505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40B63-621F-1C95-2515-B72D93A42F30}"/>
              </a:ext>
            </a:extLst>
          </p:cNvPr>
          <p:cNvSpPr>
            <a:spLocks noGrp="1"/>
          </p:cNvSpPr>
          <p:nvPr>
            <p:ph type="title"/>
          </p:nvPr>
        </p:nvSpPr>
        <p:spPr>
          <a:xfrm>
            <a:off x="546732" y="2064108"/>
            <a:ext cx="2874895" cy="1325563"/>
          </a:xfrm>
        </p:spPr>
        <p:txBody>
          <a:bodyPr/>
          <a:lstStyle/>
          <a:p>
            <a:r>
              <a:rPr lang="en-IN" b="1" dirty="0">
                <a:solidFill>
                  <a:srgbClr val="FF0000"/>
                </a:solidFill>
              </a:rPr>
              <a:t>Diversity in Workplace</a:t>
            </a:r>
          </a:p>
        </p:txBody>
      </p:sp>
      <p:pic>
        <p:nvPicPr>
          <p:cNvPr id="7" name="Picture 6">
            <a:extLst>
              <a:ext uri="{FF2B5EF4-FFF2-40B4-BE49-F238E27FC236}">
                <a16:creationId xmlns:a16="http://schemas.microsoft.com/office/drawing/2014/main" id="{7F40B4D3-FA24-0EC7-01F0-28BC6FDD20A0}"/>
              </a:ext>
            </a:extLst>
          </p:cNvPr>
          <p:cNvPicPr>
            <a:picLocks noChangeAspect="1"/>
          </p:cNvPicPr>
          <p:nvPr/>
        </p:nvPicPr>
        <p:blipFill>
          <a:blip r:embed="rId2"/>
          <a:srcRect l="-2199" t="15832"/>
          <a:stretch/>
        </p:blipFill>
        <p:spPr>
          <a:xfrm>
            <a:off x="3421627" y="69980"/>
            <a:ext cx="8545272" cy="6796700"/>
          </a:xfrm>
          <a:prstGeom prst="rect">
            <a:avLst/>
          </a:prstGeom>
        </p:spPr>
      </p:pic>
    </p:spTree>
    <p:extLst>
      <p:ext uri="{BB962C8B-B14F-4D97-AF65-F5344CB8AC3E}">
        <p14:creationId xmlns:p14="http://schemas.microsoft.com/office/powerpoint/2010/main" val="404011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518" y="135974"/>
            <a:ext cx="10515600" cy="4351338"/>
          </a:xfrm>
        </p:spPr>
        <p:txBody>
          <a:bodyPr>
            <a:normAutofit/>
          </a:bodyPr>
          <a:lstStyle/>
          <a:p>
            <a:pPr>
              <a:buNone/>
            </a:pPr>
            <a:endParaRPr lang="en-US" sz="3600" dirty="0"/>
          </a:p>
          <a:p>
            <a:pPr>
              <a:buNone/>
            </a:pPr>
            <a:endParaRPr lang="en-US" sz="3600" dirty="0"/>
          </a:p>
          <a:p>
            <a:pPr>
              <a:buNone/>
            </a:pPr>
            <a:endParaRPr lang="en-US" sz="3600" dirty="0"/>
          </a:p>
          <a:p>
            <a:pPr algn="ctr">
              <a:buNone/>
            </a:pPr>
            <a:r>
              <a:rPr lang="en-US" sz="3600" dirty="0"/>
              <a:t>What comes to mind when you hear the word</a:t>
            </a:r>
          </a:p>
          <a:p>
            <a:pPr>
              <a:buNone/>
            </a:pPr>
            <a:endParaRPr lang="en-US" sz="3600" b="1" dirty="0"/>
          </a:p>
        </p:txBody>
      </p:sp>
      <p:sp>
        <p:nvSpPr>
          <p:cNvPr id="4" name="Rectangle 3"/>
          <p:cNvSpPr/>
          <p:nvPr/>
        </p:nvSpPr>
        <p:spPr>
          <a:xfrm>
            <a:off x="3916018" y="2676940"/>
            <a:ext cx="4038600" cy="830997"/>
          </a:xfrm>
          <a:prstGeom prst="rect">
            <a:avLst/>
          </a:prstGeom>
          <a:noFill/>
          <a:effectLst>
            <a:outerShdw blurRad="50800" dist="38100" dir="8100000" algn="tr" rotWithShape="0">
              <a:prstClr val="black">
                <a:alpha val="40000"/>
              </a:prstClr>
            </a:outerShdw>
          </a:effectLst>
        </p:spPr>
        <p:txBody>
          <a:bodyPr wrap="square" lIns="91440" tIns="45720" rIns="91440" bIns="45720">
            <a:spAutoFit/>
            <a:scene3d>
              <a:camera prst="perspectiveAbove"/>
              <a:lightRig rig="threePt" dir="t"/>
            </a:scene3d>
          </a:bodyPr>
          <a:lstStyle/>
          <a:p>
            <a:pPr algn="ctr"/>
            <a:r>
              <a:rPr lang="en-US" sz="4800" b="1" dirty="0">
                <a:ln w="1905">
                  <a:solidFill>
                    <a:srgbClr val="00B050"/>
                  </a:solidFill>
                </a:ln>
                <a:solidFill>
                  <a:schemeClr val="accent1"/>
                </a:solidFill>
                <a:effectLst>
                  <a:innerShdw blurRad="69850" dist="43180" dir="5400000">
                    <a:srgbClr val="000000">
                      <a:alpha val="65000"/>
                    </a:srgbClr>
                  </a:innerShdw>
                </a:effectLst>
              </a:rPr>
              <a:t>DIVERSITY?</a:t>
            </a:r>
          </a:p>
        </p:txBody>
      </p:sp>
      <p:sp>
        <p:nvSpPr>
          <p:cNvPr id="5" name="TextBox 4">
            <a:extLst>
              <a:ext uri="{FF2B5EF4-FFF2-40B4-BE49-F238E27FC236}">
                <a16:creationId xmlns:a16="http://schemas.microsoft.com/office/drawing/2014/main" id="{97BFC657-4BDE-958D-C16C-CB9B160DF0FA}"/>
              </a:ext>
            </a:extLst>
          </p:cNvPr>
          <p:cNvSpPr txBox="1"/>
          <p:nvPr/>
        </p:nvSpPr>
        <p:spPr>
          <a:xfrm>
            <a:off x="202096" y="3767371"/>
            <a:ext cx="11787808" cy="2954655"/>
          </a:xfrm>
          <a:prstGeom prst="rect">
            <a:avLst/>
          </a:prstGeom>
          <a:noFill/>
        </p:spPr>
        <p:txBody>
          <a:bodyPr wrap="square">
            <a:spAutoFit/>
          </a:bodyPr>
          <a:lstStyle/>
          <a:p>
            <a:pPr algn="just" fontAlgn="base"/>
            <a:r>
              <a:rPr lang="en-US" sz="2400" b="1" i="0" dirty="0">
                <a:solidFill>
                  <a:srgbClr val="FF0000"/>
                </a:solidFill>
                <a:effectLst/>
                <a:latin typeface="Montserrat" panose="00000500000000000000" pitchFamily="2" charset="0"/>
              </a:rPr>
              <a:t>India has experienced a notable 33% year-on-year increase in diversity hiring, reflecting a heightened emphasis on diversity and inclusion (D&amp;I) policies among companies.</a:t>
            </a:r>
          </a:p>
          <a:p>
            <a:pPr algn="just" fontAlgn="base"/>
            <a:br>
              <a:rPr lang="en-US" sz="2400" b="1" dirty="0">
                <a:solidFill>
                  <a:srgbClr val="FF0000"/>
                </a:solidFill>
              </a:rPr>
            </a:br>
            <a:br>
              <a:rPr lang="en-US" dirty="0"/>
            </a:br>
            <a:r>
              <a:rPr lang="en-US" b="0" i="0" dirty="0">
                <a:solidFill>
                  <a:srgbClr val="000000"/>
                </a:solidFill>
                <a:effectLst/>
                <a:latin typeface="arial" panose="020B0604020202020204" pitchFamily="34" charset="0"/>
              </a:rPr>
              <a:t>Read more at:</a:t>
            </a:r>
          </a:p>
          <a:p>
            <a:pPr algn="just" fontAlgn="base"/>
            <a:r>
              <a:rPr lang="en-US" b="0" i="0" u="none" strike="noStrike" dirty="0">
                <a:solidFill>
                  <a:srgbClr val="000000"/>
                </a:solidFill>
                <a:effectLst/>
                <a:latin typeface="arial" panose="020B0604020202020204" pitchFamily="34" charset="0"/>
                <a:hlinkClick r:id="rId4"/>
              </a:rPr>
              <a:t>https://economictimes.indiatimes.com/jobs/hr-policies-trends/india-sees-33-annual-surge-in-diversity-hiring-driven-by-bfsi-and-it-sectors/articleshow/111594298.cms?utm_source=contentofinterest&amp;utm_medium=text&amp;utm_campaign=cppst</a:t>
            </a:r>
            <a:endParaRPr lang="en-US" b="0" i="0" dirty="0">
              <a:solidFill>
                <a:srgbClr val="000000"/>
              </a:solidFill>
              <a:effectLst/>
              <a:latin typeface="arial" panose="020B060402020202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39465-E484-E524-873F-F530336B83D5}"/>
              </a:ext>
            </a:extLst>
          </p:cNvPr>
          <p:cNvSpPr>
            <a:spLocks noGrp="1"/>
          </p:cNvSpPr>
          <p:nvPr>
            <p:ph idx="1"/>
          </p:nvPr>
        </p:nvSpPr>
        <p:spPr>
          <a:xfrm>
            <a:off x="6096000" y="248479"/>
            <a:ext cx="6096000" cy="6609522"/>
          </a:xfrm>
        </p:spPr>
        <p:txBody>
          <a:bodyPr>
            <a:normAutofit/>
          </a:bodyPr>
          <a:lstStyle/>
          <a:p>
            <a:pPr algn="just"/>
            <a:r>
              <a:rPr lang="en-US" dirty="0"/>
              <a:t>Diversity means much </a:t>
            </a:r>
            <a:r>
              <a:rPr lang="en-US" b="1" dirty="0">
                <a:solidFill>
                  <a:srgbClr val="FF0000"/>
                </a:solidFill>
              </a:rPr>
              <a:t>more than ethnicity, gender, or sexual orientation</a:t>
            </a:r>
          </a:p>
          <a:p>
            <a:pPr algn="just"/>
            <a:endParaRPr lang="en-US" dirty="0"/>
          </a:p>
          <a:p>
            <a:pPr algn="just"/>
            <a:r>
              <a:rPr lang="en-US" dirty="0"/>
              <a:t>New and evolving diverse populations include a full range of ages, as well as career and geographic experiences</a:t>
            </a:r>
          </a:p>
          <a:p>
            <a:pPr algn="just"/>
            <a:endParaRPr lang="en-US" dirty="0"/>
          </a:p>
          <a:p>
            <a:pPr algn="just"/>
            <a:r>
              <a:rPr lang="en-US" dirty="0"/>
              <a:t>Organizational diversity initiatives should not simply focus </a:t>
            </a:r>
          </a:p>
          <a:p>
            <a:pPr lvl="1" algn="just"/>
            <a:r>
              <a:rPr lang="en-US" dirty="0"/>
              <a:t>On getting people of color and women in the door, </a:t>
            </a:r>
          </a:p>
          <a:p>
            <a:pPr lvl="1" algn="just"/>
            <a:r>
              <a:rPr lang="en-US" dirty="0"/>
              <a:t>But </a:t>
            </a:r>
            <a:r>
              <a:rPr lang="en-US" b="1" dirty="0">
                <a:solidFill>
                  <a:srgbClr val="FF0000"/>
                </a:solidFill>
              </a:rPr>
              <a:t>embracing an inclusive culture </a:t>
            </a:r>
            <a:r>
              <a:rPr lang="en-US" dirty="0"/>
              <a:t>to maintain these employees</a:t>
            </a:r>
            <a:endParaRPr lang="en-IN" dirty="0"/>
          </a:p>
        </p:txBody>
      </p:sp>
      <p:pic>
        <p:nvPicPr>
          <p:cNvPr id="4" name="BLOGGER_PHOTO_ID_5377362843049187410" descr="http://2.bp.blogspot.com/_FNvNjGSngTI/SqA7A-hU2FI/AAAAAAAAAA0/oFqq21Mnvtk/s400/employees_diversity_wheel.gif">
            <a:extLst>
              <a:ext uri="{FF2B5EF4-FFF2-40B4-BE49-F238E27FC236}">
                <a16:creationId xmlns:a16="http://schemas.microsoft.com/office/drawing/2014/main" id="{E5A8E552-AAD0-ABED-1850-BF4E4FD231D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8965" y="725556"/>
            <a:ext cx="5625548" cy="5406888"/>
          </a:xfrm>
          <a:prstGeom prst="rect">
            <a:avLst/>
          </a:prstGeom>
          <a:noFill/>
          <a:ln>
            <a:noFill/>
          </a:ln>
        </p:spPr>
      </p:pic>
    </p:spTree>
    <p:extLst>
      <p:ext uri="{BB962C8B-B14F-4D97-AF65-F5344CB8AC3E}">
        <p14:creationId xmlns:p14="http://schemas.microsoft.com/office/powerpoint/2010/main" val="1736352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03BC0-F00C-EA2D-E7A5-9C9E67A200B0}"/>
              </a:ext>
            </a:extLst>
          </p:cNvPr>
          <p:cNvSpPr>
            <a:spLocks noGrp="1"/>
          </p:cNvSpPr>
          <p:nvPr>
            <p:ph type="title"/>
          </p:nvPr>
        </p:nvSpPr>
        <p:spPr>
          <a:xfrm>
            <a:off x="112643" y="18256"/>
            <a:ext cx="10515600" cy="538336"/>
          </a:xfrm>
        </p:spPr>
        <p:txBody>
          <a:bodyPr>
            <a:normAutofit fontScale="90000"/>
          </a:bodyPr>
          <a:lstStyle/>
          <a:p>
            <a:r>
              <a:rPr lang="en-US" dirty="0"/>
              <a:t>Reasons for the Emergence of Diversity</a:t>
            </a:r>
            <a:endParaRPr lang="en-IN" dirty="0"/>
          </a:p>
        </p:txBody>
      </p:sp>
      <p:sp>
        <p:nvSpPr>
          <p:cNvPr id="3" name="Content Placeholder 2">
            <a:extLst>
              <a:ext uri="{FF2B5EF4-FFF2-40B4-BE49-F238E27FC236}">
                <a16:creationId xmlns:a16="http://schemas.microsoft.com/office/drawing/2014/main" id="{D143A4B8-0318-D937-4E5C-EBC362B9CC13}"/>
              </a:ext>
            </a:extLst>
          </p:cNvPr>
          <p:cNvSpPr>
            <a:spLocks noGrp="1"/>
          </p:cNvSpPr>
          <p:nvPr>
            <p:ph idx="1"/>
          </p:nvPr>
        </p:nvSpPr>
        <p:spPr>
          <a:xfrm>
            <a:off x="6306652" y="1253331"/>
            <a:ext cx="5758070" cy="4351338"/>
          </a:xfrm>
          <a:ln>
            <a:solidFill>
              <a:schemeClr val="accent1"/>
            </a:solidFill>
          </a:ln>
        </p:spPr>
        <p:txBody>
          <a:bodyPr>
            <a:normAutofit/>
          </a:bodyPr>
          <a:lstStyle/>
          <a:p>
            <a:pPr marL="0" indent="0">
              <a:buNone/>
            </a:pPr>
            <a:r>
              <a:rPr lang="en-US" b="1" dirty="0">
                <a:solidFill>
                  <a:srgbClr val="FF0000"/>
                </a:solidFill>
              </a:rPr>
              <a:t>Changing demographics</a:t>
            </a:r>
          </a:p>
          <a:p>
            <a:pPr algn="just"/>
            <a:r>
              <a:rPr lang="en-US" dirty="0"/>
              <a:t>Older workers, women, minorities, and those with more education are now entering the workforce</a:t>
            </a:r>
          </a:p>
          <a:p>
            <a:pPr algn="just"/>
            <a:endParaRPr lang="en-US" dirty="0"/>
          </a:p>
          <a:p>
            <a:pPr algn="just"/>
            <a:r>
              <a:rPr lang="en-US" dirty="0"/>
              <a:t>Composition of today’s and tomorrow’s workforce is and will be much different from that of the past</a:t>
            </a:r>
            <a:endParaRPr lang="en-IN" dirty="0"/>
          </a:p>
        </p:txBody>
      </p:sp>
      <p:pic>
        <p:nvPicPr>
          <p:cNvPr id="5" name="Picture 4">
            <a:extLst>
              <a:ext uri="{FF2B5EF4-FFF2-40B4-BE49-F238E27FC236}">
                <a16:creationId xmlns:a16="http://schemas.microsoft.com/office/drawing/2014/main" id="{EB9C9AC0-2AC0-786F-921E-AA1B4FFA25DB}"/>
              </a:ext>
            </a:extLst>
          </p:cNvPr>
          <p:cNvPicPr>
            <a:picLocks noChangeAspect="1"/>
          </p:cNvPicPr>
          <p:nvPr/>
        </p:nvPicPr>
        <p:blipFill>
          <a:blip r:embed="rId2"/>
          <a:stretch>
            <a:fillRect/>
          </a:stretch>
        </p:blipFill>
        <p:spPr>
          <a:xfrm>
            <a:off x="127278" y="1253331"/>
            <a:ext cx="5968722" cy="4351338"/>
          </a:xfrm>
          <a:prstGeom prst="rect">
            <a:avLst/>
          </a:prstGeom>
          <a:ln>
            <a:solidFill>
              <a:schemeClr val="accent1"/>
            </a:solidFill>
          </a:ln>
        </p:spPr>
      </p:pic>
    </p:spTree>
    <p:extLst>
      <p:ext uri="{BB962C8B-B14F-4D97-AF65-F5344CB8AC3E}">
        <p14:creationId xmlns:p14="http://schemas.microsoft.com/office/powerpoint/2010/main" val="2410254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79AB8-5643-D3DD-7E50-DA336C274AE0}"/>
              </a:ext>
            </a:extLst>
          </p:cNvPr>
          <p:cNvSpPr>
            <a:spLocks noGrp="1"/>
          </p:cNvSpPr>
          <p:nvPr>
            <p:ph idx="1"/>
          </p:nvPr>
        </p:nvSpPr>
        <p:spPr>
          <a:xfrm>
            <a:off x="188843" y="0"/>
            <a:ext cx="11897140" cy="6858000"/>
          </a:xfrm>
        </p:spPr>
        <p:txBody>
          <a:bodyPr>
            <a:noAutofit/>
          </a:bodyPr>
          <a:lstStyle/>
          <a:p>
            <a:pPr marL="0" indent="0" algn="just">
              <a:lnSpc>
                <a:spcPct val="100000"/>
              </a:lnSpc>
              <a:spcAft>
                <a:spcPts val="750"/>
              </a:spcAft>
              <a:buNone/>
            </a:pPr>
            <a:r>
              <a:rPr lang="en-US" b="1" i="0" dirty="0">
                <a:solidFill>
                  <a:srgbClr val="FF0000"/>
                </a:solidFill>
                <a:effectLst/>
                <a:latin typeface="Bookman Old Style" panose="02050604050505020204" pitchFamily="18" charset="0"/>
              </a:rPr>
              <a:t>Legislation and Lawsuits in India</a:t>
            </a:r>
          </a:p>
          <a:p>
            <a:pPr algn="just" fontAlgn="ctr">
              <a:lnSpc>
                <a:spcPct val="100000"/>
              </a:lnSpc>
              <a:spcBef>
                <a:spcPts val="750"/>
              </a:spcBef>
              <a:spcAft>
                <a:spcPts val="600"/>
              </a:spcAft>
              <a:buFont typeface="Arial" panose="020B0604020202020204" pitchFamily="34" charset="0"/>
              <a:buChar char="•"/>
            </a:pPr>
            <a:r>
              <a:rPr lang="en-US" sz="1800" b="1" i="0" dirty="0">
                <a:solidFill>
                  <a:srgbClr val="001D35"/>
                </a:solidFill>
                <a:effectLst/>
                <a:latin typeface="Bookman Old Style" panose="02050604050505020204" pitchFamily="18" charset="0"/>
              </a:rPr>
              <a:t>Constitution of India</a:t>
            </a:r>
            <a:r>
              <a:rPr lang="en-US" sz="1800" b="0" i="0" dirty="0">
                <a:solidFill>
                  <a:srgbClr val="001D35"/>
                </a:solidFill>
                <a:effectLst/>
                <a:latin typeface="Bookman Old Style" panose="02050604050505020204" pitchFamily="18" charset="0"/>
              </a:rPr>
              <a:t>: Articles 14, 15, 16, and 39 of the Constitution of India protect diversity and prohibit discrimination</a:t>
            </a:r>
          </a:p>
          <a:p>
            <a:pPr algn="just" fontAlgn="ctr">
              <a:lnSpc>
                <a:spcPct val="170000"/>
              </a:lnSpc>
              <a:spcBef>
                <a:spcPts val="750"/>
              </a:spcBef>
              <a:spcAft>
                <a:spcPts val="600"/>
              </a:spcAft>
              <a:buFont typeface="Arial" panose="020B0604020202020204" pitchFamily="34" charset="0"/>
              <a:buChar char="•"/>
            </a:pPr>
            <a:r>
              <a:rPr lang="en-US" sz="1800" b="1" i="0" dirty="0">
                <a:solidFill>
                  <a:srgbClr val="001D35"/>
                </a:solidFill>
                <a:effectLst/>
                <a:latin typeface="Bookman Old Style" panose="02050604050505020204" pitchFamily="18" charset="0"/>
              </a:rPr>
              <a:t>Rights of Persons with Disabilities Act, 2016</a:t>
            </a:r>
            <a:r>
              <a:rPr lang="en-US" sz="1800" b="0" i="0" dirty="0">
                <a:solidFill>
                  <a:srgbClr val="001D35"/>
                </a:solidFill>
                <a:effectLst/>
                <a:latin typeface="Bookman Old Style" panose="02050604050505020204" pitchFamily="18" charset="0"/>
              </a:rPr>
              <a:t>: Cornerstone of disability diversity law</a:t>
            </a:r>
          </a:p>
          <a:p>
            <a:pPr algn="just" fontAlgn="ctr">
              <a:lnSpc>
                <a:spcPct val="170000"/>
              </a:lnSpc>
              <a:spcBef>
                <a:spcPts val="750"/>
              </a:spcBef>
              <a:spcAft>
                <a:spcPts val="600"/>
              </a:spcAft>
              <a:buFont typeface="Arial" panose="020B0604020202020204" pitchFamily="34" charset="0"/>
              <a:buChar char="•"/>
            </a:pPr>
            <a:r>
              <a:rPr lang="en-US" sz="1800" b="1" i="0" dirty="0">
                <a:solidFill>
                  <a:srgbClr val="001D35"/>
                </a:solidFill>
                <a:effectLst/>
                <a:latin typeface="Bookman Old Style" panose="02050604050505020204" pitchFamily="18" charset="0"/>
              </a:rPr>
              <a:t>Equality Act 2006</a:t>
            </a:r>
            <a:r>
              <a:rPr lang="en-US" sz="1800" b="0" i="0" dirty="0">
                <a:solidFill>
                  <a:srgbClr val="001D35"/>
                </a:solidFill>
                <a:effectLst/>
                <a:latin typeface="Bookman Old Style" panose="02050604050505020204" pitchFamily="18" charset="0"/>
              </a:rPr>
              <a:t>: Equal pay for men and women for the same or similar work</a:t>
            </a:r>
          </a:p>
          <a:p>
            <a:pPr algn="just" fontAlgn="ctr">
              <a:lnSpc>
                <a:spcPct val="170000"/>
              </a:lnSpc>
              <a:spcBef>
                <a:spcPts val="750"/>
              </a:spcBef>
              <a:spcAft>
                <a:spcPts val="600"/>
              </a:spcAft>
              <a:buFont typeface="Arial" panose="020B0604020202020204" pitchFamily="34" charset="0"/>
              <a:buChar char="•"/>
            </a:pPr>
            <a:r>
              <a:rPr lang="en-US" sz="1800" b="1" i="0" dirty="0">
                <a:solidFill>
                  <a:srgbClr val="001D35"/>
                </a:solidFill>
                <a:effectLst/>
                <a:latin typeface="Bookman Old Style" panose="02050604050505020204" pitchFamily="18" charset="0"/>
              </a:rPr>
              <a:t>The Sexual Harassment of Women at Workplace Act, 2013</a:t>
            </a:r>
            <a:r>
              <a:rPr lang="en-US" sz="1800" b="0" i="0" dirty="0">
                <a:solidFill>
                  <a:srgbClr val="001D35"/>
                </a:solidFill>
                <a:effectLst/>
                <a:latin typeface="Bookman Old Style" panose="02050604050505020204" pitchFamily="18" charset="0"/>
              </a:rPr>
              <a:t>: Mechanism for women to report incidents of sexual harassment at their workplace</a:t>
            </a:r>
          </a:p>
          <a:p>
            <a:pPr algn="just">
              <a:lnSpc>
                <a:spcPct val="170000"/>
              </a:lnSpc>
              <a:spcBef>
                <a:spcPts val="750"/>
              </a:spcBef>
              <a:spcAft>
                <a:spcPts val="1500"/>
              </a:spcAft>
              <a:buFont typeface="Arial" panose="020B0604020202020204" pitchFamily="34" charset="0"/>
              <a:buChar char="•"/>
            </a:pPr>
            <a:r>
              <a:rPr lang="en-US" sz="1800" b="1" i="0" dirty="0">
                <a:solidFill>
                  <a:srgbClr val="001D35"/>
                </a:solidFill>
                <a:effectLst/>
                <a:latin typeface="Bookman Old Style" panose="02050604050505020204" pitchFamily="18" charset="0"/>
              </a:rPr>
              <a:t>Transgender Persons (Protection of Rights) Act, 2019</a:t>
            </a:r>
            <a:r>
              <a:rPr lang="en-US" sz="1800" b="0" i="0" dirty="0">
                <a:solidFill>
                  <a:srgbClr val="001D35"/>
                </a:solidFill>
                <a:effectLst/>
                <a:latin typeface="Bookman Old Style" panose="02050604050505020204" pitchFamily="18" charset="0"/>
              </a:rPr>
              <a:t>: Rights of transgender people</a:t>
            </a:r>
          </a:p>
          <a:p>
            <a:pPr algn="just" fontAlgn="ctr">
              <a:lnSpc>
                <a:spcPct val="170000"/>
              </a:lnSpc>
              <a:spcBef>
                <a:spcPts val="750"/>
              </a:spcBef>
              <a:spcAft>
                <a:spcPts val="600"/>
              </a:spcAft>
              <a:buFont typeface="Arial" panose="020B0604020202020204" pitchFamily="34" charset="0"/>
              <a:buChar char="•"/>
            </a:pPr>
            <a:r>
              <a:rPr lang="en-US" sz="1800" b="1" i="0" dirty="0">
                <a:solidFill>
                  <a:srgbClr val="333333"/>
                </a:solidFill>
                <a:effectLst/>
                <a:latin typeface="Bookman Old Style" panose="02050604050505020204" pitchFamily="18" charset="0"/>
              </a:rPr>
              <a:t>Equal Remuneration Act, 1976:</a:t>
            </a:r>
            <a:r>
              <a:rPr lang="en-US" sz="1800" b="0" i="0" dirty="0">
                <a:solidFill>
                  <a:srgbClr val="333333"/>
                </a:solidFill>
                <a:effectLst/>
                <a:latin typeface="Bookman Old Style" panose="02050604050505020204" pitchFamily="18" charset="0"/>
              </a:rPr>
              <a:t> Provide equal pay for men and women who perform the same work, without any discrimination during the recruitment process</a:t>
            </a:r>
          </a:p>
          <a:p>
            <a:pPr algn="just" fontAlgn="ctr">
              <a:lnSpc>
                <a:spcPct val="170000"/>
              </a:lnSpc>
              <a:spcBef>
                <a:spcPts val="750"/>
              </a:spcBef>
              <a:spcAft>
                <a:spcPts val="600"/>
              </a:spcAft>
              <a:buFont typeface="Arial" panose="020B0604020202020204" pitchFamily="34" charset="0"/>
              <a:buChar char="•"/>
            </a:pPr>
            <a:r>
              <a:rPr lang="en-US" sz="1800" b="1" i="0" dirty="0">
                <a:solidFill>
                  <a:srgbClr val="333333"/>
                </a:solidFill>
                <a:effectLst/>
                <a:latin typeface="Bookman Old Style" panose="02050604050505020204" pitchFamily="18" charset="0"/>
              </a:rPr>
              <a:t>Non-Discrimination Against Women:</a:t>
            </a:r>
            <a:r>
              <a:rPr lang="en-US" sz="1800" b="0" i="0" dirty="0">
                <a:solidFill>
                  <a:srgbClr val="333333"/>
                </a:solidFill>
                <a:effectLst/>
                <a:latin typeface="Bookman Old Style" panose="02050604050505020204" pitchFamily="18" charset="0"/>
              </a:rPr>
              <a:t> The Maharashtra Shops and Establishments Act, 2017</a:t>
            </a:r>
            <a:endParaRPr lang="en-IN" sz="1800" dirty="0">
              <a:latin typeface="Bookman Old Style" panose="02050604050505020204" pitchFamily="18" charset="0"/>
            </a:endParaRPr>
          </a:p>
        </p:txBody>
      </p:sp>
      <p:sp>
        <p:nvSpPr>
          <p:cNvPr id="4" name="TextBox 3">
            <a:extLst>
              <a:ext uri="{FF2B5EF4-FFF2-40B4-BE49-F238E27FC236}">
                <a16:creationId xmlns:a16="http://schemas.microsoft.com/office/drawing/2014/main" id="{A71AB59F-CA40-B1AD-7309-B8E92040375F}"/>
              </a:ext>
            </a:extLst>
          </p:cNvPr>
          <p:cNvSpPr txBox="1"/>
          <p:nvPr/>
        </p:nvSpPr>
        <p:spPr>
          <a:xfrm>
            <a:off x="94421" y="5754469"/>
            <a:ext cx="12085983" cy="830997"/>
          </a:xfrm>
          <a:prstGeom prst="rect">
            <a:avLst/>
          </a:prstGeom>
          <a:solidFill>
            <a:schemeClr val="accent2"/>
          </a:solidFill>
          <a:ln>
            <a:solidFill>
              <a:schemeClr val="accent1"/>
            </a:solidFill>
          </a:ln>
        </p:spPr>
        <p:txBody>
          <a:bodyPr wrap="square">
            <a:spAutoFit/>
          </a:bodyPr>
          <a:lstStyle/>
          <a:p>
            <a:pPr algn="ctr"/>
            <a:r>
              <a:rPr lang="en-US" sz="2400" b="1" dirty="0"/>
              <a:t>Successful law suits with resulting multimillion dollar penalties have in recent years been brought against many well-known firms</a:t>
            </a:r>
            <a:endParaRPr lang="en-IN" sz="2400" b="1" dirty="0"/>
          </a:p>
        </p:txBody>
      </p:sp>
    </p:spTree>
    <p:extLst>
      <p:ext uri="{BB962C8B-B14F-4D97-AF65-F5344CB8AC3E}">
        <p14:creationId xmlns:p14="http://schemas.microsoft.com/office/powerpoint/2010/main" val="40312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E2B1-C3FE-0800-7DA0-C87B8B70AE3F}"/>
              </a:ext>
            </a:extLst>
          </p:cNvPr>
          <p:cNvSpPr>
            <a:spLocks noGrp="1"/>
          </p:cNvSpPr>
          <p:nvPr>
            <p:ph type="title"/>
          </p:nvPr>
        </p:nvSpPr>
        <p:spPr>
          <a:xfrm>
            <a:off x="112644" y="162891"/>
            <a:ext cx="10515600" cy="579092"/>
          </a:xfrm>
        </p:spPr>
        <p:txBody>
          <a:bodyPr/>
          <a:lstStyle/>
          <a:p>
            <a:r>
              <a:rPr lang="en-IN" sz="2800" b="1" dirty="0">
                <a:solidFill>
                  <a:srgbClr val="FF0000"/>
                </a:solidFill>
                <a:latin typeface="Bookman Old Style" panose="02050604050505020204" pitchFamily="18" charset="0"/>
                <a:ea typeface="+mn-ea"/>
                <a:cs typeface="+mn-cs"/>
              </a:rPr>
              <a:t>Competitive pressures</a:t>
            </a:r>
          </a:p>
        </p:txBody>
      </p:sp>
      <p:sp>
        <p:nvSpPr>
          <p:cNvPr id="3" name="Content Placeholder 2">
            <a:extLst>
              <a:ext uri="{FF2B5EF4-FFF2-40B4-BE49-F238E27FC236}">
                <a16:creationId xmlns:a16="http://schemas.microsoft.com/office/drawing/2014/main" id="{E510E9E9-99FB-B366-3690-9B2AF59836CB}"/>
              </a:ext>
            </a:extLst>
          </p:cNvPr>
          <p:cNvSpPr>
            <a:spLocks noGrp="1"/>
          </p:cNvSpPr>
          <p:nvPr>
            <p:ph idx="1"/>
          </p:nvPr>
        </p:nvSpPr>
        <p:spPr>
          <a:xfrm>
            <a:off x="238539" y="807692"/>
            <a:ext cx="11155017" cy="5597871"/>
          </a:xfrm>
        </p:spPr>
        <p:txBody>
          <a:bodyPr>
            <a:normAutofit fontScale="85000" lnSpcReduction="10000"/>
          </a:bodyPr>
          <a:lstStyle/>
          <a:p>
            <a:pPr algn="just">
              <a:lnSpc>
                <a:spcPct val="150000"/>
              </a:lnSpc>
            </a:pPr>
            <a:r>
              <a:rPr lang="en-US" dirty="0">
                <a:latin typeface="Bookman Old Style" panose="02050604050505020204" pitchFamily="18" charset="0"/>
              </a:rPr>
              <a:t>Firms that aggressively try to hire and promote women and minorities are going to end up with more talented and capable workforce</a:t>
            </a:r>
          </a:p>
          <a:p>
            <a:pPr algn="just">
              <a:lnSpc>
                <a:spcPct val="150000"/>
              </a:lnSpc>
            </a:pPr>
            <a:r>
              <a:rPr lang="en-US" dirty="0">
                <a:latin typeface="Bookman Old Style" panose="02050604050505020204" pitchFamily="18" charset="0"/>
              </a:rPr>
              <a:t>Companies that gain a reputation for “celebrating diversity” are more likely to attract the best employees</a:t>
            </a:r>
          </a:p>
          <a:p>
            <a:pPr algn="just">
              <a:lnSpc>
                <a:spcPct val="150000"/>
              </a:lnSpc>
            </a:pPr>
            <a:r>
              <a:rPr lang="en-US" dirty="0">
                <a:latin typeface="Bookman Old Style" panose="02050604050505020204" pitchFamily="18" charset="0"/>
              </a:rPr>
              <a:t>Racial diversity interacted with business strategy increases</a:t>
            </a:r>
          </a:p>
          <a:p>
            <a:pPr lvl="1" algn="just">
              <a:lnSpc>
                <a:spcPct val="150000"/>
              </a:lnSpc>
            </a:pPr>
            <a:r>
              <a:rPr lang="en-US" dirty="0">
                <a:latin typeface="Bookman Old Style" panose="02050604050505020204" pitchFamily="18" charset="0"/>
              </a:rPr>
              <a:t>Productivity</a:t>
            </a:r>
          </a:p>
          <a:p>
            <a:pPr lvl="1" algn="just">
              <a:lnSpc>
                <a:spcPct val="150000"/>
              </a:lnSpc>
            </a:pPr>
            <a:r>
              <a:rPr lang="en-US" dirty="0">
                <a:latin typeface="Bookman Old Style" panose="02050604050505020204" pitchFamily="18" charset="0"/>
              </a:rPr>
              <a:t>Return on equity</a:t>
            </a:r>
          </a:p>
          <a:p>
            <a:pPr lvl="1" algn="just">
              <a:lnSpc>
                <a:spcPct val="150000"/>
              </a:lnSpc>
            </a:pPr>
            <a:r>
              <a:rPr lang="en-US" dirty="0">
                <a:latin typeface="Bookman Old Style" panose="02050604050505020204" pitchFamily="18" charset="0"/>
              </a:rPr>
              <a:t>Market performance</a:t>
            </a:r>
          </a:p>
          <a:p>
            <a:pPr algn="just">
              <a:lnSpc>
                <a:spcPct val="150000"/>
              </a:lnSpc>
            </a:pPr>
            <a:r>
              <a:rPr lang="en-US" dirty="0">
                <a:latin typeface="Bookman Old Style" panose="02050604050505020204" pitchFamily="18" charset="0"/>
              </a:rPr>
              <a:t>Diversity not only adds value contributes to a firm’s competitive advantage</a:t>
            </a:r>
            <a:endParaRPr lang="en-IN" dirty="0">
              <a:latin typeface="Bookman Old Style" panose="02050604050505020204" pitchFamily="18" charset="0"/>
            </a:endParaRPr>
          </a:p>
        </p:txBody>
      </p:sp>
    </p:spTree>
    <p:extLst>
      <p:ext uri="{BB962C8B-B14F-4D97-AF65-F5344CB8AC3E}">
        <p14:creationId xmlns:p14="http://schemas.microsoft.com/office/powerpoint/2010/main" val="397578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CA2C-7F45-8BEF-8A34-36C37DBAC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DD51A-8224-DCFC-5161-EC17DC793949}"/>
              </a:ext>
            </a:extLst>
          </p:cNvPr>
          <p:cNvSpPr>
            <a:spLocks noGrp="1"/>
          </p:cNvSpPr>
          <p:nvPr>
            <p:ph type="title"/>
          </p:nvPr>
        </p:nvSpPr>
        <p:spPr>
          <a:xfrm>
            <a:off x="112644" y="162891"/>
            <a:ext cx="10515600" cy="579092"/>
          </a:xfrm>
        </p:spPr>
        <p:txBody>
          <a:bodyPr>
            <a:normAutofit/>
          </a:bodyPr>
          <a:lstStyle/>
          <a:p>
            <a:r>
              <a:rPr lang="en-US" sz="2800" b="1" dirty="0">
                <a:solidFill>
                  <a:srgbClr val="FF0000"/>
                </a:solidFill>
                <a:latin typeface="Bookman Old Style" panose="02050604050505020204" pitchFamily="18" charset="0"/>
                <a:ea typeface="+mn-ea"/>
                <a:cs typeface="+mn-cs"/>
              </a:rPr>
              <a:t>Recognize and obtain diverse viewpoints </a:t>
            </a:r>
            <a:endParaRPr lang="en-IN" sz="28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F3027DE6-8050-5DE7-D72C-D79D023A0F7F}"/>
              </a:ext>
            </a:extLst>
          </p:cNvPr>
          <p:cNvSpPr>
            <a:spLocks noGrp="1"/>
          </p:cNvSpPr>
          <p:nvPr>
            <p:ph idx="1"/>
          </p:nvPr>
        </p:nvSpPr>
        <p:spPr>
          <a:xfrm>
            <a:off x="238539" y="807692"/>
            <a:ext cx="11155017" cy="5597871"/>
          </a:xfrm>
        </p:spPr>
        <p:txBody>
          <a:bodyPr>
            <a:normAutofit fontScale="92500" lnSpcReduction="10000"/>
          </a:bodyPr>
          <a:lstStyle/>
          <a:p>
            <a:pPr algn="just">
              <a:lnSpc>
                <a:spcPct val="150000"/>
              </a:lnSpc>
            </a:pPr>
            <a:r>
              <a:rPr lang="en-US" dirty="0">
                <a:latin typeface="Bookman Old Style" panose="02050604050505020204" pitchFamily="18" charset="0"/>
              </a:rPr>
              <a:t>Diversity leads to </a:t>
            </a:r>
            <a:r>
              <a:rPr lang="en-US" b="1" dirty="0">
                <a:solidFill>
                  <a:srgbClr val="FF0000"/>
                </a:solidFill>
                <a:latin typeface="Bookman Old Style" panose="02050604050505020204" pitchFamily="18" charset="0"/>
              </a:rPr>
              <a:t>innovation</a:t>
            </a:r>
            <a:r>
              <a:rPr lang="en-US" dirty="0">
                <a:latin typeface="Bookman Old Style" panose="02050604050505020204" pitchFamily="18" charset="0"/>
              </a:rPr>
              <a:t> and often breakthrough competitive advantages</a:t>
            </a:r>
          </a:p>
          <a:p>
            <a:pPr algn="just">
              <a:lnSpc>
                <a:spcPct val="150000"/>
              </a:lnSpc>
            </a:pPr>
            <a:r>
              <a:rPr lang="en-US" dirty="0">
                <a:latin typeface="Bookman Old Style" panose="02050604050505020204" pitchFamily="18" charset="0"/>
              </a:rPr>
              <a:t>Women working for Reebok pointed out that there was no good shoe available for aerobics.</a:t>
            </a:r>
          </a:p>
          <a:p>
            <a:pPr algn="just">
              <a:lnSpc>
                <a:spcPct val="150000"/>
              </a:lnSpc>
            </a:pPr>
            <a:r>
              <a:rPr lang="en-US" dirty="0">
                <a:latin typeface="Bookman Old Style" panose="02050604050505020204" pitchFamily="18" charset="0"/>
              </a:rPr>
              <a:t>Breakthrough for </a:t>
            </a:r>
            <a:r>
              <a:rPr lang="en-US" b="1" dirty="0">
                <a:solidFill>
                  <a:srgbClr val="FF0000"/>
                </a:solidFill>
                <a:latin typeface="Bookman Old Style" panose="02050604050505020204" pitchFamily="18" charset="0"/>
              </a:rPr>
              <a:t>Reebok</a:t>
            </a:r>
            <a:r>
              <a:rPr lang="en-US" dirty="0">
                <a:latin typeface="Bookman Old Style" panose="02050604050505020204" pitchFamily="18" charset="0"/>
              </a:rPr>
              <a:t> in the very competitive athletic shoe industry.</a:t>
            </a:r>
          </a:p>
          <a:p>
            <a:pPr algn="just">
              <a:lnSpc>
                <a:spcPct val="150000"/>
              </a:lnSpc>
            </a:pPr>
            <a:r>
              <a:rPr lang="en-US" b="1" dirty="0">
                <a:solidFill>
                  <a:srgbClr val="FF0000"/>
                </a:solidFill>
                <a:latin typeface="Bookman Old Style" panose="02050604050505020204" pitchFamily="18" charset="0"/>
              </a:rPr>
              <a:t>Chemical firm DuPont, </a:t>
            </a:r>
            <a:r>
              <a:rPr lang="en-US" dirty="0">
                <a:latin typeface="Bookman Old Style" panose="02050604050505020204" pitchFamily="18" charset="0"/>
              </a:rPr>
              <a:t>which used input from African American employees to develop and successfully market agricultural products for small farmers in the South</a:t>
            </a:r>
            <a:endParaRPr lang="en-IN" dirty="0">
              <a:latin typeface="Bookman Old Style" panose="02050604050505020204" pitchFamily="18" charset="0"/>
            </a:endParaRPr>
          </a:p>
        </p:txBody>
      </p:sp>
    </p:spTree>
    <p:extLst>
      <p:ext uri="{BB962C8B-B14F-4D97-AF65-F5344CB8AC3E}">
        <p14:creationId xmlns:p14="http://schemas.microsoft.com/office/powerpoint/2010/main" val="56189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D6DA2-268F-A531-0D51-17947EE2A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F6D53-14A7-AC76-9FE7-61336CE03539}"/>
              </a:ext>
            </a:extLst>
          </p:cNvPr>
          <p:cNvSpPr>
            <a:spLocks noGrp="1"/>
          </p:cNvSpPr>
          <p:nvPr>
            <p:ph type="title"/>
          </p:nvPr>
        </p:nvSpPr>
        <p:spPr>
          <a:xfrm>
            <a:off x="112644" y="162891"/>
            <a:ext cx="10515600" cy="579092"/>
          </a:xfrm>
        </p:spPr>
        <p:txBody>
          <a:bodyPr>
            <a:normAutofit/>
          </a:bodyPr>
          <a:lstStyle/>
          <a:p>
            <a:r>
              <a:rPr lang="en-IN" sz="2800" b="1" dirty="0">
                <a:solidFill>
                  <a:srgbClr val="FF0000"/>
                </a:solidFill>
                <a:latin typeface="Bookman Old Style" panose="02050604050505020204" pitchFamily="18" charset="0"/>
                <a:ea typeface="+mn-ea"/>
                <a:cs typeface="+mn-cs"/>
              </a:rPr>
              <a:t>Rapidly growing International Business</a:t>
            </a:r>
          </a:p>
        </p:txBody>
      </p:sp>
      <p:sp>
        <p:nvSpPr>
          <p:cNvPr id="3" name="Content Placeholder 2">
            <a:extLst>
              <a:ext uri="{FF2B5EF4-FFF2-40B4-BE49-F238E27FC236}">
                <a16:creationId xmlns:a16="http://schemas.microsoft.com/office/drawing/2014/main" id="{23430C76-1D64-80D9-C307-F6EEF4AF3302}"/>
              </a:ext>
            </a:extLst>
          </p:cNvPr>
          <p:cNvSpPr>
            <a:spLocks noGrp="1"/>
          </p:cNvSpPr>
          <p:nvPr>
            <p:ph idx="1"/>
          </p:nvPr>
        </p:nvSpPr>
        <p:spPr>
          <a:xfrm>
            <a:off x="238539" y="807692"/>
            <a:ext cx="11155017" cy="3565525"/>
          </a:xfrm>
        </p:spPr>
        <p:txBody>
          <a:bodyPr>
            <a:normAutofit fontScale="92500" lnSpcReduction="20000"/>
          </a:bodyPr>
          <a:lstStyle/>
          <a:p>
            <a:pPr algn="just">
              <a:lnSpc>
                <a:spcPct val="150000"/>
              </a:lnSpc>
            </a:pPr>
            <a:r>
              <a:rPr lang="en-US" dirty="0">
                <a:latin typeface="Bookman Old Style" panose="02050604050505020204" pitchFamily="18" charset="0"/>
              </a:rPr>
              <a:t>More and more organizations are entering the international arena</a:t>
            </a:r>
          </a:p>
          <a:p>
            <a:pPr algn="just">
              <a:lnSpc>
                <a:spcPct val="150000"/>
              </a:lnSpc>
            </a:pPr>
            <a:endParaRPr lang="en-US" dirty="0">
              <a:latin typeface="Bookman Old Style" panose="02050604050505020204" pitchFamily="18" charset="0"/>
            </a:endParaRPr>
          </a:p>
          <a:p>
            <a:pPr algn="just">
              <a:lnSpc>
                <a:spcPct val="150000"/>
              </a:lnSpc>
            </a:pPr>
            <a:r>
              <a:rPr lang="en-US" dirty="0">
                <a:latin typeface="Bookman Old Style" panose="02050604050505020204" pitchFamily="18" charset="0"/>
              </a:rPr>
              <a:t>If domestic organizations have and promote diversity, then, as they expand globally, they will be accustomed to working with people who have different cultures, customs, social norms, and mores</a:t>
            </a:r>
            <a:endParaRPr lang="en-IN" dirty="0">
              <a:latin typeface="Bookman Old Style" panose="02050604050505020204" pitchFamily="18" charset="0"/>
            </a:endParaRPr>
          </a:p>
        </p:txBody>
      </p:sp>
    </p:spTree>
    <p:extLst>
      <p:ext uri="{BB962C8B-B14F-4D97-AF65-F5344CB8AC3E}">
        <p14:creationId xmlns:p14="http://schemas.microsoft.com/office/powerpoint/2010/main" val="109341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682CE-137D-F49A-D079-FB3441CBE6FB}"/>
              </a:ext>
            </a:extLst>
          </p:cNvPr>
          <p:cNvSpPr>
            <a:spLocks noGrp="1"/>
          </p:cNvSpPr>
          <p:nvPr>
            <p:ph type="title"/>
          </p:nvPr>
        </p:nvSpPr>
        <p:spPr>
          <a:xfrm>
            <a:off x="231913" y="146465"/>
            <a:ext cx="10515600" cy="738118"/>
          </a:xfrm>
        </p:spPr>
        <p:txBody>
          <a:bodyPr>
            <a:normAutofit/>
          </a:bodyPr>
          <a:lstStyle/>
          <a:p>
            <a:r>
              <a:rPr lang="en-IN" sz="3200" b="1" dirty="0">
                <a:solidFill>
                  <a:srgbClr val="FF0000"/>
                </a:solidFill>
                <a:latin typeface="Bookman Old Style" panose="02050604050505020204" pitchFamily="18" charset="0"/>
                <a:ea typeface="+mn-ea"/>
                <a:cs typeface="+mn-cs"/>
              </a:rPr>
              <a:t>Developing the Multicultural Organization</a:t>
            </a:r>
          </a:p>
        </p:txBody>
      </p:sp>
      <p:sp>
        <p:nvSpPr>
          <p:cNvPr id="3" name="Content Placeholder 2">
            <a:extLst>
              <a:ext uri="{FF2B5EF4-FFF2-40B4-BE49-F238E27FC236}">
                <a16:creationId xmlns:a16="http://schemas.microsoft.com/office/drawing/2014/main" id="{8AD278A1-7462-8723-7F1A-5BA3FD542884}"/>
              </a:ext>
            </a:extLst>
          </p:cNvPr>
          <p:cNvSpPr>
            <a:spLocks noGrp="1"/>
          </p:cNvSpPr>
          <p:nvPr>
            <p:ph idx="1"/>
          </p:nvPr>
        </p:nvSpPr>
        <p:spPr>
          <a:xfrm>
            <a:off x="79513" y="884584"/>
            <a:ext cx="11847444" cy="5826952"/>
          </a:xfrm>
        </p:spPr>
        <p:txBody>
          <a:bodyPr>
            <a:normAutofit fontScale="92500" lnSpcReduction="20000"/>
          </a:bodyPr>
          <a:lstStyle/>
          <a:p>
            <a:pPr algn="just">
              <a:lnSpc>
                <a:spcPct val="150000"/>
              </a:lnSpc>
            </a:pPr>
            <a:r>
              <a:rPr lang="en-US" dirty="0">
                <a:latin typeface="Bookman Old Style" panose="02050604050505020204" pitchFamily="18" charset="0"/>
              </a:rPr>
              <a:t>A multicultural organization has been described as one that</a:t>
            </a:r>
          </a:p>
          <a:p>
            <a:pPr lvl="1" algn="just">
              <a:lnSpc>
                <a:spcPct val="150000"/>
              </a:lnSpc>
            </a:pPr>
            <a:r>
              <a:rPr lang="en-US" sz="2800" dirty="0">
                <a:latin typeface="Bookman Old Style" panose="02050604050505020204" pitchFamily="18" charset="0"/>
              </a:rPr>
              <a:t>Reflects the </a:t>
            </a:r>
            <a:r>
              <a:rPr lang="en-US" sz="2800" b="1" dirty="0">
                <a:solidFill>
                  <a:srgbClr val="FF0000"/>
                </a:solidFill>
                <a:latin typeface="Bookman Old Style" panose="02050604050505020204" pitchFamily="18" charset="0"/>
              </a:rPr>
              <a:t>contributions and interests of diverse cultural and social groups</a:t>
            </a:r>
            <a:r>
              <a:rPr lang="en-US" sz="2800" dirty="0">
                <a:latin typeface="Bookman Old Style" panose="02050604050505020204" pitchFamily="18" charset="0"/>
              </a:rPr>
              <a:t> in its mission, operations, and product or service </a:t>
            </a:r>
          </a:p>
          <a:p>
            <a:pPr lvl="1" algn="just">
              <a:lnSpc>
                <a:spcPct val="150000"/>
              </a:lnSpc>
            </a:pPr>
            <a:r>
              <a:rPr lang="en-US" sz="2800" dirty="0">
                <a:latin typeface="Bookman Old Style" panose="02050604050505020204" pitchFamily="18" charset="0"/>
              </a:rPr>
              <a:t>Acts on a commitment to </a:t>
            </a:r>
            <a:r>
              <a:rPr lang="en-US" sz="2800" b="1" dirty="0">
                <a:solidFill>
                  <a:srgbClr val="FF0000"/>
                </a:solidFill>
                <a:latin typeface="Bookman Old Style" panose="02050604050505020204" pitchFamily="18" charset="0"/>
              </a:rPr>
              <a:t>eradicate social oppression </a:t>
            </a:r>
            <a:r>
              <a:rPr lang="en-US" sz="2800" dirty="0">
                <a:latin typeface="Bookman Old Style" panose="02050604050505020204" pitchFamily="18" charset="0"/>
              </a:rPr>
              <a:t>in all forms within the organization</a:t>
            </a:r>
          </a:p>
          <a:p>
            <a:pPr lvl="1" algn="just">
              <a:lnSpc>
                <a:spcPct val="150000"/>
              </a:lnSpc>
            </a:pPr>
            <a:r>
              <a:rPr lang="en-US" sz="2800" b="1" dirty="0">
                <a:solidFill>
                  <a:srgbClr val="FF0000"/>
                </a:solidFill>
                <a:latin typeface="Bookman Old Style" panose="02050604050505020204" pitchFamily="18" charset="0"/>
              </a:rPr>
              <a:t>Includes the members of diverse cultural and social group</a:t>
            </a:r>
            <a:r>
              <a:rPr lang="en-US" sz="2800" dirty="0">
                <a:latin typeface="Bookman Old Style" panose="02050604050505020204" pitchFamily="18" charset="0"/>
              </a:rPr>
              <a:t>s as full participants, especially in decisions that shape the organization </a:t>
            </a:r>
          </a:p>
          <a:p>
            <a:pPr lvl="1" algn="just">
              <a:lnSpc>
                <a:spcPct val="150000"/>
              </a:lnSpc>
            </a:pPr>
            <a:r>
              <a:rPr lang="en-US" sz="2800" dirty="0">
                <a:latin typeface="Bookman Old Style" panose="02050604050505020204" pitchFamily="18" charset="0"/>
              </a:rPr>
              <a:t>Follows through on broader </a:t>
            </a:r>
            <a:r>
              <a:rPr lang="en-US" sz="2800" b="1" dirty="0">
                <a:solidFill>
                  <a:srgbClr val="FF0000"/>
                </a:solidFill>
                <a:latin typeface="Bookman Old Style" panose="02050604050505020204" pitchFamily="18" charset="0"/>
              </a:rPr>
              <a:t>external social responsibilities</a:t>
            </a:r>
            <a:r>
              <a:rPr lang="en-US" sz="2800" dirty="0">
                <a:latin typeface="Bookman Old Style" panose="02050604050505020204" pitchFamily="18" charset="0"/>
              </a:rPr>
              <a:t>, including support of other institutional efforts to eliminate all forms of social oppression</a:t>
            </a:r>
            <a:endParaRPr lang="en-IN" sz="2800" dirty="0">
              <a:latin typeface="Bookman Old Style" panose="02050604050505020204" pitchFamily="18" charset="0"/>
            </a:endParaRPr>
          </a:p>
        </p:txBody>
      </p:sp>
    </p:spTree>
    <p:extLst>
      <p:ext uri="{BB962C8B-B14F-4D97-AF65-F5344CB8AC3E}">
        <p14:creationId xmlns:p14="http://schemas.microsoft.com/office/powerpoint/2010/main" val="218233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89CB9-7732-1073-BBA1-185A349FDAEA}"/>
              </a:ext>
            </a:extLst>
          </p:cNvPr>
          <p:cNvSpPr>
            <a:spLocks noGrp="1"/>
          </p:cNvSpPr>
          <p:nvPr>
            <p:ph type="title"/>
          </p:nvPr>
        </p:nvSpPr>
        <p:spPr/>
        <p:txBody>
          <a:bodyPr/>
          <a:lstStyle/>
          <a:p>
            <a:r>
              <a:rPr lang="en-US" dirty="0"/>
              <a:t>As the Microsoft Diversity Director declared:</a:t>
            </a:r>
            <a:br>
              <a:rPr lang="en-IN" dirty="0"/>
            </a:br>
            <a:endParaRPr lang="en-IN" dirty="0"/>
          </a:p>
        </p:txBody>
      </p:sp>
      <p:sp>
        <p:nvSpPr>
          <p:cNvPr id="5" name="Scroll: Vertical 4">
            <a:extLst>
              <a:ext uri="{FF2B5EF4-FFF2-40B4-BE49-F238E27FC236}">
                <a16:creationId xmlns:a16="http://schemas.microsoft.com/office/drawing/2014/main" id="{3D5B79FB-0357-F0FB-0759-7FA11CD1586C}"/>
              </a:ext>
            </a:extLst>
          </p:cNvPr>
          <p:cNvSpPr/>
          <p:nvPr/>
        </p:nvSpPr>
        <p:spPr>
          <a:xfrm>
            <a:off x="2135256" y="1143000"/>
            <a:ext cx="7921487" cy="5804453"/>
          </a:xfrm>
          <a:prstGeom prst="verticalScroll">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lnSpc>
                <a:spcPct val="150000"/>
              </a:lnSpc>
            </a:pPr>
            <a:r>
              <a:rPr lang="en-US" sz="2000" dirty="0"/>
              <a:t>We need to stress that all human cultures have common needs, a common sense of humanity. But there are differences, too. How in the world do you please a customer, for example, if you don’t know what he or she values? That’s what culture is all about, that’s what differences are all about. Diversity assumes not only that people are different—we know that—but that their difference is value-added. If you know how to harness that difference, you’ll be more competitive as a corporation than those firms that don’t, whether in the domestic marketplace, and certainly in the global marketplace</a:t>
            </a:r>
            <a:endParaRPr lang="en-IN" sz="2000" dirty="0"/>
          </a:p>
        </p:txBody>
      </p:sp>
    </p:spTree>
    <p:extLst>
      <p:ext uri="{BB962C8B-B14F-4D97-AF65-F5344CB8AC3E}">
        <p14:creationId xmlns:p14="http://schemas.microsoft.com/office/powerpoint/2010/main" val="428247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A828-AF9C-F4BC-D13D-0ECC41AEC9D3}"/>
              </a:ext>
            </a:extLst>
          </p:cNvPr>
          <p:cNvSpPr>
            <a:spLocks noGrp="1"/>
          </p:cNvSpPr>
          <p:nvPr>
            <p:ph type="title"/>
          </p:nvPr>
        </p:nvSpPr>
        <p:spPr>
          <a:xfrm>
            <a:off x="62948" y="111885"/>
            <a:ext cx="11234530" cy="335377"/>
          </a:xfrm>
        </p:spPr>
        <p:txBody>
          <a:bodyPr>
            <a:noAutofit/>
          </a:bodyPr>
          <a:lstStyle/>
          <a:p>
            <a:r>
              <a:rPr lang="en-US" sz="3200" b="1" dirty="0">
                <a:solidFill>
                  <a:srgbClr val="FF0000"/>
                </a:solidFill>
                <a:latin typeface="Bookman Old Style" panose="02050604050505020204" pitchFamily="18" charset="0"/>
                <a:ea typeface="+mn-ea"/>
                <a:cs typeface="+mn-cs"/>
              </a:rPr>
              <a:t>Individual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FC57E736-2840-6C73-7648-57BFC00497F6}"/>
              </a:ext>
            </a:extLst>
          </p:cNvPr>
          <p:cNvSpPr>
            <a:spLocks noGrp="1"/>
          </p:cNvSpPr>
          <p:nvPr>
            <p:ph idx="1"/>
          </p:nvPr>
        </p:nvSpPr>
        <p:spPr>
          <a:xfrm>
            <a:off x="62948" y="357809"/>
            <a:ext cx="12003156" cy="6477759"/>
          </a:xfrm>
        </p:spPr>
        <p:txBody>
          <a:bodyPr>
            <a:noAutofit/>
          </a:bodyPr>
          <a:lstStyle/>
          <a:p>
            <a:pPr marL="0" indent="0" algn="just">
              <a:lnSpc>
                <a:spcPct val="150000"/>
              </a:lnSpc>
              <a:buNone/>
            </a:pPr>
            <a:r>
              <a:rPr lang="en-IN" b="1" dirty="0">
                <a:solidFill>
                  <a:srgbClr val="FF0000"/>
                </a:solidFill>
                <a:latin typeface="Bookman Old Style" panose="02050604050505020204" pitchFamily="18" charset="0"/>
              </a:rPr>
              <a:t>1. Learning</a:t>
            </a:r>
          </a:p>
          <a:p>
            <a:pPr algn="just">
              <a:lnSpc>
                <a:spcPct val="150000"/>
              </a:lnSpc>
            </a:pPr>
            <a:r>
              <a:rPr lang="en-US" dirty="0">
                <a:latin typeface="Bookman Old Style" panose="02050604050505020204" pitchFamily="18" charset="0"/>
              </a:rPr>
              <a:t>Many managers are often </a:t>
            </a:r>
            <a:r>
              <a:rPr lang="en-US" b="1" dirty="0">
                <a:solidFill>
                  <a:srgbClr val="FF0000"/>
                </a:solidFill>
                <a:latin typeface="Bookman Old Style" panose="02050604050505020204" pitchFamily="18" charset="0"/>
              </a:rPr>
              <a:t>unprepared to deal with diversity</a:t>
            </a:r>
          </a:p>
          <a:p>
            <a:pPr algn="just">
              <a:lnSpc>
                <a:spcPct val="150000"/>
              </a:lnSpc>
            </a:pPr>
            <a:r>
              <a:rPr lang="en-US" dirty="0">
                <a:latin typeface="Bookman Old Style" panose="02050604050505020204" pitchFamily="18" charset="0"/>
              </a:rPr>
              <a:t>Those who may not think they need to learn about diversity must work especially </a:t>
            </a:r>
            <a:r>
              <a:rPr lang="en-US" b="1" dirty="0">
                <a:solidFill>
                  <a:srgbClr val="FF0000"/>
                </a:solidFill>
                <a:latin typeface="Bookman Old Style" panose="02050604050505020204" pitchFamily="18" charset="0"/>
              </a:rPr>
              <a:t>hard to learn and experience</a:t>
            </a:r>
          </a:p>
          <a:p>
            <a:pPr algn="just">
              <a:lnSpc>
                <a:spcPct val="150000"/>
              </a:lnSpc>
            </a:pPr>
            <a:r>
              <a:rPr lang="en-IN" dirty="0">
                <a:latin typeface="Bookman Old Style" panose="02050604050505020204" pitchFamily="18" charset="0"/>
              </a:rPr>
              <a:t>Strategies </a:t>
            </a:r>
          </a:p>
          <a:p>
            <a:pPr lvl="1" algn="just">
              <a:lnSpc>
                <a:spcPct val="150000"/>
              </a:lnSpc>
            </a:pPr>
            <a:r>
              <a:rPr lang="en-IN" sz="2800" b="1" dirty="0">
                <a:solidFill>
                  <a:schemeClr val="accent5"/>
                </a:solidFill>
                <a:latin typeface="Bookman Old Style" panose="02050604050505020204" pitchFamily="18" charset="0"/>
              </a:rPr>
              <a:t>Communication</a:t>
            </a:r>
            <a:endParaRPr lang="en-US" sz="2800" b="1" dirty="0">
              <a:solidFill>
                <a:schemeClr val="accent5"/>
              </a:solidFill>
              <a:latin typeface="Bookman Old Style" panose="02050604050505020204" pitchFamily="18" charset="0"/>
            </a:endParaRPr>
          </a:p>
          <a:p>
            <a:pPr lvl="1" algn="just">
              <a:lnSpc>
                <a:spcPct val="150000"/>
              </a:lnSpc>
            </a:pPr>
            <a:r>
              <a:rPr lang="en-US" sz="2800" dirty="0">
                <a:latin typeface="Bookman Old Style" panose="02050604050505020204" pitchFamily="18" charset="0"/>
              </a:rPr>
              <a:t>Develop a </a:t>
            </a:r>
            <a:r>
              <a:rPr lang="en-US" sz="2800" b="1" dirty="0">
                <a:solidFill>
                  <a:schemeClr val="accent5"/>
                </a:solidFill>
                <a:latin typeface="Bookman Old Style" panose="02050604050505020204" pitchFamily="18" charset="0"/>
              </a:rPr>
              <a:t>personal style </a:t>
            </a:r>
            <a:r>
              <a:rPr lang="en-US" sz="2800" dirty="0">
                <a:latin typeface="Bookman Old Style" panose="02050604050505020204" pitchFamily="18" charset="0"/>
              </a:rPr>
              <a:t>that works well with each member</a:t>
            </a:r>
          </a:p>
          <a:p>
            <a:pPr lvl="1" algn="just">
              <a:lnSpc>
                <a:spcPct val="150000"/>
              </a:lnSpc>
            </a:pPr>
            <a:r>
              <a:rPr lang="en-US" sz="2800" b="1" dirty="0">
                <a:solidFill>
                  <a:schemeClr val="accent5"/>
                </a:solidFill>
                <a:latin typeface="Bookman Old Style" panose="02050604050505020204" pitchFamily="18" charset="0"/>
              </a:rPr>
              <a:t>Encourage diverse employees </a:t>
            </a:r>
            <a:r>
              <a:rPr lang="en-US" sz="2800" dirty="0">
                <a:latin typeface="Bookman Old Style" panose="02050604050505020204" pitchFamily="18" charset="0"/>
              </a:rPr>
              <a:t>to give them candid feedback</a:t>
            </a:r>
            <a:endParaRPr lang="en-IN" dirty="0">
              <a:latin typeface="Bookman Old Style" panose="02050604050505020204" pitchFamily="18" charset="0"/>
            </a:endParaRPr>
          </a:p>
        </p:txBody>
      </p:sp>
      <p:sp>
        <p:nvSpPr>
          <p:cNvPr id="6" name="Rectangle 5">
            <a:extLst>
              <a:ext uri="{FF2B5EF4-FFF2-40B4-BE49-F238E27FC236}">
                <a16:creationId xmlns:a16="http://schemas.microsoft.com/office/drawing/2014/main" id="{D018DAD1-EE36-967C-5DBA-3EDFE77B585E}"/>
              </a:ext>
            </a:extLst>
          </p:cNvPr>
          <p:cNvSpPr/>
          <p:nvPr/>
        </p:nvSpPr>
        <p:spPr>
          <a:xfrm>
            <a:off x="62948" y="3429000"/>
            <a:ext cx="11877260" cy="173437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lnSpc>
                <a:spcPct val="150000"/>
              </a:lnSpc>
              <a:buNone/>
            </a:pPr>
            <a:r>
              <a:rPr lang="en-US" sz="2400" b="1" dirty="0">
                <a:solidFill>
                  <a:schemeClr val="tx1"/>
                </a:solidFill>
                <a:latin typeface="Bookman Old Style" panose="02050604050505020204" pitchFamily="18" charset="0"/>
              </a:rPr>
              <a:t>Discussion/Brainstorming Question</a:t>
            </a:r>
          </a:p>
          <a:p>
            <a:pPr marL="0" indent="0" algn="just">
              <a:lnSpc>
                <a:spcPct val="150000"/>
              </a:lnSpc>
              <a:buNone/>
            </a:pPr>
            <a:r>
              <a:rPr lang="en-US" sz="2400" b="1" dirty="0">
                <a:solidFill>
                  <a:schemeClr val="tx1"/>
                </a:solidFill>
                <a:latin typeface="Bookman Old Style" panose="02050604050505020204" pitchFamily="18" charset="0"/>
              </a:rPr>
              <a:t>If you are a manager who are unprepared, what strategies are going to adopt for managing the diversity?</a:t>
            </a:r>
          </a:p>
        </p:txBody>
      </p:sp>
    </p:spTree>
    <p:extLst>
      <p:ext uri="{BB962C8B-B14F-4D97-AF65-F5344CB8AC3E}">
        <p14:creationId xmlns:p14="http://schemas.microsoft.com/office/powerpoint/2010/main" val="182196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1" nodeType="clickEffect">
                                  <p:stCondLst>
                                    <p:cond delay="0"/>
                                  </p:stCondLst>
                                  <p:childTnLst>
                                    <p:animEffect transition="out" filter="blinds(horizontal)">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6"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5C8B-2EAF-2A3F-24CC-57700608C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FDFD7-B2D9-A98B-B12C-47653915920C}"/>
              </a:ext>
            </a:extLst>
          </p:cNvPr>
          <p:cNvSpPr>
            <a:spLocks noGrp="1"/>
          </p:cNvSpPr>
          <p:nvPr>
            <p:ph type="title"/>
          </p:nvPr>
        </p:nvSpPr>
        <p:spPr>
          <a:xfrm>
            <a:off x="119270" y="181458"/>
            <a:ext cx="11234530" cy="499579"/>
          </a:xfrm>
        </p:spPr>
        <p:txBody>
          <a:bodyPr>
            <a:noAutofit/>
          </a:bodyPr>
          <a:lstStyle/>
          <a:p>
            <a:r>
              <a:rPr lang="en-US" sz="3200" b="1" dirty="0">
                <a:solidFill>
                  <a:srgbClr val="FF0000"/>
                </a:solidFill>
                <a:latin typeface="Bookman Old Style" panose="02050604050505020204" pitchFamily="18" charset="0"/>
                <a:ea typeface="+mn-ea"/>
                <a:cs typeface="+mn-cs"/>
              </a:rPr>
              <a:t>Individual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D19905A3-9499-137E-24A8-CBE047188037}"/>
              </a:ext>
            </a:extLst>
          </p:cNvPr>
          <p:cNvSpPr>
            <a:spLocks noGrp="1"/>
          </p:cNvSpPr>
          <p:nvPr>
            <p:ph idx="1"/>
          </p:nvPr>
        </p:nvSpPr>
        <p:spPr>
          <a:xfrm>
            <a:off x="119270" y="681037"/>
            <a:ext cx="11678478" cy="5995505"/>
          </a:xfrm>
        </p:spPr>
        <p:txBody>
          <a:bodyPr>
            <a:noAutofit/>
          </a:bodyPr>
          <a:lstStyle/>
          <a:p>
            <a:pPr marL="0" indent="0" algn="just">
              <a:lnSpc>
                <a:spcPct val="150000"/>
              </a:lnSpc>
              <a:buNone/>
            </a:pPr>
            <a:r>
              <a:rPr lang="en-IN" b="1" dirty="0">
                <a:solidFill>
                  <a:srgbClr val="FF0000"/>
                </a:solidFill>
                <a:latin typeface="Bookman Old Style" panose="02050604050505020204" pitchFamily="18" charset="0"/>
              </a:rPr>
              <a:t>2. Empathy</a:t>
            </a:r>
          </a:p>
          <a:p>
            <a:pPr algn="just">
              <a:lnSpc>
                <a:spcPct val="150000"/>
              </a:lnSpc>
            </a:pPr>
            <a:r>
              <a:rPr lang="en-US" dirty="0">
                <a:latin typeface="Bookman Old Style" panose="02050604050505020204" pitchFamily="18" charset="0"/>
              </a:rPr>
              <a:t>Ability to </a:t>
            </a:r>
            <a:r>
              <a:rPr lang="en-US" b="1" dirty="0">
                <a:solidFill>
                  <a:srgbClr val="FF0000"/>
                </a:solidFill>
                <a:latin typeface="Bookman Old Style" panose="02050604050505020204" pitchFamily="18" charset="0"/>
              </a:rPr>
              <a:t>put oneself in another’s place </a:t>
            </a:r>
            <a:r>
              <a:rPr lang="en-US" dirty="0">
                <a:latin typeface="Bookman Old Style" panose="02050604050505020204" pitchFamily="18" charset="0"/>
              </a:rPr>
              <a:t>and see things from that person’s point of view</a:t>
            </a:r>
          </a:p>
          <a:p>
            <a:pPr algn="just">
              <a:lnSpc>
                <a:spcPct val="150000"/>
              </a:lnSpc>
            </a:pPr>
            <a:r>
              <a:rPr lang="en-US" dirty="0">
                <a:latin typeface="Bookman Old Style" panose="02050604050505020204" pitchFamily="18" charset="0"/>
              </a:rPr>
              <a:t>Helps the manager understand the diverse employee’s point of view</a:t>
            </a:r>
            <a:endParaRPr lang="en-IN" dirty="0">
              <a:latin typeface="Bookman Old Style" panose="02050604050505020204" pitchFamily="18" charset="0"/>
            </a:endParaRPr>
          </a:p>
        </p:txBody>
      </p:sp>
    </p:spTree>
    <p:extLst>
      <p:ext uri="{BB962C8B-B14F-4D97-AF65-F5344CB8AC3E}">
        <p14:creationId xmlns:p14="http://schemas.microsoft.com/office/powerpoint/2010/main" val="140215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2CD87-E8B2-4EE0-4A00-6E1755B0D4BC}"/>
              </a:ext>
            </a:extLst>
          </p:cNvPr>
          <p:cNvSpPr>
            <a:spLocks noGrp="1"/>
          </p:cNvSpPr>
          <p:nvPr>
            <p:ph type="title"/>
          </p:nvPr>
        </p:nvSpPr>
        <p:spPr>
          <a:xfrm>
            <a:off x="139148" y="377687"/>
            <a:ext cx="11214652" cy="827571"/>
          </a:xfrm>
        </p:spPr>
        <p:txBody>
          <a:bodyPr/>
          <a:lstStyle/>
          <a:p>
            <a:r>
              <a:rPr lang="en-US" sz="3200" b="1" dirty="0">
                <a:solidFill>
                  <a:srgbClr val="FF0000"/>
                </a:solidFill>
                <a:latin typeface="Bookman Old Style" panose="02050604050505020204" pitchFamily="18" charset="0"/>
                <a:ea typeface="+mn-ea"/>
                <a:cs typeface="+mn-cs"/>
              </a:rPr>
              <a:t>Organizational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A06CA9C8-3F3F-42DB-302A-A687BA087066}"/>
              </a:ext>
            </a:extLst>
          </p:cNvPr>
          <p:cNvSpPr>
            <a:spLocks noGrp="1"/>
          </p:cNvSpPr>
          <p:nvPr>
            <p:ph idx="1"/>
          </p:nvPr>
        </p:nvSpPr>
        <p:spPr>
          <a:xfrm>
            <a:off x="139148" y="1582945"/>
            <a:ext cx="11913704" cy="5349392"/>
          </a:xfrm>
        </p:spPr>
        <p:txBody>
          <a:bodyPr/>
          <a:lstStyle/>
          <a:p>
            <a:pPr marL="514350" indent="-514350">
              <a:buAutoNum type="arabicPeriod"/>
            </a:pPr>
            <a:r>
              <a:rPr lang="en-IN" b="1" dirty="0">
                <a:solidFill>
                  <a:srgbClr val="FF0000"/>
                </a:solidFill>
                <a:latin typeface="Bookman Old Style" panose="02050604050505020204" pitchFamily="18" charset="0"/>
              </a:rPr>
              <a:t>Testing</a:t>
            </a:r>
          </a:p>
          <a:p>
            <a:pPr algn="just">
              <a:lnSpc>
                <a:spcPct val="150000"/>
              </a:lnSpc>
            </a:pPr>
            <a:r>
              <a:rPr lang="en-US" dirty="0">
                <a:latin typeface="Bookman Old Style" panose="02050604050505020204" pitchFamily="18" charset="0"/>
              </a:rPr>
              <a:t>Use of tests for selection and evaluation is that they may be culturally biased</a:t>
            </a:r>
            <a:endParaRPr lang="en-IN" dirty="0">
              <a:latin typeface="Bookman Old Style" panose="02050604050505020204" pitchFamily="18" charset="0"/>
            </a:endParaRPr>
          </a:p>
          <a:p>
            <a:pPr algn="just">
              <a:lnSpc>
                <a:spcPct val="150000"/>
              </a:lnSpc>
            </a:pPr>
            <a:r>
              <a:rPr lang="en-IN" dirty="0">
                <a:latin typeface="Bookman Old Style" panose="02050604050505020204" pitchFamily="18" charset="0"/>
              </a:rPr>
              <a:t>Culturally biased tests</a:t>
            </a:r>
          </a:p>
          <a:p>
            <a:pPr algn="just">
              <a:lnSpc>
                <a:spcPct val="150000"/>
              </a:lnSpc>
            </a:pPr>
            <a:r>
              <a:rPr lang="en-IN" dirty="0">
                <a:latin typeface="Bookman Old Style" panose="02050604050505020204" pitchFamily="18" charset="0"/>
              </a:rPr>
              <a:t>Skill based Test</a:t>
            </a:r>
          </a:p>
          <a:p>
            <a:pPr algn="just">
              <a:lnSpc>
                <a:spcPct val="150000"/>
              </a:lnSpc>
            </a:pPr>
            <a:r>
              <a:rPr lang="en-US" dirty="0">
                <a:latin typeface="Bookman Old Style" panose="02050604050505020204" pitchFamily="18" charset="0"/>
              </a:rPr>
              <a:t>Carefully conducted interviews or role playing</a:t>
            </a:r>
            <a:endParaRPr lang="en-IN"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172963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4EB3F-09A6-1B06-B194-914568A66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1A93C-180B-2ABF-A4A1-E91054FA420C}"/>
              </a:ext>
            </a:extLst>
          </p:cNvPr>
          <p:cNvSpPr>
            <a:spLocks noGrp="1"/>
          </p:cNvSpPr>
          <p:nvPr>
            <p:ph type="title"/>
          </p:nvPr>
        </p:nvSpPr>
        <p:spPr>
          <a:xfrm>
            <a:off x="139148" y="69575"/>
            <a:ext cx="11214652" cy="506896"/>
          </a:xfrm>
        </p:spPr>
        <p:txBody>
          <a:bodyPr>
            <a:normAutofit fontScale="90000"/>
          </a:bodyPr>
          <a:lstStyle/>
          <a:p>
            <a:r>
              <a:rPr lang="en-US" sz="3200" b="1" dirty="0">
                <a:solidFill>
                  <a:srgbClr val="FF0000"/>
                </a:solidFill>
                <a:latin typeface="Bookman Old Style" panose="02050604050505020204" pitchFamily="18" charset="0"/>
                <a:ea typeface="+mn-ea"/>
                <a:cs typeface="+mn-cs"/>
              </a:rPr>
              <a:t>Organizational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E29FBA80-8479-CAAA-3753-77E53F013158}"/>
              </a:ext>
            </a:extLst>
          </p:cNvPr>
          <p:cNvSpPr>
            <a:spLocks noGrp="1"/>
          </p:cNvSpPr>
          <p:nvPr>
            <p:ph idx="1"/>
          </p:nvPr>
        </p:nvSpPr>
        <p:spPr>
          <a:xfrm>
            <a:off x="139148" y="655983"/>
            <a:ext cx="11913704" cy="6276354"/>
          </a:xfrm>
        </p:spPr>
        <p:txBody>
          <a:bodyPr>
            <a:normAutofit lnSpcReduction="10000"/>
          </a:bodyPr>
          <a:lstStyle/>
          <a:p>
            <a:pPr marL="0" indent="0">
              <a:buNone/>
            </a:pPr>
            <a:r>
              <a:rPr lang="en-IN" b="1" dirty="0">
                <a:solidFill>
                  <a:srgbClr val="FF0000"/>
                </a:solidFill>
                <a:latin typeface="Bookman Old Style" panose="02050604050505020204" pitchFamily="18" charset="0"/>
              </a:rPr>
              <a:t>2. Training</a:t>
            </a:r>
          </a:p>
          <a:p>
            <a:r>
              <a:rPr lang="en-US" dirty="0">
                <a:latin typeface="Bookman Old Style" panose="02050604050505020204" pitchFamily="18" charset="0"/>
              </a:rPr>
              <a:t>Diversity training</a:t>
            </a:r>
          </a:p>
          <a:p>
            <a:endParaRPr lang="en-US" dirty="0">
              <a:latin typeface="Bookman Old Style" panose="02050604050505020204" pitchFamily="18" charset="0"/>
            </a:endParaRPr>
          </a:p>
          <a:p>
            <a:pPr algn="just"/>
            <a:r>
              <a:rPr lang="en-US" dirty="0">
                <a:latin typeface="Bookman Old Style" panose="02050604050505020204" pitchFamily="18" charset="0"/>
              </a:rPr>
              <a:t>Firms that adopted diversity training tended to have the following profile: </a:t>
            </a:r>
          </a:p>
          <a:p>
            <a:pPr lvl="1" algn="just"/>
            <a:r>
              <a:rPr lang="en-US" b="1" dirty="0">
                <a:latin typeface="Bookman Old Style" panose="02050604050505020204" pitchFamily="18" charset="0"/>
              </a:rPr>
              <a:t>Large size</a:t>
            </a:r>
          </a:p>
          <a:p>
            <a:pPr lvl="1" algn="just"/>
            <a:r>
              <a:rPr lang="en-US" b="1" dirty="0">
                <a:latin typeface="Bookman Old Style" panose="02050604050505020204" pitchFamily="18" charset="0"/>
              </a:rPr>
              <a:t>Positive top-management beliefs </a:t>
            </a:r>
            <a:r>
              <a:rPr lang="en-US" dirty="0">
                <a:latin typeface="Bookman Old Style" panose="02050604050505020204" pitchFamily="18" charset="0"/>
              </a:rPr>
              <a:t>about diversity</a:t>
            </a:r>
          </a:p>
          <a:p>
            <a:pPr lvl="1" algn="just"/>
            <a:r>
              <a:rPr lang="en-US" b="1" dirty="0">
                <a:latin typeface="Bookman Old Style" panose="02050604050505020204" pitchFamily="18" charset="0"/>
              </a:rPr>
              <a:t>High strategic priority </a:t>
            </a:r>
            <a:r>
              <a:rPr lang="en-US" dirty="0">
                <a:latin typeface="Bookman Old Style" panose="02050604050505020204" pitchFamily="18" charset="0"/>
              </a:rPr>
              <a:t>of diversity relative to other competing objectives</a:t>
            </a:r>
          </a:p>
          <a:p>
            <a:pPr lvl="1" algn="just"/>
            <a:r>
              <a:rPr lang="en-US" dirty="0">
                <a:latin typeface="Bookman Old Style" panose="02050604050505020204" pitchFamily="18" charset="0"/>
              </a:rPr>
              <a:t>Presence of a </a:t>
            </a:r>
            <a:r>
              <a:rPr lang="en-US" b="1" dirty="0">
                <a:latin typeface="Bookman Old Style" panose="02050604050505020204" pitchFamily="18" charset="0"/>
              </a:rPr>
              <a:t>diversity manager</a:t>
            </a:r>
          </a:p>
          <a:p>
            <a:pPr lvl="1" algn="just"/>
            <a:r>
              <a:rPr lang="en-US" dirty="0">
                <a:latin typeface="Bookman Old Style" panose="02050604050505020204" pitchFamily="18" charset="0"/>
              </a:rPr>
              <a:t>Existence of a large number of other </a:t>
            </a:r>
            <a:r>
              <a:rPr lang="en-US" b="1" dirty="0">
                <a:latin typeface="Bookman Old Style" panose="02050604050505020204" pitchFamily="18" charset="0"/>
              </a:rPr>
              <a:t>diversity supportive policies</a:t>
            </a:r>
          </a:p>
          <a:p>
            <a:pPr lvl="1" algn="just"/>
            <a:endParaRPr lang="en-US" dirty="0">
              <a:latin typeface="Bookman Old Style" panose="02050604050505020204" pitchFamily="18" charset="0"/>
            </a:endParaRPr>
          </a:p>
          <a:p>
            <a:pPr algn="just"/>
            <a:r>
              <a:rPr lang="en-US" dirty="0">
                <a:latin typeface="Bookman Old Style" panose="02050604050505020204" pitchFamily="18" charset="0"/>
              </a:rPr>
              <a:t>Two ways in which this training can play a key role </a:t>
            </a:r>
          </a:p>
          <a:p>
            <a:pPr lvl="1" algn="just"/>
            <a:r>
              <a:rPr lang="en-US" dirty="0">
                <a:latin typeface="Bookman Old Style" panose="02050604050505020204" pitchFamily="18" charset="0"/>
              </a:rPr>
              <a:t>Offering </a:t>
            </a:r>
            <a:r>
              <a:rPr lang="en-US" b="1" dirty="0">
                <a:solidFill>
                  <a:srgbClr val="FF0000"/>
                </a:solidFill>
                <a:latin typeface="Bookman Old Style" panose="02050604050505020204" pitchFamily="18" charset="0"/>
              </a:rPr>
              <a:t>training to diverse groups </a:t>
            </a:r>
          </a:p>
          <a:p>
            <a:pPr lvl="1" algn="just"/>
            <a:r>
              <a:rPr lang="en-US" dirty="0">
                <a:latin typeface="Bookman Old Style" panose="02050604050505020204" pitchFamily="18" charset="0"/>
              </a:rPr>
              <a:t>Provide </a:t>
            </a:r>
            <a:r>
              <a:rPr lang="en-US" b="1" dirty="0">
                <a:solidFill>
                  <a:srgbClr val="FF0000"/>
                </a:solidFill>
                <a:latin typeface="Bookman Old Style" panose="02050604050505020204" pitchFamily="18" charset="0"/>
              </a:rPr>
              <a:t>training to managers and other employees </a:t>
            </a:r>
            <a:r>
              <a:rPr lang="en-US" dirty="0">
                <a:latin typeface="Bookman Old Style" panose="02050604050505020204" pitchFamily="18" charset="0"/>
              </a:rPr>
              <a:t>who work with diverse employees</a:t>
            </a:r>
            <a:endParaRPr lang="en-IN" dirty="0">
              <a:latin typeface="Bookman Old Style" panose="02050604050505020204" pitchFamily="18" charset="0"/>
            </a:endParaRPr>
          </a:p>
        </p:txBody>
      </p:sp>
    </p:spTree>
    <p:extLst>
      <p:ext uri="{BB962C8B-B14F-4D97-AF65-F5344CB8AC3E}">
        <p14:creationId xmlns:p14="http://schemas.microsoft.com/office/powerpoint/2010/main" val="225934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84EF-3CB4-7FE7-F82D-E0711E40E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F2BB2-00D8-0F47-8E75-B54B2D1C449A}"/>
              </a:ext>
            </a:extLst>
          </p:cNvPr>
          <p:cNvSpPr>
            <a:spLocks noGrp="1"/>
          </p:cNvSpPr>
          <p:nvPr>
            <p:ph type="title"/>
          </p:nvPr>
        </p:nvSpPr>
        <p:spPr>
          <a:xfrm>
            <a:off x="139148" y="69575"/>
            <a:ext cx="11214652" cy="506896"/>
          </a:xfrm>
        </p:spPr>
        <p:txBody>
          <a:bodyPr>
            <a:normAutofit fontScale="90000"/>
          </a:bodyPr>
          <a:lstStyle/>
          <a:p>
            <a:r>
              <a:rPr lang="en-US" sz="3200" b="1" dirty="0">
                <a:solidFill>
                  <a:srgbClr val="FF0000"/>
                </a:solidFill>
                <a:latin typeface="Bookman Old Style" panose="02050604050505020204" pitchFamily="18" charset="0"/>
                <a:ea typeface="+mn-ea"/>
                <a:cs typeface="+mn-cs"/>
              </a:rPr>
              <a:t>Organizational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FEFE104F-6278-5416-D5AB-79BE5A342FFF}"/>
              </a:ext>
            </a:extLst>
          </p:cNvPr>
          <p:cNvSpPr>
            <a:spLocks noGrp="1"/>
          </p:cNvSpPr>
          <p:nvPr>
            <p:ph idx="1"/>
          </p:nvPr>
        </p:nvSpPr>
        <p:spPr>
          <a:xfrm>
            <a:off x="139148" y="655983"/>
            <a:ext cx="11913704" cy="6276354"/>
          </a:xfrm>
        </p:spPr>
        <p:txBody>
          <a:bodyPr>
            <a:normAutofit/>
          </a:bodyPr>
          <a:lstStyle/>
          <a:p>
            <a:pPr algn="just">
              <a:lnSpc>
                <a:spcPct val="150000"/>
              </a:lnSpc>
            </a:pPr>
            <a:r>
              <a:rPr lang="en-US" dirty="0">
                <a:latin typeface="Bookman Old Style" panose="02050604050505020204" pitchFamily="18" charset="0"/>
              </a:rPr>
              <a:t>Major problem: </a:t>
            </a:r>
            <a:r>
              <a:rPr lang="en-US" b="1" dirty="0">
                <a:solidFill>
                  <a:srgbClr val="FF0000"/>
                </a:solidFill>
                <a:latin typeface="Bookman Old Style" panose="02050604050505020204" pitchFamily="18" charset="0"/>
              </a:rPr>
              <a:t>Transfer problem</a:t>
            </a:r>
          </a:p>
          <a:p>
            <a:pPr algn="just">
              <a:lnSpc>
                <a:spcPct val="150000"/>
              </a:lnSpc>
            </a:pPr>
            <a:r>
              <a:rPr lang="en-US" dirty="0">
                <a:latin typeface="Bookman Old Style" panose="02050604050505020204" pitchFamily="18" charset="0"/>
              </a:rPr>
              <a:t>Those going through the diversity training may see the value and gain some relevant knowledge, but then do not transfer this training back to the job</a:t>
            </a:r>
          </a:p>
          <a:p>
            <a:pPr marL="0" indent="0" algn="just">
              <a:lnSpc>
                <a:spcPct val="150000"/>
              </a:lnSpc>
              <a:buNone/>
            </a:pPr>
            <a:r>
              <a:rPr lang="en-US" b="1" dirty="0">
                <a:solidFill>
                  <a:srgbClr val="FF0000"/>
                </a:solidFill>
                <a:latin typeface="Bookman Old Style" panose="02050604050505020204" pitchFamily="18" charset="0"/>
              </a:rPr>
              <a:t>3. Mentoring </a:t>
            </a:r>
          </a:p>
          <a:p>
            <a:pPr algn="just">
              <a:lnSpc>
                <a:spcPct val="150000"/>
              </a:lnSpc>
            </a:pPr>
            <a:r>
              <a:rPr lang="en-US" dirty="0">
                <a:latin typeface="Bookman Old Style" panose="02050604050505020204" pitchFamily="18" charset="0"/>
              </a:rPr>
              <a:t>A mentor is a trusted counselor, coach, or advisor who provides advice and assistance</a:t>
            </a:r>
          </a:p>
          <a:p>
            <a:pPr algn="just">
              <a:lnSpc>
                <a:spcPct val="150000"/>
              </a:lnSpc>
            </a:pPr>
            <a:r>
              <a:rPr lang="en-US" dirty="0">
                <a:latin typeface="Bookman Old Style" panose="02050604050505020204" pitchFamily="18" charset="0"/>
              </a:rPr>
              <a:t>Assigning mentors to women and minorities</a:t>
            </a:r>
          </a:p>
          <a:p>
            <a:pPr algn="just">
              <a:lnSpc>
                <a:spcPct val="150000"/>
              </a:lnSpc>
            </a:pPr>
            <a:endParaRPr lang="en-US" dirty="0">
              <a:latin typeface="Bookman Old Style" panose="02050604050505020204" pitchFamily="18" charset="0"/>
            </a:endParaRPr>
          </a:p>
          <a:p>
            <a:pPr>
              <a:lnSpc>
                <a:spcPct val="150000"/>
              </a:lnSpc>
            </a:pPr>
            <a:endParaRPr lang="en-IN" dirty="0">
              <a:latin typeface="Bookman Old Style" panose="02050604050505020204" pitchFamily="18" charset="0"/>
            </a:endParaRPr>
          </a:p>
        </p:txBody>
      </p:sp>
    </p:spTree>
    <p:extLst>
      <p:ext uri="{BB962C8B-B14F-4D97-AF65-F5344CB8AC3E}">
        <p14:creationId xmlns:p14="http://schemas.microsoft.com/office/powerpoint/2010/main" val="171014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8ED73-986B-13AC-24E0-52B089603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78A66-CA14-8C99-8687-8D0DD0B9E629}"/>
              </a:ext>
            </a:extLst>
          </p:cNvPr>
          <p:cNvSpPr>
            <a:spLocks noGrp="1"/>
          </p:cNvSpPr>
          <p:nvPr>
            <p:ph type="title"/>
          </p:nvPr>
        </p:nvSpPr>
        <p:spPr>
          <a:xfrm>
            <a:off x="139148" y="69575"/>
            <a:ext cx="11214652" cy="506896"/>
          </a:xfrm>
        </p:spPr>
        <p:txBody>
          <a:bodyPr>
            <a:normAutofit fontScale="90000"/>
          </a:bodyPr>
          <a:lstStyle/>
          <a:p>
            <a:r>
              <a:rPr lang="en-US" sz="3200" b="1" dirty="0">
                <a:solidFill>
                  <a:srgbClr val="FF0000"/>
                </a:solidFill>
                <a:latin typeface="Bookman Old Style" panose="02050604050505020204" pitchFamily="18" charset="0"/>
                <a:ea typeface="+mn-ea"/>
                <a:cs typeface="+mn-cs"/>
              </a:rPr>
              <a:t>Organizational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B492AA37-F05B-B094-4926-8594AF88CD49}"/>
              </a:ext>
            </a:extLst>
          </p:cNvPr>
          <p:cNvSpPr>
            <a:spLocks noGrp="1"/>
          </p:cNvSpPr>
          <p:nvPr>
            <p:ph idx="1"/>
          </p:nvPr>
        </p:nvSpPr>
        <p:spPr>
          <a:xfrm>
            <a:off x="139148" y="655983"/>
            <a:ext cx="11913704" cy="6276354"/>
          </a:xfrm>
        </p:spPr>
        <p:txBody>
          <a:bodyPr>
            <a:normAutofit fontScale="70000" lnSpcReduction="20000"/>
          </a:bodyPr>
          <a:lstStyle/>
          <a:p>
            <a:pPr algn="just">
              <a:lnSpc>
                <a:spcPct val="150000"/>
              </a:lnSpc>
            </a:pPr>
            <a:r>
              <a:rPr lang="en-US" b="1" dirty="0">
                <a:solidFill>
                  <a:srgbClr val="FF0000"/>
                </a:solidFill>
                <a:latin typeface="Bookman Old Style" panose="02050604050505020204" pitchFamily="18" charset="0"/>
              </a:rPr>
              <a:t>Mentor program: </a:t>
            </a:r>
            <a:r>
              <a:rPr lang="en-US" dirty="0">
                <a:latin typeface="Bookman Old Style" panose="02050604050505020204" pitchFamily="18" charset="0"/>
              </a:rPr>
              <a:t>Support members of a diverse group </a:t>
            </a:r>
          </a:p>
          <a:p>
            <a:pPr lvl="1" algn="just">
              <a:lnSpc>
                <a:spcPct val="150000"/>
              </a:lnSpc>
            </a:pPr>
            <a:r>
              <a:rPr lang="en-US" dirty="0">
                <a:latin typeface="Bookman Old Style" panose="02050604050505020204" pitchFamily="18" charset="0"/>
              </a:rPr>
              <a:t>Their jobs</a:t>
            </a:r>
          </a:p>
          <a:p>
            <a:pPr lvl="1" algn="just">
              <a:lnSpc>
                <a:spcPct val="150000"/>
              </a:lnSpc>
            </a:pPr>
            <a:r>
              <a:rPr lang="en-US" dirty="0">
                <a:latin typeface="Bookman Old Style" panose="02050604050505020204" pitchFamily="18" charset="0"/>
              </a:rPr>
              <a:t>Socialize them in the cultural values of the organization</a:t>
            </a:r>
          </a:p>
          <a:p>
            <a:pPr lvl="1" algn="just">
              <a:lnSpc>
                <a:spcPct val="150000"/>
              </a:lnSpc>
            </a:pPr>
            <a:r>
              <a:rPr lang="en-US" dirty="0">
                <a:latin typeface="Bookman Old Style" panose="02050604050505020204" pitchFamily="18" charset="0"/>
              </a:rPr>
              <a:t>Pragmatically help them chances for development and advancement</a:t>
            </a:r>
          </a:p>
          <a:p>
            <a:pPr algn="just">
              <a:lnSpc>
                <a:spcPct val="150000"/>
              </a:lnSpc>
            </a:pPr>
            <a:r>
              <a:rPr lang="en-US" sz="2900" b="1" dirty="0">
                <a:solidFill>
                  <a:srgbClr val="FF0000"/>
                </a:solidFill>
                <a:latin typeface="Bookman Old Style" panose="02050604050505020204" pitchFamily="18" charset="0"/>
              </a:rPr>
              <a:t>Benefits that mentors can provide to those they assist</a:t>
            </a:r>
          </a:p>
          <a:p>
            <a:pPr marL="514350" indent="-514350" algn="just">
              <a:lnSpc>
                <a:spcPct val="150000"/>
              </a:lnSpc>
              <a:buAutoNum type="arabicPeriod"/>
            </a:pPr>
            <a:r>
              <a:rPr lang="en-US" sz="2900" dirty="0">
                <a:latin typeface="Bookman Old Style" panose="02050604050505020204" pitchFamily="18" charset="0"/>
              </a:rPr>
              <a:t>Identify the skills, interests, and aspirations the person has </a:t>
            </a:r>
          </a:p>
          <a:p>
            <a:pPr marL="514350" indent="-514350" algn="just">
              <a:lnSpc>
                <a:spcPct val="150000"/>
              </a:lnSpc>
              <a:buAutoNum type="arabicPeriod"/>
            </a:pPr>
            <a:r>
              <a:rPr lang="en-US" sz="2900" dirty="0">
                <a:latin typeface="Bookman Old Style" panose="02050604050505020204" pitchFamily="18" charset="0"/>
              </a:rPr>
              <a:t>Provide instruction in specific skills and knowledge critical to successful job performance </a:t>
            </a:r>
          </a:p>
          <a:p>
            <a:pPr marL="514350" indent="-514350" algn="just">
              <a:lnSpc>
                <a:spcPct val="150000"/>
              </a:lnSpc>
              <a:buAutoNum type="arabicPeriod"/>
            </a:pPr>
            <a:r>
              <a:rPr lang="en-US" sz="2900" dirty="0">
                <a:latin typeface="Bookman Old Style" panose="02050604050505020204" pitchFamily="18" charset="0"/>
              </a:rPr>
              <a:t>Help in understanding the unwritten rules of the organization and how to avoid saying or doing the wrong things </a:t>
            </a:r>
          </a:p>
          <a:p>
            <a:pPr marL="514350" indent="-514350" algn="just">
              <a:lnSpc>
                <a:spcPct val="150000"/>
              </a:lnSpc>
              <a:buAutoNum type="arabicPeriod"/>
            </a:pPr>
            <a:r>
              <a:rPr lang="en-US" sz="2900" dirty="0">
                <a:latin typeface="Bookman Old Style" panose="02050604050505020204" pitchFamily="18" charset="0"/>
              </a:rPr>
              <a:t>Answer questions and provide important insights </a:t>
            </a:r>
          </a:p>
          <a:p>
            <a:pPr marL="514350" indent="-514350" algn="just">
              <a:lnSpc>
                <a:spcPct val="150000"/>
              </a:lnSpc>
              <a:buAutoNum type="arabicPeriod"/>
            </a:pPr>
            <a:r>
              <a:rPr lang="en-US" sz="2900" dirty="0">
                <a:latin typeface="Bookman Old Style" panose="02050604050505020204" pitchFamily="18" charset="0"/>
              </a:rPr>
              <a:t>Offer emotional support </a:t>
            </a:r>
          </a:p>
          <a:p>
            <a:pPr marL="514350" indent="-514350" algn="just">
              <a:lnSpc>
                <a:spcPct val="150000"/>
              </a:lnSpc>
              <a:buAutoNum type="arabicPeriod"/>
            </a:pPr>
            <a:r>
              <a:rPr lang="en-US" sz="2900" dirty="0">
                <a:latin typeface="Bookman Old Style" panose="02050604050505020204" pitchFamily="18" charset="0"/>
              </a:rPr>
              <a:t>Serve as a role model </a:t>
            </a:r>
          </a:p>
          <a:p>
            <a:pPr marL="514350" indent="-514350" algn="just">
              <a:lnSpc>
                <a:spcPct val="150000"/>
              </a:lnSpc>
              <a:buAutoNum type="arabicPeriod"/>
            </a:pPr>
            <a:r>
              <a:rPr lang="en-US" sz="2900" dirty="0">
                <a:latin typeface="Bookman Old Style" panose="02050604050505020204" pitchFamily="18" charset="0"/>
              </a:rPr>
              <a:t>Create an environment in which mistakes can be made without losing self-confidence</a:t>
            </a:r>
          </a:p>
          <a:p>
            <a:pPr>
              <a:lnSpc>
                <a:spcPct val="150000"/>
              </a:lnSpc>
            </a:pPr>
            <a:endParaRPr lang="en-IN" dirty="0">
              <a:latin typeface="Bookman Old Style" panose="02050604050505020204" pitchFamily="18" charset="0"/>
            </a:endParaRPr>
          </a:p>
        </p:txBody>
      </p:sp>
    </p:spTree>
    <p:extLst>
      <p:ext uri="{BB962C8B-B14F-4D97-AF65-F5344CB8AC3E}">
        <p14:creationId xmlns:p14="http://schemas.microsoft.com/office/powerpoint/2010/main" val="429493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6385B-A43E-3035-566A-976CB70A7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5684D-F5E9-264C-C263-79DBCE43C3E9}"/>
              </a:ext>
            </a:extLst>
          </p:cNvPr>
          <p:cNvSpPr>
            <a:spLocks noGrp="1"/>
          </p:cNvSpPr>
          <p:nvPr>
            <p:ph type="title"/>
          </p:nvPr>
        </p:nvSpPr>
        <p:spPr>
          <a:xfrm>
            <a:off x="1421296" y="149087"/>
            <a:ext cx="11214652" cy="506896"/>
          </a:xfrm>
        </p:spPr>
        <p:txBody>
          <a:bodyPr>
            <a:normAutofit fontScale="90000"/>
          </a:bodyPr>
          <a:lstStyle/>
          <a:p>
            <a:r>
              <a:rPr lang="en-US" sz="3200" b="1" dirty="0">
                <a:solidFill>
                  <a:srgbClr val="FF0000"/>
                </a:solidFill>
                <a:latin typeface="Bookman Old Style" panose="02050604050505020204" pitchFamily="18" charset="0"/>
                <a:ea typeface="+mn-ea"/>
                <a:cs typeface="+mn-cs"/>
              </a:rPr>
              <a:t>Organizational Approaches to Managing Diversity</a:t>
            </a:r>
            <a:endParaRPr lang="en-IN" sz="3200" b="1" dirty="0">
              <a:solidFill>
                <a:srgbClr val="FF0000"/>
              </a:solidFill>
              <a:latin typeface="Bookman Old Style" panose="02050604050505020204" pitchFamily="18" charset="0"/>
              <a:ea typeface="+mn-ea"/>
              <a:cs typeface="+mn-cs"/>
            </a:endParaRPr>
          </a:p>
        </p:txBody>
      </p:sp>
      <p:sp>
        <p:nvSpPr>
          <p:cNvPr id="3" name="Content Placeholder 2">
            <a:extLst>
              <a:ext uri="{FF2B5EF4-FFF2-40B4-BE49-F238E27FC236}">
                <a16:creationId xmlns:a16="http://schemas.microsoft.com/office/drawing/2014/main" id="{974BD402-127A-11B1-EBAE-A6C67E4D543E}"/>
              </a:ext>
            </a:extLst>
          </p:cNvPr>
          <p:cNvSpPr>
            <a:spLocks noGrp="1"/>
          </p:cNvSpPr>
          <p:nvPr>
            <p:ph idx="1"/>
          </p:nvPr>
        </p:nvSpPr>
        <p:spPr>
          <a:xfrm>
            <a:off x="1537732" y="655983"/>
            <a:ext cx="10515119" cy="6276354"/>
          </a:xfrm>
        </p:spPr>
        <p:txBody>
          <a:bodyPr>
            <a:normAutofit/>
          </a:bodyPr>
          <a:lstStyle/>
          <a:p>
            <a:pPr marL="0" indent="0" algn="just">
              <a:lnSpc>
                <a:spcPct val="150000"/>
              </a:lnSpc>
              <a:buNone/>
            </a:pPr>
            <a:r>
              <a:rPr lang="en-IN" b="1" dirty="0">
                <a:solidFill>
                  <a:srgbClr val="FF0000"/>
                </a:solidFill>
              </a:rPr>
              <a:t>4. Work/Family Programs</a:t>
            </a:r>
          </a:p>
          <a:p>
            <a:pPr marL="0" indent="0" algn="just">
              <a:lnSpc>
                <a:spcPct val="150000"/>
              </a:lnSpc>
              <a:buNone/>
            </a:pPr>
            <a:r>
              <a:rPr lang="en-US" dirty="0"/>
              <a:t>Flextime</a:t>
            </a:r>
          </a:p>
          <a:p>
            <a:pPr marL="0" indent="0" algn="just">
              <a:lnSpc>
                <a:spcPct val="150000"/>
              </a:lnSpc>
              <a:buNone/>
            </a:pPr>
            <a:r>
              <a:rPr lang="en-US" dirty="0"/>
              <a:t>Compressed workweek</a:t>
            </a:r>
          </a:p>
          <a:p>
            <a:pPr marL="0" indent="0" algn="just">
              <a:lnSpc>
                <a:spcPct val="150000"/>
              </a:lnSpc>
              <a:buNone/>
            </a:pPr>
            <a:r>
              <a:rPr lang="en-US" dirty="0"/>
              <a:t>Job sharing</a:t>
            </a:r>
          </a:p>
          <a:p>
            <a:pPr marL="0" indent="0" algn="just">
              <a:lnSpc>
                <a:spcPct val="150000"/>
              </a:lnSpc>
              <a:buNone/>
            </a:pPr>
            <a:r>
              <a:rPr lang="en-US" dirty="0"/>
              <a:t>Telecommuting</a:t>
            </a:r>
          </a:p>
          <a:p>
            <a:pPr marL="0" indent="0" algn="just">
              <a:lnSpc>
                <a:spcPct val="150000"/>
              </a:lnSpc>
              <a:buNone/>
            </a:pPr>
            <a:r>
              <a:rPr lang="en-IN" dirty="0"/>
              <a:t>Innovative family-friendly programs</a:t>
            </a:r>
            <a:endParaRPr lang="en-IN" b="1" dirty="0">
              <a:solidFill>
                <a:srgbClr val="FF0000"/>
              </a:solidFill>
              <a:latin typeface="Bookman Old Style" panose="02050604050505020204" pitchFamily="18" charset="0"/>
            </a:endParaRPr>
          </a:p>
        </p:txBody>
      </p:sp>
      <p:pic>
        <p:nvPicPr>
          <p:cNvPr id="5" name="Picture 4">
            <a:extLst>
              <a:ext uri="{FF2B5EF4-FFF2-40B4-BE49-F238E27FC236}">
                <a16:creationId xmlns:a16="http://schemas.microsoft.com/office/drawing/2014/main" id="{C9EDED75-7530-54D3-4BB6-95FD6E76095F}"/>
              </a:ext>
            </a:extLst>
          </p:cNvPr>
          <p:cNvPicPr>
            <a:picLocks noChangeAspect="1"/>
          </p:cNvPicPr>
          <p:nvPr/>
        </p:nvPicPr>
        <p:blipFill>
          <a:blip r:embed="rId2"/>
          <a:stretch>
            <a:fillRect/>
          </a:stretch>
        </p:blipFill>
        <p:spPr>
          <a:xfrm>
            <a:off x="6447662" y="914182"/>
            <a:ext cx="4206605" cy="2514818"/>
          </a:xfrm>
          <a:prstGeom prst="rect">
            <a:avLst/>
          </a:prstGeom>
          <a:ln>
            <a:solidFill>
              <a:schemeClr val="accent1"/>
            </a:solidFill>
          </a:ln>
        </p:spPr>
      </p:pic>
      <p:pic>
        <p:nvPicPr>
          <p:cNvPr id="7" name="Picture 6">
            <a:extLst>
              <a:ext uri="{FF2B5EF4-FFF2-40B4-BE49-F238E27FC236}">
                <a16:creationId xmlns:a16="http://schemas.microsoft.com/office/drawing/2014/main" id="{992D24BB-CC7A-6755-1503-785DB18472DE}"/>
              </a:ext>
            </a:extLst>
          </p:cNvPr>
          <p:cNvPicPr>
            <a:picLocks noChangeAspect="1"/>
          </p:cNvPicPr>
          <p:nvPr/>
        </p:nvPicPr>
        <p:blipFill>
          <a:blip r:embed="rId3"/>
          <a:stretch>
            <a:fillRect/>
          </a:stretch>
        </p:blipFill>
        <p:spPr>
          <a:xfrm>
            <a:off x="1537732" y="69575"/>
            <a:ext cx="9574216" cy="6968938"/>
          </a:xfrm>
          <a:prstGeom prst="rect">
            <a:avLst/>
          </a:prstGeom>
        </p:spPr>
      </p:pic>
    </p:spTree>
    <p:extLst>
      <p:ext uri="{BB962C8B-B14F-4D97-AF65-F5344CB8AC3E}">
        <p14:creationId xmlns:p14="http://schemas.microsoft.com/office/powerpoint/2010/main" val="248160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9835F-BA6B-9920-E518-364EB5F8400B}"/>
              </a:ext>
            </a:extLst>
          </p:cNvPr>
          <p:cNvSpPr>
            <a:spLocks noGrp="1"/>
          </p:cNvSpPr>
          <p:nvPr>
            <p:ph type="title"/>
          </p:nvPr>
        </p:nvSpPr>
        <p:spPr>
          <a:xfrm>
            <a:off x="718930" y="2352951"/>
            <a:ext cx="10515600" cy="1325563"/>
          </a:xfrm>
        </p:spPr>
        <p:txBody>
          <a:bodyPr>
            <a:normAutofit/>
          </a:bodyPr>
          <a:lstStyle/>
          <a:p>
            <a:pPr algn="ctr"/>
            <a:r>
              <a:rPr lang="en-US" b="1" dirty="0">
                <a:solidFill>
                  <a:schemeClr val="accent6">
                    <a:lumMod val="75000"/>
                  </a:schemeClr>
                </a:solidFill>
              </a:rPr>
              <a:t>ETHICS AND ETHICAL BEHAVIOR IN ORGANIZATIONS</a:t>
            </a:r>
            <a:endParaRPr lang="en-IN" b="1" dirty="0">
              <a:solidFill>
                <a:schemeClr val="accent6">
                  <a:lumMod val="75000"/>
                </a:schemeClr>
              </a:solidFill>
            </a:endParaRPr>
          </a:p>
        </p:txBody>
      </p:sp>
      <p:pic>
        <p:nvPicPr>
          <p:cNvPr id="5" name="Picture 4">
            <a:extLst>
              <a:ext uri="{FF2B5EF4-FFF2-40B4-BE49-F238E27FC236}">
                <a16:creationId xmlns:a16="http://schemas.microsoft.com/office/drawing/2014/main" id="{BEB08DDC-A66F-C13D-BB88-4CDBCB381002}"/>
              </a:ext>
            </a:extLst>
          </p:cNvPr>
          <p:cNvPicPr>
            <a:picLocks noChangeAspect="1"/>
          </p:cNvPicPr>
          <p:nvPr/>
        </p:nvPicPr>
        <p:blipFill>
          <a:blip r:embed="rId2"/>
          <a:stretch>
            <a:fillRect/>
          </a:stretch>
        </p:blipFill>
        <p:spPr>
          <a:xfrm>
            <a:off x="8138162" y="3306285"/>
            <a:ext cx="3787468" cy="3048264"/>
          </a:xfrm>
          <a:prstGeom prst="rect">
            <a:avLst/>
          </a:prstGeom>
        </p:spPr>
      </p:pic>
    </p:spTree>
    <p:extLst>
      <p:ext uri="{BB962C8B-B14F-4D97-AF65-F5344CB8AC3E}">
        <p14:creationId xmlns:p14="http://schemas.microsoft.com/office/powerpoint/2010/main" val="1242263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7943-62AD-5EE9-B5BE-9FC6644715E8}"/>
              </a:ext>
            </a:extLst>
          </p:cNvPr>
          <p:cNvSpPr>
            <a:spLocks noGrp="1"/>
          </p:cNvSpPr>
          <p:nvPr>
            <p:ph type="title"/>
          </p:nvPr>
        </p:nvSpPr>
        <p:spPr>
          <a:xfrm>
            <a:off x="192157" y="86830"/>
            <a:ext cx="10515600" cy="817632"/>
          </a:xfrm>
        </p:spPr>
        <p:txBody>
          <a:bodyPr/>
          <a:lstStyle/>
          <a:p>
            <a:r>
              <a:rPr lang="en-IN" dirty="0"/>
              <a:t>Ethics</a:t>
            </a:r>
          </a:p>
        </p:txBody>
      </p:sp>
      <p:sp>
        <p:nvSpPr>
          <p:cNvPr id="3" name="Content Placeholder 2">
            <a:extLst>
              <a:ext uri="{FF2B5EF4-FFF2-40B4-BE49-F238E27FC236}">
                <a16:creationId xmlns:a16="http://schemas.microsoft.com/office/drawing/2014/main" id="{31897507-437A-2521-8B03-DDC52649E046}"/>
              </a:ext>
            </a:extLst>
          </p:cNvPr>
          <p:cNvSpPr>
            <a:spLocks noGrp="1"/>
          </p:cNvSpPr>
          <p:nvPr>
            <p:ph idx="1"/>
          </p:nvPr>
        </p:nvSpPr>
        <p:spPr>
          <a:xfrm>
            <a:off x="367747" y="904462"/>
            <a:ext cx="11459817" cy="5272501"/>
          </a:xfrm>
        </p:spPr>
        <p:txBody>
          <a:bodyPr>
            <a:normAutofit lnSpcReduction="10000"/>
          </a:bodyPr>
          <a:lstStyle/>
          <a:p>
            <a:pPr>
              <a:lnSpc>
                <a:spcPct val="150000"/>
              </a:lnSpc>
            </a:pPr>
            <a:r>
              <a:rPr lang="en-US" dirty="0">
                <a:latin typeface="Bookman Old Style" panose="02050604050505020204" pitchFamily="18" charset="0"/>
              </a:rPr>
              <a:t>Ethics involves moral issues and choices and deals with right and wrong behavior</a:t>
            </a:r>
          </a:p>
          <a:p>
            <a:pPr>
              <a:lnSpc>
                <a:spcPct val="150000"/>
              </a:lnSpc>
            </a:pPr>
            <a:r>
              <a:rPr lang="en-US" b="1" dirty="0">
                <a:solidFill>
                  <a:srgbClr val="FF0000"/>
                </a:solidFill>
                <a:latin typeface="Bookman Old Style" panose="02050604050505020204" pitchFamily="18" charset="0"/>
              </a:rPr>
              <a:t>Ethical behavior </a:t>
            </a:r>
            <a:r>
              <a:rPr lang="en-US" dirty="0">
                <a:latin typeface="Bookman Old Style" panose="02050604050505020204" pitchFamily="18" charset="0"/>
              </a:rPr>
              <a:t>is determined by</a:t>
            </a:r>
          </a:p>
          <a:p>
            <a:pPr lvl="1">
              <a:lnSpc>
                <a:spcPct val="150000"/>
              </a:lnSpc>
            </a:pPr>
            <a:r>
              <a:rPr lang="en-US" b="1" dirty="0">
                <a:latin typeface="Bookman Old Style" panose="02050604050505020204" pitchFamily="18" charset="0"/>
              </a:rPr>
              <a:t>Cultural: </a:t>
            </a:r>
            <a:r>
              <a:rPr lang="en-US" dirty="0">
                <a:latin typeface="Bookman Old Style" panose="02050604050505020204" pitchFamily="18" charset="0"/>
              </a:rPr>
              <a:t>Family, friends, neighbors, education, religion, and the media </a:t>
            </a:r>
          </a:p>
          <a:p>
            <a:pPr lvl="1">
              <a:lnSpc>
                <a:spcPct val="150000"/>
              </a:lnSpc>
            </a:pPr>
            <a:r>
              <a:rPr lang="en-US" b="1" dirty="0">
                <a:latin typeface="Bookman Old Style" panose="02050604050505020204" pitchFamily="18" charset="0"/>
              </a:rPr>
              <a:t>Organizational: </a:t>
            </a:r>
            <a:r>
              <a:rPr lang="en-US" dirty="0">
                <a:latin typeface="Bookman Old Style" panose="02050604050505020204" pitchFamily="18" charset="0"/>
              </a:rPr>
              <a:t>Ethical codes, role models, policies and practices, and reward and punishment systems</a:t>
            </a:r>
          </a:p>
          <a:p>
            <a:pPr lvl="1">
              <a:lnSpc>
                <a:spcPct val="150000"/>
              </a:lnSpc>
            </a:pPr>
            <a:r>
              <a:rPr lang="en-US" b="1" dirty="0">
                <a:latin typeface="Bookman Old Style" panose="02050604050505020204" pitchFamily="18" charset="0"/>
              </a:rPr>
              <a:t>External environment: </a:t>
            </a:r>
            <a:r>
              <a:rPr lang="en-US" dirty="0">
                <a:latin typeface="Bookman Old Style" panose="02050604050505020204" pitchFamily="18" charset="0"/>
              </a:rPr>
              <a:t>Political, legal, economic, and international developments.</a:t>
            </a:r>
            <a:endParaRPr lang="en-IN" dirty="0">
              <a:latin typeface="Bookman Old Style" panose="02050604050505020204" pitchFamily="18" charset="0"/>
            </a:endParaRPr>
          </a:p>
        </p:txBody>
      </p:sp>
    </p:spTree>
    <p:extLst>
      <p:ext uri="{BB962C8B-B14F-4D97-AF65-F5344CB8AC3E}">
        <p14:creationId xmlns:p14="http://schemas.microsoft.com/office/powerpoint/2010/main" val="3446963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A567-DB54-89F9-4987-EC9223CCD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30641-9F6F-C4E6-539A-20E46AF2BD47}"/>
              </a:ext>
            </a:extLst>
          </p:cNvPr>
          <p:cNvSpPr>
            <a:spLocks noGrp="1"/>
          </p:cNvSpPr>
          <p:nvPr>
            <p:ph type="title"/>
          </p:nvPr>
        </p:nvSpPr>
        <p:spPr>
          <a:xfrm>
            <a:off x="192157" y="86830"/>
            <a:ext cx="10515600" cy="817632"/>
          </a:xfrm>
        </p:spPr>
        <p:txBody>
          <a:bodyPr/>
          <a:lstStyle/>
          <a:p>
            <a:r>
              <a:rPr lang="en-IN" dirty="0"/>
              <a:t>Ethics</a:t>
            </a:r>
          </a:p>
        </p:txBody>
      </p:sp>
      <p:sp>
        <p:nvSpPr>
          <p:cNvPr id="3" name="Content Placeholder 2">
            <a:extLst>
              <a:ext uri="{FF2B5EF4-FFF2-40B4-BE49-F238E27FC236}">
                <a16:creationId xmlns:a16="http://schemas.microsoft.com/office/drawing/2014/main" id="{7170629A-0EAA-1B96-16EB-A110F9C1162F}"/>
              </a:ext>
            </a:extLst>
          </p:cNvPr>
          <p:cNvSpPr>
            <a:spLocks noGrp="1"/>
          </p:cNvSpPr>
          <p:nvPr>
            <p:ph idx="1"/>
          </p:nvPr>
        </p:nvSpPr>
        <p:spPr>
          <a:xfrm>
            <a:off x="367747" y="904462"/>
            <a:ext cx="11459817" cy="5272501"/>
          </a:xfrm>
        </p:spPr>
        <p:txBody>
          <a:bodyPr>
            <a:normAutofit/>
          </a:bodyPr>
          <a:lstStyle/>
          <a:p>
            <a:pPr>
              <a:lnSpc>
                <a:spcPct val="150000"/>
              </a:lnSpc>
            </a:pPr>
            <a:r>
              <a:rPr lang="en-US" dirty="0">
                <a:latin typeface="Bookman Old Style" panose="02050604050505020204" pitchFamily="18" charset="0"/>
              </a:rPr>
              <a:t>Peer pressure on many people to be less ethical</a:t>
            </a:r>
          </a:p>
          <a:p>
            <a:pPr>
              <a:lnSpc>
                <a:spcPct val="150000"/>
              </a:lnSpc>
            </a:pPr>
            <a:r>
              <a:rPr lang="en-US" dirty="0">
                <a:latin typeface="Bookman Old Style" panose="02050604050505020204" pitchFamily="18" charset="0"/>
              </a:rPr>
              <a:t>One person or group finds unethical may be viewed differently by another individual or group</a:t>
            </a:r>
          </a:p>
          <a:p>
            <a:pPr>
              <a:lnSpc>
                <a:spcPct val="150000"/>
              </a:lnSpc>
            </a:pPr>
            <a:endParaRPr lang="en-IN" dirty="0">
              <a:latin typeface="Bookman Old Style" panose="02050604050505020204" pitchFamily="18" charset="0"/>
            </a:endParaRPr>
          </a:p>
        </p:txBody>
      </p:sp>
    </p:spTree>
    <p:extLst>
      <p:ext uri="{BB962C8B-B14F-4D97-AF65-F5344CB8AC3E}">
        <p14:creationId xmlns:p14="http://schemas.microsoft.com/office/powerpoint/2010/main" val="297684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D44C-B565-4EBF-5EAE-886B9C343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0706B-7CCD-81E4-CA30-E136A0D83D51}"/>
              </a:ext>
            </a:extLst>
          </p:cNvPr>
          <p:cNvSpPr>
            <a:spLocks noGrp="1"/>
          </p:cNvSpPr>
          <p:nvPr>
            <p:ph type="title"/>
          </p:nvPr>
        </p:nvSpPr>
        <p:spPr>
          <a:xfrm>
            <a:off x="192157" y="86830"/>
            <a:ext cx="10515600" cy="817632"/>
          </a:xfrm>
        </p:spPr>
        <p:txBody>
          <a:bodyPr/>
          <a:lstStyle/>
          <a:p>
            <a:r>
              <a:rPr lang="en-IN" b="1" dirty="0">
                <a:solidFill>
                  <a:srgbClr val="FF0000"/>
                </a:solidFill>
              </a:rPr>
              <a:t>Self Reflection Activity</a:t>
            </a:r>
          </a:p>
        </p:txBody>
      </p:sp>
      <p:sp>
        <p:nvSpPr>
          <p:cNvPr id="3" name="Content Placeholder 2">
            <a:extLst>
              <a:ext uri="{FF2B5EF4-FFF2-40B4-BE49-F238E27FC236}">
                <a16:creationId xmlns:a16="http://schemas.microsoft.com/office/drawing/2014/main" id="{73C66AAF-0955-CA4F-4666-73D4EE5B0E27}"/>
              </a:ext>
            </a:extLst>
          </p:cNvPr>
          <p:cNvSpPr>
            <a:spLocks noGrp="1"/>
          </p:cNvSpPr>
          <p:nvPr>
            <p:ph idx="1"/>
          </p:nvPr>
        </p:nvSpPr>
        <p:spPr>
          <a:xfrm>
            <a:off x="367747" y="904462"/>
            <a:ext cx="11459817" cy="5272501"/>
          </a:xfrm>
        </p:spPr>
        <p:txBody>
          <a:bodyPr>
            <a:normAutofit/>
          </a:bodyPr>
          <a:lstStyle/>
          <a:p>
            <a:pPr algn="just">
              <a:lnSpc>
                <a:spcPct val="150000"/>
              </a:lnSpc>
            </a:pPr>
            <a:r>
              <a:rPr lang="en-US" dirty="0">
                <a:latin typeface="Bookman Old Style" panose="02050604050505020204" pitchFamily="18" charset="0"/>
              </a:rPr>
              <a:t>Ethical issues are very much at the forefront of organizational behavior in today’s environment. One controversial issue concerns monitoring employees. Technology has now made it easy and inexpensive for employers to closely monitor the behaviors of employees. Do you believe employers should be allowed to electronically monitor workers? Would you like to be monitored in this fashion? Justify.</a:t>
            </a:r>
            <a:endParaRPr lang="en-IN" dirty="0">
              <a:latin typeface="Bookman Old Style" panose="02050604050505020204" pitchFamily="18" charset="0"/>
            </a:endParaRPr>
          </a:p>
        </p:txBody>
      </p:sp>
    </p:spTree>
    <p:extLst>
      <p:ext uri="{BB962C8B-B14F-4D97-AF65-F5344CB8AC3E}">
        <p14:creationId xmlns:p14="http://schemas.microsoft.com/office/powerpoint/2010/main" val="2668544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0564B-6CF8-6D5C-8B55-2E74DD0C0AE2}"/>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a:t>
            </a:r>
          </a:p>
        </p:txBody>
      </p:sp>
      <p:sp>
        <p:nvSpPr>
          <p:cNvPr id="3" name="Content Placeholder 2">
            <a:extLst>
              <a:ext uri="{FF2B5EF4-FFF2-40B4-BE49-F238E27FC236}">
                <a16:creationId xmlns:a16="http://schemas.microsoft.com/office/drawing/2014/main" id="{A21835C4-9E95-5D5C-7051-E20F1BFAC878}"/>
              </a:ext>
            </a:extLst>
          </p:cNvPr>
          <p:cNvSpPr>
            <a:spLocks noGrp="1"/>
          </p:cNvSpPr>
          <p:nvPr>
            <p:ph idx="1"/>
          </p:nvPr>
        </p:nvSpPr>
        <p:spPr>
          <a:xfrm>
            <a:off x="152399" y="944217"/>
            <a:ext cx="11774557" cy="5232746"/>
          </a:xfrm>
        </p:spPr>
        <p:txBody>
          <a:bodyPr/>
          <a:lstStyle/>
          <a:p>
            <a:pPr algn="just">
              <a:lnSpc>
                <a:spcPct val="150000"/>
              </a:lnSpc>
            </a:pPr>
            <a:r>
              <a:rPr lang="en-IN" dirty="0">
                <a:latin typeface="Bookman Old Style" panose="02050604050505020204" pitchFamily="18" charset="0"/>
              </a:rPr>
              <a:t>Defines how job tasks are formally divided, grouped and coordinated</a:t>
            </a:r>
          </a:p>
          <a:p>
            <a:pPr algn="just">
              <a:lnSpc>
                <a:spcPct val="150000"/>
              </a:lnSpc>
            </a:pPr>
            <a:r>
              <a:rPr lang="en-IN" dirty="0">
                <a:latin typeface="Bookman Old Style" panose="02050604050505020204" pitchFamily="18" charset="0"/>
              </a:rPr>
              <a:t>Organizational Design: </a:t>
            </a:r>
            <a:r>
              <a:rPr lang="en-IN" b="1" dirty="0">
                <a:solidFill>
                  <a:srgbClr val="FF0000"/>
                </a:solidFill>
                <a:latin typeface="Bookman Old Style" panose="02050604050505020204" pitchFamily="18" charset="0"/>
              </a:rPr>
              <a:t>Six Key elements</a:t>
            </a:r>
          </a:p>
          <a:p>
            <a:pPr algn="just">
              <a:lnSpc>
                <a:spcPct val="150000"/>
              </a:lnSpc>
            </a:pPr>
            <a:endParaRPr lang="en-IN" dirty="0">
              <a:latin typeface="Bookman Old Style" panose="02050604050505020204" pitchFamily="18" charset="0"/>
            </a:endParaRPr>
          </a:p>
        </p:txBody>
      </p:sp>
      <p:graphicFrame>
        <p:nvGraphicFramePr>
          <p:cNvPr id="4" name="Table 3">
            <a:extLst>
              <a:ext uri="{FF2B5EF4-FFF2-40B4-BE49-F238E27FC236}">
                <a16:creationId xmlns:a16="http://schemas.microsoft.com/office/drawing/2014/main" id="{0EEB02A5-8A8F-ADD3-1DDA-01A94B71B34B}"/>
              </a:ext>
            </a:extLst>
          </p:cNvPr>
          <p:cNvGraphicFramePr>
            <a:graphicFrameLocks noGrp="1"/>
          </p:cNvGraphicFramePr>
          <p:nvPr>
            <p:extLst>
              <p:ext uri="{D42A27DB-BD31-4B8C-83A1-F6EECF244321}">
                <p14:modId xmlns:p14="http://schemas.microsoft.com/office/powerpoint/2010/main" val="2961197678"/>
              </p:ext>
            </p:extLst>
          </p:nvPr>
        </p:nvGraphicFramePr>
        <p:xfrm>
          <a:off x="367748" y="3134874"/>
          <a:ext cx="11559208" cy="3723128"/>
        </p:xfrm>
        <a:graphic>
          <a:graphicData uri="http://schemas.openxmlformats.org/drawingml/2006/table">
            <a:tbl>
              <a:tblPr firstRow="1" bandRow="1">
                <a:tableStyleId>{8A107856-5554-42FB-B03E-39F5DBC370BA}</a:tableStyleId>
              </a:tblPr>
              <a:tblGrid>
                <a:gridCol w="7036904">
                  <a:extLst>
                    <a:ext uri="{9D8B030D-6E8A-4147-A177-3AD203B41FA5}">
                      <a16:colId xmlns:a16="http://schemas.microsoft.com/office/drawing/2014/main" val="4284065649"/>
                    </a:ext>
                  </a:extLst>
                </a:gridCol>
                <a:gridCol w="4522304">
                  <a:extLst>
                    <a:ext uri="{9D8B030D-6E8A-4147-A177-3AD203B41FA5}">
                      <a16:colId xmlns:a16="http://schemas.microsoft.com/office/drawing/2014/main" val="2752021651"/>
                    </a:ext>
                  </a:extLst>
                </a:gridCol>
              </a:tblGrid>
              <a:tr h="440500">
                <a:tc>
                  <a:txBody>
                    <a:bodyPr/>
                    <a:lstStyle/>
                    <a:p>
                      <a:r>
                        <a:rPr lang="en-IN" dirty="0">
                          <a:latin typeface="Bookman Old Style" panose="02050604050505020204" pitchFamily="18" charset="0"/>
                        </a:rPr>
                        <a:t>Key Question</a:t>
                      </a:r>
                    </a:p>
                  </a:txBody>
                  <a:tcPr/>
                </a:tc>
                <a:tc>
                  <a:txBody>
                    <a:bodyPr/>
                    <a:lstStyle/>
                    <a:p>
                      <a:r>
                        <a:rPr lang="en-IN" dirty="0">
                          <a:latin typeface="Bookman Old Style" panose="02050604050505020204" pitchFamily="18" charset="0"/>
                        </a:rPr>
                        <a:t>Answer provided by</a:t>
                      </a:r>
                    </a:p>
                  </a:txBody>
                  <a:tcPr/>
                </a:tc>
                <a:extLst>
                  <a:ext uri="{0D108BD9-81ED-4DB2-BD59-A6C34878D82A}">
                    <a16:rowId xmlns:a16="http://schemas.microsoft.com/office/drawing/2014/main" val="2607749424"/>
                  </a:ext>
                </a:extLst>
              </a:tr>
              <a:tr h="440500">
                <a:tc>
                  <a:txBody>
                    <a:bodyPr/>
                    <a:lstStyle/>
                    <a:p>
                      <a:r>
                        <a:rPr lang="en-IN" dirty="0">
                          <a:latin typeface="Bookman Old Style" panose="02050604050505020204" pitchFamily="18" charset="0"/>
                        </a:rPr>
                        <a:t>To what degree are tasks subdivided into separate jobs?</a:t>
                      </a:r>
                    </a:p>
                  </a:txBody>
                  <a:tcPr/>
                </a:tc>
                <a:tc>
                  <a:txBody>
                    <a:bodyPr/>
                    <a:lstStyle/>
                    <a:p>
                      <a:r>
                        <a:rPr lang="en-IN" dirty="0">
                          <a:latin typeface="Bookman Old Style" panose="02050604050505020204" pitchFamily="18" charset="0"/>
                        </a:rPr>
                        <a:t>Work specialization</a:t>
                      </a:r>
                    </a:p>
                  </a:txBody>
                  <a:tcPr/>
                </a:tc>
                <a:extLst>
                  <a:ext uri="{0D108BD9-81ED-4DB2-BD59-A6C34878D82A}">
                    <a16:rowId xmlns:a16="http://schemas.microsoft.com/office/drawing/2014/main" val="2585585729"/>
                  </a:ext>
                </a:extLst>
              </a:tr>
              <a:tr h="440500">
                <a:tc>
                  <a:txBody>
                    <a:bodyPr/>
                    <a:lstStyle/>
                    <a:p>
                      <a:r>
                        <a:rPr lang="en-IN" dirty="0">
                          <a:latin typeface="Bookman Old Style" panose="02050604050505020204" pitchFamily="18" charset="0"/>
                        </a:rPr>
                        <a:t>On what basis will jobs be grouped together?</a:t>
                      </a:r>
                    </a:p>
                  </a:txBody>
                  <a:tcPr/>
                </a:tc>
                <a:tc>
                  <a:txBody>
                    <a:bodyPr/>
                    <a:lstStyle/>
                    <a:p>
                      <a:r>
                        <a:rPr lang="en-IN" dirty="0">
                          <a:latin typeface="Bookman Old Style" panose="02050604050505020204" pitchFamily="18" charset="0"/>
                        </a:rPr>
                        <a:t>Departmentalization</a:t>
                      </a:r>
                    </a:p>
                  </a:txBody>
                  <a:tcPr/>
                </a:tc>
                <a:extLst>
                  <a:ext uri="{0D108BD9-81ED-4DB2-BD59-A6C34878D82A}">
                    <a16:rowId xmlns:a16="http://schemas.microsoft.com/office/drawing/2014/main" val="2826400752"/>
                  </a:ext>
                </a:extLst>
              </a:tr>
              <a:tr h="440500">
                <a:tc>
                  <a:txBody>
                    <a:bodyPr/>
                    <a:lstStyle/>
                    <a:p>
                      <a:r>
                        <a:rPr lang="en-IN" dirty="0">
                          <a:latin typeface="Bookman Old Style" panose="02050604050505020204" pitchFamily="18" charset="0"/>
                        </a:rPr>
                        <a:t>To whom do individuals and groups report?</a:t>
                      </a:r>
                    </a:p>
                  </a:txBody>
                  <a:tcPr/>
                </a:tc>
                <a:tc>
                  <a:txBody>
                    <a:bodyPr/>
                    <a:lstStyle/>
                    <a:p>
                      <a:r>
                        <a:rPr lang="en-IN" dirty="0">
                          <a:latin typeface="Bookman Old Style" panose="02050604050505020204" pitchFamily="18" charset="0"/>
                        </a:rPr>
                        <a:t>Chain of Command</a:t>
                      </a:r>
                    </a:p>
                  </a:txBody>
                  <a:tcPr/>
                </a:tc>
                <a:extLst>
                  <a:ext uri="{0D108BD9-81ED-4DB2-BD59-A6C34878D82A}">
                    <a16:rowId xmlns:a16="http://schemas.microsoft.com/office/drawing/2014/main" val="876382327"/>
                  </a:ext>
                </a:extLst>
              </a:tr>
              <a:tr h="760314">
                <a:tc>
                  <a:txBody>
                    <a:bodyPr/>
                    <a:lstStyle/>
                    <a:p>
                      <a:r>
                        <a:rPr lang="en-IN" dirty="0">
                          <a:latin typeface="Bookman Old Style" panose="02050604050505020204" pitchFamily="18" charset="0"/>
                        </a:rPr>
                        <a:t>How many individuals can a manager efficiently and effectively direct?</a:t>
                      </a:r>
                    </a:p>
                  </a:txBody>
                  <a:tcPr/>
                </a:tc>
                <a:tc>
                  <a:txBody>
                    <a:bodyPr/>
                    <a:lstStyle/>
                    <a:p>
                      <a:r>
                        <a:rPr lang="en-IN" dirty="0">
                          <a:latin typeface="Bookman Old Style" panose="02050604050505020204" pitchFamily="18" charset="0"/>
                        </a:rPr>
                        <a:t>Span of Control</a:t>
                      </a:r>
                    </a:p>
                  </a:txBody>
                  <a:tcPr/>
                </a:tc>
                <a:extLst>
                  <a:ext uri="{0D108BD9-81ED-4DB2-BD59-A6C34878D82A}">
                    <a16:rowId xmlns:a16="http://schemas.microsoft.com/office/drawing/2014/main" val="2412078842"/>
                  </a:ext>
                </a:extLst>
              </a:tr>
              <a:tr h="440500">
                <a:tc>
                  <a:txBody>
                    <a:bodyPr/>
                    <a:lstStyle/>
                    <a:p>
                      <a:r>
                        <a:rPr lang="en-IN" dirty="0">
                          <a:latin typeface="Bookman Old Style" panose="02050604050505020204" pitchFamily="18" charset="0"/>
                        </a:rPr>
                        <a:t>Where does decision making authority lie?</a:t>
                      </a:r>
                    </a:p>
                  </a:txBody>
                  <a:tcPr/>
                </a:tc>
                <a:tc>
                  <a:txBody>
                    <a:bodyPr/>
                    <a:lstStyle/>
                    <a:p>
                      <a:r>
                        <a:rPr lang="en-IN" dirty="0">
                          <a:latin typeface="Bookman Old Style" panose="02050604050505020204" pitchFamily="18" charset="0"/>
                        </a:rPr>
                        <a:t>Centralization and Decentralization</a:t>
                      </a:r>
                    </a:p>
                  </a:txBody>
                  <a:tcPr/>
                </a:tc>
                <a:extLst>
                  <a:ext uri="{0D108BD9-81ED-4DB2-BD59-A6C34878D82A}">
                    <a16:rowId xmlns:a16="http://schemas.microsoft.com/office/drawing/2014/main" val="3970981800"/>
                  </a:ext>
                </a:extLst>
              </a:tr>
              <a:tr h="760314">
                <a:tc>
                  <a:txBody>
                    <a:bodyPr/>
                    <a:lstStyle/>
                    <a:p>
                      <a:r>
                        <a:rPr lang="en-IN" dirty="0">
                          <a:latin typeface="Bookman Old Style" panose="02050604050505020204" pitchFamily="18" charset="0"/>
                        </a:rPr>
                        <a:t>To what degree will there be rules and regulations to direct employees and managers?</a:t>
                      </a:r>
                    </a:p>
                  </a:txBody>
                  <a:tcPr/>
                </a:tc>
                <a:tc>
                  <a:txBody>
                    <a:bodyPr/>
                    <a:lstStyle/>
                    <a:p>
                      <a:r>
                        <a:rPr lang="en-IN" dirty="0">
                          <a:latin typeface="Bookman Old Style" panose="02050604050505020204" pitchFamily="18" charset="0"/>
                        </a:rPr>
                        <a:t>Formalization</a:t>
                      </a:r>
                    </a:p>
                  </a:txBody>
                  <a:tcPr/>
                </a:tc>
                <a:extLst>
                  <a:ext uri="{0D108BD9-81ED-4DB2-BD59-A6C34878D82A}">
                    <a16:rowId xmlns:a16="http://schemas.microsoft.com/office/drawing/2014/main" val="1996249997"/>
                  </a:ext>
                </a:extLst>
              </a:tr>
            </a:tbl>
          </a:graphicData>
        </a:graphic>
      </p:graphicFrame>
    </p:spTree>
    <p:extLst>
      <p:ext uri="{BB962C8B-B14F-4D97-AF65-F5344CB8AC3E}">
        <p14:creationId xmlns:p14="http://schemas.microsoft.com/office/powerpoint/2010/main" val="388904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AB015-4AA1-0042-9EFB-A1B6AE2FD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B0513-0029-89CF-C8E4-34C8133658EE}"/>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Work Specialization</a:t>
            </a:r>
          </a:p>
        </p:txBody>
      </p:sp>
      <p:sp>
        <p:nvSpPr>
          <p:cNvPr id="3" name="Content Placeholder 2">
            <a:extLst>
              <a:ext uri="{FF2B5EF4-FFF2-40B4-BE49-F238E27FC236}">
                <a16:creationId xmlns:a16="http://schemas.microsoft.com/office/drawing/2014/main" id="{0277EC7C-C0D1-E0AB-348F-4B29B555077E}"/>
              </a:ext>
            </a:extLst>
          </p:cNvPr>
          <p:cNvSpPr>
            <a:spLocks noGrp="1"/>
          </p:cNvSpPr>
          <p:nvPr>
            <p:ph idx="1"/>
          </p:nvPr>
        </p:nvSpPr>
        <p:spPr>
          <a:xfrm>
            <a:off x="152399" y="765314"/>
            <a:ext cx="11774557" cy="6092686"/>
          </a:xfrm>
        </p:spPr>
        <p:txBody>
          <a:bodyPr>
            <a:normAutofit fontScale="77500" lnSpcReduction="20000"/>
          </a:bodyPr>
          <a:lstStyle/>
          <a:p>
            <a:pPr algn="just">
              <a:lnSpc>
                <a:spcPct val="150000"/>
              </a:lnSpc>
            </a:pPr>
            <a:r>
              <a:rPr lang="en-US" dirty="0">
                <a:latin typeface="Bookman Old Style" panose="02050604050505020204" pitchFamily="18" charset="0"/>
              </a:rPr>
              <a:t>Degree to which </a:t>
            </a:r>
            <a:r>
              <a:rPr lang="en-US" b="1" dirty="0">
                <a:solidFill>
                  <a:srgbClr val="FF0000"/>
                </a:solidFill>
                <a:latin typeface="Bookman Old Style" panose="02050604050505020204" pitchFamily="18" charset="0"/>
              </a:rPr>
              <a:t>tasks in an organization are subdivided into separate jobs</a:t>
            </a:r>
          </a:p>
          <a:p>
            <a:pPr algn="just">
              <a:lnSpc>
                <a:spcPct val="150000"/>
              </a:lnSpc>
            </a:pPr>
            <a:r>
              <a:rPr lang="en-US" b="1" dirty="0">
                <a:solidFill>
                  <a:srgbClr val="FF0000"/>
                </a:solidFill>
                <a:latin typeface="Bookman Old Style" panose="02050604050505020204" pitchFamily="18" charset="0"/>
              </a:rPr>
              <a:t>Entire job </a:t>
            </a:r>
            <a:r>
              <a:rPr lang="en-US" dirty="0">
                <a:latin typeface="Bookman Old Style" panose="02050604050505020204" pitchFamily="18" charset="0"/>
              </a:rPr>
              <a:t>is not done by one individual but instead </a:t>
            </a:r>
            <a:r>
              <a:rPr lang="en-US" b="1" dirty="0">
                <a:solidFill>
                  <a:srgbClr val="FF0000"/>
                </a:solidFill>
                <a:latin typeface="Bookman Old Style" panose="02050604050505020204" pitchFamily="18" charset="0"/>
              </a:rPr>
              <a:t>is broken down into steps, </a:t>
            </a:r>
            <a:r>
              <a:rPr lang="en-US" dirty="0">
                <a:latin typeface="Bookman Old Style" panose="02050604050505020204" pitchFamily="18" charset="0"/>
              </a:rPr>
              <a:t>and each step is completed by a </a:t>
            </a:r>
            <a:r>
              <a:rPr lang="en-US" b="1" dirty="0">
                <a:solidFill>
                  <a:srgbClr val="FF0000"/>
                </a:solidFill>
                <a:latin typeface="Bookman Old Style" panose="02050604050505020204" pitchFamily="18" charset="0"/>
              </a:rPr>
              <a:t>different person</a:t>
            </a:r>
            <a:endParaRPr lang="en-US" dirty="0">
              <a:latin typeface="Bookman Old Style" panose="02050604050505020204" pitchFamily="18" charset="0"/>
            </a:endParaRPr>
          </a:p>
          <a:p>
            <a:pPr algn="just">
              <a:lnSpc>
                <a:spcPct val="150000"/>
              </a:lnSpc>
            </a:pPr>
            <a:r>
              <a:rPr lang="en-US" dirty="0">
                <a:latin typeface="Bookman Old Style" panose="02050604050505020204" pitchFamily="18" charset="0"/>
              </a:rPr>
              <a:t>Individual employees </a:t>
            </a:r>
            <a:r>
              <a:rPr lang="en-US" b="1" dirty="0">
                <a:solidFill>
                  <a:srgbClr val="FF0000"/>
                </a:solidFill>
                <a:latin typeface="Bookman Old Style" panose="02050604050505020204" pitchFamily="18" charset="0"/>
              </a:rPr>
              <a:t>specialize in doing part of an activity</a:t>
            </a:r>
            <a:r>
              <a:rPr lang="en-US" dirty="0">
                <a:latin typeface="Bookman Old Style" panose="02050604050505020204" pitchFamily="18" charset="0"/>
              </a:rPr>
              <a:t> rather than the entire activity. </a:t>
            </a:r>
          </a:p>
          <a:p>
            <a:pPr algn="just">
              <a:lnSpc>
                <a:spcPct val="150000"/>
              </a:lnSpc>
            </a:pPr>
            <a:r>
              <a:rPr lang="en-US" dirty="0">
                <a:latin typeface="Bookman Old Style" panose="02050604050505020204" pitchFamily="18" charset="0"/>
              </a:rPr>
              <a:t>Initially, employee productivity rose initially</a:t>
            </a:r>
          </a:p>
          <a:p>
            <a:pPr algn="just">
              <a:lnSpc>
                <a:spcPct val="150000"/>
              </a:lnSpc>
            </a:pPr>
            <a:r>
              <a:rPr lang="en-US" dirty="0">
                <a:latin typeface="Bookman Old Style" panose="02050604050505020204" pitchFamily="18" charset="0"/>
              </a:rPr>
              <a:t>When used to extreme, </a:t>
            </a:r>
            <a:r>
              <a:rPr lang="en-US" b="1" dirty="0">
                <a:solidFill>
                  <a:srgbClr val="FF0000"/>
                </a:solidFill>
                <a:latin typeface="Bookman Old Style" panose="02050604050505020204" pitchFamily="18" charset="0"/>
              </a:rPr>
              <a:t>human diseconomies </a:t>
            </a:r>
            <a:r>
              <a:rPr lang="en-US" dirty="0">
                <a:latin typeface="Bookman Old Style" panose="02050604050505020204" pitchFamily="18" charset="0"/>
              </a:rPr>
              <a:t>from work specialization</a:t>
            </a:r>
          </a:p>
          <a:p>
            <a:pPr lvl="1" algn="just">
              <a:lnSpc>
                <a:spcPct val="150000"/>
              </a:lnSpc>
            </a:pPr>
            <a:r>
              <a:rPr lang="en-US" dirty="0">
                <a:latin typeface="Bookman Old Style" panose="02050604050505020204" pitchFamily="18" charset="0"/>
              </a:rPr>
              <a:t>Boredom</a:t>
            </a:r>
          </a:p>
          <a:p>
            <a:pPr lvl="1" algn="just">
              <a:lnSpc>
                <a:spcPct val="150000"/>
              </a:lnSpc>
            </a:pPr>
            <a:r>
              <a:rPr lang="en-US" dirty="0">
                <a:latin typeface="Bookman Old Style" panose="02050604050505020204" pitchFamily="18" charset="0"/>
              </a:rPr>
              <a:t>Fatigue</a:t>
            </a:r>
          </a:p>
          <a:p>
            <a:pPr lvl="1" algn="just">
              <a:lnSpc>
                <a:spcPct val="150000"/>
              </a:lnSpc>
            </a:pPr>
            <a:r>
              <a:rPr lang="en-US" dirty="0">
                <a:latin typeface="Bookman Old Style" panose="02050604050505020204" pitchFamily="18" charset="0"/>
              </a:rPr>
              <a:t>Stress</a:t>
            </a:r>
          </a:p>
          <a:p>
            <a:pPr lvl="1" algn="just">
              <a:lnSpc>
                <a:spcPct val="150000"/>
              </a:lnSpc>
            </a:pPr>
            <a:r>
              <a:rPr lang="en-US" dirty="0">
                <a:latin typeface="Bookman Old Style" panose="02050604050505020204" pitchFamily="18" charset="0"/>
              </a:rPr>
              <a:t>Poor quality</a:t>
            </a:r>
          </a:p>
          <a:p>
            <a:pPr lvl="1" algn="just">
              <a:lnSpc>
                <a:spcPct val="150000"/>
              </a:lnSpc>
            </a:pPr>
            <a:r>
              <a:rPr lang="en-US" dirty="0">
                <a:latin typeface="Bookman Old Style" panose="02050604050505020204" pitchFamily="18" charset="0"/>
              </a:rPr>
              <a:t>Increased absenteeism</a:t>
            </a:r>
            <a:endParaRPr lang="en-IN" dirty="0">
              <a:latin typeface="Bookman Old Style" panose="02050604050505020204" pitchFamily="18" charset="0"/>
            </a:endParaRPr>
          </a:p>
        </p:txBody>
      </p:sp>
    </p:spTree>
    <p:extLst>
      <p:ext uri="{BB962C8B-B14F-4D97-AF65-F5344CB8AC3E}">
        <p14:creationId xmlns:p14="http://schemas.microsoft.com/office/powerpoint/2010/main" val="426490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F34F4-0E68-2F89-16EB-3CFCE5FB0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60B4B-9471-ADCB-40B4-B929F725ADEF}"/>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Departmentalization</a:t>
            </a:r>
          </a:p>
        </p:txBody>
      </p:sp>
      <p:sp>
        <p:nvSpPr>
          <p:cNvPr id="3" name="Content Placeholder 2">
            <a:extLst>
              <a:ext uri="{FF2B5EF4-FFF2-40B4-BE49-F238E27FC236}">
                <a16:creationId xmlns:a16="http://schemas.microsoft.com/office/drawing/2014/main" id="{45E98280-C21C-5215-D838-BFF297502226}"/>
              </a:ext>
            </a:extLst>
          </p:cNvPr>
          <p:cNvSpPr>
            <a:spLocks noGrp="1"/>
          </p:cNvSpPr>
          <p:nvPr>
            <p:ph idx="1"/>
          </p:nvPr>
        </p:nvSpPr>
        <p:spPr>
          <a:xfrm>
            <a:off x="152399" y="765314"/>
            <a:ext cx="11774557" cy="6092686"/>
          </a:xfrm>
        </p:spPr>
        <p:txBody>
          <a:bodyPr>
            <a:normAutofit/>
          </a:bodyPr>
          <a:lstStyle/>
          <a:p>
            <a:pPr algn="just">
              <a:lnSpc>
                <a:spcPct val="150000"/>
              </a:lnSpc>
            </a:pPr>
            <a:r>
              <a:rPr lang="en-US" dirty="0">
                <a:latin typeface="Bookman Old Style" panose="02050604050505020204" pitchFamily="18" charset="0"/>
              </a:rPr>
              <a:t>Once jobs have been divided up through work specialization, they have to be </a:t>
            </a:r>
            <a:r>
              <a:rPr lang="en-US" b="1" dirty="0">
                <a:solidFill>
                  <a:srgbClr val="FF0000"/>
                </a:solidFill>
                <a:latin typeface="Bookman Old Style" panose="02050604050505020204" pitchFamily="18" charset="0"/>
              </a:rPr>
              <a:t>grouped back together </a:t>
            </a:r>
            <a:r>
              <a:rPr lang="en-US" dirty="0">
                <a:latin typeface="Bookman Old Style" panose="02050604050505020204" pitchFamily="18" charset="0"/>
              </a:rPr>
              <a:t>so that </a:t>
            </a:r>
            <a:r>
              <a:rPr lang="en-US" b="1" dirty="0">
                <a:solidFill>
                  <a:srgbClr val="FF0000"/>
                </a:solidFill>
                <a:latin typeface="Bookman Old Style" panose="02050604050505020204" pitchFamily="18" charset="0"/>
              </a:rPr>
              <a:t>common tasks </a:t>
            </a:r>
            <a:r>
              <a:rPr lang="en-US" dirty="0">
                <a:latin typeface="Bookman Old Style" panose="02050604050505020204" pitchFamily="18" charset="0"/>
              </a:rPr>
              <a:t>can be </a:t>
            </a:r>
            <a:r>
              <a:rPr lang="en-US" b="1" dirty="0">
                <a:solidFill>
                  <a:srgbClr val="FF0000"/>
                </a:solidFill>
                <a:latin typeface="Bookman Old Style" panose="02050604050505020204" pitchFamily="18" charset="0"/>
              </a:rPr>
              <a:t>coordinated</a:t>
            </a:r>
          </a:p>
          <a:p>
            <a:pPr algn="just">
              <a:lnSpc>
                <a:spcPct val="150000"/>
              </a:lnSpc>
            </a:pPr>
            <a:r>
              <a:rPr lang="en-US" dirty="0">
                <a:latin typeface="Bookman Old Style" panose="02050604050505020204" pitchFamily="18" charset="0"/>
              </a:rPr>
              <a:t>Basis on which jobs are grouped together</a:t>
            </a:r>
            <a:endParaRPr lang="en-IN" dirty="0">
              <a:latin typeface="Bookman Old Style" panose="02050604050505020204" pitchFamily="18" charset="0"/>
            </a:endParaRPr>
          </a:p>
        </p:txBody>
      </p:sp>
      <p:pic>
        <p:nvPicPr>
          <p:cNvPr id="5" name="Picture 4">
            <a:extLst>
              <a:ext uri="{FF2B5EF4-FFF2-40B4-BE49-F238E27FC236}">
                <a16:creationId xmlns:a16="http://schemas.microsoft.com/office/drawing/2014/main" id="{BC7794D3-0E28-EB99-210F-19CCCC5EEBE6}"/>
              </a:ext>
            </a:extLst>
          </p:cNvPr>
          <p:cNvPicPr>
            <a:picLocks noChangeAspect="1"/>
          </p:cNvPicPr>
          <p:nvPr/>
        </p:nvPicPr>
        <p:blipFill>
          <a:blip r:embed="rId2"/>
          <a:stretch>
            <a:fillRect/>
          </a:stretch>
        </p:blipFill>
        <p:spPr>
          <a:xfrm>
            <a:off x="531461" y="3670263"/>
            <a:ext cx="11129078" cy="2879624"/>
          </a:xfrm>
          <a:prstGeom prst="rect">
            <a:avLst/>
          </a:prstGeom>
          <a:ln>
            <a:solidFill>
              <a:schemeClr val="accent1"/>
            </a:solidFill>
          </a:ln>
        </p:spPr>
      </p:pic>
    </p:spTree>
    <p:extLst>
      <p:ext uri="{BB962C8B-B14F-4D97-AF65-F5344CB8AC3E}">
        <p14:creationId xmlns:p14="http://schemas.microsoft.com/office/powerpoint/2010/main" val="73578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8AC8B-9291-D0CD-198B-933537F55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5F7B2-4688-6825-5604-2A67CCEC19D7}"/>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Departmentalization</a:t>
            </a:r>
          </a:p>
        </p:txBody>
      </p:sp>
      <p:sp>
        <p:nvSpPr>
          <p:cNvPr id="3" name="Content Placeholder 2">
            <a:extLst>
              <a:ext uri="{FF2B5EF4-FFF2-40B4-BE49-F238E27FC236}">
                <a16:creationId xmlns:a16="http://schemas.microsoft.com/office/drawing/2014/main" id="{E9034239-28F7-BC48-8566-E84A2CC4656F}"/>
              </a:ext>
            </a:extLst>
          </p:cNvPr>
          <p:cNvSpPr>
            <a:spLocks noGrp="1"/>
          </p:cNvSpPr>
          <p:nvPr>
            <p:ph idx="1"/>
          </p:nvPr>
        </p:nvSpPr>
        <p:spPr>
          <a:xfrm>
            <a:off x="152399" y="765314"/>
            <a:ext cx="11774557" cy="6092686"/>
          </a:xfrm>
        </p:spPr>
        <p:txBody>
          <a:bodyPr>
            <a:normAutofit/>
          </a:bodyPr>
          <a:lstStyle/>
          <a:p>
            <a:pPr algn="just">
              <a:lnSpc>
                <a:spcPct val="150000"/>
              </a:lnSpc>
            </a:pPr>
            <a:endParaRPr lang="en-IN" dirty="0">
              <a:latin typeface="Bookman Old Style" panose="02050604050505020204" pitchFamily="18" charset="0"/>
            </a:endParaRPr>
          </a:p>
        </p:txBody>
      </p:sp>
      <p:pic>
        <p:nvPicPr>
          <p:cNvPr id="6" name="Picture 5">
            <a:extLst>
              <a:ext uri="{FF2B5EF4-FFF2-40B4-BE49-F238E27FC236}">
                <a16:creationId xmlns:a16="http://schemas.microsoft.com/office/drawing/2014/main" id="{F1B37755-A67F-EBB3-9D04-BBED1D207A4D}"/>
              </a:ext>
            </a:extLst>
          </p:cNvPr>
          <p:cNvPicPr>
            <a:picLocks noChangeAspect="1"/>
          </p:cNvPicPr>
          <p:nvPr/>
        </p:nvPicPr>
        <p:blipFill>
          <a:blip r:embed="rId2"/>
          <a:stretch>
            <a:fillRect/>
          </a:stretch>
        </p:blipFill>
        <p:spPr>
          <a:xfrm>
            <a:off x="962292" y="681037"/>
            <a:ext cx="9770538" cy="5926562"/>
          </a:xfrm>
          <a:prstGeom prst="rect">
            <a:avLst/>
          </a:prstGeom>
          <a:ln>
            <a:solidFill>
              <a:schemeClr val="accent1"/>
            </a:solidFill>
          </a:ln>
        </p:spPr>
      </p:pic>
    </p:spTree>
    <p:extLst>
      <p:ext uri="{BB962C8B-B14F-4D97-AF65-F5344CB8AC3E}">
        <p14:creationId xmlns:p14="http://schemas.microsoft.com/office/powerpoint/2010/main" val="290567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FBD0C-FFC2-FC19-4FA2-38F9AA3FA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769D3-0033-A90A-D55A-668DF2D5DEC8}"/>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Departmentalization</a:t>
            </a:r>
          </a:p>
        </p:txBody>
      </p:sp>
      <p:pic>
        <p:nvPicPr>
          <p:cNvPr id="8" name="Content Placeholder 7">
            <a:extLst>
              <a:ext uri="{FF2B5EF4-FFF2-40B4-BE49-F238E27FC236}">
                <a16:creationId xmlns:a16="http://schemas.microsoft.com/office/drawing/2014/main" id="{44E3F736-189B-C0E8-BEE5-95C3909D115B}"/>
              </a:ext>
            </a:extLst>
          </p:cNvPr>
          <p:cNvPicPr>
            <a:picLocks noGrp="1" noChangeAspect="1"/>
          </p:cNvPicPr>
          <p:nvPr>
            <p:ph idx="1"/>
          </p:nvPr>
        </p:nvPicPr>
        <p:blipFill>
          <a:blip r:embed="rId2"/>
          <a:stretch>
            <a:fillRect/>
          </a:stretch>
        </p:blipFill>
        <p:spPr>
          <a:xfrm>
            <a:off x="666971" y="3820856"/>
            <a:ext cx="10858057" cy="2736115"/>
          </a:xfrm>
          <a:ln>
            <a:solidFill>
              <a:schemeClr val="accent1"/>
            </a:solidFill>
          </a:ln>
        </p:spPr>
      </p:pic>
      <p:pic>
        <p:nvPicPr>
          <p:cNvPr id="5" name="Picture 4">
            <a:extLst>
              <a:ext uri="{FF2B5EF4-FFF2-40B4-BE49-F238E27FC236}">
                <a16:creationId xmlns:a16="http://schemas.microsoft.com/office/drawing/2014/main" id="{187E20F0-5E39-2BA3-F438-6B4A92F7D8C5}"/>
              </a:ext>
            </a:extLst>
          </p:cNvPr>
          <p:cNvPicPr>
            <a:picLocks noChangeAspect="1"/>
          </p:cNvPicPr>
          <p:nvPr/>
        </p:nvPicPr>
        <p:blipFill>
          <a:blip r:embed="rId3"/>
          <a:stretch>
            <a:fillRect/>
          </a:stretch>
        </p:blipFill>
        <p:spPr>
          <a:xfrm>
            <a:off x="666971" y="681037"/>
            <a:ext cx="10673577" cy="2991677"/>
          </a:xfrm>
          <a:prstGeom prst="rect">
            <a:avLst/>
          </a:prstGeom>
          <a:ln>
            <a:solidFill>
              <a:schemeClr val="accent1"/>
            </a:solidFill>
          </a:ln>
        </p:spPr>
      </p:pic>
    </p:spTree>
    <p:extLst>
      <p:ext uri="{BB962C8B-B14F-4D97-AF65-F5344CB8AC3E}">
        <p14:creationId xmlns:p14="http://schemas.microsoft.com/office/powerpoint/2010/main" val="367685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9776D-F817-4D69-1E76-2D5ED64CF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1FE00-D8DE-B527-563B-BACC8FD2A850}"/>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Departmentalization</a:t>
            </a:r>
          </a:p>
        </p:txBody>
      </p:sp>
      <p:pic>
        <p:nvPicPr>
          <p:cNvPr id="4" name="Picture 3">
            <a:extLst>
              <a:ext uri="{FF2B5EF4-FFF2-40B4-BE49-F238E27FC236}">
                <a16:creationId xmlns:a16="http://schemas.microsoft.com/office/drawing/2014/main" id="{A5064111-5170-8859-3393-05271DF8A23F}"/>
              </a:ext>
            </a:extLst>
          </p:cNvPr>
          <p:cNvPicPr>
            <a:picLocks noChangeAspect="1"/>
          </p:cNvPicPr>
          <p:nvPr/>
        </p:nvPicPr>
        <p:blipFill>
          <a:blip r:embed="rId2"/>
          <a:stretch>
            <a:fillRect/>
          </a:stretch>
        </p:blipFill>
        <p:spPr>
          <a:xfrm>
            <a:off x="838200" y="1714707"/>
            <a:ext cx="9813684" cy="2668907"/>
          </a:xfrm>
          <a:prstGeom prst="rect">
            <a:avLst/>
          </a:prstGeom>
          <a:ln>
            <a:solidFill>
              <a:schemeClr val="accent1"/>
            </a:solidFill>
          </a:ln>
        </p:spPr>
      </p:pic>
    </p:spTree>
    <p:extLst>
      <p:ext uri="{BB962C8B-B14F-4D97-AF65-F5344CB8AC3E}">
        <p14:creationId xmlns:p14="http://schemas.microsoft.com/office/powerpoint/2010/main" val="2463520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367A-9E34-91CD-2A09-C492D8CBC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574AA-8D62-10CD-9108-D55B6E8C9231}"/>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Chain of Command</a:t>
            </a:r>
          </a:p>
        </p:txBody>
      </p:sp>
      <p:sp>
        <p:nvSpPr>
          <p:cNvPr id="3" name="Content Placeholder 2">
            <a:extLst>
              <a:ext uri="{FF2B5EF4-FFF2-40B4-BE49-F238E27FC236}">
                <a16:creationId xmlns:a16="http://schemas.microsoft.com/office/drawing/2014/main" id="{8E7517A9-AA20-6787-0469-DBCAF19B35D1}"/>
              </a:ext>
            </a:extLst>
          </p:cNvPr>
          <p:cNvSpPr>
            <a:spLocks noGrp="1"/>
          </p:cNvSpPr>
          <p:nvPr>
            <p:ph idx="1"/>
          </p:nvPr>
        </p:nvSpPr>
        <p:spPr>
          <a:xfrm>
            <a:off x="152399" y="765314"/>
            <a:ext cx="11774557" cy="6092686"/>
          </a:xfrm>
        </p:spPr>
        <p:txBody>
          <a:bodyPr>
            <a:normAutofit fontScale="92500" lnSpcReduction="10000"/>
          </a:bodyPr>
          <a:lstStyle/>
          <a:p>
            <a:pPr algn="just">
              <a:lnSpc>
                <a:spcPct val="150000"/>
              </a:lnSpc>
            </a:pPr>
            <a:r>
              <a:rPr lang="en-US" dirty="0"/>
              <a:t>Clarifies </a:t>
            </a:r>
            <a:r>
              <a:rPr lang="en-US" b="1" dirty="0">
                <a:solidFill>
                  <a:srgbClr val="FF0000"/>
                </a:solidFill>
              </a:rPr>
              <a:t>who reports to whom</a:t>
            </a:r>
          </a:p>
          <a:p>
            <a:pPr algn="just">
              <a:lnSpc>
                <a:spcPct val="150000"/>
              </a:lnSpc>
            </a:pPr>
            <a:r>
              <a:rPr lang="en-US" dirty="0"/>
              <a:t>Helps employees answer questions such as “Who do I go to if I have a problem?” or “To whom am I responsible?”</a:t>
            </a:r>
          </a:p>
          <a:p>
            <a:pPr algn="just">
              <a:lnSpc>
                <a:spcPct val="150000"/>
              </a:lnSpc>
            </a:pPr>
            <a:r>
              <a:rPr lang="en-US" b="1" dirty="0">
                <a:solidFill>
                  <a:srgbClr val="FF0000"/>
                </a:solidFill>
              </a:rPr>
              <a:t>Authority:</a:t>
            </a:r>
            <a:r>
              <a:rPr lang="en-US" dirty="0"/>
              <a:t> Rights inherent in a managerial position to tell people what to do and to expect them to do it</a:t>
            </a:r>
          </a:p>
          <a:p>
            <a:pPr algn="just">
              <a:lnSpc>
                <a:spcPct val="150000"/>
              </a:lnSpc>
            </a:pPr>
            <a:r>
              <a:rPr lang="en-US" b="1" dirty="0">
                <a:solidFill>
                  <a:srgbClr val="FF0000"/>
                </a:solidFill>
              </a:rPr>
              <a:t>Responsibility:</a:t>
            </a:r>
            <a:r>
              <a:rPr lang="en-US" dirty="0"/>
              <a:t> Obligation or expectation to perform</a:t>
            </a:r>
          </a:p>
          <a:p>
            <a:pPr algn="just">
              <a:lnSpc>
                <a:spcPct val="150000"/>
              </a:lnSpc>
            </a:pPr>
            <a:r>
              <a:rPr lang="en-US" b="1" dirty="0">
                <a:solidFill>
                  <a:srgbClr val="FF0000"/>
                </a:solidFill>
              </a:rPr>
              <a:t>Accountability: </a:t>
            </a:r>
            <a:r>
              <a:rPr lang="en-US" dirty="0"/>
              <a:t>Need to report and justify work to the superiors</a:t>
            </a:r>
          </a:p>
          <a:p>
            <a:pPr algn="just">
              <a:lnSpc>
                <a:spcPct val="150000"/>
              </a:lnSpc>
            </a:pPr>
            <a:r>
              <a:rPr lang="en-US" b="1" dirty="0">
                <a:solidFill>
                  <a:srgbClr val="FF0000"/>
                </a:solidFill>
              </a:rPr>
              <a:t>Unity of command: </a:t>
            </a:r>
            <a:r>
              <a:rPr lang="en-US" dirty="0"/>
              <a:t>Every employee should receive orders from only one superior</a:t>
            </a:r>
          </a:p>
          <a:p>
            <a:pPr algn="just">
              <a:lnSpc>
                <a:spcPct val="150000"/>
              </a:lnSpc>
            </a:pPr>
            <a:r>
              <a:rPr lang="en-US" b="1" dirty="0">
                <a:solidFill>
                  <a:srgbClr val="FF0000"/>
                </a:solidFill>
              </a:rPr>
              <a:t>Delegation:</a:t>
            </a:r>
            <a:r>
              <a:rPr lang="en-US" dirty="0"/>
              <a:t> Assignment of authority to another person to carry out specific duties</a:t>
            </a:r>
            <a:endParaRPr lang="en-IN" dirty="0">
              <a:latin typeface="Bookman Old Style" panose="02050604050505020204" pitchFamily="18" charset="0"/>
            </a:endParaRPr>
          </a:p>
        </p:txBody>
      </p:sp>
    </p:spTree>
    <p:extLst>
      <p:ext uri="{BB962C8B-B14F-4D97-AF65-F5344CB8AC3E}">
        <p14:creationId xmlns:p14="http://schemas.microsoft.com/office/powerpoint/2010/main" val="316431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CD61-D976-EE01-D32C-CC8753FC0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54646-521E-0B6F-982A-4B03FF38005D}"/>
              </a:ext>
            </a:extLst>
          </p:cNvPr>
          <p:cNvSpPr>
            <a:spLocks noGrp="1"/>
          </p:cNvSpPr>
          <p:nvPr>
            <p:ph type="title"/>
          </p:nvPr>
        </p:nvSpPr>
        <p:spPr>
          <a:xfrm>
            <a:off x="152399" y="111884"/>
            <a:ext cx="11774557" cy="569153"/>
          </a:xfrm>
        </p:spPr>
        <p:txBody>
          <a:bodyPr>
            <a:normAutofit fontScale="90000"/>
          </a:bodyPr>
          <a:lstStyle/>
          <a:p>
            <a:r>
              <a:rPr lang="en-IN" b="1" dirty="0">
                <a:solidFill>
                  <a:srgbClr val="FF0000"/>
                </a:solidFill>
              </a:rPr>
              <a:t>Organizational Structure – Span of Control </a:t>
            </a:r>
          </a:p>
        </p:txBody>
      </p:sp>
      <p:sp>
        <p:nvSpPr>
          <p:cNvPr id="3" name="Content Placeholder 2">
            <a:extLst>
              <a:ext uri="{FF2B5EF4-FFF2-40B4-BE49-F238E27FC236}">
                <a16:creationId xmlns:a16="http://schemas.microsoft.com/office/drawing/2014/main" id="{C458E2B8-07B4-A763-E2AF-4D8A249F1FAA}"/>
              </a:ext>
            </a:extLst>
          </p:cNvPr>
          <p:cNvSpPr>
            <a:spLocks noGrp="1"/>
          </p:cNvSpPr>
          <p:nvPr>
            <p:ph idx="1"/>
          </p:nvPr>
        </p:nvSpPr>
        <p:spPr>
          <a:xfrm>
            <a:off x="152399" y="765314"/>
            <a:ext cx="11774557" cy="6092686"/>
          </a:xfrm>
        </p:spPr>
        <p:txBody>
          <a:bodyPr>
            <a:normAutofit/>
          </a:bodyPr>
          <a:lstStyle/>
          <a:p>
            <a:pPr algn="just">
              <a:lnSpc>
                <a:spcPct val="150000"/>
              </a:lnSpc>
            </a:pPr>
            <a:r>
              <a:rPr lang="en-US" dirty="0"/>
              <a:t>How many employees can a manager efficiently and effectively manage?</a:t>
            </a:r>
          </a:p>
          <a:p>
            <a:pPr algn="just">
              <a:lnSpc>
                <a:spcPct val="150000"/>
              </a:lnSpc>
            </a:pPr>
            <a:r>
              <a:rPr lang="en-US" dirty="0"/>
              <a:t>Determines </a:t>
            </a:r>
            <a:r>
              <a:rPr lang="en-US" b="1" dirty="0">
                <a:solidFill>
                  <a:srgbClr val="FF0000"/>
                </a:solidFill>
              </a:rPr>
              <a:t>the number of levels </a:t>
            </a:r>
            <a:r>
              <a:rPr lang="en-US" dirty="0"/>
              <a:t>and </a:t>
            </a:r>
            <a:r>
              <a:rPr lang="en-US" b="1" dirty="0">
                <a:solidFill>
                  <a:srgbClr val="FF0000"/>
                </a:solidFill>
              </a:rPr>
              <a:t>managers</a:t>
            </a:r>
            <a:r>
              <a:rPr lang="en-US" dirty="0"/>
              <a:t> an organization needs</a:t>
            </a:r>
          </a:p>
          <a:p>
            <a:pPr algn="just">
              <a:lnSpc>
                <a:spcPct val="150000"/>
              </a:lnSpc>
            </a:pPr>
            <a:endParaRPr lang="en-IN" dirty="0">
              <a:latin typeface="Bookman Old Style" panose="02050604050505020204" pitchFamily="18" charset="0"/>
            </a:endParaRPr>
          </a:p>
        </p:txBody>
      </p:sp>
      <p:pic>
        <p:nvPicPr>
          <p:cNvPr id="5" name="Picture 4">
            <a:extLst>
              <a:ext uri="{FF2B5EF4-FFF2-40B4-BE49-F238E27FC236}">
                <a16:creationId xmlns:a16="http://schemas.microsoft.com/office/drawing/2014/main" id="{79415CEA-5FB9-385C-3211-DE22CE76CC3E}"/>
              </a:ext>
            </a:extLst>
          </p:cNvPr>
          <p:cNvPicPr>
            <a:picLocks noChangeAspect="1"/>
          </p:cNvPicPr>
          <p:nvPr/>
        </p:nvPicPr>
        <p:blipFill>
          <a:blip r:embed="rId2"/>
          <a:stretch>
            <a:fillRect/>
          </a:stretch>
        </p:blipFill>
        <p:spPr>
          <a:xfrm>
            <a:off x="2078842" y="2360736"/>
            <a:ext cx="7435885" cy="3950611"/>
          </a:xfrm>
          <a:prstGeom prst="rect">
            <a:avLst/>
          </a:prstGeom>
          <a:ln>
            <a:solidFill>
              <a:schemeClr val="accent1"/>
            </a:solidFill>
          </a:ln>
        </p:spPr>
      </p:pic>
    </p:spTree>
    <p:extLst>
      <p:ext uri="{BB962C8B-B14F-4D97-AF65-F5344CB8AC3E}">
        <p14:creationId xmlns:p14="http://schemas.microsoft.com/office/powerpoint/2010/main" val="33632191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D2FA-D705-2863-FA43-F44D591A6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80E3D-6B52-47E3-D9CC-7CD3A4149001}"/>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Organizational Structure – Centralization and Decentralization</a:t>
            </a:r>
          </a:p>
        </p:txBody>
      </p:sp>
      <p:sp>
        <p:nvSpPr>
          <p:cNvPr id="3" name="Content Placeholder 2">
            <a:extLst>
              <a:ext uri="{FF2B5EF4-FFF2-40B4-BE49-F238E27FC236}">
                <a16:creationId xmlns:a16="http://schemas.microsoft.com/office/drawing/2014/main" id="{ABF2D0C9-2C76-C03D-0953-4388578CB549}"/>
              </a:ext>
            </a:extLst>
          </p:cNvPr>
          <p:cNvSpPr>
            <a:spLocks noGrp="1"/>
          </p:cNvSpPr>
          <p:nvPr>
            <p:ph idx="1"/>
          </p:nvPr>
        </p:nvSpPr>
        <p:spPr>
          <a:xfrm>
            <a:off x="152399" y="765314"/>
            <a:ext cx="11774557" cy="6092686"/>
          </a:xfrm>
        </p:spPr>
        <p:txBody>
          <a:bodyPr>
            <a:normAutofit/>
          </a:bodyPr>
          <a:lstStyle/>
          <a:p>
            <a:pPr algn="just">
              <a:lnSpc>
                <a:spcPct val="150000"/>
              </a:lnSpc>
            </a:pPr>
            <a:r>
              <a:rPr lang="en-US" b="1" dirty="0">
                <a:solidFill>
                  <a:srgbClr val="FF0000"/>
                </a:solidFill>
                <a:latin typeface="Bookman Old Style" panose="02050604050505020204" pitchFamily="18" charset="0"/>
              </a:rPr>
              <a:t>Centralization: </a:t>
            </a:r>
            <a:r>
              <a:rPr lang="en-US" dirty="0">
                <a:latin typeface="Bookman Old Style" panose="02050604050505020204" pitchFamily="18" charset="0"/>
              </a:rPr>
              <a:t>Degree to which decision making is concentrated at a single point in the organization</a:t>
            </a:r>
          </a:p>
          <a:p>
            <a:pPr algn="just">
              <a:lnSpc>
                <a:spcPct val="150000"/>
              </a:lnSpc>
            </a:pPr>
            <a:r>
              <a:rPr lang="en-US" b="1" dirty="0">
                <a:solidFill>
                  <a:srgbClr val="FF0000"/>
                </a:solidFill>
                <a:latin typeface="Bookman Old Style" panose="02050604050505020204" pitchFamily="18" charset="0"/>
              </a:rPr>
              <a:t>Decentralization</a:t>
            </a:r>
            <a:r>
              <a:rPr lang="en-US" dirty="0">
                <a:latin typeface="Bookman Old Style" panose="02050604050505020204" pitchFamily="18" charset="0"/>
              </a:rPr>
              <a:t>: The more that lower-level employees provide input or actually make decisions</a:t>
            </a:r>
          </a:p>
          <a:p>
            <a:pPr algn="just">
              <a:lnSpc>
                <a:spcPct val="150000"/>
              </a:lnSpc>
            </a:pPr>
            <a:r>
              <a:rPr lang="en-US" dirty="0">
                <a:latin typeface="Bookman Old Style" panose="02050604050505020204" pitchFamily="18" charset="0"/>
              </a:rPr>
              <a:t>An organization is never completely centralized or decentralized</a:t>
            </a:r>
          </a:p>
          <a:p>
            <a:pPr algn="just">
              <a:lnSpc>
                <a:spcPct val="150000"/>
              </a:lnSpc>
            </a:pPr>
            <a:r>
              <a:rPr lang="en-US" dirty="0">
                <a:latin typeface="Bookman Old Style" panose="02050604050505020204" pitchFamily="18" charset="0"/>
              </a:rPr>
              <a:t>Increased decentralization is </a:t>
            </a:r>
            <a:r>
              <a:rPr lang="en-US" b="1" dirty="0">
                <a:solidFill>
                  <a:srgbClr val="FF0000"/>
                </a:solidFill>
                <a:latin typeface="Bookman Old Style" panose="02050604050505020204" pitchFamily="18" charset="0"/>
              </a:rPr>
              <a:t>employee empowerment</a:t>
            </a:r>
          </a:p>
          <a:p>
            <a:pPr algn="just">
              <a:lnSpc>
                <a:spcPct val="150000"/>
              </a:lnSpc>
            </a:pPr>
            <a:r>
              <a:rPr lang="en-IN" dirty="0">
                <a:latin typeface="Bookman Old Style" panose="02050604050505020204" pitchFamily="18" charset="0"/>
              </a:rPr>
              <a:t>Companies facing </a:t>
            </a:r>
            <a:r>
              <a:rPr lang="en-IN" b="1" dirty="0">
                <a:solidFill>
                  <a:srgbClr val="FF0000"/>
                </a:solidFill>
                <a:latin typeface="Bookman Old Style" panose="02050604050505020204" pitchFamily="18" charset="0"/>
              </a:rPr>
              <a:t>dynamic environments</a:t>
            </a:r>
            <a:r>
              <a:rPr lang="en-IN" dirty="0">
                <a:latin typeface="Bookman Old Style" panose="02050604050505020204" pitchFamily="18" charset="0"/>
              </a:rPr>
              <a:t>: Decentralized</a:t>
            </a:r>
          </a:p>
          <a:p>
            <a:pPr algn="just">
              <a:lnSpc>
                <a:spcPct val="150000"/>
              </a:lnSpc>
            </a:pPr>
            <a:r>
              <a:rPr lang="en-IN" b="1" dirty="0">
                <a:solidFill>
                  <a:srgbClr val="FF0000"/>
                </a:solidFill>
                <a:latin typeface="Bookman Old Style" panose="02050604050505020204" pitchFamily="18" charset="0"/>
              </a:rPr>
              <a:t>Stable environments: </a:t>
            </a:r>
            <a:r>
              <a:rPr lang="en-IN" dirty="0">
                <a:latin typeface="Bookman Old Style" panose="02050604050505020204" pitchFamily="18" charset="0"/>
              </a:rPr>
              <a:t>Centralized</a:t>
            </a:r>
          </a:p>
        </p:txBody>
      </p:sp>
    </p:spTree>
    <p:extLst>
      <p:ext uri="{BB962C8B-B14F-4D97-AF65-F5344CB8AC3E}">
        <p14:creationId xmlns:p14="http://schemas.microsoft.com/office/powerpoint/2010/main" val="400572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0E98F44-A5C0-CC69-D3AF-47BA944A2B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113" y="467139"/>
            <a:ext cx="8686800" cy="5709824"/>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78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1026"/>
                                        </p:tgtEl>
                                      </p:cBhvr>
                                    </p:animEffect>
                                    <p:set>
                                      <p:cBhvr>
                                        <p:cTn id="11"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D3884-C2AC-3608-59B7-CD7E928C5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4B2B2-7106-44FE-32C9-74CF7743F7F3}"/>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Organizational Structure – Formalization</a:t>
            </a:r>
          </a:p>
        </p:txBody>
      </p:sp>
      <p:sp>
        <p:nvSpPr>
          <p:cNvPr id="3" name="Content Placeholder 2">
            <a:extLst>
              <a:ext uri="{FF2B5EF4-FFF2-40B4-BE49-F238E27FC236}">
                <a16:creationId xmlns:a16="http://schemas.microsoft.com/office/drawing/2014/main" id="{93106000-3144-7DA6-BE4B-EA4844527A47}"/>
              </a:ext>
            </a:extLst>
          </p:cNvPr>
          <p:cNvSpPr>
            <a:spLocks noGrp="1"/>
          </p:cNvSpPr>
          <p:nvPr>
            <p:ph idx="1"/>
          </p:nvPr>
        </p:nvSpPr>
        <p:spPr>
          <a:xfrm>
            <a:off x="152399" y="765314"/>
            <a:ext cx="11774557" cy="6092686"/>
          </a:xfrm>
        </p:spPr>
        <p:txBody>
          <a:bodyPr>
            <a:normAutofit/>
          </a:bodyPr>
          <a:lstStyle/>
          <a:p>
            <a:pPr algn="just">
              <a:lnSpc>
                <a:spcPct val="150000"/>
              </a:lnSpc>
            </a:pPr>
            <a:r>
              <a:rPr lang="en-US" dirty="0">
                <a:latin typeface="Bookman Old Style" panose="02050604050505020204" pitchFamily="18" charset="0"/>
              </a:rPr>
              <a:t>Degree to which jobs within the organization are standardized</a:t>
            </a:r>
          </a:p>
          <a:p>
            <a:pPr algn="just">
              <a:lnSpc>
                <a:spcPct val="150000"/>
              </a:lnSpc>
            </a:pPr>
            <a:r>
              <a:rPr lang="en-US" dirty="0">
                <a:latin typeface="Bookman Old Style" panose="02050604050505020204" pitchFamily="18" charset="0"/>
              </a:rPr>
              <a:t>Extent to which employee </a:t>
            </a:r>
            <a:r>
              <a:rPr lang="en-US" dirty="0" err="1">
                <a:latin typeface="Bookman Old Style" panose="02050604050505020204" pitchFamily="18" charset="0"/>
              </a:rPr>
              <a:t>behaviour</a:t>
            </a:r>
            <a:r>
              <a:rPr lang="en-US" dirty="0">
                <a:latin typeface="Bookman Old Style" panose="02050604050505020204" pitchFamily="18" charset="0"/>
              </a:rPr>
              <a:t> is </a:t>
            </a:r>
            <a:r>
              <a:rPr lang="en-US" b="1" dirty="0">
                <a:solidFill>
                  <a:srgbClr val="FF0000"/>
                </a:solidFill>
                <a:latin typeface="Bookman Old Style" panose="02050604050505020204" pitchFamily="18" charset="0"/>
              </a:rPr>
              <a:t>guided by rules and procedures</a:t>
            </a:r>
          </a:p>
          <a:p>
            <a:pPr algn="just">
              <a:lnSpc>
                <a:spcPct val="150000"/>
              </a:lnSpc>
            </a:pPr>
            <a:r>
              <a:rPr lang="en-US" b="1" dirty="0">
                <a:solidFill>
                  <a:srgbClr val="FF0000"/>
                </a:solidFill>
                <a:latin typeface="Bookman Old Style" panose="02050604050505020204" pitchFamily="18" charset="0"/>
              </a:rPr>
              <a:t>Highly formalized </a:t>
            </a:r>
            <a:r>
              <a:rPr lang="en-US" dirty="0">
                <a:latin typeface="Bookman Old Style" panose="02050604050505020204" pitchFamily="18" charset="0"/>
                <a:sym typeface="Wingdings" panose="05000000000000000000" pitchFamily="2" charset="2"/>
              </a:rPr>
              <a:t> P</a:t>
            </a:r>
            <a:r>
              <a:rPr lang="en-US" dirty="0">
                <a:latin typeface="Bookman Old Style" panose="02050604050505020204" pitchFamily="18" charset="0"/>
              </a:rPr>
              <a:t>erson doing that job has </a:t>
            </a:r>
            <a:r>
              <a:rPr lang="en-US" b="1" dirty="0">
                <a:solidFill>
                  <a:srgbClr val="FF0000"/>
                </a:solidFill>
                <a:latin typeface="Bookman Old Style" panose="02050604050505020204" pitchFamily="18" charset="0"/>
              </a:rPr>
              <a:t>little freedom </a:t>
            </a:r>
            <a:r>
              <a:rPr lang="en-US" dirty="0">
                <a:latin typeface="Bookman Old Style" panose="02050604050505020204" pitchFamily="18" charset="0"/>
              </a:rPr>
              <a:t>to choose </a:t>
            </a:r>
          </a:p>
          <a:p>
            <a:pPr lvl="1" algn="just">
              <a:lnSpc>
                <a:spcPct val="150000"/>
              </a:lnSpc>
            </a:pPr>
            <a:r>
              <a:rPr lang="en-US" dirty="0">
                <a:latin typeface="Bookman Old Style" panose="02050604050505020204" pitchFamily="18" charset="0"/>
              </a:rPr>
              <a:t>what is to be done</a:t>
            </a:r>
          </a:p>
          <a:p>
            <a:pPr lvl="1" algn="just">
              <a:lnSpc>
                <a:spcPct val="150000"/>
              </a:lnSpc>
            </a:pPr>
            <a:r>
              <a:rPr lang="en-US" dirty="0">
                <a:latin typeface="Bookman Old Style" panose="02050604050505020204" pitchFamily="18" charset="0"/>
              </a:rPr>
              <a:t>when it is to be done</a:t>
            </a:r>
          </a:p>
          <a:p>
            <a:pPr lvl="1" algn="just">
              <a:lnSpc>
                <a:spcPct val="150000"/>
              </a:lnSpc>
            </a:pPr>
            <a:r>
              <a:rPr lang="en-US" dirty="0">
                <a:latin typeface="Bookman Old Style" panose="02050604050505020204" pitchFamily="18" charset="0"/>
              </a:rPr>
              <a:t>how he or she does it</a:t>
            </a:r>
            <a:endParaRPr lang="en-IN" dirty="0">
              <a:latin typeface="Bookman Old Style" panose="02050604050505020204" pitchFamily="18" charset="0"/>
            </a:endParaRPr>
          </a:p>
        </p:txBody>
      </p:sp>
    </p:spTree>
    <p:extLst>
      <p:ext uri="{BB962C8B-B14F-4D97-AF65-F5344CB8AC3E}">
        <p14:creationId xmlns:p14="http://schemas.microsoft.com/office/powerpoint/2010/main" val="332475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204C8-00FF-3160-EE0B-3F8E7E90C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BA722-66B9-CFC5-18A6-B78998EA916B}"/>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Organizational Structure – Formalization</a:t>
            </a:r>
          </a:p>
        </p:txBody>
      </p:sp>
      <p:sp>
        <p:nvSpPr>
          <p:cNvPr id="3" name="Content Placeholder 2">
            <a:extLst>
              <a:ext uri="{FF2B5EF4-FFF2-40B4-BE49-F238E27FC236}">
                <a16:creationId xmlns:a16="http://schemas.microsoft.com/office/drawing/2014/main" id="{05857F66-ADE5-E02C-3F2C-E14E8B84C9B8}"/>
              </a:ext>
            </a:extLst>
          </p:cNvPr>
          <p:cNvSpPr>
            <a:spLocks noGrp="1"/>
          </p:cNvSpPr>
          <p:nvPr>
            <p:ph idx="1"/>
          </p:nvPr>
        </p:nvSpPr>
        <p:spPr>
          <a:xfrm>
            <a:off x="152399" y="765314"/>
            <a:ext cx="11774557" cy="6092686"/>
          </a:xfrm>
        </p:spPr>
        <p:txBody>
          <a:bodyPr>
            <a:normAutofit/>
          </a:bodyPr>
          <a:lstStyle/>
          <a:p>
            <a:pPr algn="just">
              <a:lnSpc>
                <a:spcPct val="150000"/>
              </a:lnSpc>
            </a:pPr>
            <a:r>
              <a:rPr lang="en-US" dirty="0">
                <a:latin typeface="Bookman Old Style" panose="02050604050505020204" pitchFamily="18" charset="0"/>
              </a:rPr>
              <a:t>Organizations with </a:t>
            </a:r>
            <a:r>
              <a:rPr lang="en-US" b="1" dirty="0">
                <a:solidFill>
                  <a:srgbClr val="FF0000"/>
                </a:solidFill>
                <a:latin typeface="Bookman Old Style" panose="02050604050505020204" pitchFamily="18" charset="0"/>
              </a:rPr>
              <a:t>high formalization </a:t>
            </a:r>
          </a:p>
          <a:p>
            <a:pPr lvl="1" algn="just">
              <a:lnSpc>
                <a:spcPct val="150000"/>
              </a:lnSpc>
            </a:pPr>
            <a:r>
              <a:rPr lang="en-US" dirty="0">
                <a:latin typeface="Bookman Old Style" panose="02050604050505020204" pitchFamily="18" charset="0"/>
              </a:rPr>
              <a:t>Explicit job descriptions</a:t>
            </a:r>
          </a:p>
          <a:p>
            <a:pPr lvl="1" algn="just">
              <a:lnSpc>
                <a:spcPct val="150000"/>
              </a:lnSpc>
            </a:pPr>
            <a:r>
              <a:rPr lang="en-US" dirty="0">
                <a:latin typeface="Bookman Old Style" panose="02050604050505020204" pitchFamily="18" charset="0"/>
              </a:rPr>
              <a:t>Numerous organizational rules</a:t>
            </a:r>
          </a:p>
          <a:p>
            <a:pPr lvl="1" algn="just">
              <a:lnSpc>
                <a:spcPct val="150000"/>
              </a:lnSpc>
            </a:pPr>
            <a:r>
              <a:rPr lang="en-US" dirty="0">
                <a:latin typeface="Bookman Old Style" panose="02050604050505020204" pitchFamily="18" charset="0"/>
              </a:rPr>
              <a:t>Clearly defined procedures covering work processes</a:t>
            </a:r>
          </a:p>
          <a:p>
            <a:pPr algn="just">
              <a:lnSpc>
                <a:spcPct val="150000"/>
              </a:lnSpc>
            </a:pPr>
            <a:r>
              <a:rPr lang="en-US" b="1" dirty="0">
                <a:solidFill>
                  <a:srgbClr val="FF0000"/>
                </a:solidFill>
                <a:latin typeface="Bookman Old Style" panose="02050604050505020204" pitchFamily="18" charset="0"/>
              </a:rPr>
              <a:t>Low formalization </a:t>
            </a:r>
          </a:p>
          <a:p>
            <a:pPr lvl="1" algn="just">
              <a:lnSpc>
                <a:spcPct val="150000"/>
              </a:lnSpc>
            </a:pPr>
            <a:r>
              <a:rPr lang="en-US" dirty="0">
                <a:latin typeface="Bookman Old Style" panose="02050604050505020204" pitchFamily="18" charset="0"/>
              </a:rPr>
              <a:t>Job </a:t>
            </a:r>
            <a:r>
              <a:rPr lang="en-US" dirty="0" err="1">
                <a:latin typeface="Bookman Old Style" panose="02050604050505020204" pitchFamily="18" charset="0"/>
              </a:rPr>
              <a:t>behaviours</a:t>
            </a:r>
            <a:r>
              <a:rPr lang="en-US" dirty="0">
                <a:latin typeface="Bookman Old Style" panose="02050604050505020204" pitchFamily="18" charset="0"/>
              </a:rPr>
              <a:t> are relatively unstructured</a:t>
            </a:r>
          </a:p>
          <a:p>
            <a:pPr lvl="1" algn="just">
              <a:lnSpc>
                <a:spcPct val="150000"/>
              </a:lnSpc>
            </a:pPr>
            <a:r>
              <a:rPr lang="en-US" dirty="0">
                <a:latin typeface="Bookman Old Style" panose="02050604050505020204" pitchFamily="18" charset="0"/>
              </a:rPr>
              <a:t>Employees have a great deal of freedom in how they do their work</a:t>
            </a:r>
            <a:endParaRPr lang="en-IN" dirty="0">
              <a:latin typeface="Bookman Old Style" panose="02050604050505020204" pitchFamily="18" charset="0"/>
            </a:endParaRPr>
          </a:p>
        </p:txBody>
      </p:sp>
    </p:spTree>
    <p:extLst>
      <p:ext uri="{BB962C8B-B14F-4D97-AF65-F5344CB8AC3E}">
        <p14:creationId xmlns:p14="http://schemas.microsoft.com/office/powerpoint/2010/main" val="417385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8D04-211A-E613-EA2D-DA69F7A47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5393-FD21-24A6-1C47-EC3A439A4D0E}"/>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Traditional Organizational Structure</a:t>
            </a:r>
          </a:p>
        </p:txBody>
      </p:sp>
      <p:sp>
        <p:nvSpPr>
          <p:cNvPr id="3" name="Content Placeholder 2">
            <a:extLst>
              <a:ext uri="{FF2B5EF4-FFF2-40B4-BE49-F238E27FC236}">
                <a16:creationId xmlns:a16="http://schemas.microsoft.com/office/drawing/2014/main" id="{36C7F1A8-070A-D4BC-2583-B411A771A330}"/>
              </a:ext>
            </a:extLst>
          </p:cNvPr>
          <p:cNvSpPr>
            <a:spLocks noGrp="1"/>
          </p:cNvSpPr>
          <p:nvPr>
            <p:ph idx="1"/>
          </p:nvPr>
        </p:nvSpPr>
        <p:spPr>
          <a:xfrm>
            <a:off x="152399" y="765314"/>
            <a:ext cx="11774557" cy="6092686"/>
          </a:xfrm>
        </p:spPr>
        <p:txBody>
          <a:bodyPr>
            <a:normAutofit fontScale="92500" lnSpcReduction="20000"/>
          </a:bodyPr>
          <a:lstStyle/>
          <a:p>
            <a:pPr algn="just">
              <a:lnSpc>
                <a:spcPct val="150000"/>
              </a:lnSpc>
            </a:pPr>
            <a:r>
              <a:rPr lang="en-IN" b="1" dirty="0">
                <a:solidFill>
                  <a:srgbClr val="FF0000"/>
                </a:solidFill>
                <a:latin typeface="Bookman Old Style" panose="02050604050505020204" pitchFamily="18" charset="0"/>
              </a:rPr>
              <a:t>SIMPLE STRUCTURE</a:t>
            </a:r>
          </a:p>
          <a:p>
            <a:pPr lvl="1" algn="just">
              <a:lnSpc>
                <a:spcPct val="150000"/>
              </a:lnSpc>
            </a:pPr>
            <a:r>
              <a:rPr lang="en-US" dirty="0">
                <a:latin typeface="Bookman Old Style" panose="02050604050505020204" pitchFamily="18" charset="0"/>
              </a:rPr>
              <a:t>Low departmentalization</a:t>
            </a:r>
          </a:p>
          <a:p>
            <a:pPr lvl="1" algn="just">
              <a:lnSpc>
                <a:spcPct val="150000"/>
              </a:lnSpc>
            </a:pPr>
            <a:r>
              <a:rPr lang="en-US" dirty="0">
                <a:latin typeface="Bookman Old Style" panose="02050604050505020204" pitchFamily="18" charset="0"/>
              </a:rPr>
              <a:t>Wide spans of control</a:t>
            </a:r>
          </a:p>
          <a:p>
            <a:pPr lvl="1" algn="just">
              <a:lnSpc>
                <a:spcPct val="150000"/>
              </a:lnSpc>
            </a:pPr>
            <a:r>
              <a:rPr lang="en-US" dirty="0">
                <a:latin typeface="Bookman Old Style" panose="02050604050505020204" pitchFamily="18" charset="0"/>
              </a:rPr>
              <a:t>Authority centralized in a single person</a:t>
            </a:r>
          </a:p>
          <a:p>
            <a:pPr lvl="1" algn="just">
              <a:lnSpc>
                <a:spcPct val="150000"/>
              </a:lnSpc>
            </a:pPr>
            <a:r>
              <a:rPr lang="en-US" dirty="0">
                <a:latin typeface="Bookman Old Style" panose="02050604050505020204" pitchFamily="18" charset="0"/>
              </a:rPr>
              <a:t>Little formalization</a:t>
            </a:r>
          </a:p>
          <a:p>
            <a:pPr lvl="1" algn="just">
              <a:lnSpc>
                <a:spcPct val="150000"/>
              </a:lnSpc>
            </a:pPr>
            <a:r>
              <a:rPr lang="en-US" dirty="0">
                <a:latin typeface="Bookman Old Style" panose="02050604050505020204" pitchFamily="18" charset="0"/>
              </a:rPr>
              <a:t>Small businesses in which the owner and manager are one and the same</a:t>
            </a:r>
          </a:p>
          <a:p>
            <a:pPr lvl="1" algn="just">
              <a:lnSpc>
                <a:spcPct val="150000"/>
              </a:lnSpc>
            </a:pPr>
            <a:r>
              <a:rPr lang="en-US" dirty="0">
                <a:latin typeface="Bookman Old Style" panose="02050604050505020204" pitchFamily="18" charset="0"/>
              </a:rPr>
              <a:t>When organization grows, it reaches a point where it has to add employees</a:t>
            </a:r>
          </a:p>
          <a:p>
            <a:pPr lvl="1" algn="just">
              <a:lnSpc>
                <a:spcPct val="150000"/>
              </a:lnSpc>
            </a:pPr>
            <a:r>
              <a:rPr lang="en-US" dirty="0">
                <a:latin typeface="Bookman Old Style" panose="02050604050505020204" pitchFamily="18" charset="0"/>
              </a:rPr>
              <a:t>As the number of employees rises, the structure tends to become more specialized and formalized. </a:t>
            </a:r>
          </a:p>
          <a:p>
            <a:pPr lvl="1" algn="just">
              <a:lnSpc>
                <a:spcPct val="150000"/>
              </a:lnSpc>
            </a:pPr>
            <a:r>
              <a:rPr lang="en-US" dirty="0">
                <a:latin typeface="Bookman Old Style" panose="02050604050505020204" pitchFamily="18" charset="0"/>
              </a:rPr>
              <a:t>Rules and regulations are introduced, work becomes specialized, departments are created, levels of management are added, and the organization becomes increasingly bureaucratic</a:t>
            </a:r>
            <a:endParaRPr lang="en-IN" dirty="0">
              <a:latin typeface="Bookman Old Style" panose="02050604050505020204" pitchFamily="18" charset="0"/>
            </a:endParaRPr>
          </a:p>
        </p:txBody>
      </p:sp>
    </p:spTree>
    <p:extLst>
      <p:ext uri="{BB962C8B-B14F-4D97-AF65-F5344CB8AC3E}">
        <p14:creationId xmlns:p14="http://schemas.microsoft.com/office/powerpoint/2010/main" val="243971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E14D6-0194-3768-7DD0-E05AB6D90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40F73-269B-3B20-5113-BE13A84167F4}"/>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Traditional Organizational Structure</a:t>
            </a:r>
          </a:p>
        </p:txBody>
      </p:sp>
      <p:sp>
        <p:nvSpPr>
          <p:cNvPr id="3" name="Content Placeholder 2">
            <a:extLst>
              <a:ext uri="{FF2B5EF4-FFF2-40B4-BE49-F238E27FC236}">
                <a16:creationId xmlns:a16="http://schemas.microsoft.com/office/drawing/2014/main" id="{BF674E95-D8F6-51FA-4475-9D0CDA8CF3B5}"/>
              </a:ext>
            </a:extLst>
          </p:cNvPr>
          <p:cNvSpPr>
            <a:spLocks noGrp="1"/>
          </p:cNvSpPr>
          <p:nvPr>
            <p:ph idx="1"/>
          </p:nvPr>
        </p:nvSpPr>
        <p:spPr>
          <a:xfrm>
            <a:off x="152399" y="765314"/>
            <a:ext cx="11774557" cy="6092686"/>
          </a:xfrm>
        </p:spPr>
        <p:txBody>
          <a:bodyPr>
            <a:normAutofit/>
          </a:bodyPr>
          <a:lstStyle/>
          <a:p>
            <a:pPr algn="just">
              <a:lnSpc>
                <a:spcPct val="150000"/>
              </a:lnSpc>
            </a:pPr>
            <a:r>
              <a:rPr lang="en-US" b="1" dirty="0">
                <a:solidFill>
                  <a:srgbClr val="FF0000"/>
                </a:solidFill>
                <a:latin typeface="Bookman Old Style" panose="02050604050505020204" pitchFamily="18" charset="0"/>
              </a:rPr>
              <a:t>FUNCTIONAL STRUCTURE </a:t>
            </a:r>
          </a:p>
          <a:p>
            <a:pPr lvl="1" algn="just">
              <a:lnSpc>
                <a:spcPct val="150000"/>
              </a:lnSpc>
            </a:pPr>
            <a:r>
              <a:rPr lang="en-US" dirty="0">
                <a:latin typeface="Bookman Old Style" panose="02050604050505020204" pitchFamily="18" charset="0"/>
              </a:rPr>
              <a:t>Groups similar or related occupational specialties together</a:t>
            </a:r>
          </a:p>
          <a:p>
            <a:pPr lvl="1" algn="just">
              <a:lnSpc>
                <a:spcPct val="150000"/>
              </a:lnSpc>
            </a:pPr>
            <a:r>
              <a:rPr lang="en-US" dirty="0">
                <a:latin typeface="Bookman Old Style" panose="02050604050505020204" pitchFamily="18" charset="0"/>
              </a:rPr>
              <a:t>Functional approach to departmentalization applied to the entire organization</a:t>
            </a:r>
          </a:p>
          <a:p>
            <a:pPr algn="just">
              <a:lnSpc>
                <a:spcPct val="150000"/>
              </a:lnSpc>
            </a:pPr>
            <a:r>
              <a:rPr lang="en-US" b="1" dirty="0">
                <a:solidFill>
                  <a:srgbClr val="FF0000"/>
                </a:solidFill>
                <a:latin typeface="Bookman Old Style" panose="02050604050505020204" pitchFamily="18" charset="0"/>
              </a:rPr>
              <a:t>DIVISIONAL STRUCTURE </a:t>
            </a:r>
          </a:p>
          <a:p>
            <a:pPr lvl="1" algn="just">
              <a:lnSpc>
                <a:spcPct val="150000"/>
              </a:lnSpc>
            </a:pPr>
            <a:r>
              <a:rPr lang="en-US" dirty="0">
                <a:latin typeface="Bookman Old Style" panose="02050604050505020204" pitchFamily="18" charset="0"/>
              </a:rPr>
              <a:t>Consists of separate business units or divisions</a:t>
            </a:r>
          </a:p>
          <a:p>
            <a:pPr lvl="1" algn="just">
              <a:lnSpc>
                <a:spcPct val="150000"/>
              </a:lnSpc>
            </a:pPr>
            <a:r>
              <a:rPr lang="en-US" dirty="0">
                <a:latin typeface="Bookman Old Style" panose="02050604050505020204" pitchFamily="18" charset="0"/>
              </a:rPr>
              <a:t>Each unit or division has </a:t>
            </a:r>
            <a:r>
              <a:rPr lang="en-US" b="1" dirty="0">
                <a:solidFill>
                  <a:srgbClr val="FF0000"/>
                </a:solidFill>
                <a:latin typeface="Bookman Old Style" panose="02050604050505020204" pitchFamily="18" charset="0"/>
              </a:rPr>
              <a:t>relatively limited autonomy</a:t>
            </a:r>
          </a:p>
        </p:txBody>
      </p:sp>
    </p:spTree>
    <p:extLst>
      <p:ext uri="{BB962C8B-B14F-4D97-AF65-F5344CB8AC3E}">
        <p14:creationId xmlns:p14="http://schemas.microsoft.com/office/powerpoint/2010/main" val="73092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726A2-E6F3-8DD5-5947-1877D549D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D1D55-EBF8-330B-00DA-5802366BCCA2}"/>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Traditional Organizational Structure</a:t>
            </a:r>
          </a:p>
        </p:txBody>
      </p:sp>
      <p:pic>
        <p:nvPicPr>
          <p:cNvPr id="5" name="Content Placeholder 4">
            <a:extLst>
              <a:ext uri="{FF2B5EF4-FFF2-40B4-BE49-F238E27FC236}">
                <a16:creationId xmlns:a16="http://schemas.microsoft.com/office/drawing/2014/main" id="{9BF9317C-E900-F15D-DCE9-4A7D4EC00DC9}"/>
              </a:ext>
            </a:extLst>
          </p:cNvPr>
          <p:cNvPicPr>
            <a:picLocks noGrp="1" noChangeAspect="1"/>
          </p:cNvPicPr>
          <p:nvPr>
            <p:ph idx="1"/>
          </p:nvPr>
        </p:nvPicPr>
        <p:blipFill>
          <a:blip r:embed="rId3"/>
          <a:stretch>
            <a:fillRect/>
          </a:stretch>
        </p:blipFill>
        <p:spPr>
          <a:xfrm>
            <a:off x="0" y="1464259"/>
            <a:ext cx="12192000" cy="3929481"/>
          </a:xfrm>
        </p:spPr>
      </p:pic>
    </p:spTree>
    <p:extLst>
      <p:ext uri="{BB962C8B-B14F-4D97-AF65-F5344CB8AC3E}">
        <p14:creationId xmlns:p14="http://schemas.microsoft.com/office/powerpoint/2010/main" val="708453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8366-AFB6-06F8-2189-0B576E6AF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381E1-A577-03FC-F943-A31F708C4A8C}"/>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9D03DE3B-AACE-55FA-5C71-D29A25B1FEFF}"/>
              </a:ext>
            </a:extLst>
          </p:cNvPr>
          <p:cNvSpPr>
            <a:spLocks noGrp="1"/>
          </p:cNvSpPr>
          <p:nvPr>
            <p:ph idx="1"/>
          </p:nvPr>
        </p:nvSpPr>
        <p:spPr>
          <a:xfrm>
            <a:off x="208721" y="546653"/>
            <a:ext cx="11774557" cy="6092686"/>
          </a:xfrm>
        </p:spPr>
        <p:txBody>
          <a:bodyPr>
            <a:normAutofit/>
          </a:bodyPr>
          <a:lstStyle/>
          <a:p>
            <a:pPr algn="just">
              <a:lnSpc>
                <a:spcPct val="150000"/>
              </a:lnSpc>
            </a:pPr>
            <a:r>
              <a:rPr lang="en-US" b="1" dirty="0">
                <a:solidFill>
                  <a:srgbClr val="FF0000"/>
                </a:solidFill>
                <a:latin typeface="Bookman Old Style" panose="02050604050505020204" pitchFamily="18" charset="0"/>
              </a:rPr>
              <a:t>TEAM STRUCTURE </a:t>
            </a:r>
          </a:p>
          <a:p>
            <a:pPr lvl="1" algn="just">
              <a:lnSpc>
                <a:spcPct val="150000"/>
              </a:lnSpc>
            </a:pPr>
            <a:r>
              <a:rPr lang="en-US" sz="2000" dirty="0">
                <a:latin typeface="Bookman Old Style" panose="02050604050505020204" pitchFamily="18" charset="0"/>
              </a:rPr>
              <a:t>Most big projects in small, tightly focused teams</a:t>
            </a:r>
          </a:p>
          <a:p>
            <a:pPr lvl="1" algn="just">
              <a:lnSpc>
                <a:spcPct val="150000"/>
              </a:lnSpc>
            </a:pPr>
            <a:r>
              <a:rPr lang="en-US" sz="2000" dirty="0">
                <a:latin typeface="Bookman Old Style" panose="02050604050505020204" pitchFamily="18" charset="0"/>
              </a:rPr>
              <a:t>Entire organization is made up of work groups or teams that perform the organization’s work</a:t>
            </a:r>
          </a:p>
          <a:p>
            <a:pPr lvl="1" algn="just">
              <a:lnSpc>
                <a:spcPct val="150000"/>
              </a:lnSpc>
            </a:pPr>
            <a:r>
              <a:rPr lang="en-US" sz="2000" dirty="0">
                <a:latin typeface="Bookman Old Style" panose="02050604050505020204" pitchFamily="18" charset="0"/>
              </a:rPr>
              <a:t>Employee empowerment is crucial</a:t>
            </a:r>
          </a:p>
          <a:p>
            <a:pPr lvl="1" algn="just">
              <a:lnSpc>
                <a:spcPct val="150000"/>
              </a:lnSpc>
            </a:pPr>
            <a:r>
              <a:rPr lang="en-US" sz="2000" dirty="0">
                <a:latin typeface="Bookman Old Style" panose="02050604050505020204" pitchFamily="18" charset="0"/>
              </a:rPr>
              <a:t>Employee teams are free to design work in the way they think is best</a:t>
            </a:r>
          </a:p>
          <a:p>
            <a:pPr lvl="1" algn="just">
              <a:lnSpc>
                <a:spcPct val="150000"/>
              </a:lnSpc>
            </a:pPr>
            <a:r>
              <a:rPr lang="en-US" sz="2000" dirty="0">
                <a:latin typeface="Bookman Old Style" panose="02050604050505020204" pitchFamily="18" charset="0"/>
              </a:rPr>
              <a:t>Teams are held responsible for all work and performance results in their respective areas</a:t>
            </a:r>
          </a:p>
        </p:txBody>
      </p:sp>
      <p:pic>
        <p:nvPicPr>
          <p:cNvPr id="5" name="Picture 4">
            <a:extLst>
              <a:ext uri="{FF2B5EF4-FFF2-40B4-BE49-F238E27FC236}">
                <a16:creationId xmlns:a16="http://schemas.microsoft.com/office/drawing/2014/main" id="{2F30F24F-98A6-8FE5-F731-0929947644EE}"/>
              </a:ext>
            </a:extLst>
          </p:cNvPr>
          <p:cNvPicPr>
            <a:picLocks noChangeAspect="1"/>
          </p:cNvPicPr>
          <p:nvPr/>
        </p:nvPicPr>
        <p:blipFill>
          <a:blip r:embed="rId3"/>
          <a:stretch>
            <a:fillRect/>
          </a:stretch>
        </p:blipFill>
        <p:spPr>
          <a:xfrm>
            <a:off x="208721" y="4778846"/>
            <a:ext cx="11983279" cy="2079154"/>
          </a:xfrm>
          <a:prstGeom prst="rect">
            <a:avLst/>
          </a:prstGeom>
          <a:ln>
            <a:solidFill>
              <a:schemeClr val="accent1"/>
            </a:solidFill>
          </a:ln>
        </p:spPr>
      </p:pic>
    </p:spTree>
    <p:extLst>
      <p:ext uri="{BB962C8B-B14F-4D97-AF65-F5344CB8AC3E}">
        <p14:creationId xmlns:p14="http://schemas.microsoft.com/office/powerpoint/2010/main" val="189721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D4B3F-E387-F31F-B3A1-9D37B3163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32B8F-7DF0-54F6-FDD3-1C19240FFA0C}"/>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D924FB60-17DF-B627-6304-8126CB87604B}"/>
              </a:ext>
            </a:extLst>
          </p:cNvPr>
          <p:cNvSpPr>
            <a:spLocks noGrp="1"/>
          </p:cNvSpPr>
          <p:nvPr>
            <p:ph idx="1"/>
          </p:nvPr>
        </p:nvSpPr>
        <p:spPr>
          <a:xfrm>
            <a:off x="208721" y="681037"/>
            <a:ext cx="11774557" cy="5958302"/>
          </a:xfrm>
        </p:spPr>
        <p:txBody>
          <a:bodyPr>
            <a:normAutofit fontScale="92500" lnSpcReduction="20000"/>
          </a:bodyPr>
          <a:lstStyle/>
          <a:p>
            <a:pPr algn="just">
              <a:lnSpc>
                <a:spcPct val="150000"/>
              </a:lnSpc>
            </a:pPr>
            <a:r>
              <a:rPr lang="en-US" b="1" dirty="0">
                <a:solidFill>
                  <a:srgbClr val="FF0000"/>
                </a:solidFill>
                <a:latin typeface="Bookman Old Style" panose="02050604050505020204" pitchFamily="18" charset="0"/>
              </a:rPr>
              <a:t>MATRIX STRUCTURE</a:t>
            </a:r>
          </a:p>
          <a:p>
            <a:pPr algn="just">
              <a:lnSpc>
                <a:spcPct val="150000"/>
              </a:lnSpc>
            </a:pPr>
            <a:r>
              <a:rPr lang="en-US" dirty="0">
                <a:latin typeface="Bookman Old Style" panose="02050604050505020204" pitchFamily="18" charset="0"/>
              </a:rPr>
              <a:t>Assigns specialists from different functional departments to work on one or more projects led by project managers</a:t>
            </a:r>
          </a:p>
          <a:p>
            <a:pPr algn="just">
              <a:lnSpc>
                <a:spcPct val="150000"/>
              </a:lnSpc>
            </a:pPr>
            <a:r>
              <a:rPr lang="en-US" dirty="0">
                <a:latin typeface="Bookman Old Style" panose="02050604050505020204" pitchFamily="18" charset="0"/>
              </a:rPr>
              <a:t>Once a project is completed, the specialists return to their functional departments</a:t>
            </a:r>
          </a:p>
          <a:p>
            <a:pPr algn="just">
              <a:lnSpc>
                <a:spcPct val="150000"/>
              </a:lnSpc>
            </a:pPr>
            <a:r>
              <a:rPr lang="en-US" b="1" dirty="0">
                <a:solidFill>
                  <a:srgbClr val="FF0000"/>
                </a:solidFill>
                <a:latin typeface="Bookman Old Style" panose="02050604050505020204" pitchFamily="18" charset="0"/>
              </a:rPr>
              <a:t>Dual chain of command</a:t>
            </a:r>
          </a:p>
          <a:p>
            <a:pPr algn="just">
              <a:lnSpc>
                <a:spcPct val="150000"/>
              </a:lnSpc>
            </a:pPr>
            <a:r>
              <a:rPr lang="en-US" b="1" dirty="0">
                <a:solidFill>
                  <a:srgbClr val="FF0000"/>
                </a:solidFill>
                <a:latin typeface="Bookman Old Style" panose="02050604050505020204" pitchFamily="18" charset="0"/>
              </a:rPr>
              <a:t>Two managers: </a:t>
            </a:r>
            <a:r>
              <a:rPr lang="en-US" dirty="0">
                <a:latin typeface="Bookman Old Style" panose="02050604050505020204" pitchFamily="18" charset="0"/>
              </a:rPr>
              <a:t>Functional department manager &amp; product managers</a:t>
            </a:r>
          </a:p>
          <a:p>
            <a:pPr lvl="1" algn="just">
              <a:lnSpc>
                <a:spcPct val="150000"/>
              </a:lnSpc>
            </a:pPr>
            <a:r>
              <a:rPr lang="en-US" dirty="0">
                <a:latin typeface="Bookman Old Style" panose="02050604050505020204" pitchFamily="18" charset="0"/>
              </a:rPr>
              <a:t>Communicate regularly</a:t>
            </a:r>
          </a:p>
          <a:p>
            <a:pPr lvl="1" algn="just">
              <a:lnSpc>
                <a:spcPct val="150000"/>
              </a:lnSpc>
            </a:pPr>
            <a:r>
              <a:rPr lang="en-US" dirty="0">
                <a:latin typeface="Bookman Old Style" panose="02050604050505020204" pitchFamily="18" charset="0"/>
              </a:rPr>
              <a:t>Coordinate work demands on employees</a:t>
            </a:r>
          </a:p>
          <a:p>
            <a:pPr lvl="1" algn="just">
              <a:lnSpc>
                <a:spcPct val="150000"/>
              </a:lnSpc>
            </a:pPr>
            <a:r>
              <a:rPr lang="en-US" dirty="0">
                <a:latin typeface="Bookman Old Style" panose="02050604050505020204" pitchFamily="18" charset="0"/>
              </a:rPr>
              <a:t>Resolve conflicts together</a:t>
            </a:r>
          </a:p>
        </p:txBody>
      </p:sp>
      <p:pic>
        <p:nvPicPr>
          <p:cNvPr id="6" name="Picture 5">
            <a:extLst>
              <a:ext uri="{FF2B5EF4-FFF2-40B4-BE49-F238E27FC236}">
                <a16:creationId xmlns:a16="http://schemas.microsoft.com/office/drawing/2014/main" id="{2AB8FFA3-930A-2895-E087-B7A4E245496C}"/>
              </a:ext>
            </a:extLst>
          </p:cNvPr>
          <p:cNvPicPr>
            <a:picLocks noChangeAspect="1"/>
          </p:cNvPicPr>
          <p:nvPr/>
        </p:nvPicPr>
        <p:blipFill>
          <a:blip r:embed="rId3"/>
          <a:stretch>
            <a:fillRect/>
          </a:stretch>
        </p:blipFill>
        <p:spPr>
          <a:xfrm>
            <a:off x="478625" y="2571414"/>
            <a:ext cx="11398635" cy="4368339"/>
          </a:xfrm>
          <a:prstGeom prst="rect">
            <a:avLst/>
          </a:prstGeom>
        </p:spPr>
      </p:pic>
    </p:spTree>
    <p:extLst>
      <p:ext uri="{BB962C8B-B14F-4D97-AF65-F5344CB8AC3E}">
        <p14:creationId xmlns:p14="http://schemas.microsoft.com/office/powerpoint/2010/main" val="394421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B402-4D99-BA88-1931-3D5E2F053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5AECF-3A5D-481D-1F1D-E3C3BDCCC885}"/>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7465F91D-0C18-A9F4-B771-D59F8463F072}"/>
              </a:ext>
            </a:extLst>
          </p:cNvPr>
          <p:cNvSpPr>
            <a:spLocks noGrp="1"/>
          </p:cNvSpPr>
          <p:nvPr>
            <p:ph idx="1"/>
          </p:nvPr>
        </p:nvSpPr>
        <p:spPr>
          <a:xfrm>
            <a:off x="208721" y="681037"/>
            <a:ext cx="11774557" cy="5958302"/>
          </a:xfrm>
        </p:spPr>
        <p:txBody>
          <a:bodyPr>
            <a:normAutofit/>
          </a:bodyPr>
          <a:lstStyle/>
          <a:p>
            <a:pPr algn="just">
              <a:lnSpc>
                <a:spcPct val="150000"/>
              </a:lnSpc>
            </a:pPr>
            <a:r>
              <a:rPr lang="en-US" b="1" dirty="0">
                <a:solidFill>
                  <a:srgbClr val="FF0000"/>
                </a:solidFill>
                <a:latin typeface="Bookman Old Style" panose="02050604050505020204" pitchFamily="18" charset="0"/>
              </a:rPr>
              <a:t>PROJECT STRUCTURE</a:t>
            </a:r>
          </a:p>
          <a:p>
            <a:pPr algn="just">
              <a:lnSpc>
                <a:spcPct val="150000"/>
              </a:lnSpc>
            </a:pPr>
            <a:r>
              <a:rPr lang="en-US" dirty="0">
                <a:latin typeface="Bookman Old Style" panose="02050604050505020204" pitchFamily="18" charset="0"/>
              </a:rPr>
              <a:t>Employees continuously work on projects</a:t>
            </a:r>
          </a:p>
          <a:p>
            <a:pPr algn="just">
              <a:lnSpc>
                <a:spcPct val="150000"/>
              </a:lnSpc>
            </a:pPr>
            <a:r>
              <a:rPr lang="en-US" dirty="0">
                <a:latin typeface="Bookman Old Style" panose="02050604050505020204" pitchFamily="18" charset="0"/>
              </a:rPr>
              <a:t>No formal departments that employees return to at the completion of a project</a:t>
            </a:r>
          </a:p>
          <a:p>
            <a:pPr algn="just">
              <a:lnSpc>
                <a:spcPct val="150000"/>
              </a:lnSpc>
            </a:pPr>
            <a:r>
              <a:rPr lang="en-US" dirty="0">
                <a:latin typeface="Bookman Old Style" panose="02050604050505020204" pitchFamily="18" charset="0"/>
              </a:rPr>
              <a:t>Employees take their specific skills, abilities, and experiences to other projects</a:t>
            </a:r>
          </a:p>
          <a:p>
            <a:pPr algn="just">
              <a:lnSpc>
                <a:spcPct val="150000"/>
              </a:lnSpc>
            </a:pPr>
            <a:r>
              <a:rPr lang="en-US" dirty="0">
                <a:latin typeface="Bookman Old Style" panose="02050604050505020204" pitchFamily="18" charset="0"/>
              </a:rPr>
              <a:t>No departmentalization or rigid organizational hierarchy </a:t>
            </a:r>
          </a:p>
          <a:p>
            <a:pPr algn="just">
              <a:lnSpc>
                <a:spcPct val="150000"/>
              </a:lnSpc>
            </a:pPr>
            <a:r>
              <a:rPr lang="en-US" dirty="0">
                <a:latin typeface="Bookman Old Style" panose="02050604050505020204" pitchFamily="18" charset="0"/>
              </a:rPr>
              <a:t>Managers act as facilitators, mentors, and coaches. </a:t>
            </a:r>
          </a:p>
        </p:txBody>
      </p:sp>
    </p:spTree>
    <p:extLst>
      <p:ext uri="{BB962C8B-B14F-4D97-AF65-F5344CB8AC3E}">
        <p14:creationId xmlns:p14="http://schemas.microsoft.com/office/powerpoint/2010/main" val="164835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17B8-2F4A-9ACA-E51C-126B1FED2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5060B-977B-633A-982C-8F126DFC6F0E}"/>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9D87B33A-18F8-0FB2-DAA7-A209EE6F6FED}"/>
              </a:ext>
            </a:extLst>
          </p:cNvPr>
          <p:cNvSpPr>
            <a:spLocks noGrp="1"/>
          </p:cNvSpPr>
          <p:nvPr>
            <p:ph idx="1"/>
          </p:nvPr>
        </p:nvSpPr>
        <p:spPr>
          <a:xfrm>
            <a:off x="208721" y="1480929"/>
            <a:ext cx="11878918" cy="5158409"/>
          </a:xfrm>
        </p:spPr>
        <p:txBody>
          <a:bodyPr>
            <a:normAutofit/>
          </a:bodyPr>
          <a:lstStyle/>
          <a:p>
            <a:pPr algn="just">
              <a:lnSpc>
                <a:spcPct val="150000"/>
              </a:lnSpc>
            </a:pPr>
            <a:r>
              <a:rPr lang="en-US" b="1" dirty="0">
                <a:solidFill>
                  <a:srgbClr val="FF0000"/>
                </a:solidFill>
                <a:latin typeface="Bookman Old Style" panose="02050604050505020204" pitchFamily="18" charset="0"/>
              </a:rPr>
              <a:t>BOUNDARYLESS ORGANIZATION</a:t>
            </a:r>
          </a:p>
          <a:p>
            <a:pPr algn="just">
              <a:lnSpc>
                <a:spcPct val="150000"/>
              </a:lnSpc>
            </a:pPr>
            <a:r>
              <a:rPr lang="en-US" dirty="0">
                <a:latin typeface="Bookman Old Style" panose="02050604050505020204" pitchFamily="18" charset="0"/>
              </a:rPr>
              <a:t>No predefined structure</a:t>
            </a:r>
          </a:p>
          <a:p>
            <a:pPr algn="just">
              <a:lnSpc>
                <a:spcPct val="150000"/>
              </a:lnSpc>
            </a:pPr>
            <a:r>
              <a:rPr lang="en-US" dirty="0">
                <a:latin typeface="Bookman Old Style" panose="02050604050505020204" pitchFamily="18" charset="0"/>
              </a:rPr>
              <a:t>Eliminate the chain of command</a:t>
            </a:r>
          </a:p>
          <a:p>
            <a:pPr algn="just">
              <a:lnSpc>
                <a:spcPct val="150000"/>
              </a:lnSpc>
            </a:pPr>
            <a:r>
              <a:rPr lang="en-US" dirty="0">
                <a:latin typeface="Bookman Old Style" panose="02050604050505020204" pitchFamily="18" charset="0"/>
              </a:rPr>
              <a:t>Places no limits on spans of control</a:t>
            </a:r>
          </a:p>
          <a:p>
            <a:pPr algn="just">
              <a:lnSpc>
                <a:spcPct val="150000"/>
              </a:lnSpc>
            </a:pPr>
            <a:r>
              <a:rPr lang="en-US" dirty="0">
                <a:latin typeface="Bookman Old Style" panose="02050604050505020204" pitchFamily="18" charset="0"/>
              </a:rPr>
              <a:t>Replaces departments with empowered teams</a:t>
            </a:r>
          </a:p>
        </p:txBody>
      </p:sp>
      <p:pic>
        <p:nvPicPr>
          <p:cNvPr id="5" name="Picture 4">
            <a:extLst>
              <a:ext uri="{FF2B5EF4-FFF2-40B4-BE49-F238E27FC236}">
                <a16:creationId xmlns:a16="http://schemas.microsoft.com/office/drawing/2014/main" id="{0F9C522C-CC0B-408C-9A65-AB65E24C0514}"/>
              </a:ext>
            </a:extLst>
          </p:cNvPr>
          <p:cNvPicPr>
            <a:picLocks noChangeAspect="1"/>
          </p:cNvPicPr>
          <p:nvPr/>
        </p:nvPicPr>
        <p:blipFill>
          <a:blip r:embed="rId3"/>
          <a:stretch>
            <a:fillRect/>
          </a:stretch>
        </p:blipFill>
        <p:spPr>
          <a:xfrm>
            <a:off x="7214418" y="756775"/>
            <a:ext cx="4614804" cy="3303358"/>
          </a:xfrm>
          <a:prstGeom prst="rect">
            <a:avLst/>
          </a:prstGeom>
          <a:ln>
            <a:solidFill>
              <a:schemeClr val="accent1"/>
            </a:solidFill>
          </a:ln>
        </p:spPr>
      </p:pic>
    </p:spTree>
    <p:extLst>
      <p:ext uri="{BB962C8B-B14F-4D97-AF65-F5344CB8AC3E}">
        <p14:creationId xmlns:p14="http://schemas.microsoft.com/office/powerpoint/2010/main" val="252208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293A6-CADE-DE00-9EE3-15F23938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FCFEB-07B3-4A47-7BFC-DE4C8FAC7C20}"/>
              </a:ext>
            </a:extLst>
          </p:cNvPr>
          <p:cNvSpPr>
            <a:spLocks noGrp="1"/>
          </p:cNvSpPr>
          <p:nvPr>
            <p:ph type="title"/>
          </p:nvPr>
        </p:nvSpPr>
        <p:spPr>
          <a:xfrm>
            <a:off x="152399" y="111884"/>
            <a:ext cx="12039601" cy="569153"/>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AD593D58-DF6D-83BC-3507-565C9F91BBCE}"/>
              </a:ext>
            </a:extLst>
          </p:cNvPr>
          <p:cNvSpPr>
            <a:spLocks noGrp="1"/>
          </p:cNvSpPr>
          <p:nvPr>
            <p:ph idx="1"/>
          </p:nvPr>
        </p:nvSpPr>
        <p:spPr>
          <a:xfrm>
            <a:off x="208721" y="756775"/>
            <a:ext cx="11878918" cy="5882563"/>
          </a:xfrm>
        </p:spPr>
        <p:txBody>
          <a:bodyPr>
            <a:normAutofit/>
          </a:bodyPr>
          <a:lstStyle/>
          <a:p>
            <a:pPr algn="just">
              <a:lnSpc>
                <a:spcPct val="150000"/>
              </a:lnSpc>
            </a:pPr>
            <a:r>
              <a:rPr lang="en-US" b="1" dirty="0">
                <a:solidFill>
                  <a:srgbClr val="FF0000"/>
                </a:solidFill>
                <a:latin typeface="Bookman Old Style" panose="02050604050505020204" pitchFamily="18" charset="0"/>
              </a:rPr>
              <a:t>VIRTUAL ORGANIZATIONS</a:t>
            </a:r>
          </a:p>
          <a:p>
            <a:pPr algn="just">
              <a:lnSpc>
                <a:spcPct val="150000"/>
              </a:lnSpc>
            </a:pPr>
            <a:r>
              <a:rPr lang="en-US" dirty="0">
                <a:latin typeface="Bookman Old Style" panose="02050604050505020204" pitchFamily="18" charset="0"/>
              </a:rPr>
              <a:t>Elements of a traditional organization</a:t>
            </a:r>
          </a:p>
          <a:p>
            <a:pPr algn="just">
              <a:lnSpc>
                <a:spcPct val="150000"/>
              </a:lnSpc>
            </a:pPr>
            <a:r>
              <a:rPr lang="en-US" dirty="0">
                <a:latin typeface="Bookman Old Style" panose="02050604050505020204" pitchFamily="18" charset="0"/>
              </a:rPr>
              <a:t>Relies on recent developments in information technology to get work done.</a:t>
            </a:r>
          </a:p>
          <a:p>
            <a:pPr algn="just">
              <a:lnSpc>
                <a:spcPct val="150000"/>
              </a:lnSpc>
            </a:pPr>
            <a:r>
              <a:rPr lang="en-US" dirty="0">
                <a:latin typeface="Bookman Old Style" panose="02050604050505020204" pitchFamily="18" charset="0"/>
              </a:rPr>
              <a:t>Organization could consist of a small core of full-time employees</a:t>
            </a:r>
          </a:p>
          <a:p>
            <a:pPr algn="just">
              <a:lnSpc>
                <a:spcPct val="150000"/>
              </a:lnSpc>
            </a:pPr>
            <a:r>
              <a:rPr lang="en-US" dirty="0">
                <a:latin typeface="Bookman Old Style" panose="02050604050505020204" pitchFamily="18" charset="0"/>
              </a:rPr>
              <a:t>Plus outside specialists hired on a temporary basis to work on the need of the hour opportunities</a:t>
            </a:r>
          </a:p>
          <a:p>
            <a:pPr algn="just">
              <a:lnSpc>
                <a:spcPct val="150000"/>
              </a:lnSpc>
            </a:pPr>
            <a:r>
              <a:rPr lang="en-US" dirty="0">
                <a:latin typeface="Bookman Old Style" panose="02050604050505020204" pitchFamily="18" charset="0"/>
              </a:rPr>
              <a:t>Composed of employees who work from their own home offices</a:t>
            </a:r>
          </a:p>
        </p:txBody>
      </p:sp>
    </p:spTree>
    <p:extLst>
      <p:ext uri="{BB962C8B-B14F-4D97-AF65-F5344CB8AC3E}">
        <p14:creationId xmlns:p14="http://schemas.microsoft.com/office/powerpoint/2010/main" val="288875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5C42A-B585-C162-94B1-5CCD28863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BBDAD-2A00-56BC-D1A8-F830FB80D6FE}"/>
              </a:ext>
            </a:extLst>
          </p:cNvPr>
          <p:cNvSpPr>
            <a:spLocks noGrp="1"/>
          </p:cNvSpPr>
          <p:nvPr>
            <p:ph type="title"/>
          </p:nvPr>
        </p:nvSpPr>
        <p:spPr>
          <a:xfrm>
            <a:off x="152399" y="6247"/>
            <a:ext cx="12039601" cy="424829"/>
          </a:xfrm>
        </p:spPr>
        <p:txBody>
          <a:bodyPr>
            <a:noAutofit/>
          </a:bodyPr>
          <a:lstStyle/>
          <a:p>
            <a:r>
              <a:rPr lang="en-IN" sz="3600" b="1" dirty="0">
                <a:solidFill>
                  <a:srgbClr val="FF0000"/>
                </a:solidFill>
              </a:rPr>
              <a:t>Contemporary Organizational Structure</a:t>
            </a:r>
          </a:p>
        </p:txBody>
      </p:sp>
      <p:sp>
        <p:nvSpPr>
          <p:cNvPr id="3" name="Content Placeholder 2">
            <a:extLst>
              <a:ext uri="{FF2B5EF4-FFF2-40B4-BE49-F238E27FC236}">
                <a16:creationId xmlns:a16="http://schemas.microsoft.com/office/drawing/2014/main" id="{B0CE51F1-B0B3-1946-F51C-D6C05EE24AA6}"/>
              </a:ext>
            </a:extLst>
          </p:cNvPr>
          <p:cNvSpPr>
            <a:spLocks noGrp="1"/>
          </p:cNvSpPr>
          <p:nvPr>
            <p:ph idx="1"/>
          </p:nvPr>
        </p:nvSpPr>
        <p:spPr>
          <a:xfrm>
            <a:off x="208721" y="556591"/>
            <a:ext cx="11878918" cy="6082748"/>
          </a:xfrm>
        </p:spPr>
        <p:txBody>
          <a:bodyPr>
            <a:normAutofit fontScale="85000" lnSpcReduction="10000"/>
          </a:bodyPr>
          <a:lstStyle/>
          <a:p>
            <a:pPr algn="just">
              <a:lnSpc>
                <a:spcPct val="150000"/>
              </a:lnSpc>
            </a:pPr>
            <a:r>
              <a:rPr lang="en-US" b="1" dirty="0">
                <a:solidFill>
                  <a:srgbClr val="FF0000"/>
                </a:solidFill>
                <a:latin typeface="Bookman Old Style" panose="02050604050505020204" pitchFamily="18" charset="0"/>
              </a:rPr>
              <a:t>NETWORK ORGANIZATIONS</a:t>
            </a:r>
          </a:p>
          <a:p>
            <a:pPr algn="just">
              <a:lnSpc>
                <a:spcPct val="150000"/>
              </a:lnSpc>
            </a:pPr>
            <a:r>
              <a:rPr lang="en-US" dirty="0">
                <a:latin typeface="Bookman Old Style" panose="02050604050505020204" pitchFamily="18" charset="0"/>
              </a:rPr>
              <a:t>small core organization that outsources major business functions.</a:t>
            </a:r>
          </a:p>
          <a:p>
            <a:pPr algn="just">
              <a:lnSpc>
                <a:spcPct val="150000"/>
              </a:lnSpc>
            </a:pPr>
            <a:r>
              <a:rPr lang="en-US" dirty="0">
                <a:latin typeface="Bookman Old Style" panose="02050604050505020204" pitchFamily="18" charset="0"/>
              </a:rPr>
              <a:t>Allows organizations to concentrate on what they do best </a:t>
            </a:r>
          </a:p>
          <a:p>
            <a:pPr algn="just">
              <a:lnSpc>
                <a:spcPct val="150000"/>
              </a:lnSpc>
            </a:pPr>
            <a:r>
              <a:rPr lang="en-US" dirty="0">
                <a:latin typeface="Bookman Old Style" panose="02050604050505020204" pitchFamily="18" charset="0"/>
              </a:rPr>
              <a:t>Contract out other activities to companies that specialize in those activities</a:t>
            </a:r>
          </a:p>
          <a:p>
            <a:pPr algn="just">
              <a:lnSpc>
                <a:spcPct val="150000"/>
              </a:lnSpc>
            </a:pPr>
            <a:r>
              <a:rPr lang="en-US" dirty="0">
                <a:latin typeface="Bookman Old Style" panose="02050604050505020204" pitchFamily="18" charset="0"/>
              </a:rPr>
              <a:t>Managers should be aware of some of the problems involved in outsourcing, 	• </a:t>
            </a:r>
            <a:r>
              <a:rPr lang="en-US" sz="2400" dirty="0">
                <a:latin typeface="Bookman Old Style" panose="02050604050505020204" pitchFamily="18" charset="0"/>
              </a:rPr>
              <a:t>Choosing the wrong activities to outsource</a:t>
            </a:r>
          </a:p>
          <a:p>
            <a:pPr lvl="2" algn="just">
              <a:lnSpc>
                <a:spcPct val="150000"/>
              </a:lnSpc>
            </a:pPr>
            <a:r>
              <a:rPr lang="en-US" sz="2400" dirty="0">
                <a:latin typeface="Bookman Old Style" panose="02050604050505020204" pitchFamily="18" charset="0"/>
              </a:rPr>
              <a:t>Choosing the wrong vendor</a:t>
            </a:r>
          </a:p>
          <a:p>
            <a:pPr lvl="2" algn="just">
              <a:lnSpc>
                <a:spcPct val="150000"/>
              </a:lnSpc>
            </a:pPr>
            <a:r>
              <a:rPr lang="en-US" sz="2400" dirty="0">
                <a:latin typeface="Bookman Old Style" panose="02050604050505020204" pitchFamily="18" charset="0"/>
              </a:rPr>
              <a:t>Writing a poor contract</a:t>
            </a:r>
          </a:p>
          <a:p>
            <a:pPr lvl="2" algn="just">
              <a:lnSpc>
                <a:spcPct val="150000"/>
              </a:lnSpc>
            </a:pPr>
            <a:r>
              <a:rPr lang="en-US" sz="2400" dirty="0">
                <a:latin typeface="Bookman Old Style" panose="02050604050505020204" pitchFamily="18" charset="0"/>
              </a:rPr>
              <a:t>Failing to consider personnel issues</a:t>
            </a:r>
          </a:p>
          <a:p>
            <a:pPr lvl="2" algn="just">
              <a:lnSpc>
                <a:spcPct val="150000"/>
              </a:lnSpc>
            </a:pPr>
            <a:r>
              <a:rPr lang="en-US" sz="2400" dirty="0">
                <a:latin typeface="Bookman Old Style" panose="02050604050505020204" pitchFamily="18" charset="0"/>
              </a:rPr>
              <a:t>Losing control over the activity</a:t>
            </a:r>
          </a:p>
          <a:p>
            <a:pPr lvl="2" algn="just">
              <a:lnSpc>
                <a:spcPct val="150000"/>
              </a:lnSpc>
            </a:pPr>
            <a:r>
              <a:rPr lang="en-US" sz="2400" dirty="0">
                <a:latin typeface="Bookman Old Style" panose="02050604050505020204" pitchFamily="18" charset="0"/>
              </a:rPr>
              <a:t>Ignoring the hidden costs</a:t>
            </a:r>
          </a:p>
        </p:txBody>
      </p:sp>
    </p:spTree>
    <p:extLst>
      <p:ext uri="{BB962C8B-B14F-4D97-AF65-F5344CB8AC3E}">
        <p14:creationId xmlns:p14="http://schemas.microsoft.com/office/powerpoint/2010/main" val="366071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BB853-B569-E805-B262-4824D869E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BFC7C-3617-43D7-3FDC-E67FBF871424}"/>
              </a:ext>
            </a:extLst>
          </p:cNvPr>
          <p:cNvSpPr>
            <a:spLocks noGrp="1"/>
          </p:cNvSpPr>
          <p:nvPr>
            <p:ph type="title"/>
          </p:nvPr>
        </p:nvSpPr>
        <p:spPr>
          <a:xfrm>
            <a:off x="128379" y="131762"/>
            <a:ext cx="12039601" cy="424829"/>
          </a:xfrm>
        </p:spPr>
        <p:txBody>
          <a:bodyPr>
            <a:noAutofit/>
          </a:bodyPr>
          <a:lstStyle/>
          <a:p>
            <a:r>
              <a:rPr lang="en-IN" sz="3600" b="1" dirty="0">
                <a:solidFill>
                  <a:srgbClr val="FF0000"/>
                </a:solidFill>
                <a:latin typeface="Bookman Old Style" panose="02050604050505020204" pitchFamily="18" charset="0"/>
              </a:rPr>
              <a:t>Organizational Culture</a:t>
            </a:r>
          </a:p>
        </p:txBody>
      </p:sp>
      <p:sp>
        <p:nvSpPr>
          <p:cNvPr id="3" name="Content Placeholder 2">
            <a:extLst>
              <a:ext uri="{FF2B5EF4-FFF2-40B4-BE49-F238E27FC236}">
                <a16:creationId xmlns:a16="http://schemas.microsoft.com/office/drawing/2014/main" id="{9DA328F2-E6B9-5519-655C-F7C287DE0B96}"/>
              </a:ext>
            </a:extLst>
          </p:cNvPr>
          <p:cNvSpPr>
            <a:spLocks noGrp="1"/>
          </p:cNvSpPr>
          <p:nvPr>
            <p:ph idx="1"/>
          </p:nvPr>
        </p:nvSpPr>
        <p:spPr>
          <a:xfrm>
            <a:off x="278295" y="755373"/>
            <a:ext cx="11809343" cy="5883965"/>
          </a:xfrm>
        </p:spPr>
        <p:txBody>
          <a:bodyPr>
            <a:normAutofit/>
          </a:bodyPr>
          <a:lstStyle/>
          <a:p>
            <a:pPr algn="just">
              <a:lnSpc>
                <a:spcPct val="150000"/>
              </a:lnSpc>
            </a:pPr>
            <a:r>
              <a:rPr lang="en-US" sz="2400" dirty="0">
                <a:latin typeface="Bookman Old Style" panose="02050604050505020204" pitchFamily="18" charset="0"/>
              </a:rPr>
              <a:t>When people join an organization, they bring with them the values and beliefs they have been taught</a:t>
            </a:r>
          </a:p>
          <a:p>
            <a:pPr algn="just">
              <a:lnSpc>
                <a:spcPct val="150000"/>
              </a:lnSpc>
            </a:pPr>
            <a:r>
              <a:rPr lang="en-US" sz="2400" dirty="0">
                <a:latin typeface="Bookman Old Style" panose="02050604050505020204" pitchFamily="18" charset="0"/>
              </a:rPr>
              <a:t>Values and beliefs are insufficient for helping the individual succeed in the organization</a:t>
            </a:r>
          </a:p>
        </p:txBody>
      </p:sp>
    </p:spTree>
    <p:extLst>
      <p:ext uri="{BB962C8B-B14F-4D97-AF65-F5344CB8AC3E}">
        <p14:creationId xmlns:p14="http://schemas.microsoft.com/office/powerpoint/2010/main" val="416700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6D623-5366-B82E-303A-52A87413F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464B7-84B9-C576-CE94-4AB7D1388058}"/>
              </a:ext>
            </a:extLst>
          </p:cNvPr>
          <p:cNvSpPr>
            <a:spLocks noGrp="1"/>
          </p:cNvSpPr>
          <p:nvPr>
            <p:ph type="title"/>
          </p:nvPr>
        </p:nvSpPr>
        <p:spPr>
          <a:xfrm>
            <a:off x="128379" y="131762"/>
            <a:ext cx="12039601" cy="504343"/>
          </a:xfrm>
        </p:spPr>
        <p:txBody>
          <a:bodyPr>
            <a:noAutofit/>
          </a:bodyPr>
          <a:lstStyle/>
          <a:p>
            <a:r>
              <a:rPr lang="en-IN" sz="3600" b="1" dirty="0">
                <a:solidFill>
                  <a:srgbClr val="FF0000"/>
                </a:solidFill>
                <a:latin typeface="Bookman Old Style" panose="02050604050505020204" pitchFamily="18" charset="0"/>
              </a:rPr>
              <a:t>Organizational Culture - Characteristics</a:t>
            </a:r>
          </a:p>
        </p:txBody>
      </p:sp>
      <p:sp>
        <p:nvSpPr>
          <p:cNvPr id="3" name="Content Placeholder 2">
            <a:extLst>
              <a:ext uri="{FF2B5EF4-FFF2-40B4-BE49-F238E27FC236}">
                <a16:creationId xmlns:a16="http://schemas.microsoft.com/office/drawing/2014/main" id="{4459F427-A2A4-57A8-2650-A645AEEDCCF5}"/>
              </a:ext>
            </a:extLst>
          </p:cNvPr>
          <p:cNvSpPr>
            <a:spLocks noGrp="1"/>
          </p:cNvSpPr>
          <p:nvPr>
            <p:ph idx="1"/>
          </p:nvPr>
        </p:nvSpPr>
        <p:spPr>
          <a:xfrm>
            <a:off x="278295" y="785190"/>
            <a:ext cx="11809343" cy="6072809"/>
          </a:xfrm>
        </p:spPr>
        <p:txBody>
          <a:bodyPr>
            <a:normAutofit fontScale="92500" lnSpcReduction="10000"/>
          </a:bodyPr>
          <a:lstStyle/>
          <a:p>
            <a:pPr marL="0" indent="0" algn="just">
              <a:lnSpc>
                <a:spcPct val="150000"/>
              </a:lnSpc>
              <a:buNone/>
            </a:pPr>
            <a:r>
              <a:rPr lang="en-US" sz="2400" dirty="0">
                <a:latin typeface="Bookman Old Style" panose="02050604050505020204" pitchFamily="18" charset="0"/>
              </a:rPr>
              <a:t>1. </a:t>
            </a:r>
            <a:r>
              <a:rPr lang="en-US" sz="2400" b="1" dirty="0">
                <a:solidFill>
                  <a:srgbClr val="FF0000"/>
                </a:solidFill>
                <a:latin typeface="Bookman Old Style" panose="02050604050505020204" pitchFamily="18" charset="0"/>
              </a:rPr>
              <a:t>Observed behavioral regularities: </a:t>
            </a:r>
            <a:r>
              <a:rPr lang="en-US" sz="2400" dirty="0">
                <a:latin typeface="Bookman Old Style" panose="02050604050505020204" pitchFamily="18" charset="0"/>
              </a:rPr>
              <a:t>When organizational participants interact with one another, they use common language, terminology, and rituals related to deference and demeanor</a:t>
            </a:r>
          </a:p>
          <a:p>
            <a:pPr marL="0" indent="0" algn="just">
              <a:lnSpc>
                <a:spcPct val="150000"/>
              </a:lnSpc>
              <a:buNone/>
            </a:pPr>
            <a:r>
              <a:rPr lang="en-US" sz="2400" dirty="0">
                <a:latin typeface="Bookman Old Style" panose="02050604050505020204" pitchFamily="18" charset="0"/>
              </a:rPr>
              <a:t>2. </a:t>
            </a:r>
            <a:r>
              <a:rPr lang="en-US" sz="2400" b="1" dirty="0">
                <a:solidFill>
                  <a:srgbClr val="FF0000"/>
                </a:solidFill>
                <a:latin typeface="Bookman Old Style" panose="02050604050505020204" pitchFamily="18" charset="0"/>
              </a:rPr>
              <a:t>Norms:</a:t>
            </a:r>
            <a:r>
              <a:rPr lang="en-US" sz="2400" dirty="0">
                <a:latin typeface="Bookman Old Style" panose="02050604050505020204" pitchFamily="18" charset="0"/>
              </a:rPr>
              <a:t> Standards of behavior exist, including guidelines on how much work to do</a:t>
            </a:r>
          </a:p>
          <a:p>
            <a:pPr marL="0" indent="0" algn="just">
              <a:lnSpc>
                <a:spcPct val="150000"/>
              </a:lnSpc>
              <a:buNone/>
            </a:pPr>
            <a:r>
              <a:rPr lang="en-US" sz="2400" dirty="0">
                <a:latin typeface="Bookman Old Style" panose="02050604050505020204" pitchFamily="18" charset="0"/>
              </a:rPr>
              <a:t>				 “Do not do too much; do not do too little.”</a:t>
            </a:r>
          </a:p>
          <a:p>
            <a:pPr marL="0" indent="0" algn="just">
              <a:lnSpc>
                <a:spcPct val="150000"/>
              </a:lnSpc>
              <a:buNone/>
            </a:pPr>
            <a:r>
              <a:rPr lang="en-US" sz="2400" dirty="0">
                <a:latin typeface="Bookman Old Style" panose="02050604050505020204" pitchFamily="18" charset="0"/>
              </a:rPr>
              <a:t>3. </a:t>
            </a:r>
            <a:r>
              <a:rPr lang="en-US" sz="2400" b="1" dirty="0">
                <a:solidFill>
                  <a:srgbClr val="FF0000"/>
                </a:solidFill>
                <a:latin typeface="Bookman Old Style" panose="02050604050505020204" pitchFamily="18" charset="0"/>
              </a:rPr>
              <a:t>Dominant values</a:t>
            </a:r>
            <a:r>
              <a:rPr lang="en-US" sz="2400" dirty="0">
                <a:latin typeface="Bookman Old Style" panose="02050604050505020204" pitchFamily="18" charset="0"/>
              </a:rPr>
              <a:t>: High product quality, low absenteeism, and high efficiency</a:t>
            </a:r>
          </a:p>
          <a:p>
            <a:pPr marL="0" indent="0" algn="just">
              <a:lnSpc>
                <a:spcPct val="150000"/>
              </a:lnSpc>
              <a:buNone/>
            </a:pPr>
            <a:r>
              <a:rPr lang="en-US" sz="2400" dirty="0">
                <a:latin typeface="Bookman Old Style" panose="02050604050505020204" pitchFamily="18" charset="0"/>
              </a:rPr>
              <a:t>4. </a:t>
            </a:r>
            <a:r>
              <a:rPr lang="en-US" sz="2400" b="1" dirty="0">
                <a:solidFill>
                  <a:srgbClr val="FF0000"/>
                </a:solidFill>
                <a:latin typeface="Bookman Old Style" panose="02050604050505020204" pitchFamily="18" charset="0"/>
              </a:rPr>
              <a:t>Philosophy: </a:t>
            </a:r>
            <a:r>
              <a:rPr lang="en-US" sz="2400" dirty="0">
                <a:latin typeface="Bookman Old Style" panose="02050604050505020204" pitchFamily="18" charset="0"/>
              </a:rPr>
              <a:t>Policies that set forth the organization’s beliefs</a:t>
            </a:r>
          </a:p>
          <a:p>
            <a:pPr marL="0" indent="0" algn="just">
              <a:lnSpc>
                <a:spcPct val="150000"/>
              </a:lnSpc>
              <a:buNone/>
            </a:pPr>
            <a:r>
              <a:rPr lang="en-US" sz="2400" dirty="0">
                <a:latin typeface="Bookman Old Style" panose="02050604050505020204" pitchFamily="18" charset="0"/>
              </a:rPr>
              <a:t>5. </a:t>
            </a:r>
            <a:r>
              <a:rPr lang="en-US" sz="2400" b="1" dirty="0">
                <a:solidFill>
                  <a:srgbClr val="FF0000"/>
                </a:solidFill>
                <a:latin typeface="Bookman Old Style" panose="02050604050505020204" pitchFamily="18" charset="0"/>
              </a:rPr>
              <a:t>Rules:</a:t>
            </a:r>
            <a:r>
              <a:rPr lang="en-US" sz="2400" dirty="0">
                <a:latin typeface="Bookman Old Style" panose="02050604050505020204" pitchFamily="18" charset="0"/>
              </a:rPr>
              <a:t> Strict guidelines related to getting along in the organization</a:t>
            </a:r>
          </a:p>
          <a:p>
            <a:pPr marL="0" indent="0" algn="just">
              <a:lnSpc>
                <a:spcPct val="150000"/>
              </a:lnSpc>
              <a:buNone/>
            </a:pPr>
            <a:r>
              <a:rPr lang="en-US" sz="2400" dirty="0">
                <a:latin typeface="Bookman Old Style" panose="02050604050505020204" pitchFamily="18" charset="0"/>
              </a:rPr>
              <a:t>6. </a:t>
            </a:r>
            <a:r>
              <a:rPr lang="en-US" sz="2400" b="1" dirty="0">
                <a:solidFill>
                  <a:srgbClr val="FF0000"/>
                </a:solidFill>
                <a:latin typeface="Bookman Old Style" panose="02050604050505020204" pitchFamily="18" charset="0"/>
              </a:rPr>
              <a:t>Organizational climate: </a:t>
            </a:r>
            <a:r>
              <a:rPr lang="en-US" sz="2400" dirty="0">
                <a:latin typeface="Bookman Old Style" panose="02050604050505020204" pitchFamily="18" charset="0"/>
              </a:rPr>
              <a:t>Overall “feeling” that is conveyed by the physical layout, the way participants interact, and the way members of the organization conduct themselves with customers or other outsiders</a:t>
            </a:r>
          </a:p>
        </p:txBody>
      </p:sp>
    </p:spTree>
    <p:extLst>
      <p:ext uri="{BB962C8B-B14F-4D97-AF65-F5344CB8AC3E}">
        <p14:creationId xmlns:p14="http://schemas.microsoft.com/office/powerpoint/2010/main" val="373114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C4A6-1F31-4241-EDB6-056F92044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08989-5F2F-21B4-2B6D-2275B67DF14F}"/>
              </a:ext>
            </a:extLst>
          </p:cNvPr>
          <p:cNvSpPr>
            <a:spLocks noGrp="1"/>
          </p:cNvSpPr>
          <p:nvPr>
            <p:ph type="title"/>
          </p:nvPr>
        </p:nvSpPr>
        <p:spPr>
          <a:xfrm>
            <a:off x="128379" y="131762"/>
            <a:ext cx="12039601" cy="504343"/>
          </a:xfrm>
        </p:spPr>
        <p:txBody>
          <a:bodyPr>
            <a:noAutofit/>
          </a:bodyPr>
          <a:lstStyle/>
          <a:p>
            <a:r>
              <a:rPr lang="en-IN" sz="3600" b="1" dirty="0">
                <a:solidFill>
                  <a:srgbClr val="FF0000"/>
                </a:solidFill>
                <a:latin typeface="Bookman Old Style" panose="02050604050505020204" pitchFamily="18" charset="0"/>
              </a:rPr>
              <a:t>Dominant Culture Vs Subculture</a:t>
            </a:r>
          </a:p>
        </p:txBody>
      </p:sp>
      <p:sp>
        <p:nvSpPr>
          <p:cNvPr id="3" name="Content Placeholder 2">
            <a:extLst>
              <a:ext uri="{FF2B5EF4-FFF2-40B4-BE49-F238E27FC236}">
                <a16:creationId xmlns:a16="http://schemas.microsoft.com/office/drawing/2014/main" id="{9FFC3819-6F20-7023-8B12-9DBC63B78CDA}"/>
              </a:ext>
            </a:extLst>
          </p:cNvPr>
          <p:cNvSpPr>
            <a:spLocks noGrp="1"/>
          </p:cNvSpPr>
          <p:nvPr>
            <p:ph idx="1"/>
          </p:nvPr>
        </p:nvSpPr>
        <p:spPr>
          <a:xfrm>
            <a:off x="278295" y="785190"/>
            <a:ext cx="11809343" cy="6072809"/>
          </a:xfrm>
        </p:spPr>
        <p:txBody>
          <a:bodyPr>
            <a:normAutofit fontScale="85000" lnSpcReduction="10000"/>
          </a:bodyPr>
          <a:lstStyle/>
          <a:p>
            <a:pPr algn="just">
              <a:lnSpc>
                <a:spcPct val="150000"/>
              </a:lnSpc>
            </a:pPr>
            <a:r>
              <a:rPr lang="en-US" sz="2400" b="1" dirty="0">
                <a:solidFill>
                  <a:srgbClr val="FF0000"/>
                </a:solidFill>
                <a:latin typeface="Bookman Old Style" panose="02050604050505020204" pitchFamily="18" charset="0"/>
              </a:rPr>
              <a:t>Dominant culture: </a:t>
            </a:r>
            <a:r>
              <a:rPr lang="en-US" sz="2400" dirty="0">
                <a:latin typeface="Bookman Old Style" panose="02050604050505020204" pitchFamily="18" charset="0"/>
              </a:rPr>
              <a:t>Set of core values shared by a majority of the organization’s members</a:t>
            </a:r>
          </a:p>
          <a:p>
            <a:pPr algn="just">
              <a:lnSpc>
                <a:spcPct val="150000"/>
              </a:lnSpc>
            </a:pPr>
            <a:r>
              <a:rPr lang="en-US" sz="2400" dirty="0">
                <a:latin typeface="Bookman Old Style" panose="02050604050505020204" pitchFamily="18" charset="0"/>
              </a:rPr>
              <a:t>Hard work</a:t>
            </a:r>
          </a:p>
          <a:p>
            <a:pPr algn="just">
              <a:lnSpc>
                <a:spcPct val="150000"/>
              </a:lnSpc>
            </a:pPr>
            <a:r>
              <a:rPr lang="en-US" sz="2400" dirty="0">
                <a:latin typeface="Bookman Old Style" panose="02050604050505020204" pitchFamily="18" charset="0"/>
              </a:rPr>
              <a:t>Company loyalty</a:t>
            </a:r>
          </a:p>
          <a:p>
            <a:pPr algn="just">
              <a:lnSpc>
                <a:spcPct val="150000"/>
              </a:lnSpc>
            </a:pPr>
            <a:r>
              <a:rPr lang="en-US" sz="2400" dirty="0">
                <a:latin typeface="Bookman Old Style" panose="02050604050505020204" pitchFamily="18" charset="0"/>
              </a:rPr>
              <a:t>Need for customer service</a:t>
            </a:r>
          </a:p>
          <a:p>
            <a:pPr algn="just">
              <a:lnSpc>
                <a:spcPct val="150000"/>
              </a:lnSpc>
            </a:pPr>
            <a:endParaRPr lang="en-US" sz="2400" dirty="0">
              <a:latin typeface="Bookman Old Style" panose="02050604050505020204" pitchFamily="18" charset="0"/>
            </a:endParaRPr>
          </a:p>
          <a:p>
            <a:pPr algn="just">
              <a:lnSpc>
                <a:spcPct val="150000"/>
              </a:lnSpc>
            </a:pPr>
            <a:endParaRPr lang="en-US" sz="2400" dirty="0">
              <a:latin typeface="Bookman Old Style" panose="02050604050505020204" pitchFamily="18" charset="0"/>
            </a:endParaRPr>
          </a:p>
          <a:p>
            <a:pPr algn="just">
              <a:lnSpc>
                <a:spcPct val="150000"/>
              </a:lnSpc>
            </a:pPr>
            <a:endParaRPr lang="en-US" sz="2400" b="1" dirty="0">
              <a:solidFill>
                <a:srgbClr val="FF0000"/>
              </a:solidFill>
              <a:latin typeface="Bookman Old Style" panose="02050604050505020204" pitchFamily="18" charset="0"/>
            </a:endParaRPr>
          </a:p>
          <a:p>
            <a:pPr algn="just">
              <a:lnSpc>
                <a:spcPct val="150000"/>
              </a:lnSpc>
            </a:pPr>
            <a:r>
              <a:rPr lang="en-US" sz="2400" b="1" dirty="0">
                <a:solidFill>
                  <a:srgbClr val="FF0000"/>
                </a:solidFill>
                <a:latin typeface="Bookman Old Style" panose="02050604050505020204" pitchFamily="18" charset="0"/>
              </a:rPr>
              <a:t>Subculture:</a:t>
            </a:r>
            <a:r>
              <a:rPr lang="en-US" sz="2400" dirty="0">
                <a:latin typeface="Bookman Old Style" panose="02050604050505020204" pitchFamily="18" charset="0"/>
              </a:rPr>
              <a:t> Set of values shared by a minority, usually a small minority, of the organization’s members</a:t>
            </a:r>
          </a:p>
          <a:p>
            <a:pPr algn="just">
              <a:lnSpc>
                <a:spcPct val="150000"/>
              </a:lnSpc>
            </a:pPr>
            <a:r>
              <a:rPr lang="en-US" sz="2400" dirty="0">
                <a:latin typeface="Bookman Old Style" panose="02050604050505020204" pitchFamily="18" charset="0"/>
              </a:rPr>
              <a:t>Subcultures can weaken and undermine an organization if they are in conflict with the</a:t>
            </a:r>
          </a:p>
          <a:p>
            <a:pPr algn="just">
              <a:lnSpc>
                <a:spcPct val="150000"/>
              </a:lnSpc>
            </a:pPr>
            <a:r>
              <a:rPr lang="en-US" sz="2400" dirty="0">
                <a:latin typeface="Bookman Old Style" panose="02050604050505020204" pitchFamily="18" charset="0"/>
              </a:rPr>
              <a:t>dominant culture and/or the overall objectives</a:t>
            </a:r>
          </a:p>
        </p:txBody>
      </p:sp>
      <p:sp>
        <p:nvSpPr>
          <p:cNvPr id="5" name="Rectangle: Rounded Corners 4">
            <a:extLst>
              <a:ext uri="{FF2B5EF4-FFF2-40B4-BE49-F238E27FC236}">
                <a16:creationId xmlns:a16="http://schemas.microsoft.com/office/drawing/2014/main" id="{78D2B1F0-38D7-6552-A64A-DD3B07480812}"/>
              </a:ext>
            </a:extLst>
          </p:cNvPr>
          <p:cNvSpPr/>
          <p:nvPr/>
        </p:nvSpPr>
        <p:spPr>
          <a:xfrm>
            <a:off x="516834" y="3030604"/>
            <a:ext cx="5784575" cy="158198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ookman Old Style" panose="02050604050505020204" pitchFamily="18" charset="0"/>
              </a:rPr>
              <a:t>Ford makes cars, Sony makes TVs, Microsoft makes software, what does Disney make?</a:t>
            </a:r>
            <a:endParaRPr lang="en-IN" sz="2800" dirty="0"/>
          </a:p>
        </p:txBody>
      </p:sp>
      <p:sp>
        <p:nvSpPr>
          <p:cNvPr id="6" name="Rectangle: Rounded Corners 5">
            <a:extLst>
              <a:ext uri="{FF2B5EF4-FFF2-40B4-BE49-F238E27FC236}">
                <a16:creationId xmlns:a16="http://schemas.microsoft.com/office/drawing/2014/main" id="{5C8125B9-5EA5-2E59-CD6E-E4DA659D1A2F}"/>
              </a:ext>
            </a:extLst>
          </p:cNvPr>
          <p:cNvSpPr/>
          <p:nvPr/>
        </p:nvSpPr>
        <p:spPr>
          <a:xfrm>
            <a:off x="6669156" y="3253406"/>
            <a:ext cx="5317435" cy="113637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ookman Old Style" panose="02050604050505020204" pitchFamily="18" charset="0"/>
              </a:rPr>
              <a:t>Disney makes people happy!</a:t>
            </a:r>
            <a:endParaRPr lang="en-IN" sz="2800" dirty="0"/>
          </a:p>
        </p:txBody>
      </p:sp>
    </p:spTree>
    <p:extLst>
      <p:ext uri="{BB962C8B-B14F-4D97-AF65-F5344CB8AC3E}">
        <p14:creationId xmlns:p14="http://schemas.microsoft.com/office/powerpoint/2010/main" val="311918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BFD06-EC1A-D423-9FBC-7884361A9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936F2-7CB5-0730-0DB3-C4DDFF9ECCA5}"/>
              </a:ext>
            </a:extLst>
          </p:cNvPr>
          <p:cNvSpPr>
            <a:spLocks noGrp="1"/>
          </p:cNvSpPr>
          <p:nvPr>
            <p:ph type="title"/>
          </p:nvPr>
        </p:nvSpPr>
        <p:spPr>
          <a:xfrm>
            <a:off x="128379" y="131762"/>
            <a:ext cx="12039601" cy="504343"/>
          </a:xfrm>
        </p:spPr>
        <p:txBody>
          <a:bodyPr>
            <a:noAutofit/>
          </a:bodyPr>
          <a:lstStyle/>
          <a:p>
            <a:r>
              <a:rPr lang="en-US" sz="3600" b="1" dirty="0">
                <a:solidFill>
                  <a:srgbClr val="FF0000"/>
                </a:solidFill>
                <a:latin typeface="Bookman Old Style" panose="02050604050505020204" pitchFamily="18" charset="0"/>
              </a:rPr>
              <a:t>CREATING AND MAINTAINING A CULTURE</a:t>
            </a:r>
            <a:endParaRPr lang="en-IN" sz="3600" b="1"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38469CC3-8B54-8778-E213-DBF0B2A5B48D}"/>
              </a:ext>
            </a:extLst>
          </p:cNvPr>
          <p:cNvSpPr>
            <a:spLocks noGrp="1"/>
          </p:cNvSpPr>
          <p:nvPr>
            <p:ph idx="1"/>
          </p:nvPr>
        </p:nvSpPr>
        <p:spPr>
          <a:xfrm>
            <a:off x="278295" y="785190"/>
            <a:ext cx="11809343" cy="6072809"/>
          </a:xfrm>
        </p:spPr>
        <p:txBody>
          <a:bodyPr>
            <a:normAutofit/>
          </a:bodyPr>
          <a:lstStyle/>
          <a:p>
            <a:pPr marL="0" indent="0" algn="just">
              <a:lnSpc>
                <a:spcPct val="150000"/>
              </a:lnSpc>
              <a:buNone/>
            </a:pPr>
            <a:endParaRPr lang="en-US" sz="2400" dirty="0">
              <a:latin typeface="Bookman Old Style" panose="02050604050505020204" pitchFamily="18" charset="0"/>
            </a:endParaRPr>
          </a:p>
          <a:p>
            <a:pPr marL="0" indent="0" algn="just">
              <a:lnSpc>
                <a:spcPct val="150000"/>
              </a:lnSpc>
              <a:buNone/>
            </a:pPr>
            <a:r>
              <a:rPr lang="en-US" sz="2400" dirty="0">
                <a:latin typeface="Bookman Old Style" panose="02050604050505020204" pitchFamily="18" charset="0"/>
              </a:rPr>
              <a:t>1. A single person (founder) has an idea for a new enterprise.</a:t>
            </a:r>
          </a:p>
          <a:p>
            <a:pPr marL="0" indent="0" algn="just">
              <a:lnSpc>
                <a:spcPct val="150000"/>
              </a:lnSpc>
              <a:buNone/>
            </a:pPr>
            <a:r>
              <a:rPr lang="en-US" sz="2400" dirty="0">
                <a:latin typeface="Bookman Old Style" panose="02050604050505020204" pitchFamily="18" charset="0"/>
              </a:rPr>
              <a:t>2. The founder brings in one or more other key people and creates a core group that shares</a:t>
            </a:r>
          </a:p>
          <a:p>
            <a:pPr marL="0" indent="0" algn="just">
              <a:lnSpc>
                <a:spcPct val="150000"/>
              </a:lnSpc>
              <a:buNone/>
            </a:pPr>
            <a:r>
              <a:rPr lang="en-US" sz="2400" dirty="0">
                <a:latin typeface="Bookman Old Style" panose="02050604050505020204" pitchFamily="18" charset="0"/>
              </a:rPr>
              <a:t>3. The founding core group begins to act in concert to create an organization by raising funds, obtaining patents, incorporating, locating space, building.</a:t>
            </a:r>
          </a:p>
          <a:p>
            <a:pPr marL="0" indent="0" algn="just">
              <a:lnSpc>
                <a:spcPct val="150000"/>
              </a:lnSpc>
              <a:buNone/>
            </a:pPr>
            <a:r>
              <a:rPr lang="en-US" sz="2400" dirty="0">
                <a:latin typeface="Bookman Old Style" panose="02050604050505020204" pitchFamily="18" charset="0"/>
              </a:rPr>
              <a:t>4. At this point, others are brought into the organization, and a common history begins to be built</a:t>
            </a:r>
          </a:p>
        </p:txBody>
      </p:sp>
    </p:spTree>
    <p:extLst>
      <p:ext uri="{BB962C8B-B14F-4D97-AF65-F5344CB8AC3E}">
        <p14:creationId xmlns:p14="http://schemas.microsoft.com/office/powerpoint/2010/main" val="77472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1AA3E-588A-03E8-BFEF-C89131376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A96E5-4A5C-A15E-3718-84007D56EDF4}"/>
              </a:ext>
            </a:extLst>
          </p:cNvPr>
          <p:cNvSpPr>
            <a:spLocks noGrp="1"/>
          </p:cNvSpPr>
          <p:nvPr>
            <p:ph type="title"/>
          </p:nvPr>
        </p:nvSpPr>
        <p:spPr>
          <a:xfrm>
            <a:off x="128379" y="131762"/>
            <a:ext cx="12039601" cy="504343"/>
          </a:xfrm>
        </p:spPr>
        <p:txBody>
          <a:bodyPr>
            <a:noAutofit/>
          </a:bodyPr>
          <a:lstStyle/>
          <a:p>
            <a:r>
              <a:rPr lang="en-US" sz="3200" b="1" dirty="0">
                <a:solidFill>
                  <a:srgbClr val="FF0000"/>
                </a:solidFill>
                <a:latin typeface="Bookman Old Style" panose="02050604050505020204" pitchFamily="18" charset="0"/>
              </a:rPr>
              <a:t>Maintaining Cultures through Steps of Socialization</a:t>
            </a:r>
            <a:endParaRPr lang="en-IN" sz="3200" b="1" dirty="0">
              <a:solidFill>
                <a:srgbClr val="FF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7105543D-E3CA-3D48-E65C-C828C4B2139D}"/>
              </a:ext>
            </a:extLst>
          </p:cNvPr>
          <p:cNvSpPr>
            <a:spLocks noGrp="1"/>
          </p:cNvSpPr>
          <p:nvPr>
            <p:ph idx="1"/>
          </p:nvPr>
        </p:nvSpPr>
        <p:spPr>
          <a:xfrm>
            <a:off x="278295" y="785190"/>
            <a:ext cx="11809343" cy="6072809"/>
          </a:xfrm>
        </p:spPr>
        <p:txBody>
          <a:bodyPr>
            <a:normAutofit/>
          </a:bodyPr>
          <a:lstStyle/>
          <a:p>
            <a:pPr marL="0" indent="0" algn="just">
              <a:lnSpc>
                <a:spcPct val="150000"/>
              </a:lnSpc>
              <a:buNone/>
            </a:pPr>
            <a:endParaRPr lang="en-US" sz="2400" dirty="0">
              <a:latin typeface="Bookman Old Style" panose="02050604050505020204" pitchFamily="18" charset="0"/>
            </a:endParaRPr>
          </a:p>
          <a:p>
            <a:pPr marL="0" indent="0" algn="just">
              <a:lnSpc>
                <a:spcPct val="150000"/>
              </a:lnSpc>
              <a:buNone/>
            </a:pPr>
            <a:endParaRPr lang="en-US" sz="2400" dirty="0">
              <a:latin typeface="Bookman Old Style" panose="02050604050505020204" pitchFamily="18" charset="0"/>
            </a:endParaRPr>
          </a:p>
        </p:txBody>
      </p:sp>
      <p:pic>
        <p:nvPicPr>
          <p:cNvPr id="5" name="Picture 4">
            <a:extLst>
              <a:ext uri="{FF2B5EF4-FFF2-40B4-BE49-F238E27FC236}">
                <a16:creationId xmlns:a16="http://schemas.microsoft.com/office/drawing/2014/main" id="{F8C7D362-92CF-C58A-EC1A-27D90842A636}"/>
              </a:ext>
            </a:extLst>
          </p:cNvPr>
          <p:cNvPicPr>
            <a:picLocks noChangeAspect="1"/>
          </p:cNvPicPr>
          <p:nvPr/>
        </p:nvPicPr>
        <p:blipFill>
          <a:blip r:embed="rId3"/>
          <a:stretch>
            <a:fillRect/>
          </a:stretch>
        </p:blipFill>
        <p:spPr>
          <a:xfrm>
            <a:off x="2963122" y="636105"/>
            <a:ext cx="6021852" cy="6142808"/>
          </a:xfrm>
          <a:prstGeom prst="rect">
            <a:avLst/>
          </a:prstGeom>
          <a:ln>
            <a:solidFill>
              <a:schemeClr val="accent1"/>
            </a:solidFill>
          </a:ln>
        </p:spPr>
      </p:pic>
    </p:spTree>
    <p:extLst>
      <p:ext uri="{BB962C8B-B14F-4D97-AF65-F5344CB8AC3E}">
        <p14:creationId xmlns:p14="http://schemas.microsoft.com/office/powerpoint/2010/main" val="5827671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49122-F2D4-95F7-3C82-74333E122C8B}"/>
              </a:ext>
            </a:extLst>
          </p:cNvPr>
          <p:cNvSpPr>
            <a:spLocks noGrp="1"/>
          </p:cNvSpPr>
          <p:nvPr>
            <p:ph type="title"/>
          </p:nvPr>
        </p:nvSpPr>
        <p:spPr/>
        <p:txBody>
          <a:bodyPr/>
          <a:lstStyle/>
          <a:p>
            <a:r>
              <a:rPr lang="en-IN" dirty="0">
                <a:solidFill>
                  <a:srgbClr val="FF0000"/>
                </a:solidFill>
                <a:latin typeface="Bookman Old Style" panose="02050604050505020204" pitchFamily="18" charset="0"/>
              </a:rPr>
              <a:t>Activity on Organizational Culture:</a:t>
            </a:r>
          </a:p>
        </p:txBody>
      </p:sp>
      <p:sp>
        <p:nvSpPr>
          <p:cNvPr id="3" name="Content Placeholder 2">
            <a:extLst>
              <a:ext uri="{FF2B5EF4-FFF2-40B4-BE49-F238E27FC236}">
                <a16:creationId xmlns:a16="http://schemas.microsoft.com/office/drawing/2014/main" id="{32325F3D-CE96-629D-3992-4B353EC52FE4}"/>
              </a:ext>
            </a:extLst>
          </p:cNvPr>
          <p:cNvSpPr>
            <a:spLocks noGrp="1"/>
          </p:cNvSpPr>
          <p:nvPr>
            <p:ph idx="1"/>
          </p:nvPr>
        </p:nvSpPr>
        <p:spPr/>
        <p:txBody>
          <a:bodyPr>
            <a:normAutofit/>
          </a:bodyPr>
          <a:lstStyle/>
          <a:p>
            <a:pPr algn="just"/>
            <a:r>
              <a:rPr lang="en-IN" sz="3200" dirty="0" err="1">
                <a:latin typeface="Bookman Old Style" panose="02050604050505020204" pitchFamily="18" charset="0"/>
              </a:rPr>
              <a:t>Analyze</a:t>
            </a:r>
            <a:r>
              <a:rPr lang="en-IN" sz="3200" dirty="0">
                <a:latin typeface="Bookman Old Style" panose="02050604050505020204" pitchFamily="18" charset="0"/>
              </a:rPr>
              <a:t> the culture of your institution and identify its strengths and areas for improvement. How does the existing culture impact student collaboration, faculty-student interactions, and overall academic performance? Suggest actionable strategies to enhance the institutional culture for better inclusivity and innovation.</a:t>
            </a:r>
          </a:p>
        </p:txBody>
      </p:sp>
    </p:spTree>
    <p:extLst>
      <p:ext uri="{BB962C8B-B14F-4D97-AF65-F5344CB8AC3E}">
        <p14:creationId xmlns:p14="http://schemas.microsoft.com/office/powerpoint/2010/main" val="41679168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99230-806E-E610-FE10-F2AD31EE9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D67E9-5703-8EA1-D351-4A74E0A34386}"/>
              </a:ext>
            </a:extLst>
          </p:cNvPr>
          <p:cNvSpPr>
            <a:spLocks noGrp="1"/>
          </p:cNvSpPr>
          <p:nvPr>
            <p:ph type="title"/>
          </p:nvPr>
        </p:nvSpPr>
        <p:spPr>
          <a:xfrm>
            <a:off x="128379" y="131762"/>
            <a:ext cx="12039601" cy="504343"/>
          </a:xfrm>
        </p:spPr>
        <p:txBody>
          <a:bodyPr>
            <a:noAutofit/>
          </a:bodyPr>
          <a:lstStyle/>
          <a:p>
            <a:r>
              <a:rPr lang="en-US" sz="3200" b="1" dirty="0">
                <a:solidFill>
                  <a:srgbClr val="FF0000"/>
                </a:solidFill>
                <a:latin typeface="Bookman Old Style" panose="02050604050505020204" pitchFamily="18" charset="0"/>
              </a:rPr>
              <a:t>REWARD SYSTEMS</a:t>
            </a:r>
            <a:endParaRPr lang="en-IN" sz="3200" b="1" dirty="0">
              <a:solidFill>
                <a:srgbClr val="FF0000"/>
              </a:solidFill>
              <a:latin typeface="Bookman Old Style" panose="02050604050505020204" pitchFamily="18" charset="0"/>
            </a:endParaRPr>
          </a:p>
        </p:txBody>
      </p:sp>
      <p:sp>
        <p:nvSpPr>
          <p:cNvPr id="4" name="Content Placeholder 2">
            <a:extLst>
              <a:ext uri="{FF2B5EF4-FFF2-40B4-BE49-F238E27FC236}">
                <a16:creationId xmlns:a16="http://schemas.microsoft.com/office/drawing/2014/main" id="{10865766-9580-E6EC-AE74-36730176ECCE}"/>
              </a:ext>
            </a:extLst>
          </p:cNvPr>
          <p:cNvSpPr txBox="1">
            <a:spLocks/>
          </p:cNvSpPr>
          <p:nvPr/>
        </p:nvSpPr>
        <p:spPr>
          <a:xfrm>
            <a:off x="128379" y="636105"/>
            <a:ext cx="11809343" cy="62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US" sz="2400" dirty="0">
              <a:latin typeface="Bookman Old Style" panose="02050604050505020204" pitchFamily="18" charset="0"/>
            </a:endParaRPr>
          </a:p>
        </p:txBody>
      </p:sp>
      <p:sp>
        <p:nvSpPr>
          <p:cNvPr id="8" name="Content Placeholder 2">
            <a:extLst>
              <a:ext uri="{FF2B5EF4-FFF2-40B4-BE49-F238E27FC236}">
                <a16:creationId xmlns:a16="http://schemas.microsoft.com/office/drawing/2014/main" id="{BEA5E5BD-673A-FD00-E94E-9775DACD411C}"/>
              </a:ext>
            </a:extLst>
          </p:cNvPr>
          <p:cNvSpPr txBox="1">
            <a:spLocks/>
          </p:cNvSpPr>
          <p:nvPr/>
        </p:nvSpPr>
        <p:spPr>
          <a:xfrm>
            <a:off x="278295" y="1987826"/>
            <a:ext cx="11809343" cy="48701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400" b="1" dirty="0">
                <a:latin typeface="Bookman Old Style" panose="02050604050505020204" pitchFamily="18" charset="0"/>
              </a:rPr>
              <a:t>PAY: THE DOMINANT ORGANIZATIONAL REWARD</a:t>
            </a:r>
          </a:p>
          <a:p>
            <a:pPr marL="0" indent="0" algn="just">
              <a:lnSpc>
                <a:spcPct val="150000"/>
              </a:lnSpc>
              <a:buNone/>
            </a:pPr>
            <a:r>
              <a:rPr lang="en-US" sz="2400" dirty="0">
                <a:latin typeface="Bookman Old Style" panose="02050604050505020204" pitchFamily="18" charset="0"/>
              </a:rPr>
              <a:t>1. Base Pay approach</a:t>
            </a:r>
          </a:p>
          <a:p>
            <a:pPr marL="0" indent="0" algn="just">
              <a:lnSpc>
                <a:spcPct val="150000"/>
              </a:lnSpc>
              <a:buNone/>
            </a:pPr>
            <a:r>
              <a:rPr lang="en-US" sz="2400" dirty="0">
                <a:latin typeface="Bookman Old Style" panose="02050604050505020204" pitchFamily="18" charset="0"/>
              </a:rPr>
              <a:t>2. Merit Pay approach</a:t>
            </a:r>
          </a:p>
          <a:p>
            <a:pPr marL="0" indent="0" algn="just">
              <a:lnSpc>
                <a:spcPct val="150000"/>
              </a:lnSpc>
              <a:buNone/>
            </a:pPr>
            <a:r>
              <a:rPr lang="en-US" sz="2400" dirty="0">
                <a:latin typeface="Bookman Old Style" panose="02050604050505020204" pitchFamily="18" charset="0"/>
              </a:rPr>
              <a:t>3. Individual Incentive Pay Plans</a:t>
            </a:r>
          </a:p>
          <a:p>
            <a:pPr marL="0" indent="0" algn="just">
              <a:lnSpc>
                <a:spcPct val="150000"/>
              </a:lnSpc>
              <a:buNone/>
            </a:pPr>
            <a:r>
              <a:rPr lang="en-US" sz="2400" dirty="0">
                <a:latin typeface="Bookman Old Style" panose="02050604050505020204" pitchFamily="18" charset="0"/>
              </a:rPr>
              <a:t>4. Use of Bonuses</a:t>
            </a:r>
          </a:p>
          <a:p>
            <a:pPr marL="0" indent="0" algn="just">
              <a:lnSpc>
                <a:spcPct val="150000"/>
              </a:lnSpc>
              <a:buNone/>
            </a:pPr>
            <a:r>
              <a:rPr lang="en-US" sz="2400" dirty="0">
                <a:latin typeface="Bookman Old Style" panose="02050604050505020204" pitchFamily="18" charset="0"/>
              </a:rPr>
              <a:t>5. Use of Stock Options</a:t>
            </a:r>
          </a:p>
          <a:p>
            <a:pPr marL="0" indent="0" algn="just">
              <a:lnSpc>
                <a:spcPct val="150000"/>
              </a:lnSpc>
              <a:buNone/>
            </a:pPr>
            <a:r>
              <a:rPr lang="en-US" sz="2400" dirty="0">
                <a:latin typeface="Bookman Old Style" panose="02050604050505020204" pitchFamily="18" charset="0"/>
              </a:rPr>
              <a:t>6. Group Incentive Pay Plans</a:t>
            </a:r>
          </a:p>
        </p:txBody>
      </p:sp>
      <p:sp>
        <p:nvSpPr>
          <p:cNvPr id="12" name="Rectangle 11">
            <a:extLst>
              <a:ext uri="{FF2B5EF4-FFF2-40B4-BE49-F238E27FC236}">
                <a16:creationId xmlns:a16="http://schemas.microsoft.com/office/drawing/2014/main" id="{0BF7B98B-8655-5384-09D6-D6BB132EF334}"/>
              </a:ext>
            </a:extLst>
          </p:cNvPr>
          <p:cNvSpPr/>
          <p:nvPr/>
        </p:nvSpPr>
        <p:spPr>
          <a:xfrm>
            <a:off x="278295" y="638657"/>
            <a:ext cx="11635409" cy="13988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latin typeface="Bookman Old Style" panose="02050604050505020204" pitchFamily="18" charset="0"/>
              </a:rPr>
              <a:t>Discussion Topic</a:t>
            </a:r>
          </a:p>
          <a:p>
            <a:pPr algn="ctr"/>
            <a:r>
              <a:rPr lang="en-IN" sz="2400" b="1" dirty="0">
                <a:latin typeface="Bookman Old Style" panose="02050604050505020204" pitchFamily="18" charset="0"/>
              </a:rPr>
              <a:t> What comes under your mind when you heard of “ Reward system” in an organization? </a:t>
            </a:r>
          </a:p>
        </p:txBody>
      </p:sp>
    </p:spTree>
    <p:extLst>
      <p:ext uri="{BB962C8B-B14F-4D97-AF65-F5344CB8AC3E}">
        <p14:creationId xmlns:p14="http://schemas.microsoft.com/office/powerpoint/2010/main" val="408203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0113-705A-3DA1-0CFC-5CD6B9C05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E4B7D-0934-6ED1-EDA1-F750C9DD78CA}"/>
              </a:ext>
            </a:extLst>
          </p:cNvPr>
          <p:cNvSpPr>
            <a:spLocks noGrp="1"/>
          </p:cNvSpPr>
          <p:nvPr>
            <p:ph type="title"/>
          </p:nvPr>
        </p:nvSpPr>
        <p:spPr>
          <a:xfrm>
            <a:off x="128379" y="131762"/>
            <a:ext cx="12039601" cy="504343"/>
          </a:xfrm>
        </p:spPr>
        <p:txBody>
          <a:bodyPr>
            <a:noAutofit/>
          </a:bodyPr>
          <a:lstStyle/>
          <a:p>
            <a:r>
              <a:rPr lang="en-US" sz="3200" b="1" dirty="0">
                <a:solidFill>
                  <a:srgbClr val="FF0000"/>
                </a:solidFill>
                <a:latin typeface="Bookman Old Style" panose="02050604050505020204" pitchFamily="18" charset="0"/>
              </a:rPr>
              <a:t>REWARD SYSTEMS</a:t>
            </a:r>
            <a:endParaRPr lang="en-IN" sz="3200" b="1" dirty="0">
              <a:solidFill>
                <a:srgbClr val="FF0000"/>
              </a:solidFill>
              <a:latin typeface="Bookman Old Style" panose="02050604050505020204" pitchFamily="18" charset="0"/>
            </a:endParaRPr>
          </a:p>
        </p:txBody>
      </p:sp>
      <p:sp>
        <p:nvSpPr>
          <p:cNvPr id="4" name="Content Placeholder 2">
            <a:extLst>
              <a:ext uri="{FF2B5EF4-FFF2-40B4-BE49-F238E27FC236}">
                <a16:creationId xmlns:a16="http://schemas.microsoft.com/office/drawing/2014/main" id="{656BB1F3-CBC7-03FD-F21A-8C470C21886C}"/>
              </a:ext>
            </a:extLst>
          </p:cNvPr>
          <p:cNvSpPr txBox="1">
            <a:spLocks/>
          </p:cNvSpPr>
          <p:nvPr/>
        </p:nvSpPr>
        <p:spPr>
          <a:xfrm>
            <a:off x="128379" y="636105"/>
            <a:ext cx="11809343" cy="62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US" sz="2400" dirty="0">
              <a:latin typeface="Bookman Old Style" panose="02050604050505020204" pitchFamily="18" charset="0"/>
            </a:endParaRPr>
          </a:p>
        </p:txBody>
      </p:sp>
      <p:sp>
        <p:nvSpPr>
          <p:cNvPr id="8" name="Content Placeholder 2">
            <a:extLst>
              <a:ext uri="{FF2B5EF4-FFF2-40B4-BE49-F238E27FC236}">
                <a16:creationId xmlns:a16="http://schemas.microsoft.com/office/drawing/2014/main" id="{3D75C418-8171-C120-CE17-EC228CCADD19}"/>
              </a:ext>
            </a:extLst>
          </p:cNvPr>
          <p:cNvSpPr txBox="1">
            <a:spLocks/>
          </p:cNvSpPr>
          <p:nvPr/>
        </p:nvSpPr>
        <p:spPr>
          <a:xfrm>
            <a:off x="278295" y="785190"/>
            <a:ext cx="11809343" cy="6072809"/>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3800" b="1" dirty="0">
                <a:latin typeface="Bookman Old Style" panose="02050604050505020204" pitchFamily="18" charset="0"/>
              </a:rPr>
              <a:t>RECOGNITION AS AN ORGANIZATIONAL REWARD</a:t>
            </a:r>
          </a:p>
          <a:p>
            <a:pPr marL="0" indent="0" algn="just">
              <a:lnSpc>
                <a:spcPct val="170000"/>
              </a:lnSpc>
              <a:buNone/>
            </a:pPr>
            <a:r>
              <a:rPr lang="en-US" sz="2400" dirty="0">
                <a:latin typeface="Bookman Old Style" panose="02050604050505020204" pitchFamily="18" charset="0"/>
              </a:rPr>
              <a:t>1. </a:t>
            </a:r>
            <a:r>
              <a:rPr lang="en-US" sz="3200" dirty="0">
                <a:latin typeface="Bookman Old Style" panose="02050604050505020204" pitchFamily="18" charset="0"/>
              </a:rPr>
              <a:t>When introducing new recognition procedures and programs, let everyone know what is going on</a:t>
            </a:r>
          </a:p>
          <a:p>
            <a:pPr marL="0" indent="0" algn="just">
              <a:lnSpc>
                <a:spcPct val="170000"/>
              </a:lnSpc>
              <a:buNone/>
            </a:pPr>
            <a:r>
              <a:rPr lang="en-US" sz="3200" dirty="0">
                <a:latin typeface="Bookman Old Style" panose="02050604050505020204" pitchFamily="18" charset="0"/>
              </a:rPr>
              <a:t>2. Educate the managers so that they use recognition as part of the total compensation package</a:t>
            </a:r>
          </a:p>
          <a:p>
            <a:pPr marL="0" indent="0" algn="just">
              <a:lnSpc>
                <a:spcPct val="170000"/>
              </a:lnSpc>
              <a:buNone/>
            </a:pPr>
            <a:r>
              <a:rPr lang="en-US" sz="3200" dirty="0">
                <a:latin typeface="Bookman Old Style" panose="02050604050505020204" pitchFamily="18" charset="0"/>
              </a:rPr>
              <a:t>3. Make recognition part of the performance management process, so that everyone begins to use it</a:t>
            </a:r>
          </a:p>
          <a:p>
            <a:pPr marL="0" indent="0" algn="just">
              <a:lnSpc>
                <a:spcPct val="170000"/>
              </a:lnSpc>
              <a:buNone/>
            </a:pPr>
            <a:r>
              <a:rPr lang="en-US" sz="3200" dirty="0">
                <a:latin typeface="Bookman Old Style" panose="02050604050505020204" pitchFamily="18" charset="0"/>
              </a:rPr>
              <a:t>4. Have site-specific recognition ceremonies that are featured in the company’s communication outlets</a:t>
            </a:r>
          </a:p>
          <a:p>
            <a:pPr marL="0" indent="0" algn="just">
              <a:lnSpc>
                <a:spcPct val="170000"/>
              </a:lnSpc>
              <a:buNone/>
            </a:pPr>
            <a:r>
              <a:rPr lang="en-US" sz="3200" dirty="0">
                <a:latin typeface="Bookman Old Style" panose="02050604050505020204" pitchFamily="18" charset="0"/>
              </a:rPr>
              <a:t>5. Publicize the best practices of employees, so that everyone knows some of the things to earn recognition</a:t>
            </a:r>
          </a:p>
          <a:p>
            <a:pPr marL="0" indent="0" algn="just">
              <a:lnSpc>
                <a:spcPct val="170000"/>
              </a:lnSpc>
              <a:buNone/>
            </a:pPr>
            <a:r>
              <a:rPr lang="en-US" sz="3200" dirty="0">
                <a:latin typeface="Bookman Old Style" panose="02050604050505020204" pitchFamily="18" charset="0"/>
              </a:rPr>
              <a:t>6. Let everyone know the steps that the best managers are taking to use recognition effectively</a:t>
            </a:r>
          </a:p>
          <a:p>
            <a:pPr marL="0" indent="0" algn="just">
              <a:lnSpc>
                <a:spcPct val="170000"/>
              </a:lnSpc>
              <a:buNone/>
            </a:pPr>
            <a:r>
              <a:rPr lang="en-US" sz="3200" dirty="0">
                <a:latin typeface="Bookman Old Style" panose="02050604050505020204" pitchFamily="18" charset="0"/>
              </a:rPr>
              <a:t>7. Continually review the recognition process in order to introduce new procedures and programs and scrap those that are not working well.</a:t>
            </a:r>
          </a:p>
          <a:p>
            <a:pPr marL="0" indent="0" algn="just">
              <a:lnSpc>
                <a:spcPct val="170000"/>
              </a:lnSpc>
              <a:buNone/>
            </a:pPr>
            <a:r>
              <a:rPr lang="en-US" sz="3200" dirty="0">
                <a:latin typeface="Bookman Old Style" panose="02050604050505020204" pitchFamily="18" charset="0"/>
              </a:rPr>
              <a:t>8. Solicit recognition ideas from both employees and managers, as they are the ones who are most likely to know what works well—and what does not</a:t>
            </a:r>
          </a:p>
        </p:txBody>
      </p:sp>
    </p:spTree>
    <p:extLst>
      <p:ext uri="{BB962C8B-B14F-4D97-AF65-F5344CB8AC3E}">
        <p14:creationId xmlns:p14="http://schemas.microsoft.com/office/powerpoint/2010/main" val="60922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04FAE-2C53-A40F-1459-FC7F588D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935B4-C786-31D2-6E13-24D32ED9255D}"/>
              </a:ext>
            </a:extLst>
          </p:cNvPr>
          <p:cNvSpPr>
            <a:spLocks noGrp="1"/>
          </p:cNvSpPr>
          <p:nvPr>
            <p:ph type="title"/>
          </p:nvPr>
        </p:nvSpPr>
        <p:spPr>
          <a:xfrm>
            <a:off x="128379" y="131762"/>
            <a:ext cx="12039601" cy="504343"/>
          </a:xfrm>
        </p:spPr>
        <p:txBody>
          <a:bodyPr>
            <a:noAutofit/>
          </a:bodyPr>
          <a:lstStyle/>
          <a:p>
            <a:r>
              <a:rPr lang="en-US" sz="3200" b="1" dirty="0">
                <a:solidFill>
                  <a:srgbClr val="FF0000"/>
                </a:solidFill>
                <a:latin typeface="Bookman Old Style" panose="02050604050505020204" pitchFamily="18" charset="0"/>
              </a:rPr>
              <a:t>REWARD SYSTEMS</a:t>
            </a:r>
            <a:endParaRPr lang="en-IN" sz="3200" b="1" dirty="0">
              <a:solidFill>
                <a:srgbClr val="FF0000"/>
              </a:solidFill>
              <a:latin typeface="Bookman Old Style" panose="02050604050505020204" pitchFamily="18" charset="0"/>
            </a:endParaRPr>
          </a:p>
        </p:txBody>
      </p:sp>
      <p:sp>
        <p:nvSpPr>
          <p:cNvPr id="4" name="Content Placeholder 2">
            <a:extLst>
              <a:ext uri="{FF2B5EF4-FFF2-40B4-BE49-F238E27FC236}">
                <a16:creationId xmlns:a16="http://schemas.microsoft.com/office/drawing/2014/main" id="{C900385E-CF47-8C2A-C689-9BA150751400}"/>
              </a:ext>
            </a:extLst>
          </p:cNvPr>
          <p:cNvSpPr txBox="1">
            <a:spLocks/>
          </p:cNvSpPr>
          <p:nvPr/>
        </p:nvSpPr>
        <p:spPr>
          <a:xfrm>
            <a:off x="128379" y="636105"/>
            <a:ext cx="11809343" cy="62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US" sz="2400" dirty="0">
              <a:latin typeface="Bookman Old Style" panose="02050604050505020204" pitchFamily="18" charset="0"/>
            </a:endParaRPr>
          </a:p>
        </p:txBody>
      </p:sp>
      <p:sp>
        <p:nvSpPr>
          <p:cNvPr id="8" name="Content Placeholder 2">
            <a:extLst>
              <a:ext uri="{FF2B5EF4-FFF2-40B4-BE49-F238E27FC236}">
                <a16:creationId xmlns:a16="http://schemas.microsoft.com/office/drawing/2014/main" id="{E7175300-24CC-55FD-C7E5-EAA3524F14BF}"/>
              </a:ext>
            </a:extLst>
          </p:cNvPr>
          <p:cNvSpPr txBox="1">
            <a:spLocks/>
          </p:cNvSpPr>
          <p:nvPr/>
        </p:nvSpPr>
        <p:spPr>
          <a:xfrm>
            <a:off x="128379" y="636105"/>
            <a:ext cx="12013925" cy="62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3200" b="1" dirty="0">
                <a:latin typeface="Bookman Old Style" panose="02050604050505020204" pitchFamily="18" charset="0"/>
              </a:rPr>
              <a:t>BENEFITS AS ORGANIZATIONAL REWARD</a:t>
            </a:r>
          </a:p>
          <a:p>
            <a:pPr marL="457200" indent="-457200" algn="just">
              <a:lnSpc>
                <a:spcPct val="150000"/>
              </a:lnSpc>
              <a:buAutoNum type="arabicPeriod"/>
            </a:pPr>
            <a:r>
              <a:rPr lang="en-US" sz="2000" dirty="0">
                <a:latin typeface="Bookman Old Style" panose="02050604050505020204" pitchFamily="18" charset="0"/>
              </a:rPr>
              <a:t>Federal Government–Mandated Benefits: Social Security</a:t>
            </a:r>
          </a:p>
          <a:p>
            <a:pPr marL="457200" indent="-457200" algn="just">
              <a:lnSpc>
                <a:spcPct val="150000"/>
              </a:lnSpc>
              <a:buAutoNum type="arabicPeriod"/>
            </a:pPr>
            <a:r>
              <a:rPr lang="en-US" sz="2000" dirty="0">
                <a:latin typeface="Bookman Old Style" panose="02050604050505020204" pitchFamily="18" charset="0"/>
              </a:rPr>
              <a:t>Life, Disability, and Health Insurance</a:t>
            </a:r>
          </a:p>
          <a:p>
            <a:pPr marL="457200" indent="-457200" algn="just">
              <a:lnSpc>
                <a:spcPct val="150000"/>
              </a:lnSpc>
              <a:buAutoNum type="arabicPeriod"/>
            </a:pPr>
            <a:r>
              <a:rPr lang="en-US" sz="2000" dirty="0">
                <a:latin typeface="Bookman Old Style" panose="02050604050505020204" pitchFamily="18" charset="0"/>
              </a:rPr>
              <a:t>Private Pension Benefits</a:t>
            </a:r>
          </a:p>
          <a:p>
            <a:pPr marL="457200" indent="-457200" algn="just">
              <a:lnSpc>
                <a:spcPct val="150000"/>
              </a:lnSpc>
              <a:buAutoNum type="arabicPeriod"/>
            </a:pPr>
            <a:r>
              <a:rPr lang="en-US" sz="2000" dirty="0">
                <a:latin typeface="Bookman Old Style" panose="02050604050505020204" pitchFamily="18" charset="0"/>
              </a:rPr>
              <a:t>Time-Off Benefits : Paid time offs such as Vacations/regional holidays/Sick leave</a:t>
            </a:r>
          </a:p>
          <a:p>
            <a:pPr marL="457200" indent="-457200" algn="just">
              <a:lnSpc>
                <a:spcPct val="150000"/>
              </a:lnSpc>
              <a:buAutoNum type="arabicPeriod"/>
            </a:pPr>
            <a:r>
              <a:rPr lang="en-US" sz="2000" dirty="0">
                <a:latin typeface="Bookman Old Style" panose="02050604050505020204" pitchFamily="18" charset="0"/>
              </a:rPr>
              <a:t>Wellness Programs</a:t>
            </a:r>
          </a:p>
          <a:p>
            <a:pPr marL="457200" indent="-457200" algn="just">
              <a:lnSpc>
                <a:spcPct val="150000"/>
              </a:lnSpc>
              <a:buAutoNum type="arabicPeriod"/>
            </a:pPr>
            <a:r>
              <a:rPr lang="en-US" sz="2000" dirty="0">
                <a:latin typeface="Bookman Old Style" panose="02050604050505020204" pitchFamily="18" charset="0"/>
              </a:rPr>
              <a:t>Life Cycle Benefits : Child care and elder care</a:t>
            </a:r>
          </a:p>
        </p:txBody>
      </p:sp>
    </p:spTree>
    <p:extLst>
      <p:ext uri="{BB962C8B-B14F-4D97-AF65-F5344CB8AC3E}">
        <p14:creationId xmlns:p14="http://schemas.microsoft.com/office/powerpoint/2010/main" val="245133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191E-9ECE-A3D2-69F9-702A52E0B0C9}"/>
              </a:ext>
            </a:extLst>
          </p:cNvPr>
          <p:cNvSpPr>
            <a:spLocks noGrp="1"/>
          </p:cNvSpPr>
          <p:nvPr>
            <p:ph type="title"/>
          </p:nvPr>
        </p:nvSpPr>
        <p:spPr>
          <a:xfrm>
            <a:off x="768626" y="2130632"/>
            <a:ext cx="10515600" cy="1325563"/>
          </a:xfrm>
        </p:spPr>
        <p:txBody>
          <a:bodyPr>
            <a:normAutofit/>
          </a:bodyPr>
          <a:lstStyle/>
          <a:p>
            <a:pPr algn="ctr"/>
            <a:r>
              <a:rPr lang="en-IN" sz="6000" b="1" dirty="0">
                <a:solidFill>
                  <a:schemeClr val="accent2">
                    <a:lumMod val="75000"/>
                  </a:schemeClr>
                </a:solidFill>
              </a:rPr>
              <a:t>THANK YOU</a:t>
            </a:r>
          </a:p>
        </p:txBody>
      </p:sp>
    </p:spTree>
    <p:extLst>
      <p:ext uri="{BB962C8B-B14F-4D97-AF65-F5344CB8AC3E}">
        <p14:creationId xmlns:p14="http://schemas.microsoft.com/office/powerpoint/2010/main" val="39510913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DIO_ID" val="258"/>
  <p:tag name="ELAPSEDTIME" val="21.312"/>
  <p:tag name="ARTICULATE_SLIDE_GUID" val="cd2e6eb4-69d3-40a8-8e8d-d85d2ebe1303"/>
  <p:tag name="ARTICULATE_SLIDE_NAV" val="3"/>
</p:tagLst>
</file>

<file path=ppt/tags/tag2.xml><?xml version="1.0" encoding="utf-8"?>
<p:tagLst xmlns:a="http://schemas.openxmlformats.org/drawingml/2006/main" xmlns:r="http://schemas.openxmlformats.org/officeDocument/2006/relationships" xmlns:p="http://schemas.openxmlformats.org/presentationml/2006/main">
  <p:tag name="BULLET_1" val="8226"/>
  <p:tag name="BULLET_2" val="8226"/>
  <p:tag name="BULLET_3" val="8226"/>
  <p:tag name="MARGIN_1" val="0"/>
  <p:tag name="MARGIN_2" val="36"/>
  <p:tag name="MARGIN_3" val="72"/>
  <p:tag name="MARGIN_4" val="108"/>
  <p:tag name="MARGIN_5" val="144"/>
  <p:tag name="FONT_SIZE" val="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4683</TotalTime>
  <Words>3836</Words>
  <Application>Microsoft Office PowerPoint</Application>
  <PresentationFormat>Widescreen</PresentationFormat>
  <Paragraphs>439</Paragraphs>
  <Slides>63</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arial</vt:lpstr>
      <vt:lpstr>Bookman Old Style</vt:lpstr>
      <vt:lpstr>Calibri</vt:lpstr>
      <vt:lpstr>Calibri Light</vt:lpstr>
      <vt:lpstr>Montserrat</vt:lpstr>
      <vt:lpstr>system-ui</vt:lpstr>
      <vt:lpstr>Times New Roman</vt:lpstr>
      <vt:lpstr>Office Theme</vt:lpstr>
      <vt:lpstr>23HUT455 ORGANIZATIONAL BEHAVIOUR</vt:lpstr>
      <vt:lpstr>SYLLABUS AND COURSE OUTCOME</vt:lpstr>
      <vt:lpstr>What is an Organization?</vt:lpstr>
      <vt:lpstr>PowerPoint Presentation</vt:lpstr>
      <vt:lpstr>Reflection on Activity conducted on 16-12-2024</vt:lpstr>
      <vt:lpstr>Nature of OB</vt:lpstr>
      <vt:lpstr>Scope of OB</vt:lpstr>
      <vt:lpstr>Scope of OB</vt:lpstr>
      <vt:lpstr>Scope of OB</vt:lpstr>
      <vt:lpstr>Scope of OB</vt:lpstr>
      <vt:lpstr>Scope of OB</vt:lpstr>
      <vt:lpstr>Diversity in Workplace</vt:lpstr>
      <vt:lpstr>PowerPoint Presentation</vt:lpstr>
      <vt:lpstr>PowerPoint Presentation</vt:lpstr>
      <vt:lpstr>Reasons for the Emergence of Diversity</vt:lpstr>
      <vt:lpstr>PowerPoint Presentation</vt:lpstr>
      <vt:lpstr>Competitive pressures</vt:lpstr>
      <vt:lpstr>Recognize and obtain diverse viewpoints </vt:lpstr>
      <vt:lpstr>Rapidly growing International Business</vt:lpstr>
      <vt:lpstr>Developing the Multicultural Organization</vt:lpstr>
      <vt:lpstr>As the Microsoft Diversity Director declared: </vt:lpstr>
      <vt:lpstr>Individual Approaches to Managing Diversity</vt:lpstr>
      <vt:lpstr>Individual Approaches to Managing Diversity</vt:lpstr>
      <vt:lpstr>Organizational Approaches to Managing Diversity</vt:lpstr>
      <vt:lpstr>Organizational Approaches to Managing Diversity</vt:lpstr>
      <vt:lpstr>Organizational Approaches to Managing Diversity</vt:lpstr>
      <vt:lpstr>Organizational Approaches to Managing Diversity</vt:lpstr>
      <vt:lpstr>Organizational Approaches to Managing Diversity</vt:lpstr>
      <vt:lpstr>ETHICS AND ETHICAL BEHAVIOR IN ORGANIZATIONS</vt:lpstr>
      <vt:lpstr>Ethics</vt:lpstr>
      <vt:lpstr>Ethics</vt:lpstr>
      <vt:lpstr>Self Reflection Activity</vt:lpstr>
      <vt:lpstr>Organizational Structure</vt:lpstr>
      <vt:lpstr>Organizational Structure – Work Specialization</vt:lpstr>
      <vt:lpstr>Organizational Structure – Departmentalization</vt:lpstr>
      <vt:lpstr>Organizational Structure – Departmentalization</vt:lpstr>
      <vt:lpstr>Organizational Structure – Departmentalization</vt:lpstr>
      <vt:lpstr>Organizational Structure – Departmentalization</vt:lpstr>
      <vt:lpstr>Organizational Structure – Chain of Command</vt:lpstr>
      <vt:lpstr>Organizational Structure – Span of Control </vt:lpstr>
      <vt:lpstr>Organizational Structure – Centralization and Decentralization</vt:lpstr>
      <vt:lpstr>PowerPoint Presentation</vt:lpstr>
      <vt:lpstr>Organizational Structure – Formalization</vt:lpstr>
      <vt:lpstr>Organizational Structure – Formalization</vt:lpstr>
      <vt:lpstr>Traditional Organizational Structure</vt:lpstr>
      <vt:lpstr>Traditional Organizational Structure</vt:lpstr>
      <vt:lpstr>Traditional Organizational Structure</vt:lpstr>
      <vt:lpstr>Contemporary Organizational Structure</vt:lpstr>
      <vt:lpstr>Contemporary Organizational Structure</vt:lpstr>
      <vt:lpstr>Contemporary Organizational Structure</vt:lpstr>
      <vt:lpstr>Contemporary Organizational Structure</vt:lpstr>
      <vt:lpstr>Contemporary Organizational Structure</vt:lpstr>
      <vt:lpstr>Contemporary Organizational Structure</vt:lpstr>
      <vt:lpstr>Organizational Culture</vt:lpstr>
      <vt:lpstr>Organizational Culture - Characteristics</vt:lpstr>
      <vt:lpstr>Dominant Culture Vs Subculture</vt:lpstr>
      <vt:lpstr>CREATING AND MAINTAINING A CULTURE</vt:lpstr>
      <vt:lpstr>Maintaining Cultures through Steps of Socialization</vt:lpstr>
      <vt:lpstr>Activity on Organizational Culture:</vt:lpstr>
      <vt:lpstr>REWARD SYSTEMS</vt:lpstr>
      <vt:lpstr>REWARD SYSTEMS</vt:lpstr>
      <vt:lpstr>REWARD SYSTEMS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23HUT455 ORGANIZATIONAL BEHAVIOUR</dc:title>
  <dc:creator>JINI RAJU</dc:creator>
  <cp:lastModifiedBy>thushara a</cp:lastModifiedBy>
  <cp:revision>204</cp:revision>
  <cp:lastPrinted>2025-04-22T11:18:28Z</cp:lastPrinted>
  <dcterms:created xsi:type="dcterms:W3CDTF">2024-12-07T15:26:52Z</dcterms:created>
  <dcterms:modified xsi:type="dcterms:W3CDTF">2026-01-06T03:48:23Z</dcterms:modified>
</cp:coreProperties>
</file>